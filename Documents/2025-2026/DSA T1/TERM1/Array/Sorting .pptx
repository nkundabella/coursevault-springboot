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y="6858000" cx="12192000"/>
  <p:notesSz cx="6858000" cy="9144000"/>
  <p:embeddedFontLst>
    <p:embeddedFont>
      <p:font typeface="Proxima Nova"/>
      <p:regular r:id="rId68"/>
      <p:bold r:id="rId69"/>
      <p:italic r:id="rId70"/>
      <p:boldItalic r:id="rId71"/>
    </p:embeddedFont>
    <p:embeddedFont>
      <p:font typeface="Roboto"/>
      <p:regular r:id="rId72"/>
      <p:bold r:id="rId73"/>
      <p:italic r:id="rId74"/>
      <p:boldItalic r:id="rId75"/>
    </p:embeddedFont>
    <p:embeddedFont>
      <p:font typeface="Roboto Mono"/>
      <p:regular r:id="rId76"/>
      <p:bold r:id="rId77"/>
      <p:italic r:id="rId78"/>
      <p:boldItalic r:id="rId79"/>
    </p:embeddedFont>
    <p:embeddedFont>
      <p:font typeface="Century Gothic"/>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4" roundtripDataSignature="AMtx7mhReN73/nBQHTup9G1HroI9ZwdP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B76520-13DC-4B26-A941-1D5C00A8A130}">
  <a:tblStyle styleId="{50B76520-13DC-4B26-A941-1D5C00A8A13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font" Target="fonts/CenturyGothic-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CenturyGothic-regular.fntdata"/><Relationship Id="rId82" Type="http://schemas.openxmlformats.org/officeDocument/2006/relationships/font" Target="fonts/CenturyGothic-italic.fntdata"/><Relationship Id="rId81" Type="http://schemas.openxmlformats.org/officeDocument/2006/relationships/font" Target="fonts/CenturyGothic-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bold.fntdata"/><Relationship Id="rId72" Type="http://schemas.openxmlformats.org/officeDocument/2006/relationships/font" Target="fonts/Roboto-regular.fntdata"/><Relationship Id="rId31" Type="http://schemas.openxmlformats.org/officeDocument/2006/relationships/slide" Target="slides/slide25.xml"/><Relationship Id="rId75" Type="http://schemas.openxmlformats.org/officeDocument/2006/relationships/font" Target="fonts/Roboto-boldItalic.fntdata"/><Relationship Id="rId30" Type="http://schemas.openxmlformats.org/officeDocument/2006/relationships/slide" Target="slides/slide24.xml"/><Relationship Id="rId74" Type="http://schemas.openxmlformats.org/officeDocument/2006/relationships/font" Target="fonts/Roboto-italic.fntdata"/><Relationship Id="rId33" Type="http://schemas.openxmlformats.org/officeDocument/2006/relationships/slide" Target="slides/slide27.xml"/><Relationship Id="rId77" Type="http://schemas.openxmlformats.org/officeDocument/2006/relationships/font" Target="fonts/RobotoMono-bold.fntdata"/><Relationship Id="rId32" Type="http://schemas.openxmlformats.org/officeDocument/2006/relationships/slide" Target="slides/slide26.xml"/><Relationship Id="rId76" Type="http://schemas.openxmlformats.org/officeDocument/2006/relationships/font" Target="fonts/RobotoMono-regular.fntdata"/><Relationship Id="rId35" Type="http://schemas.openxmlformats.org/officeDocument/2006/relationships/slide" Target="slides/slide29.xml"/><Relationship Id="rId79" Type="http://schemas.openxmlformats.org/officeDocument/2006/relationships/font" Target="fonts/RobotoMono-boldItalic.fntdata"/><Relationship Id="rId34" Type="http://schemas.openxmlformats.org/officeDocument/2006/relationships/slide" Target="slides/slide28.xml"/><Relationship Id="rId78" Type="http://schemas.openxmlformats.org/officeDocument/2006/relationships/font" Target="fonts/RobotoMono-italic.fntdata"/><Relationship Id="rId71" Type="http://schemas.openxmlformats.org/officeDocument/2006/relationships/font" Target="fonts/ProximaNova-boldItalic.fntdata"/><Relationship Id="rId70" Type="http://schemas.openxmlformats.org/officeDocument/2006/relationships/font" Target="fonts/ProximaNova-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ProximaNova-regular.fntdata"/><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ProximaNova-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88d18a41c8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188d18a41c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88d18a41c8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188d18a41c8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54d4f699c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154d4f699c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9af06bc61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19af06bc6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88d18a41c8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188d18a41c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88d18a41c8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188d18a41c8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88d18a41c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188d18a41c8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88d18a41c8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g188d18a41c8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88d18a41c8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188d18a41c8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88d18a41c8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g188d18a41c8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88d18a41c8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188d18a41c8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88d18a41c8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188d18a41c8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88d18a41c8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188d18a41c8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88d18a41c8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g188d18a41c8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88d18a41c8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188d18a41c8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88d18a41c8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g188d18a41c8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9daaaf69b5_1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9daaaf69b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88d18a41c8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188d18a41c8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8a262debf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g18a262debf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8a262debf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18a262debf9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https://afteracademy.com/blog/introduction-to-sorting-algorithms-selection-and-insertion-sort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8a262debf9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18a262debf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8a262debf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18a262debf9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https://afteracademy.com/blog/introduction-to-sorting-algorithms-selection-and-insertion-sort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8a262debf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g18a262debf9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https://afteracademy.com/blog/introduction-to-sorting-algorithms-selection-and-insertion-sort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8a262debf9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g18a262debf9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https://afteracademy.com/blog/introduction-to-sorting-algorithms-selection-and-insertion-sort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8a262debf9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g18a262debf9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https://afteracademy.com/blog/introduction-to-sorting-algorithms-selection-and-insertion-sort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8a262debf9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18a262debf9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https://afteracademy.com/blog/introduction-to-sorting-algorithms-selection-and-insertion-sort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8a262debf9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18a262debf9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9daaaf69b5_12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9daaaf69b5_1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a90e34fbfc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g1a90e34fbfc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a90e34fbfc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g1a90e34fbfc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a90e34fbfc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g1a90e34fbfc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a90e34fbfc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g1a90e34fbfc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a90e34fbfc_0_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1a90e34fbfc_0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a0255b3bb1_18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a0255b3bb1_18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a90e34fbfc_0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g1a90e34fbfc_0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a90e34fbfc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1a90e34fbfc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a90e34fbfc_0_3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g1a90e34fbfc_0_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a0255b3bb1_18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a0255b3bb1_18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a0255b3bb1_18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a0255b3bb1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80549c7138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g180549c713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80549c713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g180549c7138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180549c7138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g180549c7138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80549c7138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g180549c7138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80549c7138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g180549c7138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80549c7138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180549c7138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7200"/>
              <a:buFont typeface="Century Gothic"/>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600"/>
              <a:buNone/>
              <a:defRPr cap="none">
                <a:solidFill>
                  <a:schemeClr val="accent1"/>
                </a:solidFill>
              </a:defRPr>
            </a:lvl1pPr>
            <a:lvl2pPr lvl="1" algn="ctr">
              <a:lnSpc>
                <a:spcPct val="100000"/>
              </a:lnSpc>
              <a:spcBef>
                <a:spcPts val="1000"/>
              </a:spcBef>
              <a:spcAft>
                <a:spcPts val="0"/>
              </a:spcAft>
              <a:buSzPts val="1440"/>
              <a:buNone/>
              <a:defRPr>
                <a:solidFill>
                  <a:srgbClr val="888888"/>
                </a:solidFill>
              </a:defRPr>
            </a:lvl2pPr>
            <a:lvl3pPr lvl="2" algn="ctr">
              <a:lnSpc>
                <a:spcPct val="100000"/>
              </a:lnSpc>
              <a:spcBef>
                <a:spcPts val="1000"/>
              </a:spcBef>
              <a:spcAft>
                <a:spcPts val="0"/>
              </a:spcAft>
              <a:buSzPts val="1280"/>
              <a:buNone/>
              <a:defRPr>
                <a:solidFill>
                  <a:srgbClr val="888888"/>
                </a:solidFill>
              </a:defRPr>
            </a:lvl3pPr>
            <a:lvl4pPr lvl="3" algn="ctr">
              <a:lnSpc>
                <a:spcPct val="100000"/>
              </a:lnSpc>
              <a:spcBef>
                <a:spcPts val="1000"/>
              </a:spcBef>
              <a:spcAft>
                <a:spcPts val="0"/>
              </a:spcAft>
              <a:buSzPts val="1120"/>
              <a:buNone/>
              <a:defRPr>
                <a:solidFill>
                  <a:srgbClr val="888888"/>
                </a:solidFill>
              </a:defRPr>
            </a:lvl4pPr>
            <a:lvl5pPr lvl="4" algn="ctr">
              <a:lnSpc>
                <a:spcPct val="100000"/>
              </a:lnSpc>
              <a:spcBef>
                <a:spcPts val="1000"/>
              </a:spcBef>
              <a:spcAft>
                <a:spcPts val="0"/>
              </a:spcAft>
              <a:buSzPts val="1120"/>
              <a:buNone/>
              <a:defRPr>
                <a:solidFill>
                  <a:srgbClr val="888888"/>
                </a:solidFill>
              </a:defRPr>
            </a:lvl5pPr>
            <a:lvl6pPr lvl="5" algn="ctr">
              <a:lnSpc>
                <a:spcPct val="100000"/>
              </a:lnSpc>
              <a:spcBef>
                <a:spcPts val="1000"/>
              </a:spcBef>
              <a:spcAft>
                <a:spcPts val="0"/>
              </a:spcAft>
              <a:buSzPts val="1120"/>
              <a:buNone/>
              <a:defRPr>
                <a:solidFill>
                  <a:srgbClr val="888888"/>
                </a:solidFill>
              </a:defRPr>
            </a:lvl6pPr>
            <a:lvl7pPr lvl="6" algn="ctr">
              <a:lnSpc>
                <a:spcPct val="100000"/>
              </a:lnSpc>
              <a:spcBef>
                <a:spcPts val="1000"/>
              </a:spcBef>
              <a:spcAft>
                <a:spcPts val="0"/>
              </a:spcAft>
              <a:buSzPts val="1120"/>
              <a:buNone/>
              <a:defRPr>
                <a:solidFill>
                  <a:srgbClr val="888888"/>
                </a:solidFill>
              </a:defRPr>
            </a:lvl7pPr>
            <a:lvl8pPr lvl="7" algn="ctr">
              <a:lnSpc>
                <a:spcPct val="100000"/>
              </a:lnSpc>
              <a:spcBef>
                <a:spcPts val="1000"/>
              </a:spcBef>
              <a:spcAft>
                <a:spcPts val="0"/>
              </a:spcAft>
              <a:buSzPts val="1120"/>
              <a:buNone/>
              <a:defRPr>
                <a:solidFill>
                  <a:srgbClr val="888888"/>
                </a:solidFill>
              </a:defRPr>
            </a:lvl8pPr>
            <a:lvl9pPr lvl="8" algn="ctr">
              <a:lnSpc>
                <a:spcPct val="100000"/>
              </a:lnSpc>
              <a:spcBef>
                <a:spcPts val="1000"/>
              </a:spcBef>
              <a:spcAft>
                <a:spcPts val="0"/>
              </a:spcAft>
              <a:buSzPts val="1120"/>
              <a:buNone/>
              <a:defRPr>
                <a:solidFill>
                  <a:srgbClr val="888888"/>
                </a:solidFill>
              </a:defRPr>
            </a:lvl9pPr>
          </a:lstStyle>
          <a:p/>
        </p:txBody>
      </p:sp>
      <p:sp>
        <p:nvSpPr>
          <p:cNvPr id="20" name="Google Shape;20;p1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6" name="Google Shape;26;p1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pic>
        <p:nvPicPr>
          <p:cNvPr id="29" name="Google Shape;29;p19"/>
          <p:cNvPicPr preferRelativeResize="0"/>
          <p:nvPr/>
        </p:nvPicPr>
        <p:blipFill>
          <a:blip r:embed="rId2">
            <a:alphaModFix/>
          </a:blip>
          <a:stretch>
            <a:fillRect/>
          </a:stretch>
        </p:blipFill>
        <p:spPr>
          <a:xfrm>
            <a:off x="0" y="6019800"/>
            <a:ext cx="838200" cy="838200"/>
          </a:xfrm>
          <a:prstGeom prst="rect">
            <a:avLst/>
          </a:prstGeom>
          <a:noFill/>
          <a:ln>
            <a:noFill/>
          </a:ln>
        </p:spPr>
      </p:pic>
      <p:sp>
        <p:nvSpPr>
          <p:cNvPr id="30" name="Google Shape;30;p19"/>
          <p:cNvSpPr txBox="1"/>
          <p:nvPr/>
        </p:nvSpPr>
        <p:spPr>
          <a:xfrm>
            <a:off x="4657025" y="6437575"/>
            <a:ext cx="32334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9E9E9E"/>
                </a:solidFill>
                <a:latin typeface="Century Gothic"/>
                <a:ea typeface="Century Gothic"/>
                <a:cs typeface="Century Gothic"/>
                <a:sym typeface="Century Gothic"/>
              </a:rPr>
              <a:t>@damascene10</a:t>
            </a:r>
            <a:endParaRPr sz="2000">
              <a:solidFill>
                <a:srgbClr val="9E9E9E"/>
              </a:solidFill>
              <a:latin typeface="Century Gothic"/>
              <a:ea typeface="Century Gothic"/>
              <a:cs typeface="Century Gothic"/>
              <a:sym typeface="Century Goth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chemeClr val="accent1"/>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34" name="Google Shape;34;p2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0" name="Google Shape;40;p21"/>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1" name="Google Shape;41;p2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42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47" name="Google Shape;47;p22"/>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8" name="Google Shape;48;p22"/>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49" name="Google Shape;49;p22"/>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0" name="Google Shape;50;p2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1154954" y="1447800"/>
            <a:ext cx="3401064" cy="1447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lnSpc>
                <a:spcPct val="100000"/>
              </a:lnSpc>
              <a:spcBef>
                <a:spcPts val="1000"/>
              </a:spcBef>
              <a:spcAft>
                <a:spcPts val="0"/>
              </a:spcAft>
              <a:buSzPts val="1600"/>
              <a:buChar char="►"/>
              <a:defRPr sz="2000"/>
            </a:lvl1pPr>
            <a:lvl2pPr indent="-320040" lvl="1" marL="914400" algn="l">
              <a:lnSpc>
                <a:spcPct val="100000"/>
              </a:lnSpc>
              <a:spcBef>
                <a:spcPts val="1000"/>
              </a:spcBef>
              <a:spcAft>
                <a:spcPts val="0"/>
              </a:spcAft>
              <a:buSzPts val="1440"/>
              <a:buChar char="►"/>
              <a:defRPr sz="1800"/>
            </a:lvl2pPr>
            <a:lvl3pPr indent="-309880" lvl="2" marL="1371600" algn="l">
              <a:lnSpc>
                <a:spcPct val="100000"/>
              </a:lnSpc>
              <a:spcBef>
                <a:spcPts val="1000"/>
              </a:spcBef>
              <a:spcAft>
                <a:spcPts val="0"/>
              </a:spcAft>
              <a:buSzPts val="1280"/>
              <a:buChar char="►"/>
              <a:defRPr sz="1600"/>
            </a:lvl3pPr>
            <a:lvl4pPr indent="-299719" lvl="3" marL="1828800" algn="l">
              <a:lnSpc>
                <a:spcPct val="100000"/>
              </a:lnSpc>
              <a:spcBef>
                <a:spcPts val="1000"/>
              </a:spcBef>
              <a:spcAft>
                <a:spcPts val="0"/>
              </a:spcAft>
              <a:buSzPts val="1120"/>
              <a:buChar char="►"/>
              <a:defRPr sz="1400"/>
            </a:lvl4pPr>
            <a:lvl5pPr indent="-299720" lvl="4" marL="2286000" algn="l">
              <a:lnSpc>
                <a:spcPct val="100000"/>
              </a:lnSpc>
              <a:spcBef>
                <a:spcPts val="1000"/>
              </a:spcBef>
              <a:spcAft>
                <a:spcPts val="0"/>
              </a:spcAft>
              <a:buSzPts val="1120"/>
              <a:buChar char="►"/>
              <a:defRPr sz="1400"/>
            </a:lvl5pPr>
            <a:lvl6pPr indent="-299720" lvl="5" marL="2743200" algn="l">
              <a:lnSpc>
                <a:spcPct val="100000"/>
              </a:lnSpc>
              <a:spcBef>
                <a:spcPts val="1000"/>
              </a:spcBef>
              <a:spcAft>
                <a:spcPts val="0"/>
              </a:spcAft>
              <a:buSzPts val="1120"/>
              <a:buChar char="►"/>
              <a:defRPr sz="1400"/>
            </a:lvl6pPr>
            <a:lvl7pPr indent="-299720" lvl="6" marL="3200400" algn="l">
              <a:lnSpc>
                <a:spcPct val="100000"/>
              </a:lnSpc>
              <a:spcBef>
                <a:spcPts val="1000"/>
              </a:spcBef>
              <a:spcAft>
                <a:spcPts val="0"/>
              </a:spcAft>
              <a:buSzPts val="1120"/>
              <a:buChar char="►"/>
              <a:defRPr sz="1400"/>
            </a:lvl7pPr>
            <a:lvl8pPr indent="-299720" lvl="7" marL="3657600" algn="l">
              <a:lnSpc>
                <a:spcPct val="100000"/>
              </a:lnSpc>
              <a:spcBef>
                <a:spcPts val="1000"/>
              </a:spcBef>
              <a:spcAft>
                <a:spcPts val="0"/>
              </a:spcAft>
              <a:buSzPts val="1120"/>
              <a:buChar char="►"/>
              <a:defRPr sz="1400"/>
            </a:lvl8pPr>
            <a:lvl9pPr indent="-299720" lvl="8" marL="4114800" algn="l">
              <a:lnSpc>
                <a:spcPct val="100000"/>
              </a:lnSpc>
              <a:spcBef>
                <a:spcPts val="1000"/>
              </a:spcBef>
              <a:spcAft>
                <a:spcPts val="0"/>
              </a:spcAft>
              <a:buSzPts val="1120"/>
              <a:buChar char="►"/>
              <a:defRPr sz="1400"/>
            </a:lvl9pPr>
          </a:lstStyle>
          <a:p/>
        </p:txBody>
      </p:sp>
      <p:sp>
        <p:nvSpPr>
          <p:cNvPr id="65" name="Google Shape;65;p25"/>
          <p:cNvSpPr txBox="1"/>
          <p:nvPr>
            <p:ph idx="2" type="body"/>
          </p:nvPr>
        </p:nvSpPr>
        <p:spPr>
          <a:xfrm>
            <a:off x="1154954"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66" name="Google Shape;66;p2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6"/>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72" name="Google Shape;72;p26"/>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73" name="Google Shape;73;p2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6" name="Shape 76"/>
        <p:cNvGrpSpPr/>
        <p:nvPr/>
      </p:nvGrpSpPr>
      <p:grpSpPr>
        <a:xfrm>
          <a:off x="0" y="0"/>
          <a:ext cx="0" cy="0"/>
          <a:chOff x="0" y="0"/>
          <a:chExt cx="0" cy="0"/>
        </a:xfrm>
      </p:grpSpPr>
      <p:sp>
        <p:nvSpPr>
          <p:cNvPr id="77" name="Google Shape;77;p27"/>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352"/>
              </a:srgbClr>
            </a:outerShdw>
          </a:effectLst>
        </p:spPr>
      </p:sp>
      <p:sp>
        <p:nvSpPr>
          <p:cNvPr id="79" name="Google Shape;79;p27"/>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0" name="Google Shape;80;p2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3" name="Shape 83"/>
        <p:cNvGrpSpPr/>
        <p:nvPr/>
      </p:nvGrpSpPr>
      <p:grpSpPr>
        <a:xfrm>
          <a:off x="0" y="0"/>
          <a:ext cx="0" cy="0"/>
          <a:chOff x="0" y="0"/>
          <a:chExt cx="0" cy="0"/>
        </a:xfrm>
      </p:grpSpPr>
      <p:sp>
        <p:nvSpPr>
          <p:cNvPr id="84" name="Google Shape;84;p28"/>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8"/>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6" name="Google Shape;86;p2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9" name="Shape 89"/>
        <p:cNvGrpSpPr/>
        <p:nvPr/>
      </p:nvGrpSpPr>
      <p:grpSpPr>
        <a:xfrm>
          <a:off x="0" y="0"/>
          <a:ext cx="0" cy="0"/>
          <a:chOff x="0" y="0"/>
          <a:chExt cx="0" cy="0"/>
        </a:xfrm>
      </p:grpSpPr>
      <p:sp>
        <p:nvSpPr>
          <p:cNvPr id="90" name="Google Shape;90;p29"/>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9"/>
          <p:cNvSpPr txBox="1"/>
          <p:nvPr>
            <p:ph idx="1" type="body"/>
          </p:nvPr>
        </p:nvSpPr>
        <p:spPr>
          <a:xfrm>
            <a:off x="1930400" y="3771174"/>
            <a:ext cx="7385828"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chemeClr val="accent1"/>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2" name="Google Shape;92;p29"/>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3" name="Google Shape;93;p2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96" name="Google Shape;96;p29"/>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chemeClr val="accen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7" name="Google Shape;97;p29"/>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chemeClr val="accen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8" name="Shape 98"/>
        <p:cNvGrpSpPr/>
        <p:nvPr/>
      </p:nvGrpSpPr>
      <p:grpSpPr>
        <a:xfrm>
          <a:off x="0" y="0"/>
          <a:ext cx="0" cy="0"/>
          <a:chOff x="0" y="0"/>
          <a:chExt cx="0" cy="0"/>
        </a:xfrm>
      </p:grpSpPr>
      <p:sp>
        <p:nvSpPr>
          <p:cNvPr id="99" name="Google Shape;99;p30"/>
          <p:cNvSpPr txBox="1"/>
          <p:nvPr>
            <p:ph type="title"/>
          </p:nvPr>
        </p:nvSpPr>
        <p:spPr>
          <a:xfrm>
            <a:off x="1154954" y="3124201"/>
            <a:ext cx="8825659" cy="16531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0"/>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chemeClr val="accent1"/>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01" name="Google Shape;101;p3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4" name="Shape 104"/>
        <p:cNvGrpSpPr/>
        <p:nvPr/>
      </p:nvGrpSpPr>
      <p:grpSpPr>
        <a:xfrm>
          <a:off x="0" y="0"/>
          <a:ext cx="0" cy="0"/>
          <a:chOff x="0" y="0"/>
          <a:chExt cx="0" cy="0"/>
        </a:xfrm>
      </p:grpSpPr>
      <p:sp>
        <p:nvSpPr>
          <p:cNvPr id="105" name="Google Shape;105;p3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1"/>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7" name="Google Shape;107;p31"/>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8" name="Google Shape;108;p31"/>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9" name="Google Shape;109;p31"/>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0" name="Google Shape;110;p31"/>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1" name="Google Shape;111;p31"/>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12" name="Google Shape;112;p31"/>
          <p:cNvCxnSpPr/>
          <p:nvPr/>
        </p:nvCxnSpPr>
        <p:spPr>
          <a:xfrm>
            <a:off x="3726142" y="2133600"/>
            <a:ext cx="0" cy="3962400"/>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113" name="Google Shape;113;p31"/>
          <p:cNvCxnSpPr/>
          <p:nvPr/>
        </p:nvCxnSpPr>
        <p:spPr>
          <a:xfrm>
            <a:off x="6962227" y="2133600"/>
            <a:ext cx="0" cy="3966882"/>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114" name="Google Shape;114;p3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7" name="Shape 117"/>
        <p:cNvGrpSpPr/>
        <p:nvPr/>
      </p:nvGrpSpPr>
      <p:grpSpPr>
        <a:xfrm>
          <a:off x="0" y="0"/>
          <a:ext cx="0" cy="0"/>
          <a:chOff x="0" y="0"/>
          <a:chExt cx="0" cy="0"/>
        </a:xfrm>
      </p:grpSpPr>
      <p:sp>
        <p:nvSpPr>
          <p:cNvPr id="118" name="Google Shape;118;p3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2"/>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0" name="Google Shape;120;p32"/>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1" name="Google Shape;121;p32"/>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2" name="Google Shape;122;p32"/>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3" name="Google Shape;123;p32"/>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4" name="Google Shape;124;p32"/>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5" name="Google Shape;125;p32"/>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6" name="Google Shape;126;p32"/>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7" name="Google Shape;127;p32"/>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28" name="Google Shape;128;p32"/>
          <p:cNvCxnSpPr/>
          <p:nvPr/>
        </p:nvCxnSpPr>
        <p:spPr>
          <a:xfrm>
            <a:off x="3726142" y="2133600"/>
            <a:ext cx="0" cy="3962400"/>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129" name="Google Shape;129;p32"/>
          <p:cNvCxnSpPr/>
          <p:nvPr/>
        </p:nvCxnSpPr>
        <p:spPr>
          <a:xfrm>
            <a:off x="6962227" y="2133600"/>
            <a:ext cx="0" cy="3966882"/>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130" name="Google Shape;130;p3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3" name="Shape 133"/>
        <p:cNvGrpSpPr/>
        <p:nvPr/>
      </p:nvGrpSpPr>
      <p:grpSpPr>
        <a:xfrm>
          <a:off x="0" y="0"/>
          <a:ext cx="0" cy="0"/>
          <a:chOff x="0" y="0"/>
          <a:chExt cx="0" cy="0"/>
        </a:xfrm>
      </p:grpSpPr>
      <p:sp>
        <p:nvSpPr>
          <p:cNvPr id="134" name="Google Shape;134;p3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33"/>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6" name="Google Shape;136;p3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9" name="Shape 139"/>
        <p:cNvGrpSpPr/>
        <p:nvPr/>
      </p:nvGrpSpPr>
      <p:grpSpPr>
        <a:xfrm>
          <a:off x="0" y="0"/>
          <a:ext cx="0" cy="0"/>
          <a:chOff x="0" y="0"/>
          <a:chExt cx="0" cy="0"/>
        </a:xfrm>
      </p:grpSpPr>
      <p:sp>
        <p:nvSpPr>
          <p:cNvPr id="140" name="Google Shape;140;p34"/>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4"/>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42" name="Google Shape;142;p3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1a90e34fbfc_0_130"/>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g1a90e34fbfc_0_130"/>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54" name="Google Shape;154;g1a90e34fbfc_0_1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1a90e34fbfc_0_1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1a90e34fbfc_0_1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7" name="Shape 157"/>
        <p:cNvGrpSpPr/>
        <p:nvPr/>
      </p:nvGrpSpPr>
      <p:grpSpPr>
        <a:xfrm>
          <a:off x="0" y="0"/>
          <a:ext cx="0" cy="0"/>
          <a:chOff x="0" y="0"/>
          <a:chExt cx="0" cy="0"/>
        </a:xfrm>
      </p:grpSpPr>
      <p:sp>
        <p:nvSpPr>
          <p:cNvPr id="158" name="Google Shape;158;g1a90e34fbfc_0_1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g1a90e34fbfc_0_1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g1a90e34fbfc_0_1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g1a90e34fbfc_0_1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g1a90e34fbfc_0_1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3" name="Shape 163"/>
        <p:cNvGrpSpPr/>
        <p:nvPr/>
      </p:nvGrpSpPr>
      <p:grpSpPr>
        <a:xfrm>
          <a:off x="0" y="0"/>
          <a:ext cx="0" cy="0"/>
          <a:chOff x="0" y="0"/>
          <a:chExt cx="0" cy="0"/>
        </a:xfrm>
      </p:grpSpPr>
      <p:sp>
        <p:nvSpPr>
          <p:cNvPr id="164" name="Google Shape;164;g1a90e34fbfc_0_118"/>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1a90e34fbfc_0_118"/>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6" name="Google Shape;166;g1a90e34fbfc_0_1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g1a90e34fbfc_0_1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1a90e34fbfc_0_1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9" name="Shape 169"/>
        <p:cNvGrpSpPr/>
        <p:nvPr/>
      </p:nvGrpSpPr>
      <p:grpSpPr>
        <a:xfrm>
          <a:off x="0" y="0"/>
          <a:ext cx="0" cy="0"/>
          <a:chOff x="0" y="0"/>
          <a:chExt cx="0" cy="0"/>
        </a:xfrm>
      </p:grpSpPr>
      <p:sp>
        <p:nvSpPr>
          <p:cNvPr id="170" name="Google Shape;170;g1a90e34fbfc_0_1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g1a90e34fbfc_0_13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g1a90e34fbfc_0_13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g1a90e34fbfc_0_13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g1a90e34fbfc_0_1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g1a90e34fbfc_0_1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6" name="Shape 176"/>
        <p:cNvGrpSpPr/>
        <p:nvPr/>
      </p:nvGrpSpPr>
      <p:grpSpPr>
        <a:xfrm>
          <a:off x="0" y="0"/>
          <a:ext cx="0" cy="0"/>
          <a:chOff x="0" y="0"/>
          <a:chExt cx="0" cy="0"/>
        </a:xfrm>
      </p:grpSpPr>
      <p:sp>
        <p:nvSpPr>
          <p:cNvPr id="177" name="Google Shape;177;g1a90e34fbfc_0_143"/>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g1a90e34fbfc_0_143"/>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9" name="Google Shape;179;g1a90e34fbfc_0_143"/>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g1a90e34fbfc_0_143"/>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1" name="Google Shape;181;g1a90e34fbfc_0_143"/>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g1a90e34fbfc_0_14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g1a90e34fbfc_0_1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g1a90e34fbfc_0_1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g1a90e34fbfc_0_15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g1a90e34fbfc_0_15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g1a90e34fbfc_0_15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g1a90e34fbfc_0_1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0" name="Shape 190"/>
        <p:cNvGrpSpPr/>
        <p:nvPr/>
      </p:nvGrpSpPr>
      <p:grpSpPr>
        <a:xfrm>
          <a:off x="0" y="0"/>
          <a:ext cx="0" cy="0"/>
          <a:chOff x="0" y="0"/>
          <a:chExt cx="0" cy="0"/>
        </a:xfrm>
      </p:grpSpPr>
      <p:sp>
        <p:nvSpPr>
          <p:cNvPr id="191" name="Google Shape;191;g1a90e34fbfc_0_15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g1a90e34fbfc_0_1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g1a90e34fbfc_0_1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4" name="Shape 194"/>
        <p:cNvGrpSpPr/>
        <p:nvPr/>
      </p:nvGrpSpPr>
      <p:grpSpPr>
        <a:xfrm>
          <a:off x="0" y="0"/>
          <a:ext cx="0" cy="0"/>
          <a:chOff x="0" y="0"/>
          <a:chExt cx="0" cy="0"/>
        </a:xfrm>
      </p:grpSpPr>
      <p:sp>
        <p:nvSpPr>
          <p:cNvPr id="195" name="Google Shape;195;g1a90e34fbfc_0_16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g1a90e34fbfc_0_161"/>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7" name="Google Shape;197;g1a90e34fbfc_0_161"/>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8" name="Google Shape;198;g1a90e34fbfc_0_16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g1a90e34fbfc_0_1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g1a90e34fbfc_0_1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1" name="Shape 201"/>
        <p:cNvGrpSpPr/>
        <p:nvPr/>
      </p:nvGrpSpPr>
      <p:grpSpPr>
        <a:xfrm>
          <a:off x="0" y="0"/>
          <a:ext cx="0" cy="0"/>
          <a:chOff x="0" y="0"/>
          <a:chExt cx="0" cy="0"/>
        </a:xfrm>
      </p:grpSpPr>
      <p:sp>
        <p:nvSpPr>
          <p:cNvPr id="202" name="Google Shape;202;g1a90e34fbfc_0_16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g1a90e34fbfc_0_168"/>
          <p:cNvSpPr/>
          <p:nvPr>
            <p:ph idx="2" type="pic"/>
          </p:nvPr>
        </p:nvSpPr>
        <p:spPr>
          <a:xfrm>
            <a:off x="5183188" y="987425"/>
            <a:ext cx="6172200" cy="4873500"/>
          </a:xfrm>
          <a:prstGeom prst="rect">
            <a:avLst/>
          </a:prstGeom>
          <a:noFill/>
          <a:ln>
            <a:noFill/>
          </a:ln>
        </p:spPr>
      </p:sp>
      <p:sp>
        <p:nvSpPr>
          <p:cNvPr id="204" name="Google Shape;204;g1a90e34fbfc_0_168"/>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5" name="Google Shape;205;g1a90e34fbfc_0_16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g1a90e34fbfc_0_16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g1a90e34fbfc_0_1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8" name="Shape 208"/>
        <p:cNvGrpSpPr/>
        <p:nvPr/>
      </p:nvGrpSpPr>
      <p:grpSpPr>
        <a:xfrm>
          <a:off x="0" y="0"/>
          <a:ext cx="0" cy="0"/>
          <a:chOff x="0" y="0"/>
          <a:chExt cx="0" cy="0"/>
        </a:xfrm>
      </p:grpSpPr>
      <p:sp>
        <p:nvSpPr>
          <p:cNvPr id="209" name="Google Shape;209;g1a90e34fbfc_0_1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g1a90e34fbfc_0_175"/>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g1a90e34fbfc_0_17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g1a90e34fbfc_0_1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g1a90e34fbfc_0_1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4" name="Shape 214"/>
        <p:cNvGrpSpPr/>
        <p:nvPr/>
      </p:nvGrpSpPr>
      <p:grpSpPr>
        <a:xfrm>
          <a:off x="0" y="0"/>
          <a:ext cx="0" cy="0"/>
          <a:chOff x="0" y="0"/>
          <a:chExt cx="0" cy="0"/>
        </a:xfrm>
      </p:grpSpPr>
      <p:sp>
        <p:nvSpPr>
          <p:cNvPr id="215" name="Google Shape;215;g1a90e34fbfc_0_181"/>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g1a90e34fbfc_0_181"/>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g1a90e34fbfc_0_18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g1a90e34fbfc_0_1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g1a90e34fbfc_0_1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22" Type="http://schemas.openxmlformats.org/officeDocument/2006/relationships/theme" Target="../theme/theme3.xml"/><Relationship Id="rId10" Type="http://schemas.openxmlformats.org/officeDocument/2006/relationships/slideLayout" Target="../slideLayouts/slideLayout6.xml"/><Relationship Id="rId21" Type="http://schemas.openxmlformats.org/officeDocument/2006/relationships/slideLayout" Target="../slideLayouts/slideLayout17.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4.png"/><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2" Type="http://schemas.openxmlformats.org/officeDocument/2006/relationships/theme" Target="../theme/theme2.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pic>
        <p:nvPicPr>
          <p:cNvPr id="6" name="Google Shape;6;p17"/>
          <p:cNvPicPr preferRelativeResize="0"/>
          <p:nvPr/>
        </p:nvPicPr>
        <p:blipFill rotWithShape="1">
          <a:blip r:embed="rId1">
            <a:alphaModFix/>
          </a:blip>
          <a:srcRect b="0" l="3613" r="0" t="0"/>
          <a:stretch/>
        </p:blipFill>
        <p:spPr>
          <a:xfrm>
            <a:off x="0" y="2669685"/>
            <a:ext cx="4037012" cy="4188315"/>
          </a:xfrm>
          <a:prstGeom prst="rect">
            <a:avLst/>
          </a:prstGeom>
          <a:noFill/>
          <a:ln>
            <a:noFill/>
          </a:ln>
        </p:spPr>
      </p:pic>
      <p:pic>
        <p:nvPicPr>
          <p:cNvPr id="7" name="Google Shape;7;p17"/>
          <p:cNvPicPr preferRelativeResize="0"/>
          <p:nvPr/>
        </p:nvPicPr>
        <p:blipFill rotWithShape="1">
          <a:blip r:embed="rId2">
            <a:alphaModFix/>
          </a:blip>
          <a:srcRect b="0" l="35640" r="0" t="0"/>
          <a:stretch/>
        </p:blipFill>
        <p:spPr>
          <a:xfrm>
            <a:off x="0" y="2892347"/>
            <a:ext cx="1522412" cy="2365453"/>
          </a:xfrm>
          <a:prstGeom prst="rect">
            <a:avLst/>
          </a:prstGeom>
          <a:noFill/>
          <a:ln>
            <a:noFill/>
          </a:ln>
        </p:spPr>
      </p:pic>
      <p:sp>
        <p:nvSpPr>
          <p:cNvPr id="8" name="Google Shape;8;p17"/>
          <p:cNvSpPr/>
          <p:nvPr/>
        </p:nvSpPr>
        <p:spPr>
          <a:xfrm>
            <a:off x="8609012" y="1676400"/>
            <a:ext cx="2819400" cy="2819400"/>
          </a:xfrm>
          <a:prstGeom prst="ellipse">
            <a:avLst/>
          </a:prstGeom>
          <a:gradFill>
            <a:gsLst>
              <a:gs pos="0">
                <a:srgbClr val="FAC867">
                  <a:alpha val="6274"/>
                </a:srgbClr>
              </a:gs>
              <a:gs pos="36000">
                <a:srgbClr val="FAC867">
                  <a:alpha val="5490"/>
                </a:srgbClr>
              </a:gs>
              <a:gs pos="69000">
                <a:srgbClr val="FAC867">
                  <a:alpha val="0"/>
                </a:srgbClr>
              </a:gs>
              <a:gs pos="100000">
                <a:srgbClr val="FAC86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 name="Google Shape;9;p17"/>
          <p:cNvPicPr preferRelativeResize="0"/>
          <p:nvPr/>
        </p:nvPicPr>
        <p:blipFill rotWithShape="1">
          <a:blip r:embed="rId3">
            <a:alphaModFix/>
          </a:blip>
          <a:srcRect b="0" l="0" r="0" t="28713"/>
          <a:stretch/>
        </p:blipFill>
        <p:spPr>
          <a:xfrm>
            <a:off x="8000197" y="0"/>
            <a:ext cx="1603387" cy="1143000"/>
          </a:xfrm>
          <a:prstGeom prst="rect">
            <a:avLst/>
          </a:prstGeom>
          <a:noFill/>
          <a:ln>
            <a:noFill/>
          </a:ln>
        </p:spPr>
      </p:pic>
      <p:pic>
        <p:nvPicPr>
          <p:cNvPr id="10" name="Google Shape;10;p17"/>
          <p:cNvPicPr preferRelativeResize="0"/>
          <p:nvPr/>
        </p:nvPicPr>
        <p:blipFill rotWithShape="1">
          <a:blip r:embed="rId4">
            <a:alphaModFix/>
          </a:blip>
          <a:srcRect b="24199" l="0" r="0" t="0"/>
          <a:stretch/>
        </p:blipFill>
        <p:spPr>
          <a:xfrm>
            <a:off x="8609012" y="6092866"/>
            <a:ext cx="993734" cy="765134"/>
          </a:xfrm>
          <a:prstGeom prst="rect">
            <a:avLst/>
          </a:prstGeom>
          <a:noFill/>
          <a:ln>
            <a:noFill/>
          </a:ln>
        </p:spPr>
      </p:pic>
      <p:sp>
        <p:nvSpPr>
          <p:cNvPr id="11" name="Google Shape;11;p1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4200"/>
              <a:buFont typeface="Century Gothic"/>
              <a:buNone/>
              <a:defRPr b="0" i="0" sz="4200" u="none" cap="none" strike="noStrike">
                <a:solidFill>
                  <a:schemeClr val="dk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3" name="Google Shape;13;p1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chemeClr val="accent1"/>
              </a:buClr>
              <a:buSzPts val="1600"/>
              <a:buFont typeface="Noto Sans Symbols"/>
              <a:buChar char="►"/>
              <a:defRPr b="0" i="0" sz="2000" u="none" cap="none" strike="noStrike">
                <a:solidFill>
                  <a:schemeClr val="dk1"/>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chemeClr val="accent1"/>
              </a:buClr>
              <a:buSzPts val="1440"/>
              <a:buFont typeface="Noto Sans Symbols"/>
              <a:buChar char="►"/>
              <a:defRPr b="0" i="0" sz="1800" u="none" cap="none" strike="noStrike">
                <a:solidFill>
                  <a:schemeClr val="dk1"/>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chemeClr val="accent1"/>
              </a:buClr>
              <a:buSzPts val="1280"/>
              <a:buFont typeface="Noto Sans Symbols"/>
              <a:buChar char="►"/>
              <a:defRPr b="0" i="0" sz="1600" u="none" cap="none" strike="noStrike">
                <a:solidFill>
                  <a:schemeClr val="dk1"/>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5pPr>
            <a:lvl6pPr indent="-299720" lvl="5" marL="2743200" marR="0" rtl="0" algn="l">
              <a:lnSpc>
                <a:spcPct val="100000"/>
              </a:lnSpc>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6pPr>
            <a:lvl7pPr indent="-299720" lvl="6" marL="3200400" marR="0" rtl="0" algn="l">
              <a:lnSpc>
                <a:spcPct val="100000"/>
              </a:lnSpc>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7pPr>
            <a:lvl8pPr indent="-299720" lvl="7" marL="3657600" marR="0" rtl="0" algn="l">
              <a:lnSpc>
                <a:spcPct val="100000"/>
              </a:lnSpc>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8pPr>
            <a:lvl9pPr indent="-299720" lvl="8" marL="4114800" marR="0" rtl="0" algn="l">
              <a:lnSpc>
                <a:spcPct val="100000"/>
              </a:lnSpc>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4" name="Google Shape;14;p1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1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6" name="Google Shape;16;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 id="2147483665"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g1a90e34fbfc_0_11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7" name="Google Shape;147;g1a90e34fbfc_0_11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 name="Google Shape;148;g1a90e34fbfc_0_1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9" name="Google Shape;149;g1a90e34fbfc_0_1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0" name="Google Shape;150;g1a90e34fbfc_0_1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7.png"/><Relationship Id="rId4" Type="http://schemas.openxmlformats.org/officeDocument/2006/relationships/hyperlink" Target="https://afteracademy.com/blog/introduction-to-sorting-algorithms-selection-and-insertion-sort"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8.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0.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0.xml"/><Relationship Id="rId3"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
          <p:cNvSpPr txBox="1"/>
          <p:nvPr>
            <p:ph type="ctrTitle"/>
          </p:nvPr>
        </p:nvSpPr>
        <p:spPr>
          <a:xfrm>
            <a:off x="631400" y="3247225"/>
            <a:ext cx="10801500" cy="18423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7200"/>
              <a:buFont typeface="Century Gothic"/>
              <a:buNone/>
            </a:pPr>
            <a:r>
              <a:rPr i="1" lang="en-US" sz="6100"/>
              <a:t>Sorting Algorithms</a:t>
            </a:r>
            <a:endParaRPr i="1" sz="6100"/>
          </a:p>
        </p:txBody>
      </p:sp>
      <p:sp>
        <p:nvSpPr>
          <p:cNvPr id="225" name="Google Shape;225;p1"/>
          <p:cNvSpPr txBox="1"/>
          <p:nvPr/>
        </p:nvSpPr>
        <p:spPr>
          <a:xfrm>
            <a:off x="7486500" y="6137075"/>
            <a:ext cx="3623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chemeClr val="dk1"/>
                </a:solidFill>
                <a:latin typeface="Arial"/>
                <a:ea typeface="Arial"/>
                <a:cs typeface="Arial"/>
                <a:sym typeface="Arial"/>
              </a:rPr>
              <a:t>shorturl.at/ipGZ9</a:t>
            </a:r>
            <a:endParaRPr b="1" i="0" sz="2700" u="none" cap="none" strike="noStrike">
              <a:solidFill>
                <a:schemeClr val="dk1"/>
              </a:solidFill>
              <a:latin typeface="Arial"/>
              <a:ea typeface="Arial"/>
              <a:cs typeface="Arial"/>
              <a:sym typeface="Arial"/>
            </a:endParaRPr>
          </a:p>
        </p:txBody>
      </p:sp>
      <p:sp>
        <p:nvSpPr>
          <p:cNvPr id="226" name="Google Shape;226;p1"/>
          <p:cNvSpPr txBox="1"/>
          <p:nvPr>
            <p:ph type="ctrTitle"/>
          </p:nvPr>
        </p:nvSpPr>
        <p:spPr>
          <a:xfrm>
            <a:off x="868500" y="953950"/>
            <a:ext cx="10801500" cy="18423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7200"/>
              <a:buFont typeface="Century Gothic"/>
              <a:buNone/>
            </a:pPr>
            <a:r>
              <a:rPr b="1" i="1" lang="en-US" sz="6100">
                <a:solidFill>
                  <a:srgbClr val="0000FF"/>
                </a:solidFill>
              </a:rPr>
              <a:t>DSA &amp;C++</a:t>
            </a:r>
            <a:endParaRPr b="1" i="1" sz="61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Sorting_in_C++_Example1" id="231" name="Google Shape;231;p2"/>
          <p:cNvPicPr preferRelativeResize="0"/>
          <p:nvPr/>
        </p:nvPicPr>
        <p:blipFill rotWithShape="1">
          <a:blip r:embed="rId3">
            <a:alphaModFix/>
          </a:blip>
          <a:srcRect b="0" l="0" r="0" t="0"/>
          <a:stretch/>
        </p:blipFill>
        <p:spPr>
          <a:xfrm>
            <a:off x="772998" y="735292"/>
            <a:ext cx="10501460" cy="57518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
          <p:cNvSpPr txBox="1"/>
          <p:nvPr>
            <p:ph type="title"/>
          </p:nvPr>
        </p:nvSpPr>
        <p:spPr>
          <a:xfrm>
            <a:off x="646111" y="113349"/>
            <a:ext cx="9404723" cy="72563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Introduction</a:t>
            </a:r>
            <a:endParaRPr/>
          </a:p>
        </p:txBody>
      </p:sp>
      <p:sp>
        <p:nvSpPr>
          <p:cNvPr id="237" name="Google Shape;237;p3"/>
          <p:cNvSpPr txBox="1"/>
          <p:nvPr>
            <p:ph idx="1" type="body"/>
          </p:nvPr>
        </p:nvSpPr>
        <p:spPr>
          <a:xfrm>
            <a:off x="301658" y="904977"/>
            <a:ext cx="11890342" cy="613190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b="1" lang="en-US"/>
              <a:t>Sorting </a:t>
            </a:r>
            <a:r>
              <a:rPr lang="en-US"/>
              <a:t>refers to simply the process of arranging the data elements of an array in a specified order, that is, either in ascending or descending order.</a:t>
            </a:r>
            <a:endParaRPr/>
          </a:p>
          <a:p>
            <a:pPr indent="-342900" lvl="0" marL="342900" rtl="0" algn="l">
              <a:lnSpc>
                <a:spcPct val="100000"/>
              </a:lnSpc>
              <a:spcBef>
                <a:spcPts val="1000"/>
              </a:spcBef>
              <a:spcAft>
                <a:spcPts val="0"/>
              </a:spcAft>
              <a:buSzPts val="1600"/>
              <a:buChar char="►"/>
            </a:pPr>
            <a:r>
              <a:rPr lang="en-US"/>
              <a:t>For example, it will be practically impossible for us to find a name in the telephone directory if the names in it are not in alphabetical order. However, the same can be true for dictionaries, book indexes, bank accounts, and so on.</a:t>
            </a:r>
            <a:endParaRPr/>
          </a:p>
          <a:p>
            <a:pPr indent="-342900" lvl="0" marL="342900" rtl="0" algn="l">
              <a:lnSpc>
                <a:spcPct val="100000"/>
              </a:lnSpc>
              <a:spcBef>
                <a:spcPts val="1000"/>
              </a:spcBef>
              <a:spcAft>
                <a:spcPts val="0"/>
              </a:spcAft>
              <a:buSzPts val="1600"/>
              <a:buChar char="►"/>
            </a:pPr>
            <a:r>
              <a:rPr lang="en-US"/>
              <a:t>Hence, the convenience of having sorted data is unquestionable. Retrieval of information becomes much easier when the data is stored in some specified order. Therefore, sorting is a very important application in  computer science. Arranging things in a sorted manner makes it easier to analyze and search for a particular element among the collection of elements.</a:t>
            </a:r>
            <a:endParaRPr/>
          </a:p>
          <a:p>
            <a:pPr indent="-342900" lvl="0" marL="342900" rtl="0" algn="l">
              <a:lnSpc>
                <a:spcPct val="100000"/>
              </a:lnSpc>
              <a:spcBef>
                <a:spcPts val="1000"/>
              </a:spcBef>
              <a:spcAft>
                <a:spcPts val="0"/>
              </a:spcAft>
              <a:buSzPts val="1600"/>
              <a:buChar char="►"/>
            </a:pPr>
            <a:r>
              <a:rPr b="1" lang="en-US"/>
              <a:t>A sorting algorithm</a:t>
            </a:r>
            <a:r>
              <a:rPr lang="en-US"/>
              <a:t> can be defined as an algorithm that puts the data elements of an array/ list in a certain order, that is, either numerical order or any predefined order. There are many sorting algorithms that are available and are widely used according to the different environments required by the different sorting methods.</a:t>
            </a:r>
            <a:endParaRPr/>
          </a:p>
          <a:p>
            <a:pPr indent="-241300" lvl="0" marL="342900" rtl="0" algn="l">
              <a:lnSpc>
                <a:spcPct val="100000"/>
              </a:lnSpc>
              <a:spcBef>
                <a:spcPts val="1000"/>
              </a:spcBef>
              <a:spcAft>
                <a:spcPts val="0"/>
              </a:spcAft>
              <a:buSzPts val="16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
          <p:cNvSpPr txBox="1"/>
          <p:nvPr>
            <p:ph type="title"/>
          </p:nvPr>
        </p:nvSpPr>
        <p:spPr>
          <a:xfrm>
            <a:off x="646111" y="311313"/>
            <a:ext cx="9404723" cy="75391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Categories of Sorting</a:t>
            </a:r>
            <a:endParaRPr/>
          </a:p>
        </p:txBody>
      </p:sp>
      <p:sp>
        <p:nvSpPr>
          <p:cNvPr id="243" name="Google Shape;243;p4"/>
          <p:cNvSpPr txBox="1"/>
          <p:nvPr>
            <p:ph idx="1" type="body"/>
          </p:nvPr>
        </p:nvSpPr>
        <p:spPr>
          <a:xfrm>
            <a:off x="424206" y="1065226"/>
            <a:ext cx="11293312" cy="518317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b="1" lang="en-US"/>
              <a:t>The two basic categories of sorting methods are:</a:t>
            </a:r>
            <a:endParaRPr/>
          </a:p>
          <a:p>
            <a:pPr indent="-285750" lvl="1" marL="742950" rtl="0" algn="l">
              <a:lnSpc>
                <a:spcPct val="100000"/>
              </a:lnSpc>
              <a:spcBef>
                <a:spcPts val="1000"/>
              </a:spcBef>
              <a:spcAft>
                <a:spcPts val="0"/>
              </a:spcAft>
              <a:buSzPts val="1440"/>
              <a:buChar char="►"/>
            </a:pPr>
            <a:r>
              <a:rPr b="1" lang="en-US"/>
              <a:t>Internal Sorting</a:t>
            </a:r>
            <a:r>
              <a:rPr lang="en-US"/>
              <a:t> – It refers to the sorting of the data elements stored in the computer’s main memory.</a:t>
            </a:r>
            <a:endParaRPr/>
          </a:p>
          <a:p>
            <a:pPr indent="-228600" lvl="2" marL="1143000" rtl="0" algn="l">
              <a:lnSpc>
                <a:spcPct val="100000"/>
              </a:lnSpc>
              <a:spcBef>
                <a:spcPts val="1000"/>
              </a:spcBef>
              <a:spcAft>
                <a:spcPts val="0"/>
              </a:spcAft>
              <a:buSzPts val="1280"/>
              <a:buChar char="►"/>
            </a:pPr>
            <a:r>
              <a:rPr lang="en-US"/>
              <a:t>Example: Buble, selection and insertion sort</a:t>
            </a:r>
            <a:endParaRPr/>
          </a:p>
          <a:p>
            <a:pPr indent="-285750" lvl="1" marL="742950" rtl="0" algn="l">
              <a:lnSpc>
                <a:spcPct val="100000"/>
              </a:lnSpc>
              <a:spcBef>
                <a:spcPts val="1000"/>
              </a:spcBef>
              <a:spcAft>
                <a:spcPts val="0"/>
              </a:spcAft>
              <a:buSzPts val="1440"/>
              <a:buChar char="►"/>
            </a:pPr>
            <a:r>
              <a:rPr b="1" lang="en-US"/>
              <a:t>External Sorting</a:t>
            </a:r>
            <a:r>
              <a:rPr lang="en-US"/>
              <a:t> – It refers to the sorting of the data elements stored in the files. It is applied when the amount of data is large and cannot be stored in the main memory.</a:t>
            </a:r>
            <a:endParaRPr/>
          </a:p>
          <a:p>
            <a:pPr indent="-228600" lvl="2" marL="1143000" rtl="0" algn="l">
              <a:lnSpc>
                <a:spcPct val="100000"/>
              </a:lnSpc>
              <a:spcBef>
                <a:spcPts val="1000"/>
              </a:spcBef>
              <a:spcAft>
                <a:spcPts val="0"/>
              </a:spcAft>
              <a:buSzPts val="1280"/>
              <a:buChar char="►"/>
            </a:pPr>
            <a:r>
              <a:rPr lang="en-US"/>
              <a:t>Example: Merge Sort</a:t>
            </a:r>
            <a:endParaRPr/>
          </a:p>
          <a:p>
            <a:pPr indent="-241300" lvl="0" marL="342900" rtl="0" algn="l">
              <a:lnSpc>
                <a:spcPct val="100000"/>
              </a:lnSpc>
              <a:spcBef>
                <a:spcPts val="1000"/>
              </a:spcBef>
              <a:spcAft>
                <a:spcPts val="0"/>
              </a:spcAft>
              <a:buSzPts val="1600"/>
              <a:buNone/>
            </a:pPr>
            <a:r>
              <a:t/>
            </a:r>
            <a:endParaRPr/>
          </a:p>
        </p:txBody>
      </p:sp>
      <p:sp>
        <p:nvSpPr>
          <p:cNvPr descr="Sorting_in_C++_Example2." id="244" name="Google Shape;244;p4"/>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pic>
        <p:nvPicPr>
          <p:cNvPr descr="Sorting_in_C++_Example2." id="245" name="Google Shape;245;p4"/>
          <p:cNvPicPr preferRelativeResize="0"/>
          <p:nvPr/>
        </p:nvPicPr>
        <p:blipFill rotWithShape="1">
          <a:blip r:embed="rId3">
            <a:alphaModFix/>
          </a:blip>
          <a:srcRect b="0" l="0" r="0" t="0"/>
          <a:stretch/>
        </p:blipFill>
        <p:spPr>
          <a:xfrm>
            <a:off x="5163461" y="3581400"/>
            <a:ext cx="6200775" cy="3019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
          <p:cNvSpPr txBox="1"/>
          <p:nvPr>
            <p:ph type="title"/>
          </p:nvPr>
        </p:nvSpPr>
        <p:spPr>
          <a:xfrm>
            <a:off x="646111" y="452718"/>
            <a:ext cx="9404723" cy="8315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Types of Sorting</a:t>
            </a:r>
            <a:endParaRPr/>
          </a:p>
        </p:txBody>
      </p:sp>
      <p:sp>
        <p:nvSpPr>
          <p:cNvPr id="251" name="Google Shape;251;p5"/>
          <p:cNvSpPr txBox="1"/>
          <p:nvPr>
            <p:ph idx="1" type="body"/>
          </p:nvPr>
        </p:nvSpPr>
        <p:spPr>
          <a:xfrm>
            <a:off x="1103312" y="1479480"/>
            <a:ext cx="8946541" cy="4768920"/>
          </a:xfrm>
          <a:prstGeom prst="rect">
            <a:avLst/>
          </a:prstGeom>
          <a:noFill/>
          <a:ln>
            <a:noFill/>
          </a:ln>
        </p:spPr>
        <p:txBody>
          <a:bodyPr anchorCtr="0" anchor="t" bIns="45700" lIns="91425" spcFirstLastPara="1" rIns="91425" wrap="square" tIns="45700">
            <a:normAutofit fontScale="92500" lnSpcReduction="10000"/>
          </a:bodyPr>
          <a:lstStyle/>
          <a:p>
            <a:pPr indent="-329184" lvl="0" marL="342900" rtl="0" algn="l">
              <a:lnSpc>
                <a:spcPct val="100000"/>
              </a:lnSpc>
              <a:spcBef>
                <a:spcPts val="0"/>
              </a:spcBef>
              <a:spcAft>
                <a:spcPts val="0"/>
              </a:spcAft>
              <a:buSzPct val="79999"/>
              <a:buChar char="►"/>
            </a:pPr>
            <a:r>
              <a:rPr lang="en-US" sz="3600"/>
              <a:t>There are various types of sorting techniques in C++. We will be learning the most popular ones in this article.</a:t>
            </a:r>
            <a:endParaRPr/>
          </a:p>
          <a:p>
            <a:pPr indent="-272033" lvl="1" marL="742950" rtl="0" algn="l">
              <a:lnSpc>
                <a:spcPct val="100000"/>
              </a:lnSpc>
              <a:spcBef>
                <a:spcPts val="1000"/>
              </a:spcBef>
              <a:spcAft>
                <a:spcPts val="0"/>
              </a:spcAft>
              <a:buSzPct val="79999"/>
              <a:buChar char="►"/>
            </a:pPr>
            <a:r>
              <a:rPr lang="en-US" sz="3600"/>
              <a:t>Bubble sort</a:t>
            </a:r>
            <a:endParaRPr/>
          </a:p>
          <a:p>
            <a:pPr indent="-272033" lvl="1" marL="742950" rtl="0" algn="l">
              <a:lnSpc>
                <a:spcPct val="100000"/>
              </a:lnSpc>
              <a:spcBef>
                <a:spcPts val="1000"/>
              </a:spcBef>
              <a:spcAft>
                <a:spcPts val="0"/>
              </a:spcAft>
              <a:buSzPct val="79999"/>
              <a:buChar char="►"/>
            </a:pPr>
            <a:r>
              <a:rPr lang="en-US" sz="3600"/>
              <a:t>Insertion sort</a:t>
            </a:r>
            <a:endParaRPr/>
          </a:p>
          <a:p>
            <a:pPr indent="-272033" lvl="1" marL="742950" rtl="0" algn="l">
              <a:lnSpc>
                <a:spcPct val="100000"/>
              </a:lnSpc>
              <a:spcBef>
                <a:spcPts val="1000"/>
              </a:spcBef>
              <a:spcAft>
                <a:spcPts val="0"/>
              </a:spcAft>
              <a:buSzPct val="79999"/>
              <a:buChar char="►"/>
            </a:pPr>
            <a:r>
              <a:rPr lang="en-US" sz="3600"/>
              <a:t>Selection sort</a:t>
            </a:r>
            <a:endParaRPr/>
          </a:p>
          <a:p>
            <a:pPr indent="-272033" lvl="1" marL="742950" rtl="0" algn="l">
              <a:lnSpc>
                <a:spcPct val="100000"/>
              </a:lnSpc>
              <a:spcBef>
                <a:spcPts val="1000"/>
              </a:spcBef>
              <a:spcAft>
                <a:spcPts val="0"/>
              </a:spcAft>
              <a:buSzPct val="79999"/>
              <a:buChar char="►"/>
            </a:pPr>
            <a:r>
              <a:rPr lang="en-US" sz="3600"/>
              <a:t>Quick sort</a:t>
            </a:r>
            <a:endParaRPr sz="3600"/>
          </a:p>
          <a:p>
            <a:pPr indent="-314325" lvl="1" marL="742950" rtl="0" algn="l">
              <a:lnSpc>
                <a:spcPct val="100000"/>
              </a:lnSpc>
              <a:spcBef>
                <a:spcPts val="1000"/>
              </a:spcBef>
              <a:spcAft>
                <a:spcPts val="0"/>
              </a:spcAft>
              <a:buSzPct val="100000"/>
              <a:buChar char="►"/>
            </a:pPr>
            <a:r>
              <a:rPr lang="en-US" sz="3600"/>
              <a:t>Merge Sort</a:t>
            </a:r>
            <a:endParaRPr sz="3600"/>
          </a:p>
          <a:p>
            <a:pPr indent="-241300" lvl="0" marL="342900" rtl="0" algn="l">
              <a:lnSpc>
                <a:spcPct val="100000"/>
              </a:lnSpc>
              <a:spcBef>
                <a:spcPts val="1000"/>
              </a:spcBef>
              <a:spcAft>
                <a:spcPts val="0"/>
              </a:spcAft>
              <a:buSzPct val="80000"/>
              <a:buNone/>
            </a:pPr>
            <a:r>
              <a:t/>
            </a:r>
            <a:endParaRPr/>
          </a:p>
        </p:txBody>
      </p:sp>
      <p:sp>
        <p:nvSpPr>
          <p:cNvPr id="252" name="Google Shape;252;p5"/>
          <p:cNvSpPr txBox="1"/>
          <p:nvPr/>
        </p:nvSpPr>
        <p:spPr>
          <a:xfrm>
            <a:off x="8569025" y="4743575"/>
            <a:ext cx="3352500" cy="20319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Century Gothic"/>
                <a:ea typeface="Century Gothic"/>
                <a:cs typeface="Century Gothic"/>
                <a:sym typeface="Century Gothic"/>
              </a:rPr>
              <a:t>See  also more sorting algorithms</a:t>
            </a:r>
            <a:endParaRPr b="0" i="1" sz="2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Century Gothic"/>
                <a:ea typeface="Century Gothic"/>
                <a:cs typeface="Century Gothic"/>
                <a:sym typeface="Century Gothic"/>
              </a:rPr>
              <a:t>Counting</a:t>
            </a:r>
            <a:endParaRPr b="0" i="1" sz="2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Century Gothic"/>
                <a:ea typeface="Century Gothic"/>
                <a:cs typeface="Century Gothic"/>
                <a:sym typeface="Century Gothic"/>
              </a:rPr>
              <a:t>Bucket</a:t>
            </a:r>
            <a:endParaRPr b="0" i="1" sz="2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Century Gothic"/>
                <a:ea typeface="Century Gothic"/>
                <a:cs typeface="Century Gothic"/>
                <a:sym typeface="Century Gothic"/>
              </a:rPr>
              <a:t>Radix</a:t>
            </a:r>
            <a:endParaRPr b="0" i="1" sz="2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Century Gothic"/>
                <a:ea typeface="Century Gothic"/>
                <a:cs typeface="Century Gothic"/>
                <a:sym typeface="Century Gothic"/>
              </a:rPr>
              <a:t>heap</a:t>
            </a:r>
            <a:endParaRPr b="0" i="1" sz="2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6"/>
          <p:cNvSpPr txBox="1"/>
          <p:nvPr>
            <p:ph type="title"/>
          </p:nvPr>
        </p:nvSpPr>
        <p:spPr>
          <a:xfrm>
            <a:off x="646111" y="93647"/>
            <a:ext cx="4953411" cy="53360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Buble Sort</a:t>
            </a:r>
            <a:endParaRPr/>
          </a:p>
        </p:txBody>
      </p:sp>
      <p:sp>
        <p:nvSpPr>
          <p:cNvPr id="258" name="Google Shape;258;p6"/>
          <p:cNvSpPr txBox="1"/>
          <p:nvPr>
            <p:ph idx="1" type="body"/>
          </p:nvPr>
        </p:nvSpPr>
        <p:spPr>
          <a:xfrm>
            <a:off x="132412" y="989814"/>
            <a:ext cx="7891706" cy="466268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b="1" lang="en-US">
                <a:solidFill>
                  <a:srgbClr val="212529"/>
                </a:solidFill>
                <a:latin typeface="Proxima Nova"/>
                <a:ea typeface="Proxima Nova"/>
                <a:cs typeface="Proxima Nova"/>
                <a:sym typeface="Proxima Nova"/>
              </a:rPr>
              <a:t>Bubble Sort</a:t>
            </a:r>
            <a:r>
              <a:rPr lang="en-US">
                <a:solidFill>
                  <a:srgbClr val="212529"/>
                </a:solidFill>
                <a:latin typeface="Proxima Nova"/>
                <a:ea typeface="Proxima Nova"/>
                <a:cs typeface="Proxima Nova"/>
                <a:sym typeface="Proxima Nova"/>
              </a:rPr>
              <a:t> is the very simplest sorting algorithm that works by repeatedly swapping the adjacent elements if they are in the wrong order. </a:t>
            </a:r>
            <a:r>
              <a:rPr lang="en-US"/>
              <a:t> In this sorting technique, we begin by comparing the first two elements of the array and checking if the first element is greater than the second element; if it is, we will swap those elements and move forward to the next element</a:t>
            </a:r>
            <a:endParaRPr/>
          </a:p>
        </p:txBody>
      </p:sp>
      <p:pic>
        <p:nvPicPr>
          <p:cNvPr descr="Sorting_in_C++_Example3" id="259" name="Google Shape;259;p6"/>
          <p:cNvPicPr preferRelativeResize="0"/>
          <p:nvPr/>
        </p:nvPicPr>
        <p:blipFill rotWithShape="1">
          <a:blip r:embed="rId3">
            <a:alphaModFix/>
          </a:blip>
          <a:srcRect b="0" l="0" r="0" t="0"/>
          <a:stretch/>
        </p:blipFill>
        <p:spPr>
          <a:xfrm>
            <a:off x="413855" y="3524702"/>
            <a:ext cx="6067238" cy="2343483"/>
          </a:xfrm>
          <a:prstGeom prst="rect">
            <a:avLst/>
          </a:prstGeom>
          <a:noFill/>
          <a:ln>
            <a:noFill/>
          </a:ln>
        </p:spPr>
      </p:pic>
      <p:sp>
        <p:nvSpPr>
          <p:cNvPr id="260" name="Google Shape;260;p6"/>
          <p:cNvSpPr/>
          <p:nvPr/>
        </p:nvSpPr>
        <p:spPr>
          <a:xfrm>
            <a:off x="6832313" y="2942051"/>
            <a:ext cx="4885949" cy="24929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Roboto"/>
                <a:ea typeface="Roboto"/>
                <a:cs typeface="Roboto"/>
                <a:sym typeface="Roboto"/>
              </a:rPr>
              <a:t>If the first element is not greater than the second, then we don’t need to swap it. And this process will keep on repeating till the end of the array.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entury Gothic"/>
                <a:ea typeface="Century Gothic"/>
                <a:cs typeface="Century Gothic"/>
                <a:sym typeface="Century Gothic"/>
              </a:rPr>
            </a:b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7"/>
          <p:cNvSpPr txBox="1"/>
          <p:nvPr>
            <p:ph type="title"/>
          </p:nvPr>
        </p:nvSpPr>
        <p:spPr>
          <a:xfrm>
            <a:off x="646111" y="207617"/>
            <a:ext cx="9404723" cy="81047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Buble sort(next…)</a:t>
            </a:r>
            <a:endParaRPr/>
          </a:p>
        </p:txBody>
      </p:sp>
      <p:sp>
        <p:nvSpPr>
          <p:cNvPr id="266" name="Google Shape;266;p7"/>
          <p:cNvSpPr txBox="1"/>
          <p:nvPr>
            <p:ph idx="1" type="body"/>
          </p:nvPr>
        </p:nvSpPr>
        <p:spPr>
          <a:xfrm>
            <a:off x="386500" y="1131216"/>
            <a:ext cx="9663354" cy="5117183"/>
          </a:xfrm>
          <a:prstGeom prst="rect">
            <a:avLst/>
          </a:prstGeom>
          <a:noFill/>
          <a:ln>
            <a:noFill/>
          </a:ln>
        </p:spPr>
        <p:txBody>
          <a:bodyPr anchorCtr="0" anchor="t" bIns="45700" lIns="91425" spcFirstLastPara="1" rIns="91425" wrap="square" tIns="45700">
            <a:normAutofit/>
          </a:bodyPr>
          <a:lstStyle/>
          <a:p>
            <a:pPr indent="-342900" lvl="0" marL="342900" rtl="0" algn="l">
              <a:lnSpc>
                <a:spcPct val="115000"/>
              </a:lnSpc>
              <a:spcBef>
                <a:spcPts val="1000"/>
              </a:spcBef>
              <a:spcAft>
                <a:spcPts val="0"/>
              </a:spcAft>
              <a:buSzPts val="1600"/>
              <a:buChar char="►"/>
            </a:pPr>
            <a:r>
              <a:rPr lang="en-US">
                <a:solidFill>
                  <a:srgbClr val="222222"/>
                </a:solidFill>
                <a:latin typeface="Proxima Nova"/>
                <a:ea typeface="Proxima Nova"/>
                <a:cs typeface="Proxima Nova"/>
                <a:sym typeface="Proxima Nova"/>
              </a:rPr>
              <a:t>With Bubble Sort , two successive elements are compared with each other, and – if the left element is larger than the right one – they are swapped.</a:t>
            </a:r>
            <a:endParaRPr>
              <a:solidFill>
                <a:srgbClr val="212529"/>
              </a:solidFill>
              <a:latin typeface="Proxima Nova"/>
              <a:ea typeface="Proxima Nova"/>
              <a:cs typeface="Proxima Nova"/>
              <a:sym typeface="Proxima Nova"/>
            </a:endParaRPr>
          </a:p>
          <a:p>
            <a:pPr indent="-342900" lvl="0" marL="342900" rtl="0" algn="l">
              <a:lnSpc>
                <a:spcPct val="115000"/>
              </a:lnSpc>
              <a:spcBef>
                <a:spcPts val="2800"/>
              </a:spcBef>
              <a:spcAft>
                <a:spcPts val="0"/>
              </a:spcAft>
              <a:buSzPts val="1600"/>
              <a:buChar char="►"/>
            </a:pPr>
            <a:r>
              <a:rPr lang="en-US">
                <a:solidFill>
                  <a:srgbClr val="222222"/>
                </a:solidFill>
                <a:latin typeface="Proxima Nova"/>
                <a:ea typeface="Proxima Nova"/>
                <a:cs typeface="Proxima Nova"/>
                <a:sym typeface="Proxima Nova"/>
              </a:rPr>
              <a:t>These comparison and swap operations are performed from left to right across all elements. Therefore, after the first pass, the largest element is positioned on the far right. Or better: </a:t>
            </a:r>
            <a:r>
              <a:rPr i="1" lang="en-US">
                <a:solidFill>
                  <a:srgbClr val="222222"/>
                </a:solidFill>
                <a:latin typeface="Proxima Nova"/>
                <a:ea typeface="Proxima Nova"/>
                <a:cs typeface="Proxima Nova"/>
                <a:sym typeface="Proxima Nova"/>
              </a:rPr>
              <a:t>at the latest</a:t>
            </a:r>
            <a:r>
              <a:rPr lang="en-US">
                <a:solidFill>
                  <a:srgbClr val="222222"/>
                </a:solidFill>
                <a:latin typeface="Proxima Nova"/>
                <a:ea typeface="Proxima Nova"/>
                <a:cs typeface="Proxima Nova"/>
                <a:sym typeface="Proxima Nova"/>
              </a:rPr>
              <a:t> after the first pass – it may have arrived there before.</a:t>
            </a:r>
            <a:endParaRPr>
              <a:solidFill>
                <a:srgbClr val="212529"/>
              </a:solidFill>
              <a:latin typeface="Proxima Nova"/>
              <a:ea typeface="Proxima Nova"/>
              <a:cs typeface="Proxima Nova"/>
              <a:sym typeface="Proxima Nova"/>
            </a:endParaRPr>
          </a:p>
          <a:p>
            <a:pPr indent="-342900" lvl="0" marL="342900" rtl="0" algn="l">
              <a:lnSpc>
                <a:spcPct val="115000"/>
              </a:lnSpc>
              <a:spcBef>
                <a:spcPts val="2800"/>
              </a:spcBef>
              <a:spcAft>
                <a:spcPts val="0"/>
              </a:spcAft>
              <a:buSzPts val="1600"/>
              <a:buChar char="►"/>
            </a:pPr>
            <a:r>
              <a:rPr lang="en-US">
                <a:solidFill>
                  <a:srgbClr val="222222"/>
                </a:solidFill>
                <a:latin typeface="Proxima Nova"/>
                <a:ea typeface="Proxima Nova"/>
                <a:cs typeface="Proxima Nova"/>
                <a:sym typeface="Proxima Nova"/>
              </a:rPr>
              <a:t>You repeat this process until the array is sorted.</a:t>
            </a:r>
            <a:endParaRPr>
              <a:solidFill>
                <a:srgbClr val="212529"/>
              </a:solidFill>
              <a:latin typeface="Proxima Nova"/>
              <a:ea typeface="Proxima Nova"/>
              <a:cs typeface="Proxima Nova"/>
              <a:sym typeface="Proxima Nova"/>
            </a:endParaRPr>
          </a:p>
          <a:p>
            <a:pPr indent="-342900" lvl="0" marL="342900" rtl="0" algn="l">
              <a:lnSpc>
                <a:spcPct val="115000"/>
              </a:lnSpc>
              <a:spcBef>
                <a:spcPts val="1000"/>
              </a:spcBef>
              <a:spcAft>
                <a:spcPts val="0"/>
              </a:spcAft>
              <a:buSzPts val="1600"/>
              <a:buChar char="►"/>
            </a:pPr>
            <a:r>
              <a:rPr lang="en-US">
                <a:solidFill>
                  <a:srgbClr val="222222"/>
                </a:solidFill>
                <a:latin typeface="Proxima Nova"/>
                <a:ea typeface="Proxima Nova"/>
                <a:cs typeface="Proxima Nova"/>
                <a:sym typeface="Proxima Nova"/>
              </a:rPr>
              <a:t>Let’s use an example for the better understanding, In the following visualizations, I show how to sort the array [</a:t>
            </a:r>
            <a:r>
              <a:rPr lang="en-US"/>
              <a:t>22,13,5,7,11</a:t>
            </a:r>
            <a:r>
              <a:rPr lang="en-US">
                <a:solidFill>
                  <a:srgbClr val="222222"/>
                </a:solidFill>
                <a:latin typeface="Proxima Nova"/>
                <a:ea typeface="Proxima Nova"/>
                <a:cs typeface="Proxima Nova"/>
                <a:sym typeface="Proxima Nova"/>
              </a:rPr>
              <a:t>] with Bubble Sort:</a:t>
            </a:r>
            <a:endParaRPr>
              <a:solidFill>
                <a:srgbClr val="212529"/>
              </a:solidFill>
              <a:latin typeface="Proxima Nova"/>
              <a:ea typeface="Proxima Nova"/>
              <a:cs typeface="Proxima Nova"/>
              <a:sym typeface="Proxima Nova"/>
            </a:endParaRPr>
          </a:p>
          <a:p>
            <a:pPr indent="-248920" lvl="0" marL="342900" rtl="0" algn="l">
              <a:lnSpc>
                <a:spcPct val="100000"/>
              </a:lnSpc>
              <a:spcBef>
                <a:spcPts val="1000"/>
              </a:spcBef>
              <a:spcAft>
                <a:spcPts val="0"/>
              </a:spcAft>
              <a:buSzPts val="16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8"/>
          <p:cNvSpPr txBox="1"/>
          <p:nvPr>
            <p:ph type="title"/>
          </p:nvPr>
        </p:nvSpPr>
        <p:spPr>
          <a:xfrm>
            <a:off x="646111" y="198191"/>
            <a:ext cx="9404723" cy="5842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Buble sort(next..)</a:t>
            </a:r>
            <a:endParaRPr/>
          </a:p>
        </p:txBody>
      </p:sp>
      <p:sp>
        <p:nvSpPr>
          <p:cNvPr id="272" name="Google Shape;272;p8"/>
          <p:cNvSpPr txBox="1"/>
          <p:nvPr>
            <p:ph idx="1" type="body"/>
          </p:nvPr>
        </p:nvSpPr>
        <p:spPr>
          <a:xfrm>
            <a:off x="1103312" y="1112364"/>
            <a:ext cx="10689620" cy="5136036"/>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lang="en-US"/>
              <a:t>We divide the array into a left, unsorted – and a right sorted part. The right part is empty at the beginning:</a:t>
            </a:r>
            <a:endParaRPr/>
          </a:p>
          <a:p>
            <a:pPr indent="0" lvl="0" marL="0" rtl="0" algn="l">
              <a:lnSpc>
                <a:spcPct val="100000"/>
              </a:lnSpc>
              <a:spcBef>
                <a:spcPts val="1000"/>
              </a:spcBef>
              <a:spcAft>
                <a:spcPts val="0"/>
              </a:spcAft>
              <a:buSzPts val="1600"/>
              <a:buNone/>
            </a:pPr>
            <a:r>
              <a:t/>
            </a:r>
            <a:endParaRPr/>
          </a:p>
        </p:txBody>
      </p:sp>
      <p:sp>
        <p:nvSpPr>
          <p:cNvPr id="273" name="Google Shape;273;p8"/>
          <p:cNvSpPr/>
          <p:nvPr/>
        </p:nvSpPr>
        <p:spPr>
          <a:xfrm>
            <a:off x="7814820" y="1999750"/>
            <a:ext cx="3978111" cy="409650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212529"/>
                </a:solidFill>
                <a:latin typeface="Proxima Nova"/>
                <a:ea typeface="Proxima Nova"/>
                <a:cs typeface="Proxima Nova"/>
                <a:sym typeface="Proxima Nova"/>
              </a:rPr>
              <a:t>Iteration 1: </a:t>
            </a:r>
            <a:endParaRPr b="1" i="0" sz="2800" u="none" cap="none" strike="noStrike">
              <a:solidFill>
                <a:srgbClr val="212529"/>
              </a:solidFill>
              <a:latin typeface="Proxima Nova"/>
              <a:ea typeface="Proxima Nova"/>
              <a:cs typeface="Proxima Nova"/>
              <a:sym typeface="Proxima Nova"/>
            </a:endParaRPr>
          </a:p>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212529"/>
                </a:solidFill>
                <a:latin typeface="Proxima Nova"/>
                <a:ea typeface="Proxima Nova"/>
                <a:cs typeface="Proxima Nova"/>
                <a:sym typeface="Proxima Nova"/>
              </a:rPr>
              <a:t>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222222"/>
                </a:solidFill>
                <a:latin typeface="Proxima Nova"/>
                <a:ea typeface="Proxima Nova"/>
                <a:cs typeface="Proxima Nova"/>
                <a:sym typeface="Proxima Nova"/>
              </a:rPr>
              <a:t>We compare the first two elements, the 22 and the 13, and since 13 is smaller, we swap the elements:</a:t>
            </a:r>
            <a:endParaRPr b="0" i="0" sz="1800" u="none" cap="none" strike="noStrike">
              <a:solidFill>
                <a:srgbClr val="212529"/>
              </a:solidFill>
              <a:latin typeface="Proxima Nova"/>
              <a:ea typeface="Proxima Nova"/>
              <a:cs typeface="Proxima Nova"/>
              <a:sym typeface="Proxima Nova"/>
            </a:endParaRPr>
          </a:p>
          <a:p>
            <a:pPr indent="0" lvl="0" marL="0" marR="0" rtl="0" algn="l">
              <a:lnSpc>
                <a:spcPct val="100000"/>
              </a:lnSpc>
              <a:spcBef>
                <a:spcPts val="18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Now we compare the second with the third element, i.e., the 22 with the 5. These are also in the wrong order and are, therefore, swapped.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We compare the third with the fourth element, i.e., the 22 with the 7, they are also swapped.</a:t>
            </a:r>
            <a:endParaRPr b="0" i="0" sz="1400" u="none" cap="none" strike="noStrike">
              <a:solidFill>
                <a:srgbClr val="000000"/>
              </a:solidFill>
              <a:latin typeface="Arial"/>
              <a:ea typeface="Arial"/>
              <a:cs typeface="Arial"/>
              <a:sym typeface="Arial"/>
            </a:endParaRPr>
          </a:p>
        </p:txBody>
      </p:sp>
      <p:pic>
        <p:nvPicPr>
          <p:cNvPr descr="Sorting_in_C++_Example4" id="274" name="Google Shape;274;p8"/>
          <p:cNvPicPr preferRelativeResize="0"/>
          <p:nvPr/>
        </p:nvPicPr>
        <p:blipFill rotWithShape="1">
          <a:blip r:embed="rId3">
            <a:alphaModFix/>
          </a:blip>
          <a:srcRect b="0" l="0" r="0" t="0"/>
          <a:stretch/>
        </p:blipFill>
        <p:spPr>
          <a:xfrm>
            <a:off x="245096" y="1786626"/>
            <a:ext cx="7410450" cy="4981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188d18a41c8_0_3"/>
          <p:cNvSpPr txBox="1"/>
          <p:nvPr>
            <p:ph type="title"/>
          </p:nvPr>
        </p:nvSpPr>
        <p:spPr>
          <a:xfrm>
            <a:off x="562625" y="-12376"/>
            <a:ext cx="9404700" cy="47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sz="2900"/>
              <a:t>Example1: Visual Interpretation</a:t>
            </a:r>
            <a:endParaRPr sz="2900"/>
          </a:p>
        </p:txBody>
      </p:sp>
      <p:sp>
        <p:nvSpPr>
          <p:cNvPr id="280" name="Google Shape;280;g188d18a41c8_0_3"/>
          <p:cNvSpPr txBox="1"/>
          <p:nvPr>
            <p:ph idx="1" type="body"/>
          </p:nvPr>
        </p:nvSpPr>
        <p:spPr>
          <a:xfrm>
            <a:off x="236475" y="467550"/>
            <a:ext cx="11698800" cy="2225700"/>
          </a:xfrm>
          <a:prstGeom prst="rect">
            <a:avLst/>
          </a:prstGeom>
          <a:solidFill>
            <a:srgbClr val="D0E0E3"/>
          </a:solid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b="1" i="1" lang="en-US" sz="1200">
                <a:solidFill>
                  <a:srgbClr val="273239"/>
                </a:solidFill>
                <a:latin typeface="Arial"/>
                <a:ea typeface="Arial"/>
                <a:cs typeface="Arial"/>
                <a:sym typeface="Arial"/>
              </a:rPr>
              <a:t>Input:</a:t>
            </a:r>
            <a:r>
              <a:rPr i="1" lang="en-US" sz="1200">
                <a:solidFill>
                  <a:srgbClr val="273239"/>
                </a:solidFill>
                <a:latin typeface="Arial"/>
                <a:ea typeface="Arial"/>
                <a:cs typeface="Arial"/>
                <a:sym typeface="Arial"/>
              </a:rPr>
              <a:t> arr[] = {</a:t>
            </a:r>
            <a:r>
              <a:rPr lang="en-US" sz="1200"/>
              <a:t>22,13,5,7,11</a:t>
            </a:r>
            <a:r>
              <a:rPr i="1" lang="en-US" sz="1200">
                <a:solidFill>
                  <a:srgbClr val="273239"/>
                </a:solidFill>
                <a:latin typeface="Arial"/>
                <a:ea typeface="Arial"/>
                <a:cs typeface="Arial"/>
                <a:sym typeface="Arial"/>
              </a:rPr>
              <a:t>}</a:t>
            </a:r>
            <a:endParaRPr i="1" sz="1200">
              <a:solidFill>
                <a:srgbClr val="273239"/>
              </a:solidFill>
              <a:latin typeface="Arial"/>
              <a:ea typeface="Arial"/>
              <a:cs typeface="Arial"/>
              <a:sym typeface="Arial"/>
            </a:endParaRPr>
          </a:p>
          <a:p>
            <a:pPr indent="0" lvl="0" marL="0" rtl="0" algn="l">
              <a:lnSpc>
                <a:spcPct val="115000"/>
              </a:lnSpc>
              <a:spcBef>
                <a:spcPts val="800"/>
              </a:spcBef>
              <a:spcAft>
                <a:spcPts val="0"/>
              </a:spcAft>
              <a:buSzPts val="1440"/>
              <a:buNone/>
            </a:pPr>
            <a:r>
              <a:rPr b="1" i="1" lang="en-US" sz="1300">
                <a:solidFill>
                  <a:srgbClr val="273239"/>
                </a:solidFill>
                <a:latin typeface="Arial"/>
                <a:ea typeface="Arial"/>
                <a:cs typeface="Arial"/>
                <a:sym typeface="Arial"/>
              </a:rPr>
              <a:t>Comparison 1:</a:t>
            </a:r>
            <a:r>
              <a:rPr i="1" lang="en-US" sz="1300">
                <a:solidFill>
                  <a:srgbClr val="273239"/>
                </a:solidFill>
                <a:latin typeface="Arial"/>
                <a:ea typeface="Arial"/>
                <a:cs typeface="Arial"/>
                <a:sym typeface="Arial"/>
              </a:rPr>
              <a:t> </a:t>
            </a:r>
            <a:endParaRPr i="1" sz="1300">
              <a:solidFill>
                <a:srgbClr val="273239"/>
              </a:solidFill>
              <a:latin typeface="Arial"/>
              <a:ea typeface="Arial"/>
              <a:cs typeface="Arial"/>
              <a:sym typeface="Arial"/>
            </a:endParaRPr>
          </a:p>
          <a:p>
            <a:pPr indent="-311150" lvl="0" marL="457200" rtl="0" algn="l">
              <a:lnSpc>
                <a:spcPct val="115000"/>
              </a:lnSpc>
              <a:spcBef>
                <a:spcPts val="800"/>
              </a:spcBef>
              <a:spcAft>
                <a:spcPts val="0"/>
              </a:spcAft>
              <a:buClr>
                <a:srgbClr val="273239"/>
              </a:buClr>
              <a:buSzPts val="1300"/>
              <a:buFont typeface="Arial"/>
              <a:buChar char="●"/>
            </a:pPr>
            <a:r>
              <a:rPr i="1" lang="en-US" sz="1300">
                <a:solidFill>
                  <a:srgbClr val="273239"/>
                </a:solidFill>
                <a:latin typeface="Arial"/>
                <a:ea typeface="Arial"/>
                <a:cs typeface="Arial"/>
                <a:sym typeface="Arial"/>
              </a:rPr>
              <a:t>Bubble sort starts with very first two elements, comparing them to check which one is greater.</a:t>
            </a:r>
            <a:endParaRPr i="1" sz="1300">
              <a:solidFill>
                <a:srgbClr val="273239"/>
              </a:solidFill>
              <a:latin typeface="Arial"/>
              <a:ea typeface="Arial"/>
              <a:cs typeface="Arial"/>
              <a:sym typeface="Arial"/>
            </a:endParaRPr>
          </a:p>
          <a:p>
            <a:pPr indent="-311150" lvl="1" marL="914400" rtl="0" algn="l">
              <a:lnSpc>
                <a:spcPct val="158000"/>
              </a:lnSpc>
              <a:spcBef>
                <a:spcPts val="0"/>
              </a:spcBef>
              <a:spcAft>
                <a:spcPts val="0"/>
              </a:spcAft>
              <a:buClr>
                <a:srgbClr val="273239"/>
              </a:buClr>
              <a:buSzPts val="1300"/>
              <a:buFont typeface="Arial"/>
              <a:buChar char="○"/>
            </a:pPr>
            <a:r>
              <a:rPr lang="en-US" sz="1200"/>
              <a:t>{</a:t>
            </a:r>
            <a:r>
              <a:rPr b="1" lang="en-US" sz="1200"/>
              <a:t>22,13,</a:t>
            </a:r>
            <a:r>
              <a:rPr lang="en-US" sz="1200"/>
              <a:t>5,7,11}</a:t>
            </a:r>
            <a:r>
              <a:rPr i="1" lang="en-US" sz="1300">
                <a:solidFill>
                  <a:srgbClr val="273239"/>
                </a:solidFill>
                <a:latin typeface="Arial"/>
                <a:ea typeface="Arial"/>
                <a:cs typeface="Arial"/>
                <a:sym typeface="Arial"/>
              </a:rPr>
              <a:t>–&gt; {</a:t>
            </a:r>
            <a:r>
              <a:rPr b="1" lang="en-US" sz="1200"/>
              <a:t>13,22,</a:t>
            </a:r>
            <a:r>
              <a:rPr lang="en-US" sz="1200"/>
              <a:t>5,7,11}</a:t>
            </a:r>
            <a:r>
              <a:rPr i="1" lang="en-US" sz="1300">
                <a:solidFill>
                  <a:srgbClr val="273239"/>
                </a:solidFill>
                <a:latin typeface="Arial"/>
                <a:ea typeface="Arial"/>
                <a:cs typeface="Arial"/>
                <a:sym typeface="Arial"/>
              </a:rPr>
              <a:t> Here, algorithm compares the first two elements, and swaps since 22 &gt; 13. </a:t>
            </a:r>
            <a:endParaRPr i="1" sz="1300">
              <a:solidFill>
                <a:srgbClr val="273239"/>
              </a:solidFill>
              <a:latin typeface="Arial"/>
              <a:ea typeface="Arial"/>
              <a:cs typeface="Arial"/>
              <a:sym typeface="Arial"/>
            </a:endParaRPr>
          </a:p>
          <a:p>
            <a:pPr indent="-311150" lvl="1" marL="914400" rtl="0" algn="l">
              <a:lnSpc>
                <a:spcPct val="158000"/>
              </a:lnSpc>
              <a:spcBef>
                <a:spcPts val="0"/>
              </a:spcBef>
              <a:spcAft>
                <a:spcPts val="0"/>
              </a:spcAft>
              <a:buClr>
                <a:srgbClr val="273239"/>
              </a:buClr>
              <a:buSzPts val="1300"/>
              <a:buFont typeface="Arial"/>
              <a:buChar char="○"/>
            </a:pPr>
            <a:r>
              <a:rPr i="1" lang="en-US" sz="1300">
                <a:solidFill>
                  <a:srgbClr val="273239"/>
                </a:solidFill>
                <a:latin typeface="Arial"/>
                <a:ea typeface="Arial"/>
                <a:cs typeface="Arial"/>
                <a:sym typeface="Arial"/>
              </a:rPr>
              <a:t>{</a:t>
            </a:r>
            <a:r>
              <a:rPr lang="en-US" sz="1200"/>
              <a:t>13,</a:t>
            </a:r>
            <a:r>
              <a:rPr b="1" lang="en-US" sz="1200"/>
              <a:t>22,5,</a:t>
            </a:r>
            <a:r>
              <a:rPr lang="en-US" sz="1200"/>
              <a:t>7,11}</a:t>
            </a:r>
            <a:r>
              <a:rPr i="1" lang="en-US" sz="1300">
                <a:solidFill>
                  <a:srgbClr val="273239"/>
                </a:solidFill>
                <a:latin typeface="Arial"/>
                <a:ea typeface="Arial"/>
                <a:cs typeface="Arial"/>
                <a:sym typeface="Arial"/>
              </a:rPr>
              <a:t> –&gt;  {</a:t>
            </a:r>
            <a:r>
              <a:rPr lang="en-US" sz="1200"/>
              <a:t>13,</a:t>
            </a:r>
            <a:r>
              <a:rPr b="1" lang="en-US" sz="1200"/>
              <a:t>5,22,</a:t>
            </a:r>
            <a:r>
              <a:rPr lang="en-US" sz="1200"/>
              <a:t>7,11}</a:t>
            </a:r>
            <a:r>
              <a:rPr i="1" lang="en-US" sz="1300">
                <a:solidFill>
                  <a:srgbClr val="273239"/>
                </a:solidFill>
                <a:latin typeface="Arial"/>
                <a:ea typeface="Arial"/>
                <a:cs typeface="Arial"/>
                <a:sym typeface="Arial"/>
              </a:rPr>
              <a:t> , Swap since 22 &gt; 5</a:t>
            </a:r>
            <a:endParaRPr i="1" sz="1300">
              <a:solidFill>
                <a:srgbClr val="273239"/>
              </a:solidFill>
              <a:latin typeface="Arial"/>
              <a:ea typeface="Arial"/>
              <a:cs typeface="Arial"/>
              <a:sym typeface="Arial"/>
            </a:endParaRPr>
          </a:p>
          <a:p>
            <a:pPr indent="-311150" lvl="1" marL="914400" rtl="0" algn="l">
              <a:lnSpc>
                <a:spcPct val="158000"/>
              </a:lnSpc>
              <a:spcBef>
                <a:spcPts val="0"/>
              </a:spcBef>
              <a:spcAft>
                <a:spcPts val="0"/>
              </a:spcAft>
              <a:buClr>
                <a:srgbClr val="273239"/>
              </a:buClr>
              <a:buSzPts val="1300"/>
              <a:buFont typeface="Arial"/>
              <a:buChar char="○"/>
            </a:pPr>
            <a:r>
              <a:rPr i="1" lang="en-US" sz="1300">
                <a:solidFill>
                  <a:srgbClr val="273239"/>
                </a:solidFill>
                <a:latin typeface="Arial"/>
                <a:ea typeface="Arial"/>
                <a:cs typeface="Arial"/>
                <a:sym typeface="Arial"/>
              </a:rPr>
              <a:t>{</a:t>
            </a:r>
            <a:r>
              <a:rPr lang="en-US" sz="1200"/>
              <a:t>13,5,</a:t>
            </a:r>
            <a:r>
              <a:rPr b="1" lang="en-US" sz="1200"/>
              <a:t>22,7</a:t>
            </a:r>
            <a:r>
              <a:rPr lang="en-US" sz="1200"/>
              <a:t>,11}</a:t>
            </a:r>
            <a:r>
              <a:rPr i="1" lang="en-US" sz="1300">
                <a:solidFill>
                  <a:srgbClr val="273239"/>
                </a:solidFill>
                <a:latin typeface="Arial"/>
                <a:ea typeface="Arial"/>
                <a:cs typeface="Arial"/>
                <a:sym typeface="Arial"/>
              </a:rPr>
              <a:t> –&gt;  {</a:t>
            </a:r>
            <a:r>
              <a:rPr lang="en-US" sz="1200"/>
              <a:t>13,5,</a:t>
            </a:r>
            <a:r>
              <a:rPr b="1" lang="en-US" sz="1200"/>
              <a:t>7,22</a:t>
            </a:r>
            <a:r>
              <a:rPr lang="en-US" sz="1200"/>
              <a:t>,11}</a:t>
            </a:r>
            <a:r>
              <a:rPr i="1" lang="en-US" sz="1300">
                <a:solidFill>
                  <a:srgbClr val="273239"/>
                </a:solidFill>
                <a:latin typeface="Arial"/>
                <a:ea typeface="Arial"/>
                <a:cs typeface="Arial"/>
                <a:sym typeface="Arial"/>
              </a:rPr>
              <a:t>, Swap since 22 &gt; 7</a:t>
            </a:r>
            <a:endParaRPr i="1" sz="1300">
              <a:solidFill>
                <a:srgbClr val="273239"/>
              </a:solidFill>
              <a:latin typeface="Arial"/>
              <a:ea typeface="Arial"/>
              <a:cs typeface="Arial"/>
              <a:sym typeface="Arial"/>
            </a:endParaRPr>
          </a:p>
          <a:p>
            <a:pPr indent="-311150" lvl="1" marL="914400" rtl="0" algn="l">
              <a:lnSpc>
                <a:spcPct val="158000"/>
              </a:lnSpc>
              <a:spcBef>
                <a:spcPts val="400"/>
              </a:spcBef>
              <a:spcAft>
                <a:spcPts val="0"/>
              </a:spcAft>
              <a:buClr>
                <a:srgbClr val="273239"/>
              </a:buClr>
              <a:buSzPts val="1300"/>
              <a:buFont typeface="Arial"/>
              <a:buChar char="○"/>
            </a:pPr>
            <a:r>
              <a:rPr i="1" lang="en-US" sz="1300">
                <a:solidFill>
                  <a:srgbClr val="273239"/>
                </a:solidFill>
                <a:latin typeface="Arial"/>
                <a:ea typeface="Arial"/>
                <a:cs typeface="Arial"/>
                <a:sym typeface="Arial"/>
              </a:rPr>
              <a:t>{</a:t>
            </a:r>
            <a:r>
              <a:rPr lang="en-US" sz="1200"/>
              <a:t>13,5,7,</a:t>
            </a:r>
            <a:r>
              <a:rPr b="1" lang="en-US" sz="1200"/>
              <a:t>22,11</a:t>
            </a:r>
            <a:r>
              <a:rPr lang="en-US" sz="1200"/>
              <a:t>}</a:t>
            </a:r>
            <a:r>
              <a:rPr i="1" lang="en-US" sz="1300">
                <a:solidFill>
                  <a:srgbClr val="273239"/>
                </a:solidFill>
                <a:latin typeface="Arial"/>
                <a:ea typeface="Arial"/>
                <a:cs typeface="Arial"/>
                <a:sym typeface="Arial"/>
              </a:rPr>
              <a:t> -&gt; {</a:t>
            </a:r>
            <a:r>
              <a:rPr lang="en-US" sz="1200"/>
              <a:t>13,5,7</a:t>
            </a:r>
            <a:r>
              <a:rPr b="1" lang="en-US" sz="1200"/>
              <a:t>,11, 22</a:t>
            </a:r>
            <a:r>
              <a:rPr lang="en-US" sz="1200"/>
              <a:t>}</a:t>
            </a:r>
            <a:r>
              <a:rPr i="1" lang="en-US" sz="1300">
                <a:solidFill>
                  <a:srgbClr val="273239"/>
                </a:solidFill>
                <a:latin typeface="Arial"/>
                <a:ea typeface="Arial"/>
                <a:cs typeface="Arial"/>
                <a:sym typeface="Arial"/>
              </a:rPr>
              <a:t>, Swap since 22&gt;11.</a:t>
            </a:r>
            <a:endParaRPr/>
          </a:p>
        </p:txBody>
      </p:sp>
      <p:sp>
        <p:nvSpPr>
          <p:cNvPr id="281" name="Google Shape;281;g188d18a41c8_0_3"/>
          <p:cNvSpPr txBox="1"/>
          <p:nvPr/>
        </p:nvSpPr>
        <p:spPr>
          <a:xfrm>
            <a:off x="2984775" y="4638300"/>
            <a:ext cx="8978700" cy="2281800"/>
          </a:xfrm>
          <a:prstGeom prst="rect">
            <a:avLst/>
          </a:prstGeom>
          <a:solidFill>
            <a:srgbClr val="F9CB9C"/>
          </a:solidFill>
          <a:ln>
            <a:noFill/>
          </a:ln>
        </p:spPr>
        <p:txBody>
          <a:bodyPr anchorCtr="0" anchor="t" bIns="91425" lIns="91425" spcFirstLastPara="1" rIns="91425" wrap="square" tIns="91425">
            <a:spAutoFit/>
          </a:bodyPr>
          <a:lstStyle/>
          <a:p>
            <a:pPr indent="0" lvl="0" marL="457200" marR="0" rtl="0" algn="l">
              <a:lnSpc>
                <a:spcPct val="158000"/>
              </a:lnSpc>
              <a:spcBef>
                <a:spcPts val="0"/>
              </a:spcBef>
              <a:spcAft>
                <a:spcPts val="0"/>
              </a:spcAft>
              <a:buClr>
                <a:srgbClr val="000000"/>
              </a:buClr>
              <a:buSzPts val="1300"/>
              <a:buFont typeface="Arial"/>
              <a:buNone/>
            </a:pPr>
            <a:r>
              <a:rPr b="1" i="1" lang="en-US" sz="1300" u="none" cap="none" strike="noStrike">
                <a:solidFill>
                  <a:srgbClr val="273239"/>
                </a:solidFill>
                <a:latin typeface="Arial"/>
                <a:ea typeface="Arial"/>
                <a:cs typeface="Arial"/>
                <a:sym typeface="Arial"/>
              </a:rPr>
              <a:t>Comparison 3: </a:t>
            </a:r>
            <a:endParaRPr b="1" i="1" sz="1300" u="none" cap="none" strike="noStrike">
              <a:solidFill>
                <a:srgbClr val="273239"/>
              </a:solidFill>
              <a:latin typeface="Arial"/>
              <a:ea typeface="Arial"/>
              <a:cs typeface="Arial"/>
              <a:sym typeface="Arial"/>
            </a:endParaRPr>
          </a:p>
          <a:p>
            <a:pPr indent="-311150" lvl="0" marL="4572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Currently, the array is sorted, but our algorithm does not know if it is completed.</a:t>
            </a:r>
            <a:endParaRPr b="0" i="1" sz="1300" u="none" cap="none" strike="noStrike">
              <a:solidFill>
                <a:srgbClr val="273239"/>
              </a:solidFill>
              <a:latin typeface="Arial"/>
              <a:ea typeface="Arial"/>
              <a:cs typeface="Arial"/>
              <a:sym typeface="Arial"/>
            </a:endParaRPr>
          </a:p>
          <a:p>
            <a:pPr indent="-311150" lvl="0" marL="4572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The algorithm needs one </a:t>
            </a:r>
            <a:r>
              <a:rPr b="1" i="1" lang="en-US" sz="1300" u="none" cap="none" strike="noStrike">
                <a:solidFill>
                  <a:srgbClr val="273239"/>
                </a:solidFill>
                <a:latin typeface="Arial"/>
                <a:ea typeface="Arial"/>
                <a:cs typeface="Arial"/>
                <a:sym typeface="Arial"/>
              </a:rPr>
              <a:t>whole</a:t>
            </a:r>
            <a:r>
              <a:rPr b="0" i="1" lang="en-US" sz="1300" u="none" cap="none" strike="noStrike">
                <a:solidFill>
                  <a:srgbClr val="273239"/>
                </a:solidFill>
                <a:latin typeface="Arial"/>
                <a:ea typeface="Arial"/>
                <a:cs typeface="Arial"/>
                <a:sym typeface="Arial"/>
              </a:rPr>
              <a:t> pass without </a:t>
            </a:r>
            <a:r>
              <a:rPr b="1" i="1" lang="en-US" sz="1300" u="none" cap="none" strike="noStrike">
                <a:solidFill>
                  <a:srgbClr val="273239"/>
                </a:solidFill>
                <a:latin typeface="Arial"/>
                <a:ea typeface="Arial"/>
                <a:cs typeface="Arial"/>
                <a:sym typeface="Arial"/>
              </a:rPr>
              <a:t>any</a:t>
            </a:r>
            <a:r>
              <a:rPr b="0" i="1" lang="en-US" sz="1300" u="none" cap="none" strike="noStrike">
                <a:solidFill>
                  <a:srgbClr val="273239"/>
                </a:solidFill>
                <a:latin typeface="Arial"/>
                <a:ea typeface="Arial"/>
                <a:cs typeface="Arial"/>
                <a:sym typeface="Arial"/>
              </a:rPr>
              <a:t> swap to know it is sorted.</a:t>
            </a:r>
            <a:endParaRPr b="0" i="1" sz="1300" u="none" cap="none" strike="noStrike">
              <a:solidFill>
                <a:srgbClr val="273239"/>
              </a:solidFill>
              <a:latin typeface="Arial"/>
              <a:ea typeface="Arial"/>
              <a:cs typeface="Arial"/>
              <a:sym typeface="Arial"/>
            </a:endParaRPr>
          </a:p>
          <a:p>
            <a:pPr indent="-311150" lvl="1" marL="13716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1" i="0" lang="en-US" sz="1200" u="none" cap="none" strike="noStrike">
                <a:solidFill>
                  <a:schemeClr val="dk1"/>
                </a:solidFill>
                <a:latin typeface="Century Gothic"/>
                <a:ea typeface="Century Gothic"/>
                <a:cs typeface="Century Gothic"/>
                <a:sym typeface="Century Gothic"/>
              </a:rPr>
              <a:t>5,7</a:t>
            </a:r>
            <a:r>
              <a:rPr b="0" i="0" lang="en-US" sz="1200" u="none" cap="none" strike="noStrike">
                <a:solidFill>
                  <a:schemeClr val="dk1"/>
                </a:solidFill>
                <a:latin typeface="Century Gothic"/>
                <a:ea typeface="Century Gothic"/>
                <a:cs typeface="Century Gothic"/>
                <a:sym typeface="Century Gothic"/>
              </a:rPr>
              <a:t>,11,13, 22}</a:t>
            </a:r>
            <a:r>
              <a:rPr b="0" i="1" lang="en-US" sz="1300" u="none" cap="none" strike="noStrike">
                <a:solidFill>
                  <a:srgbClr val="273239"/>
                </a:solidFill>
                <a:latin typeface="Arial"/>
                <a:ea typeface="Arial"/>
                <a:cs typeface="Arial"/>
                <a:sym typeface="Arial"/>
              </a:rPr>
              <a:t> –&gt; {</a:t>
            </a:r>
            <a:r>
              <a:rPr b="1" i="0" lang="en-US" sz="1200" u="none" cap="none" strike="noStrike">
                <a:solidFill>
                  <a:schemeClr val="dk1"/>
                </a:solidFill>
                <a:latin typeface="Century Gothic"/>
                <a:ea typeface="Century Gothic"/>
                <a:cs typeface="Century Gothic"/>
                <a:sym typeface="Century Gothic"/>
              </a:rPr>
              <a:t>5,7</a:t>
            </a:r>
            <a:r>
              <a:rPr b="0" i="0" lang="en-US" sz="1200" u="none" cap="none" strike="noStrike">
                <a:solidFill>
                  <a:schemeClr val="dk1"/>
                </a:solidFill>
                <a:latin typeface="Century Gothic"/>
                <a:ea typeface="Century Gothic"/>
                <a:cs typeface="Century Gothic"/>
                <a:sym typeface="Century Gothic"/>
              </a:rPr>
              <a:t>,11,13, 22}</a:t>
            </a:r>
            <a:r>
              <a:rPr b="0" i="1" lang="en-US" sz="1300" u="none" cap="none" strike="noStrike">
                <a:solidFill>
                  <a:srgbClr val="273239"/>
                </a:solidFill>
                <a:latin typeface="Arial"/>
                <a:ea typeface="Arial"/>
                <a:cs typeface="Arial"/>
                <a:sym typeface="Arial"/>
              </a:rPr>
              <a:t> </a:t>
            </a:r>
            <a:endParaRPr b="0" i="1" sz="1300" u="none" cap="none" strike="noStrike">
              <a:solidFill>
                <a:srgbClr val="273239"/>
              </a:solidFill>
              <a:latin typeface="Arial"/>
              <a:ea typeface="Arial"/>
              <a:cs typeface="Arial"/>
              <a:sym typeface="Arial"/>
            </a:endParaRPr>
          </a:p>
          <a:p>
            <a:pPr indent="-311150" lvl="1" marL="13716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7,11</a:t>
            </a:r>
            <a:r>
              <a:rPr b="0" i="0" lang="en-US" sz="1200" u="none" cap="none" strike="noStrike">
                <a:solidFill>
                  <a:schemeClr val="dk1"/>
                </a:solidFill>
                <a:latin typeface="Century Gothic"/>
                <a:ea typeface="Century Gothic"/>
                <a:cs typeface="Century Gothic"/>
                <a:sym typeface="Century Gothic"/>
              </a:rPr>
              <a:t>,13, 22}</a:t>
            </a:r>
            <a:r>
              <a:rPr b="0" i="1" lang="en-US" sz="1300" u="none" cap="none" strike="noStrike">
                <a:solidFill>
                  <a:srgbClr val="273239"/>
                </a:solidFill>
                <a:latin typeface="Arial"/>
                <a:ea typeface="Arial"/>
                <a:cs typeface="Arial"/>
                <a:sym typeface="Arial"/>
              </a:rPr>
              <a:t> –&gt; {</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7,11,</a:t>
            </a:r>
            <a:r>
              <a:rPr b="0" i="0" lang="en-US" sz="1200" u="none" cap="none" strike="noStrike">
                <a:solidFill>
                  <a:schemeClr val="dk1"/>
                </a:solidFill>
                <a:latin typeface="Century Gothic"/>
                <a:ea typeface="Century Gothic"/>
                <a:cs typeface="Century Gothic"/>
                <a:sym typeface="Century Gothic"/>
              </a:rPr>
              <a:t>13, 22}</a:t>
            </a:r>
            <a:r>
              <a:rPr b="0" i="1" lang="en-US" sz="1300" u="none" cap="none" strike="noStrike">
                <a:solidFill>
                  <a:srgbClr val="273239"/>
                </a:solidFill>
                <a:latin typeface="Arial"/>
                <a:ea typeface="Arial"/>
                <a:cs typeface="Arial"/>
                <a:sym typeface="Arial"/>
              </a:rPr>
              <a:t> </a:t>
            </a:r>
            <a:endParaRPr b="0" i="1" sz="1300" u="none" cap="none" strike="noStrike">
              <a:solidFill>
                <a:srgbClr val="273239"/>
              </a:solidFill>
              <a:latin typeface="Arial"/>
              <a:ea typeface="Arial"/>
              <a:cs typeface="Arial"/>
              <a:sym typeface="Arial"/>
            </a:endParaRPr>
          </a:p>
          <a:p>
            <a:pPr indent="-311150" lvl="1" marL="13716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0" i="0" lang="en-US" sz="1200" u="none" cap="none" strike="noStrike">
                <a:solidFill>
                  <a:schemeClr val="dk1"/>
                </a:solidFill>
                <a:latin typeface="Century Gothic"/>
                <a:ea typeface="Century Gothic"/>
                <a:cs typeface="Century Gothic"/>
                <a:sym typeface="Century Gothic"/>
              </a:rPr>
              <a:t>5,7,</a:t>
            </a:r>
            <a:r>
              <a:rPr b="1" i="0" lang="en-US" sz="1200" u="none" cap="none" strike="noStrike">
                <a:solidFill>
                  <a:schemeClr val="dk1"/>
                </a:solidFill>
                <a:latin typeface="Century Gothic"/>
                <a:ea typeface="Century Gothic"/>
                <a:cs typeface="Century Gothic"/>
                <a:sym typeface="Century Gothic"/>
              </a:rPr>
              <a:t>11,13,</a:t>
            </a:r>
            <a:r>
              <a:rPr b="0" i="0" lang="en-US" sz="1200" u="none" cap="none" strike="noStrike">
                <a:solidFill>
                  <a:schemeClr val="dk1"/>
                </a:solidFill>
                <a:latin typeface="Century Gothic"/>
                <a:ea typeface="Century Gothic"/>
                <a:cs typeface="Century Gothic"/>
                <a:sym typeface="Century Gothic"/>
              </a:rPr>
              <a:t> 22}</a:t>
            </a:r>
            <a:r>
              <a:rPr b="0" i="1" lang="en-US" sz="1300" u="none" cap="none" strike="noStrike">
                <a:solidFill>
                  <a:srgbClr val="273239"/>
                </a:solidFill>
                <a:latin typeface="Arial"/>
                <a:ea typeface="Arial"/>
                <a:cs typeface="Arial"/>
                <a:sym typeface="Arial"/>
              </a:rPr>
              <a:t> –&gt;{</a:t>
            </a:r>
            <a:r>
              <a:rPr b="0" i="0" lang="en-US" sz="1200" u="none" cap="none" strike="noStrike">
                <a:solidFill>
                  <a:schemeClr val="dk1"/>
                </a:solidFill>
                <a:latin typeface="Century Gothic"/>
                <a:ea typeface="Century Gothic"/>
                <a:cs typeface="Century Gothic"/>
                <a:sym typeface="Century Gothic"/>
              </a:rPr>
              <a:t>5,7,</a:t>
            </a:r>
            <a:r>
              <a:rPr b="1" i="0" lang="en-US" sz="1200" u="none" cap="none" strike="noStrike">
                <a:solidFill>
                  <a:schemeClr val="dk1"/>
                </a:solidFill>
                <a:latin typeface="Century Gothic"/>
                <a:ea typeface="Century Gothic"/>
                <a:cs typeface="Century Gothic"/>
                <a:sym typeface="Century Gothic"/>
              </a:rPr>
              <a:t>11,13,</a:t>
            </a:r>
            <a:r>
              <a:rPr b="0" i="0" lang="en-US" sz="1200" u="none" cap="none" strike="noStrike">
                <a:solidFill>
                  <a:schemeClr val="dk1"/>
                </a:solidFill>
                <a:latin typeface="Century Gothic"/>
                <a:ea typeface="Century Gothic"/>
                <a:cs typeface="Century Gothic"/>
                <a:sym typeface="Century Gothic"/>
              </a:rPr>
              <a:t> 22}</a:t>
            </a:r>
            <a:r>
              <a:rPr b="0" i="1" lang="en-US" sz="1300" u="none" cap="none" strike="noStrike">
                <a:solidFill>
                  <a:srgbClr val="273239"/>
                </a:solidFill>
                <a:latin typeface="Arial"/>
                <a:ea typeface="Arial"/>
                <a:cs typeface="Arial"/>
                <a:sym typeface="Arial"/>
              </a:rPr>
              <a:t> </a:t>
            </a:r>
            <a:endParaRPr b="0" i="1" sz="1300" u="none" cap="none" strike="noStrike">
              <a:solidFill>
                <a:srgbClr val="273239"/>
              </a:solidFill>
              <a:latin typeface="Arial"/>
              <a:ea typeface="Arial"/>
              <a:cs typeface="Arial"/>
              <a:sym typeface="Arial"/>
            </a:endParaRPr>
          </a:p>
          <a:p>
            <a:pPr indent="-311150" lvl="1" marL="13716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0" i="0" lang="en-US" sz="1200" u="none" cap="none" strike="noStrike">
                <a:solidFill>
                  <a:schemeClr val="dk1"/>
                </a:solidFill>
                <a:latin typeface="Century Gothic"/>
                <a:ea typeface="Century Gothic"/>
                <a:cs typeface="Century Gothic"/>
                <a:sym typeface="Century Gothic"/>
              </a:rPr>
              <a:t>5,7,11,</a:t>
            </a:r>
            <a:r>
              <a:rPr b="1" i="0" lang="en-US" sz="1200" u="none" cap="none" strike="noStrike">
                <a:solidFill>
                  <a:schemeClr val="dk1"/>
                </a:solidFill>
                <a:latin typeface="Century Gothic"/>
                <a:ea typeface="Century Gothic"/>
                <a:cs typeface="Century Gothic"/>
                <a:sym typeface="Century Gothic"/>
              </a:rPr>
              <a:t>13, 22}</a:t>
            </a:r>
            <a:r>
              <a:rPr b="0" i="1" lang="en-US" sz="1300" u="none" cap="none" strike="noStrike">
                <a:solidFill>
                  <a:srgbClr val="273239"/>
                </a:solidFill>
                <a:latin typeface="Arial"/>
                <a:ea typeface="Arial"/>
                <a:cs typeface="Arial"/>
                <a:sym typeface="Arial"/>
              </a:rPr>
              <a:t> –&gt;{</a:t>
            </a:r>
            <a:r>
              <a:rPr b="0" i="0" lang="en-US" sz="1200" u="none" cap="none" strike="noStrike">
                <a:solidFill>
                  <a:schemeClr val="dk1"/>
                </a:solidFill>
                <a:latin typeface="Century Gothic"/>
                <a:ea typeface="Century Gothic"/>
                <a:cs typeface="Century Gothic"/>
                <a:sym typeface="Century Gothic"/>
              </a:rPr>
              <a:t>5,7,11,</a:t>
            </a:r>
            <a:r>
              <a:rPr b="1" i="0" lang="en-US" sz="1200" u="none" cap="none" strike="noStrike">
                <a:solidFill>
                  <a:schemeClr val="dk1"/>
                </a:solidFill>
                <a:latin typeface="Century Gothic"/>
                <a:ea typeface="Century Gothic"/>
                <a:cs typeface="Century Gothic"/>
                <a:sym typeface="Century Gothic"/>
              </a:rPr>
              <a:t>13, 22}</a:t>
            </a:r>
            <a:r>
              <a:rPr b="0" i="1" lang="en-US" sz="1300" u="none" cap="none" strike="noStrike">
                <a:solidFill>
                  <a:srgbClr val="273239"/>
                </a:solidFill>
                <a:latin typeface="Arial"/>
                <a:ea typeface="Arial"/>
                <a:cs typeface="Arial"/>
                <a:sym typeface="Arial"/>
              </a:rPr>
              <a:t> </a:t>
            </a:r>
            <a:endParaRPr b="0" i="1" sz="1300" u="none" cap="none" strike="noStrike">
              <a:solidFill>
                <a:srgbClr val="273239"/>
              </a:solidFill>
              <a:latin typeface="Arial"/>
              <a:ea typeface="Arial"/>
              <a:cs typeface="Arial"/>
              <a:sym typeface="Arial"/>
            </a:endParaRPr>
          </a:p>
        </p:txBody>
      </p:sp>
      <p:sp>
        <p:nvSpPr>
          <p:cNvPr id="282" name="Google Shape;282;g188d18a41c8_0_3"/>
          <p:cNvSpPr txBox="1"/>
          <p:nvPr/>
        </p:nvSpPr>
        <p:spPr>
          <a:xfrm>
            <a:off x="1066800" y="2743200"/>
            <a:ext cx="10868400" cy="19821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1" lang="en-US" sz="1300" u="none" cap="none" strike="noStrike">
                <a:solidFill>
                  <a:srgbClr val="273239"/>
                </a:solidFill>
                <a:latin typeface="Arial"/>
                <a:ea typeface="Arial"/>
                <a:cs typeface="Arial"/>
                <a:sym typeface="Arial"/>
              </a:rPr>
              <a:t>Comparison 2:</a:t>
            </a:r>
            <a:r>
              <a:rPr b="0" i="1" lang="en-US" sz="1300" u="none" cap="none" strike="noStrike">
                <a:solidFill>
                  <a:srgbClr val="273239"/>
                </a:solidFill>
                <a:latin typeface="Arial"/>
                <a:ea typeface="Arial"/>
                <a:cs typeface="Arial"/>
                <a:sym typeface="Arial"/>
              </a:rPr>
              <a:t> </a:t>
            </a:r>
            <a:endParaRPr b="0" i="1" sz="1300" u="none" cap="none" strike="noStrike">
              <a:solidFill>
                <a:srgbClr val="273239"/>
              </a:solidFill>
              <a:latin typeface="Arial"/>
              <a:ea typeface="Arial"/>
              <a:cs typeface="Arial"/>
              <a:sym typeface="Arial"/>
            </a:endParaRPr>
          </a:p>
          <a:p>
            <a:pPr indent="-311150" lvl="0" marL="457200" marR="0" rtl="0" algn="l">
              <a:lnSpc>
                <a:spcPct val="158000"/>
              </a:lnSpc>
              <a:spcBef>
                <a:spcPts val="80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Bubble sort in the second iteration will look like this: </a:t>
            </a:r>
            <a:endParaRPr b="0" i="1" sz="1300" u="none" cap="none" strike="noStrike">
              <a:solidFill>
                <a:srgbClr val="273239"/>
              </a:solidFill>
              <a:latin typeface="Arial"/>
              <a:ea typeface="Arial"/>
              <a:cs typeface="Arial"/>
              <a:sym typeface="Arial"/>
            </a:endParaRPr>
          </a:p>
          <a:p>
            <a:pPr indent="-311150" lvl="1" marL="9144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1" i="0" lang="en-US" sz="1200" u="none" cap="none" strike="noStrike">
                <a:solidFill>
                  <a:schemeClr val="dk1"/>
                </a:solidFill>
                <a:latin typeface="Century Gothic"/>
                <a:ea typeface="Century Gothic"/>
                <a:cs typeface="Century Gothic"/>
                <a:sym typeface="Century Gothic"/>
              </a:rPr>
              <a:t>13,5</a:t>
            </a:r>
            <a:r>
              <a:rPr b="0" i="0" lang="en-US" sz="1200" u="none" cap="none" strike="noStrike">
                <a:solidFill>
                  <a:schemeClr val="dk1"/>
                </a:solidFill>
                <a:latin typeface="Century Gothic"/>
                <a:ea typeface="Century Gothic"/>
                <a:cs typeface="Century Gothic"/>
                <a:sym typeface="Century Gothic"/>
              </a:rPr>
              <a:t>,7,11, 22}</a:t>
            </a:r>
            <a:r>
              <a:rPr b="0" i="1" lang="en-US" sz="1300" u="none" cap="none" strike="noStrike">
                <a:solidFill>
                  <a:srgbClr val="273239"/>
                </a:solidFill>
                <a:latin typeface="Arial"/>
                <a:ea typeface="Arial"/>
                <a:cs typeface="Arial"/>
                <a:sym typeface="Arial"/>
              </a:rPr>
              <a:t>–&gt; {</a:t>
            </a:r>
            <a:r>
              <a:rPr b="1" i="0" lang="en-US" sz="1200" u="none" cap="none" strike="noStrike">
                <a:solidFill>
                  <a:schemeClr val="dk1"/>
                </a:solidFill>
                <a:latin typeface="Century Gothic"/>
                <a:ea typeface="Century Gothic"/>
                <a:cs typeface="Century Gothic"/>
                <a:sym typeface="Century Gothic"/>
              </a:rPr>
              <a:t>5,13, </a:t>
            </a:r>
            <a:r>
              <a:rPr b="0" i="0" lang="en-US" sz="1200" u="none" cap="none" strike="noStrike">
                <a:solidFill>
                  <a:schemeClr val="dk1"/>
                </a:solidFill>
                <a:latin typeface="Century Gothic"/>
                <a:ea typeface="Century Gothic"/>
                <a:cs typeface="Century Gothic"/>
                <a:sym typeface="Century Gothic"/>
              </a:rPr>
              <a:t>7,11, 22}</a:t>
            </a:r>
            <a:r>
              <a:rPr b="0" i="1" lang="en-US" sz="1300" u="none" cap="none" strike="noStrike">
                <a:solidFill>
                  <a:srgbClr val="273239"/>
                </a:solidFill>
                <a:latin typeface="Arial"/>
                <a:ea typeface="Arial"/>
                <a:cs typeface="Arial"/>
                <a:sym typeface="Arial"/>
              </a:rPr>
              <a:t> Here, algorithm compares the first two elements, and swaps since 13 &gt; 5. </a:t>
            </a:r>
            <a:endParaRPr b="0" i="1" sz="1300" u="none" cap="none" strike="noStrike">
              <a:solidFill>
                <a:srgbClr val="273239"/>
              </a:solidFill>
              <a:latin typeface="Arial"/>
              <a:ea typeface="Arial"/>
              <a:cs typeface="Arial"/>
              <a:sym typeface="Arial"/>
            </a:endParaRPr>
          </a:p>
          <a:p>
            <a:pPr indent="-311150" lvl="1" marL="9144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13, 7,</a:t>
            </a:r>
            <a:r>
              <a:rPr b="0" i="0" lang="en-US" sz="1200" u="none" cap="none" strike="noStrike">
                <a:solidFill>
                  <a:schemeClr val="dk1"/>
                </a:solidFill>
                <a:latin typeface="Century Gothic"/>
                <a:ea typeface="Century Gothic"/>
                <a:cs typeface="Century Gothic"/>
                <a:sym typeface="Century Gothic"/>
              </a:rPr>
              <a:t>11, 22}</a:t>
            </a:r>
            <a:r>
              <a:rPr b="0" i="1" lang="en-US" sz="1300" u="none" cap="none" strike="noStrike">
                <a:solidFill>
                  <a:srgbClr val="273239"/>
                </a:solidFill>
                <a:latin typeface="Arial"/>
                <a:ea typeface="Arial"/>
                <a:cs typeface="Arial"/>
                <a:sym typeface="Arial"/>
              </a:rPr>
              <a:t> –&gt;  {</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,7,13,</a:t>
            </a:r>
            <a:r>
              <a:rPr b="0" i="0" lang="en-US" sz="1200" u="none" cap="none" strike="noStrike">
                <a:solidFill>
                  <a:schemeClr val="dk1"/>
                </a:solidFill>
                <a:latin typeface="Century Gothic"/>
                <a:ea typeface="Century Gothic"/>
                <a:cs typeface="Century Gothic"/>
                <a:sym typeface="Century Gothic"/>
              </a:rPr>
              <a:t>11, 22}</a:t>
            </a:r>
            <a:r>
              <a:rPr b="0" i="1" lang="en-US" sz="1300" u="none" cap="none" strike="noStrike">
                <a:solidFill>
                  <a:srgbClr val="273239"/>
                </a:solidFill>
                <a:latin typeface="Arial"/>
                <a:ea typeface="Arial"/>
                <a:cs typeface="Arial"/>
                <a:sym typeface="Arial"/>
              </a:rPr>
              <a:t>  , Swap since 13 &gt; 7</a:t>
            </a:r>
            <a:endParaRPr b="0" i="1" sz="1300" u="none" cap="none" strike="noStrike">
              <a:solidFill>
                <a:srgbClr val="273239"/>
              </a:solidFill>
              <a:latin typeface="Arial"/>
              <a:ea typeface="Arial"/>
              <a:cs typeface="Arial"/>
              <a:sym typeface="Arial"/>
            </a:endParaRPr>
          </a:p>
          <a:p>
            <a:pPr indent="-311150" lvl="1" marL="9144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a:t>
            </a:r>
            <a:r>
              <a:rPr b="0" i="0" lang="en-US" sz="1200" u="none" cap="none" strike="noStrike">
                <a:solidFill>
                  <a:schemeClr val="dk1"/>
                </a:solidFill>
                <a:latin typeface="Century Gothic"/>
                <a:ea typeface="Century Gothic"/>
                <a:cs typeface="Century Gothic"/>
                <a:sym typeface="Century Gothic"/>
              </a:rPr>
              <a:t>7,</a:t>
            </a:r>
            <a:r>
              <a:rPr b="1" i="0" lang="en-US" sz="1200" u="none" cap="none" strike="noStrike">
                <a:solidFill>
                  <a:schemeClr val="dk1"/>
                </a:solidFill>
                <a:latin typeface="Century Gothic"/>
                <a:ea typeface="Century Gothic"/>
                <a:cs typeface="Century Gothic"/>
                <a:sym typeface="Century Gothic"/>
              </a:rPr>
              <a:t>13,11</a:t>
            </a:r>
            <a:r>
              <a:rPr b="0" i="0" lang="en-US" sz="1200" u="none" cap="none" strike="noStrike">
                <a:solidFill>
                  <a:schemeClr val="dk1"/>
                </a:solidFill>
                <a:latin typeface="Century Gothic"/>
                <a:ea typeface="Century Gothic"/>
                <a:cs typeface="Century Gothic"/>
                <a:sym typeface="Century Gothic"/>
              </a:rPr>
              <a:t>, 22}</a:t>
            </a:r>
            <a:r>
              <a:rPr b="0" i="1" lang="en-US" sz="1300" u="none" cap="none" strike="noStrike">
                <a:solidFill>
                  <a:srgbClr val="273239"/>
                </a:solidFill>
                <a:latin typeface="Arial"/>
                <a:ea typeface="Arial"/>
                <a:cs typeface="Arial"/>
                <a:sym typeface="Arial"/>
              </a:rPr>
              <a:t> –&gt;  {</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a:t>
            </a:r>
            <a:r>
              <a:rPr b="0" i="0" lang="en-US" sz="1200" u="none" cap="none" strike="noStrike">
                <a:solidFill>
                  <a:schemeClr val="dk1"/>
                </a:solidFill>
                <a:latin typeface="Century Gothic"/>
                <a:ea typeface="Century Gothic"/>
                <a:cs typeface="Century Gothic"/>
                <a:sym typeface="Century Gothic"/>
              </a:rPr>
              <a:t>7,</a:t>
            </a:r>
            <a:r>
              <a:rPr b="1" i="0" lang="en-US" sz="1200" u="none" cap="none" strike="noStrike">
                <a:solidFill>
                  <a:schemeClr val="dk1"/>
                </a:solidFill>
                <a:latin typeface="Century Gothic"/>
                <a:ea typeface="Century Gothic"/>
                <a:cs typeface="Century Gothic"/>
                <a:sym typeface="Century Gothic"/>
              </a:rPr>
              <a:t>11,13, </a:t>
            </a:r>
            <a:r>
              <a:rPr b="0" i="0" lang="en-US" sz="1200" u="none" cap="none" strike="noStrike">
                <a:solidFill>
                  <a:schemeClr val="dk1"/>
                </a:solidFill>
                <a:latin typeface="Century Gothic"/>
                <a:ea typeface="Century Gothic"/>
                <a:cs typeface="Century Gothic"/>
                <a:sym typeface="Century Gothic"/>
              </a:rPr>
              <a:t>22}</a:t>
            </a:r>
            <a:r>
              <a:rPr b="0" i="1" lang="en-US" sz="1300" u="none" cap="none" strike="noStrike">
                <a:solidFill>
                  <a:srgbClr val="273239"/>
                </a:solidFill>
                <a:latin typeface="Arial"/>
                <a:ea typeface="Arial"/>
                <a:cs typeface="Arial"/>
                <a:sym typeface="Arial"/>
              </a:rPr>
              <a:t>  Swap since 13 &gt; 11</a:t>
            </a:r>
            <a:endParaRPr b="0" i="1" sz="1300" u="none" cap="none" strike="noStrike">
              <a:solidFill>
                <a:srgbClr val="273239"/>
              </a:solidFill>
              <a:latin typeface="Arial"/>
              <a:ea typeface="Arial"/>
              <a:cs typeface="Arial"/>
              <a:sym typeface="Arial"/>
            </a:endParaRPr>
          </a:p>
          <a:p>
            <a:pPr indent="-311150" lvl="1" marL="914400" marR="0" rtl="0" algn="l">
              <a:lnSpc>
                <a:spcPct val="158000"/>
              </a:lnSpc>
              <a:spcBef>
                <a:spcPts val="0"/>
              </a:spcBef>
              <a:spcAft>
                <a:spcPts val="0"/>
              </a:spcAft>
              <a:buClr>
                <a:srgbClr val="273239"/>
              </a:buClr>
              <a:buSzPts val="1300"/>
              <a:buFont typeface="Arial"/>
              <a:buChar char="○"/>
            </a:pPr>
            <a:r>
              <a:rPr b="0" i="1" lang="en-US" sz="1300" u="none" cap="none" strike="noStrike">
                <a:solidFill>
                  <a:srgbClr val="273239"/>
                </a:solidFill>
                <a:latin typeface="Arial"/>
                <a:ea typeface="Arial"/>
                <a:cs typeface="Arial"/>
                <a:sym typeface="Arial"/>
              </a:rPr>
              <a:t>{</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a:t>
            </a:r>
            <a:r>
              <a:rPr b="0" i="0" lang="en-US" sz="1200" u="none" cap="none" strike="noStrike">
                <a:solidFill>
                  <a:schemeClr val="dk1"/>
                </a:solidFill>
                <a:latin typeface="Century Gothic"/>
                <a:ea typeface="Century Gothic"/>
                <a:cs typeface="Century Gothic"/>
                <a:sym typeface="Century Gothic"/>
              </a:rPr>
              <a:t>7,11,</a:t>
            </a:r>
            <a:r>
              <a:rPr b="1" i="0" lang="en-US" sz="1200" u="none" cap="none" strike="noStrike">
                <a:solidFill>
                  <a:schemeClr val="dk1"/>
                </a:solidFill>
                <a:latin typeface="Century Gothic"/>
                <a:ea typeface="Century Gothic"/>
                <a:cs typeface="Century Gothic"/>
                <a:sym typeface="Century Gothic"/>
              </a:rPr>
              <a:t>13, 22}</a:t>
            </a:r>
            <a:r>
              <a:rPr b="0" i="1" lang="en-US" sz="1300" u="none" cap="none" strike="noStrike">
                <a:solidFill>
                  <a:srgbClr val="273239"/>
                </a:solidFill>
                <a:latin typeface="Arial"/>
                <a:ea typeface="Arial"/>
                <a:cs typeface="Arial"/>
                <a:sym typeface="Arial"/>
              </a:rPr>
              <a:t>  -&gt; {</a:t>
            </a:r>
            <a:r>
              <a:rPr b="0" i="0" lang="en-US" sz="1200" u="none" cap="none" strike="noStrike">
                <a:solidFill>
                  <a:schemeClr val="dk1"/>
                </a:solidFill>
                <a:latin typeface="Century Gothic"/>
                <a:ea typeface="Century Gothic"/>
                <a:cs typeface="Century Gothic"/>
                <a:sym typeface="Century Gothic"/>
              </a:rPr>
              <a:t>5</a:t>
            </a:r>
            <a:r>
              <a:rPr b="1" i="0" lang="en-US" sz="1200" u="none" cap="none" strike="noStrike">
                <a:solidFill>
                  <a:schemeClr val="dk1"/>
                </a:solidFill>
                <a:latin typeface="Century Gothic"/>
                <a:ea typeface="Century Gothic"/>
                <a:cs typeface="Century Gothic"/>
                <a:sym typeface="Century Gothic"/>
              </a:rPr>
              <a:t>,</a:t>
            </a:r>
            <a:r>
              <a:rPr b="0" i="0" lang="en-US" sz="1200" u="none" cap="none" strike="noStrike">
                <a:solidFill>
                  <a:schemeClr val="dk1"/>
                </a:solidFill>
                <a:latin typeface="Century Gothic"/>
                <a:ea typeface="Century Gothic"/>
                <a:cs typeface="Century Gothic"/>
                <a:sym typeface="Century Gothic"/>
              </a:rPr>
              <a:t>7,11,</a:t>
            </a:r>
            <a:r>
              <a:rPr b="1" i="0" lang="en-US" sz="1200" u="none" cap="none" strike="noStrike">
                <a:solidFill>
                  <a:schemeClr val="dk1"/>
                </a:solidFill>
                <a:latin typeface="Century Gothic"/>
                <a:ea typeface="Century Gothic"/>
                <a:cs typeface="Century Gothic"/>
                <a:sym typeface="Century Gothic"/>
              </a:rPr>
              <a:t>13, 22</a:t>
            </a:r>
            <a:r>
              <a:rPr b="0" i="0" lang="en-US" sz="1200" u="none" cap="none" strike="noStrike">
                <a:solidFill>
                  <a:schemeClr val="dk1"/>
                </a:solidFill>
                <a:latin typeface="Century Gothic"/>
                <a:ea typeface="Century Gothic"/>
                <a:cs typeface="Century Gothic"/>
                <a:sym typeface="Century Gothic"/>
              </a:rPr>
              <a:t>}</a:t>
            </a:r>
            <a:r>
              <a:rPr b="0" i="1" lang="en-US" sz="1300" u="none" cap="none" strike="noStrike">
                <a:solidFill>
                  <a:srgbClr val="273239"/>
                </a:solidFill>
                <a:latin typeface="Arial"/>
                <a:ea typeface="Arial"/>
                <a:cs typeface="Arial"/>
                <a:sym typeface="Arial"/>
              </a:rPr>
              <a:t>  ,  </a:t>
            </a:r>
            <a:r>
              <a:rPr b="0" i="1" lang="en-US" sz="1300" u="none" cap="none" strike="noStrike">
                <a:solidFill>
                  <a:srgbClr val="FF0000"/>
                </a:solidFill>
                <a:latin typeface="Arial"/>
                <a:ea typeface="Arial"/>
                <a:cs typeface="Arial"/>
                <a:sym typeface="Arial"/>
              </a:rPr>
              <a:t>No Swap since 13&lt;22.</a:t>
            </a:r>
            <a:endParaRPr b="0" i="0" sz="1800" u="none" cap="none" strike="noStrike">
              <a:solidFill>
                <a:srgbClr val="FF0000"/>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188d18a41c8_0_24"/>
          <p:cNvSpPr txBox="1"/>
          <p:nvPr>
            <p:ph type="title"/>
          </p:nvPr>
        </p:nvSpPr>
        <p:spPr>
          <a:xfrm>
            <a:off x="292125" y="83450"/>
            <a:ext cx="10168800" cy="72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1" lang="en-US" sz="3300"/>
              <a:t>Example 2: Steps and Number of Comparison</a:t>
            </a:r>
            <a:endParaRPr b="1" sz="3300"/>
          </a:p>
        </p:txBody>
      </p:sp>
      <p:sp>
        <p:nvSpPr>
          <p:cNvPr id="288" name="Google Shape;288;g188d18a41c8_0_24"/>
          <p:cNvSpPr txBox="1"/>
          <p:nvPr>
            <p:ph idx="1" type="body"/>
          </p:nvPr>
        </p:nvSpPr>
        <p:spPr>
          <a:xfrm>
            <a:off x="0" y="981800"/>
            <a:ext cx="6399000" cy="5333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1100"/>
              <a:buFont typeface="Arial"/>
              <a:buNone/>
            </a:pPr>
            <a:r>
              <a:rPr lang="en-US" sz="2600"/>
              <a:t>// n=4, comparison=n-1</a:t>
            </a:r>
            <a:endParaRPr sz="2600"/>
          </a:p>
          <a:p>
            <a:pPr indent="0" lvl="0" marL="0" rtl="0" algn="l">
              <a:lnSpc>
                <a:spcPct val="100000"/>
              </a:lnSpc>
              <a:spcBef>
                <a:spcPts val="1000"/>
              </a:spcBef>
              <a:spcAft>
                <a:spcPts val="0"/>
              </a:spcAft>
              <a:buSzPts val="1440"/>
              <a:buNone/>
            </a:pPr>
            <a:r>
              <a:t/>
            </a:r>
            <a:endParaRPr sz="2600"/>
          </a:p>
          <a:p>
            <a:pPr indent="0" lvl="0" marL="0" rtl="0" algn="l">
              <a:lnSpc>
                <a:spcPct val="100000"/>
              </a:lnSpc>
              <a:spcBef>
                <a:spcPts val="1000"/>
              </a:spcBef>
              <a:spcAft>
                <a:spcPts val="0"/>
              </a:spcAft>
              <a:buSzPts val="1440"/>
              <a:buNone/>
            </a:pPr>
            <a:r>
              <a:rPr lang="en-US" sz="2600"/>
              <a:t>int arr[4]={12,55,5,18};</a:t>
            </a:r>
            <a:endParaRPr sz="2600"/>
          </a:p>
          <a:p>
            <a:pPr indent="0" lvl="0" marL="0" rtl="0" algn="l">
              <a:lnSpc>
                <a:spcPct val="100000"/>
              </a:lnSpc>
              <a:spcBef>
                <a:spcPts val="1000"/>
              </a:spcBef>
              <a:spcAft>
                <a:spcPts val="0"/>
              </a:spcAft>
              <a:buSzPts val="1440"/>
              <a:buNone/>
            </a:pPr>
            <a:r>
              <a:t/>
            </a:r>
            <a:endParaRPr sz="2600"/>
          </a:p>
          <a:p>
            <a:pPr indent="0" lvl="0" marL="0" rtl="0" algn="l">
              <a:lnSpc>
                <a:spcPct val="100000"/>
              </a:lnSpc>
              <a:spcBef>
                <a:spcPts val="1000"/>
              </a:spcBef>
              <a:spcAft>
                <a:spcPts val="0"/>
              </a:spcAft>
              <a:buSzPts val="1440"/>
              <a:buNone/>
            </a:pPr>
            <a:r>
              <a:rPr lang="en-US" sz="2600"/>
              <a:t>The number of comparison is always n-1</a:t>
            </a:r>
            <a:endParaRPr sz="2600"/>
          </a:p>
          <a:p>
            <a:pPr indent="0" lvl="0" marL="0" rtl="0" algn="l">
              <a:lnSpc>
                <a:spcPct val="100000"/>
              </a:lnSpc>
              <a:spcBef>
                <a:spcPts val="1000"/>
              </a:spcBef>
              <a:spcAft>
                <a:spcPts val="0"/>
              </a:spcAft>
              <a:buSzPts val="1440"/>
              <a:buNone/>
            </a:pPr>
            <a:r>
              <a:t/>
            </a:r>
            <a:endParaRPr sz="2600"/>
          </a:p>
          <a:p>
            <a:pPr indent="-393700" lvl="0" marL="685800" rtl="0" algn="l">
              <a:lnSpc>
                <a:spcPct val="158000"/>
              </a:lnSpc>
              <a:spcBef>
                <a:spcPts val="0"/>
              </a:spcBef>
              <a:spcAft>
                <a:spcPts val="0"/>
              </a:spcAft>
              <a:buClr>
                <a:srgbClr val="273239"/>
              </a:buClr>
              <a:buSzPts val="2600"/>
              <a:buFont typeface="Arial"/>
              <a:buChar char="●"/>
            </a:pPr>
            <a:r>
              <a:rPr lang="en-US" sz="2600">
                <a:solidFill>
                  <a:srgbClr val="273239"/>
                </a:solidFill>
                <a:latin typeface="Arial"/>
                <a:ea typeface="Arial"/>
                <a:cs typeface="Arial"/>
                <a:sym typeface="Arial"/>
              </a:rPr>
              <a:t>If </a:t>
            </a:r>
            <a:r>
              <a:rPr b="1" lang="en-US" sz="2600">
                <a:solidFill>
                  <a:srgbClr val="273239"/>
                </a:solidFill>
                <a:latin typeface="Arial"/>
                <a:ea typeface="Arial"/>
                <a:cs typeface="Arial"/>
                <a:sym typeface="Arial"/>
              </a:rPr>
              <a:t>arr[j]</a:t>
            </a:r>
            <a:r>
              <a:rPr lang="en-US" sz="2600">
                <a:solidFill>
                  <a:srgbClr val="273239"/>
                </a:solidFill>
                <a:latin typeface="Arial"/>
                <a:ea typeface="Arial"/>
                <a:cs typeface="Arial"/>
                <a:sym typeface="Arial"/>
              </a:rPr>
              <a:t> is greater than </a:t>
            </a:r>
            <a:r>
              <a:rPr b="1" lang="en-US" sz="2600">
                <a:solidFill>
                  <a:srgbClr val="273239"/>
                </a:solidFill>
                <a:latin typeface="Arial"/>
                <a:ea typeface="Arial"/>
                <a:cs typeface="Arial"/>
                <a:sym typeface="Arial"/>
              </a:rPr>
              <a:t>arr[j+1]</a:t>
            </a:r>
            <a:r>
              <a:rPr lang="en-US" sz="2600">
                <a:solidFill>
                  <a:srgbClr val="273239"/>
                </a:solidFill>
                <a:latin typeface="Arial"/>
                <a:ea typeface="Arial"/>
                <a:cs typeface="Arial"/>
                <a:sym typeface="Arial"/>
              </a:rPr>
              <a:t> then swap these adjacent elements, else move on</a:t>
            </a:r>
            <a:endParaRPr sz="2600"/>
          </a:p>
        </p:txBody>
      </p:sp>
      <p:pic>
        <p:nvPicPr>
          <p:cNvPr id="289" name="Google Shape;289;g188d18a41c8_0_24"/>
          <p:cNvPicPr preferRelativeResize="0"/>
          <p:nvPr/>
        </p:nvPicPr>
        <p:blipFill rotWithShape="1">
          <a:blip r:embed="rId3">
            <a:alphaModFix/>
          </a:blip>
          <a:srcRect b="0" l="0" r="0" t="0"/>
          <a:stretch/>
        </p:blipFill>
        <p:spPr>
          <a:xfrm>
            <a:off x="7649350" y="549775"/>
            <a:ext cx="4320550" cy="6299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54d4f699c4_0_10"/>
          <p:cNvSpPr txBox="1"/>
          <p:nvPr>
            <p:ph type="title"/>
          </p:nvPr>
        </p:nvSpPr>
        <p:spPr>
          <a:xfrm>
            <a:off x="292125" y="83450"/>
            <a:ext cx="10168800" cy="72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1" lang="en-US" sz="3300"/>
              <a:t>Example 2: Steps and Number of Comparison</a:t>
            </a:r>
            <a:endParaRPr b="1" sz="3300"/>
          </a:p>
        </p:txBody>
      </p:sp>
      <p:sp>
        <p:nvSpPr>
          <p:cNvPr id="295" name="Google Shape;295;g154d4f699c4_0_10"/>
          <p:cNvSpPr txBox="1"/>
          <p:nvPr>
            <p:ph idx="1" type="body"/>
          </p:nvPr>
        </p:nvSpPr>
        <p:spPr>
          <a:xfrm>
            <a:off x="0" y="981800"/>
            <a:ext cx="6399000" cy="5673900"/>
          </a:xfrm>
          <a:prstGeom prst="rect">
            <a:avLst/>
          </a:prstGeom>
          <a:noFill/>
          <a:ln>
            <a:noFill/>
          </a:ln>
        </p:spPr>
        <p:txBody>
          <a:bodyPr anchorCtr="0" anchor="t" bIns="45700" lIns="91425" spcFirstLastPara="1" rIns="91425" wrap="square" tIns="45700">
            <a:normAutofit fontScale="47500" lnSpcReduction="10000"/>
          </a:bodyPr>
          <a:lstStyle/>
          <a:p>
            <a:pPr indent="0" lvl="0" marL="0" rtl="0" algn="l">
              <a:lnSpc>
                <a:spcPct val="158000"/>
              </a:lnSpc>
              <a:spcBef>
                <a:spcPts val="0"/>
              </a:spcBef>
              <a:spcAft>
                <a:spcPts val="0"/>
              </a:spcAft>
              <a:buSzPct val="116599"/>
              <a:buNone/>
            </a:pPr>
            <a:r>
              <a:rPr lang="en-US" sz="2600"/>
              <a:t>#include&lt;iostream&gt;</a:t>
            </a:r>
            <a:endParaRPr sz="2600"/>
          </a:p>
          <a:p>
            <a:pPr indent="0" lvl="0" marL="0" rtl="0" algn="l">
              <a:lnSpc>
                <a:spcPct val="158000"/>
              </a:lnSpc>
              <a:spcBef>
                <a:spcPts val="0"/>
              </a:spcBef>
              <a:spcAft>
                <a:spcPts val="0"/>
              </a:spcAft>
              <a:buSzPct val="116599"/>
              <a:buNone/>
            </a:pPr>
            <a:r>
              <a:rPr lang="en-US" sz="2600"/>
              <a:t>using namespace std;</a:t>
            </a:r>
            <a:endParaRPr sz="2600"/>
          </a:p>
          <a:p>
            <a:pPr indent="0" lvl="0" marL="0" rtl="0" algn="l">
              <a:lnSpc>
                <a:spcPct val="158000"/>
              </a:lnSpc>
              <a:spcBef>
                <a:spcPts val="0"/>
              </a:spcBef>
              <a:spcAft>
                <a:spcPts val="0"/>
              </a:spcAft>
              <a:buSzPct val="116599"/>
              <a:buNone/>
            </a:pPr>
            <a:r>
              <a:rPr lang="en-US" sz="2600"/>
              <a:t>int main(){</a:t>
            </a:r>
            <a:endParaRPr sz="2600"/>
          </a:p>
          <a:p>
            <a:pPr indent="0" lvl="0" marL="0" rtl="0" algn="l">
              <a:lnSpc>
                <a:spcPct val="158000"/>
              </a:lnSpc>
              <a:spcBef>
                <a:spcPts val="0"/>
              </a:spcBef>
              <a:spcAft>
                <a:spcPts val="0"/>
              </a:spcAft>
              <a:buSzPct val="116599"/>
              <a:buNone/>
            </a:pPr>
            <a:r>
              <a:rPr lang="en-US" sz="2600"/>
              <a:t>int iteration,j,temp,n=9;</a:t>
            </a:r>
            <a:endParaRPr sz="2600"/>
          </a:p>
          <a:p>
            <a:pPr indent="0" lvl="0" marL="0" rtl="0" algn="l">
              <a:lnSpc>
                <a:spcPct val="158000"/>
              </a:lnSpc>
              <a:spcBef>
                <a:spcPts val="0"/>
              </a:spcBef>
              <a:spcAft>
                <a:spcPts val="0"/>
              </a:spcAft>
              <a:buSzPct val="116599"/>
              <a:buNone/>
            </a:pPr>
            <a:r>
              <a:rPr lang="en-US" sz="2600"/>
              <a:t>int num[n]={1,2,3,4,5,6,7,8,9};</a:t>
            </a:r>
            <a:endParaRPr sz="2600"/>
          </a:p>
          <a:p>
            <a:pPr indent="0" lvl="0" marL="0" rtl="0" algn="l">
              <a:lnSpc>
                <a:spcPct val="158000"/>
              </a:lnSpc>
              <a:spcBef>
                <a:spcPts val="0"/>
              </a:spcBef>
              <a:spcAft>
                <a:spcPts val="0"/>
              </a:spcAft>
              <a:buSzPct val="116599"/>
              <a:buNone/>
            </a:pPr>
            <a:r>
              <a:rPr lang="en-US" sz="2600"/>
              <a:t>cout&lt;&lt;" The unsorted array"&lt;&lt;endl;</a:t>
            </a:r>
            <a:endParaRPr sz="2600"/>
          </a:p>
          <a:p>
            <a:pPr indent="0" lvl="0" marL="0" rtl="0" algn="l">
              <a:lnSpc>
                <a:spcPct val="158000"/>
              </a:lnSpc>
              <a:spcBef>
                <a:spcPts val="0"/>
              </a:spcBef>
              <a:spcAft>
                <a:spcPts val="0"/>
              </a:spcAft>
              <a:buSzPct val="116599"/>
              <a:buNone/>
            </a:pPr>
            <a:r>
              <a:rPr lang="en-US" sz="2600"/>
              <a:t>for(int i=0;i&lt;n;i++){</a:t>
            </a:r>
            <a:endParaRPr sz="2600"/>
          </a:p>
          <a:p>
            <a:pPr indent="0" lvl="0" marL="0" rtl="0" algn="l">
              <a:lnSpc>
                <a:spcPct val="158000"/>
              </a:lnSpc>
              <a:spcBef>
                <a:spcPts val="0"/>
              </a:spcBef>
              <a:spcAft>
                <a:spcPts val="0"/>
              </a:spcAft>
              <a:buSzPct val="116599"/>
              <a:buNone/>
            </a:pPr>
            <a:r>
              <a:rPr lang="en-US" sz="2600"/>
              <a:t>cout&lt;&lt;num[i]&lt;&lt;"\t";</a:t>
            </a:r>
            <a:endParaRPr sz="2600"/>
          </a:p>
          <a:p>
            <a:pPr indent="0" lvl="0" marL="0" rtl="0" algn="l">
              <a:lnSpc>
                <a:spcPct val="158000"/>
              </a:lnSpc>
              <a:spcBef>
                <a:spcPts val="0"/>
              </a:spcBef>
              <a:spcAft>
                <a:spcPts val="0"/>
              </a:spcAft>
              <a:buSzPct val="116599"/>
              <a:buNone/>
            </a:pPr>
            <a:r>
              <a:rPr lang="en-US" sz="2600"/>
              <a:t>}</a:t>
            </a:r>
            <a:endParaRPr sz="2600"/>
          </a:p>
          <a:p>
            <a:pPr indent="0" lvl="0" marL="0" rtl="0" algn="l">
              <a:lnSpc>
                <a:spcPct val="158000"/>
              </a:lnSpc>
              <a:spcBef>
                <a:spcPts val="0"/>
              </a:spcBef>
              <a:spcAft>
                <a:spcPts val="0"/>
              </a:spcAft>
              <a:buSzPct val="116599"/>
              <a:buNone/>
            </a:pPr>
            <a:r>
              <a:rPr lang="en-US" sz="2600"/>
              <a:t>cout&lt;&lt;endl;</a:t>
            </a:r>
            <a:endParaRPr sz="2600"/>
          </a:p>
          <a:p>
            <a:pPr indent="0" lvl="0" marL="0" rtl="0" algn="l">
              <a:lnSpc>
                <a:spcPct val="158000"/>
              </a:lnSpc>
              <a:spcBef>
                <a:spcPts val="0"/>
              </a:spcBef>
              <a:spcAft>
                <a:spcPts val="0"/>
              </a:spcAft>
              <a:buSzPct val="116599"/>
              <a:buNone/>
            </a:pPr>
            <a:r>
              <a:rPr lang="en-US" sz="2600"/>
              <a:t>for(iteration=1;iteration&lt;n;iteration++){</a:t>
            </a:r>
            <a:endParaRPr sz="2600"/>
          </a:p>
          <a:p>
            <a:pPr indent="0" lvl="0" marL="0" rtl="0" algn="l">
              <a:lnSpc>
                <a:spcPct val="158000"/>
              </a:lnSpc>
              <a:spcBef>
                <a:spcPts val="0"/>
              </a:spcBef>
              <a:spcAft>
                <a:spcPts val="0"/>
              </a:spcAft>
              <a:buSzPct val="116599"/>
              <a:buNone/>
            </a:pPr>
            <a:r>
              <a:rPr lang="en-US" sz="2600"/>
              <a:t>cout&lt;&lt;"Iteration="&lt;&lt;iteration&lt;&lt;endl;</a:t>
            </a:r>
            <a:endParaRPr sz="2600"/>
          </a:p>
          <a:p>
            <a:pPr indent="0" lvl="0" marL="0" rtl="0" algn="l">
              <a:lnSpc>
                <a:spcPct val="158000"/>
              </a:lnSpc>
              <a:spcBef>
                <a:spcPts val="0"/>
              </a:spcBef>
              <a:spcAft>
                <a:spcPts val="0"/>
              </a:spcAft>
              <a:buSzPct val="116599"/>
              <a:buNone/>
            </a:pPr>
            <a:r>
              <a:rPr lang="en-US" sz="2600"/>
              <a:t>int check=0;</a:t>
            </a:r>
            <a:endParaRPr sz="2600"/>
          </a:p>
          <a:p>
            <a:pPr indent="0" lvl="0" marL="0" rtl="0" algn="l">
              <a:lnSpc>
                <a:spcPct val="158000"/>
              </a:lnSpc>
              <a:spcBef>
                <a:spcPts val="0"/>
              </a:spcBef>
              <a:spcAft>
                <a:spcPts val="0"/>
              </a:spcAft>
              <a:buSzPct val="116599"/>
              <a:buNone/>
            </a:pPr>
            <a:r>
              <a:rPr lang="en-US" sz="2600"/>
              <a:t>for (j=0;j&lt;n-1;j++){</a:t>
            </a:r>
            <a:endParaRPr sz="2600"/>
          </a:p>
          <a:p>
            <a:pPr indent="0" lvl="0" marL="0" rtl="0" algn="l">
              <a:lnSpc>
                <a:spcPct val="158000"/>
              </a:lnSpc>
              <a:spcBef>
                <a:spcPts val="0"/>
              </a:spcBef>
              <a:spcAft>
                <a:spcPts val="0"/>
              </a:spcAft>
              <a:buSzPct val="116599"/>
              <a:buNone/>
            </a:pPr>
            <a:r>
              <a:rPr lang="en-US" sz="2600"/>
              <a:t>if(num[j+1]&lt;num[j]){</a:t>
            </a:r>
            <a:endParaRPr sz="2600"/>
          </a:p>
          <a:p>
            <a:pPr indent="0" lvl="0" marL="0" rtl="0" algn="l">
              <a:lnSpc>
                <a:spcPct val="158000"/>
              </a:lnSpc>
              <a:spcBef>
                <a:spcPts val="0"/>
              </a:spcBef>
              <a:spcAft>
                <a:spcPts val="0"/>
              </a:spcAft>
              <a:buSzPct val="116599"/>
              <a:buNone/>
            </a:pPr>
            <a:r>
              <a:rPr lang="en-US" sz="2600"/>
              <a:t>temp=num[j];</a:t>
            </a:r>
            <a:endParaRPr sz="2600"/>
          </a:p>
          <a:p>
            <a:pPr indent="0" lvl="0" marL="0" rtl="0" algn="l">
              <a:lnSpc>
                <a:spcPct val="158000"/>
              </a:lnSpc>
              <a:spcBef>
                <a:spcPts val="0"/>
              </a:spcBef>
              <a:spcAft>
                <a:spcPts val="0"/>
              </a:spcAft>
              <a:buSzPct val="116599"/>
              <a:buNone/>
            </a:pPr>
            <a:r>
              <a:rPr lang="en-US" sz="2600"/>
              <a:t>num[j]=num[j+1];</a:t>
            </a:r>
            <a:endParaRPr sz="2600"/>
          </a:p>
          <a:p>
            <a:pPr indent="0" lvl="0" marL="0" rtl="0" algn="l">
              <a:lnSpc>
                <a:spcPct val="158000"/>
              </a:lnSpc>
              <a:spcBef>
                <a:spcPts val="0"/>
              </a:spcBef>
              <a:spcAft>
                <a:spcPts val="0"/>
              </a:spcAft>
              <a:buSzPct val="116599"/>
              <a:buNone/>
            </a:pPr>
            <a:r>
              <a:rPr lang="en-US" sz="2600"/>
              <a:t>num[j+1]=temp;</a:t>
            </a:r>
            <a:endParaRPr sz="2600"/>
          </a:p>
          <a:p>
            <a:pPr indent="0" lvl="0" marL="0" rtl="0" algn="l">
              <a:lnSpc>
                <a:spcPct val="158000"/>
              </a:lnSpc>
              <a:spcBef>
                <a:spcPts val="0"/>
              </a:spcBef>
              <a:spcAft>
                <a:spcPts val="0"/>
              </a:spcAft>
              <a:buSzPct val="116599"/>
              <a:buNone/>
            </a:pPr>
            <a:r>
              <a:rPr lang="en-US" sz="2600"/>
              <a:t>check=1;</a:t>
            </a:r>
            <a:endParaRPr sz="2600"/>
          </a:p>
          <a:p>
            <a:pPr indent="0" lvl="0" marL="0" rtl="0" algn="l">
              <a:lnSpc>
                <a:spcPct val="158000"/>
              </a:lnSpc>
              <a:spcBef>
                <a:spcPts val="0"/>
              </a:spcBef>
              <a:spcAft>
                <a:spcPts val="3600"/>
              </a:spcAft>
              <a:buSzPct val="116599"/>
              <a:buNone/>
            </a:pPr>
            <a:r>
              <a:rPr lang="en-US" sz="2600"/>
              <a:t>}</a:t>
            </a:r>
            <a:endParaRPr sz="2600"/>
          </a:p>
        </p:txBody>
      </p:sp>
      <p:sp>
        <p:nvSpPr>
          <p:cNvPr id="296" name="Google Shape;296;g154d4f699c4_0_10"/>
          <p:cNvSpPr txBox="1"/>
          <p:nvPr/>
        </p:nvSpPr>
        <p:spPr>
          <a:xfrm>
            <a:off x="6277925" y="1690200"/>
            <a:ext cx="5135100" cy="511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cout&lt;&lt;endl;</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cout&lt;&lt;"J="&lt;&lt;j&lt;&lt;endl;</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for(int k=0;k&lt;n;k++){</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cout&lt;&lt;num[k]&lt;&lt;"\t";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cout&lt;&lt;endl;</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if(check==0){</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break;</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cout&lt;&lt;"The sorted array is "&lt;&lt;endl;</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for(int i=0;i&lt;n;i++){</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cout&lt;&lt;num[i]&lt;&lt;"\t";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cout&lt;&lt;endl;</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return 0;</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a:t>
            </a:r>
            <a:endParaRPr b="0" i="0" sz="16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19af06bc61_2_0"/>
          <p:cNvSpPr txBox="1"/>
          <p:nvPr>
            <p:ph type="title"/>
          </p:nvPr>
        </p:nvSpPr>
        <p:spPr>
          <a:xfrm>
            <a:off x="65275" y="-4"/>
            <a:ext cx="9404700" cy="678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Using a Function</a:t>
            </a:r>
            <a:endParaRPr/>
          </a:p>
        </p:txBody>
      </p:sp>
      <p:sp>
        <p:nvSpPr>
          <p:cNvPr id="302" name="Google Shape;302;g319af06bc61_2_0"/>
          <p:cNvSpPr txBox="1"/>
          <p:nvPr>
            <p:ph idx="1" type="body"/>
          </p:nvPr>
        </p:nvSpPr>
        <p:spPr>
          <a:xfrm>
            <a:off x="512875" y="750475"/>
            <a:ext cx="5287500" cy="61074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275"/>
              <a:buFont typeface="Arial"/>
              <a:buNone/>
            </a:pPr>
            <a:r>
              <a:rPr lang="en-US" sz="1900"/>
              <a:t>#include&lt;iostream&gt;</a:t>
            </a:r>
            <a:endParaRPr sz="1900"/>
          </a:p>
          <a:p>
            <a:pPr indent="0" lvl="0" marL="0" rtl="0" algn="l">
              <a:lnSpc>
                <a:spcPct val="80000"/>
              </a:lnSpc>
              <a:spcBef>
                <a:spcPts val="1000"/>
              </a:spcBef>
              <a:spcAft>
                <a:spcPts val="0"/>
              </a:spcAft>
              <a:buClr>
                <a:schemeClr val="dk1"/>
              </a:buClr>
              <a:buSzPts val="275"/>
              <a:buFont typeface="Arial"/>
              <a:buNone/>
            </a:pPr>
            <a:r>
              <a:rPr lang="en-US" sz="1900"/>
              <a:t>using namespace std;</a:t>
            </a:r>
            <a:endParaRPr sz="1900"/>
          </a:p>
          <a:p>
            <a:pPr indent="0" lvl="0" marL="0" rtl="0" algn="l">
              <a:lnSpc>
                <a:spcPct val="80000"/>
              </a:lnSpc>
              <a:spcBef>
                <a:spcPts val="1000"/>
              </a:spcBef>
              <a:spcAft>
                <a:spcPts val="0"/>
              </a:spcAft>
              <a:buClr>
                <a:schemeClr val="dk1"/>
              </a:buClr>
              <a:buSzPts val="275"/>
              <a:buFont typeface="Arial"/>
              <a:buNone/>
            </a:pPr>
            <a:r>
              <a:rPr lang="en-US" sz="1900"/>
              <a:t> void bubbleSort(int arr[], int n){</a:t>
            </a:r>
            <a:endParaRPr sz="1900"/>
          </a:p>
          <a:p>
            <a:pPr indent="0" lvl="0" marL="457200" rtl="0" algn="l">
              <a:lnSpc>
                <a:spcPct val="80000"/>
              </a:lnSpc>
              <a:spcBef>
                <a:spcPts val="1000"/>
              </a:spcBef>
              <a:spcAft>
                <a:spcPts val="0"/>
              </a:spcAft>
              <a:buClr>
                <a:schemeClr val="dk1"/>
              </a:buClr>
              <a:buSzPts val="275"/>
              <a:buFont typeface="Arial"/>
              <a:buNone/>
            </a:pPr>
            <a:r>
              <a:rPr lang="en-US" sz="1900"/>
              <a:t> for( int i=0;i&lt;n-1;i++)</a:t>
            </a:r>
            <a:endParaRPr sz="1900"/>
          </a:p>
          <a:p>
            <a:pPr indent="0" lvl="0" marL="457200" rtl="0" algn="l">
              <a:lnSpc>
                <a:spcPct val="80000"/>
              </a:lnSpc>
              <a:spcBef>
                <a:spcPts val="1000"/>
              </a:spcBef>
              <a:spcAft>
                <a:spcPts val="0"/>
              </a:spcAft>
              <a:buClr>
                <a:schemeClr val="dk1"/>
              </a:buClr>
              <a:buSzPts val="275"/>
              <a:buFont typeface="Arial"/>
              <a:buNone/>
            </a:pPr>
            <a:r>
              <a:rPr lang="en-US" sz="1900"/>
              <a:t> {</a:t>
            </a:r>
            <a:endParaRPr sz="1900"/>
          </a:p>
          <a:p>
            <a:pPr indent="0" lvl="0" marL="457200" rtl="0" algn="l">
              <a:lnSpc>
                <a:spcPct val="80000"/>
              </a:lnSpc>
              <a:spcBef>
                <a:spcPts val="1000"/>
              </a:spcBef>
              <a:spcAft>
                <a:spcPts val="0"/>
              </a:spcAft>
              <a:buClr>
                <a:schemeClr val="dk1"/>
              </a:buClr>
              <a:buSzPts val="275"/>
              <a:buFont typeface="Arial"/>
              <a:buNone/>
            </a:pPr>
            <a:r>
              <a:rPr lang="en-US" sz="1900"/>
              <a:t> for(int j=0;j&lt;n-1;j++)</a:t>
            </a:r>
            <a:endParaRPr sz="1900"/>
          </a:p>
          <a:p>
            <a:pPr indent="0" lvl="0" marL="914400" rtl="0" algn="l">
              <a:lnSpc>
                <a:spcPct val="80000"/>
              </a:lnSpc>
              <a:spcBef>
                <a:spcPts val="1000"/>
              </a:spcBef>
              <a:spcAft>
                <a:spcPts val="0"/>
              </a:spcAft>
              <a:buClr>
                <a:schemeClr val="dk1"/>
              </a:buClr>
              <a:buSzPts val="275"/>
              <a:buFont typeface="Arial"/>
              <a:buNone/>
            </a:pPr>
            <a:r>
              <a:rPr lang="en-US" sz="1900"/>
              <a:t> {</a:t>
            </a:r>
            <a:endParaRPr sz="1900"/>
          </a:p>
          <a:p>
            <a:pPr indent="0" lvl="0" marL="1371600" rtl="0" algn="l">
              <a:lnSpc>
                <a:spcPct val="80000"/>
              </a:lnSpc>
              <a:spcBef>
                <a:spcPts val="1000"/>
              </a:spcBef>
              <a:spcAft>
                <a:spcPts val="0"/>
              </a:spcAft>
              <a:buClr>
                <a:schemeClr val="dk1"/>
              </a:buClr>
              <a:buSzPts val="275"/>
              <a:buFont typeface="Arial"/>
              <a:buNone/>
            </a:pPr>
            <a:r>
              <a:rPr lang="en-US" sz="1900"/>
              <a:t> if(arr[j]&gt;arr[j+1])</a:t>
            </a:r>
            <a:endParaRPr sz="1900"/>
          </a:p>
          <a:p>
            <a:pPr indent="0" lvl="0" marL="1371600" rtl="0" algn="l">
              <a:lnSpc>
                <a:spcPct val="80000"/>
              </a:lnSpc>
              <a:spcBef>
                <a:spcPts val="1000"/>
              </a:spcBef>
              <a:spcAft>
                <a:spcPts val="0"/>
              </a:spcAft>
              <a:buClr>
                <a:schemeClr val="dk1"/>
              </a:buClr>
              <a:buSzPts val="275"/>
              <a:buFont typeface="Arial"/>
              <a:buNone/>
            </a:pPr>
            <a:r>
              <a:rPr lang="en-US" sz="1900"/>
              <a:t> {</a:t>
            </a:r>
            <a:endParaRPr sz="1900"/>
          </a:p>
          <a:p>
            <a:pPr indent="0" lvl="0" marL="1371600" rtl="0" algn="l">
              <a:lnSpc>
                <a:spcPct val="80000"/>
              </a:lnSpc>
              <a:spcBef>
                <a:spcPts val="1000"/>
              </a:spcBef>
              <a:spcAft>
                <a:spcPts val="0"/>
              </a:spcAft>
              <a:buClr>
                <a:schemeClr val="dk1"/>
              </a:buClr>
              <a:buSzPts val="275"/>
              <a:buFont typeface="Arial"/>
              <a:buNone/>
            </a:pPr>
            <a:r>
              <a:rPr lang="en-US" sz="1900"/>
              <a:t> int temp=arr[j];</a:t>
            </a:r>
            <a:endParaRPr sz="1900"/>
          </a:p>
          <a:p>
            <a:pPr indent="0" lvl="0" marL="1371600" rtl="0" algn="l">
              <a:lnSpc>
                <a:spcPct val="80000"/>
              </a:lnSpc>
              <a:spcBef>
                <a:spcPts val="1000"/>
              </a:spcBef>
              <a:spcAft>
                <a:spcPts val="0"/>
              </a:spcAft>
              <a:buClr>
                <a:schemeClr val="dk1"/>
              </a:buClr>
              <a:buSzPts val="275"/>
              <a:buFont typeface="Arial"/>
              <a:buNone/>
            </a:pPr>
            <a:r>
              <a:rPr lang="en-US" sz="1900"/>
              <a:t> arr[j]=arr[j+1];</a:t>
            </a:r>
            <a:endParaRPr sz="1900"/>
          </a:p>
          <a:p>
            <a:pPr indent="0" lvl="0" marL="1371600" rtl="0" algn="l">
              <a:lnSpc>
                <a:spcPct val="80000"/>
              </a:lnSpc>
              <a:spcBef>
                <a:spcPts val="1000"/>
              </a:spcBef>
              <a:spcAft>
                <a:spcPts val="0"/>
              </a:spcAft>
              <a:buClr>
                <a:schemeClr val="dk1"/>
              </a:buClr>
              <a:buSzPts val="275"/>
              <a:buFont typeface="Arial"/>
              <a:buNone/>
            </a:pPr>
            <a:r>
              <a:rPr lang="en-US" sz="1900"/>
              <a:t> arr[j+1]=temp;</a:t>
            </a:r>
            <a:endParaRPr sz="1900"/>
          </a:p>
          <a:p>
            <a:pPr indent="0" lvl="0" marL="1371600" rtl="0" algn="l">
              <a:lnSpc>
                <a:spcPct val="80000"/>
              </a:lnSpc>
              <a:spcBef>
                <a:spcPts val="1000"/>
              </a:spcBef>
              <a:spcAft>
                <a:spcPts val="0"/>
              </a:spcAft>
              <a:buSzPts val="275"/>
              <a:buNone/>
            </a:pPr>
            <a:r>
              <a:rPr lang="en-US" sz="1900"/>
              <a:t> }</a:t>
            </a:r>
            <a:endParaRPr sz="1900"/>
          </a:p>
          <a:p>
            <a:pPr indent="0" lvl="0" marL="914400" rtl="0" algn="l">
              <a:lnSpc>
                <a:spcPct val="80000"/>
              </a:lnSpc>
              <a:spcBef>
                <a:spcPts val="1000"/>
              </a:spcBef>
              <a:spcAft>
                <a:spcPts val="0"/>
              </a:spcAft>
              <a:buSzPts val="275"/>
              <a:buNone/>
            </a:pPr>
            <a:r>
              <a:rPr lang="en-US" sz="1900"/>
              <a:t>}</a:t>
            </a:r>
            <a:endParaRPr sz="1900"/>
          </a:p>
          <a:p>
            <a:pPr indent="0" lvl="0" marL="457200" rtl="0" algn="l">
              <a:lnSpc>
                <a:spcPct val="80000"/>
              </a:lnSpc>
              <a:spcBef>
                <a:spcPts val="1000"/>
              </a:spcBef>
              <a:spcAft>
                <a:spcPts val="0"/>
              </a:spcAft>
              <a:buClr>
                <a:schemeClr val="dk1"/>
              </a:buClr>
              <a:buSzPts val="275"/>
              <a:buFont typeface="Arial"/>
              <a:buNone/>
            </a:pPr>
            <a:r>
              <a:rPr lang="en-US" sz="1900"/>
              <a:t>} }</a:t>
            </a:r>
            <a:endParaRPr sz="1900"/>
          </a:p>
          <a:p>
            <a:pPr indent="0" lvl="0" marL="0" rtl="0" algn="l">
              <a:lnSpc>
                <a:spcPct val="80000"/>
              </a:lnSpc>
              <a:spcBef>
                <a:spcPts val="1000"/>
              </a:spcBef>
              <a:spcAft>
                <a:spcPts val="0"/>
              </a:spcAft>
              <a:buClr>
                <a:schemeClr val="dk1"/>
              </a:buClr>
              <a:buSzPts val="275"/>
              <a:buFont typeface="Arial"/>
              <a:buNone/>
            </a:pPr>
            <a:r>
              <a:t/>
            </a:r>
            <a:endParaRPr sz="1900"/>
          </a:p>
          <a:p>
            <a:pPr indent="0" lvl="0" marL="0" rtl="0" algn="l">
              <a:lnSpc>
                <a:spcPct val="80000"/>
              </a:lnSpc>
              <a:spcBef>
                <a:spcPts val="1000"/>
              </a:spcBef>
              <a:spcAft>
                <a:spcPts val="0"/>
              </a:spcAft>
              <a:buSzPts val="275"/>
              <a:buNone/>
            </a:pPr>
            <a:r>
              <a:t/>
            </a:r>
            <a:endParaRPr sz="1900"/>
          </a:p>
        </p:txBody>
      </p:sp>
      <p:sp>
        <p:nvSpPr>
          <p:cNvPr id="303" name="Google Shape;303;g319af06bc61_2_0"/>
          <p:cNvSpPr txBox="1"/>
          <p:nvPr/>
        </p:nvSpPr>
        <p:spPr>
          <a:xfrm>
            <a:off x="6472975" y="1112725"/>
            <a:ext cx="5686800" cy="478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int main(){</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int n=9;</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int arr[n]={5,9,1,10,3,6,4,8,2};</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bubbleSort(arr,n);</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for(int k=0;k&lt;n;k++){</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cout&lt;&lt;arr[k]&lt;&lt;" ";</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cout&lt;&lt;endl;</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return 0;</a:t>
            </a:r>
            <a:endParaRPr sz="2800">
              <a:solidFill>
                <a:schemeClr val="dk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rPr lang="en-US" sz="2800">
                <a:solidFill>
                  <a:schemeClr val="dk1"/>
                </a:solidFill>
                <a:latin typeface="Century Gothic"/>
                <a:ea typeface="Century Gothic"/>
                <a:cs typeface="Century Gothic"/>
                <a:sym typeface="Century Gothic"/>
              </a:rPr>
              <a:t> }</a:t>
            </a:r>
            <a:endParaRPr sz="3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88d18a41c8_0_18"/>
          <p:cNvSpPr txBox="1"/>
          <p:nvPr>
            <p:ph type="title"/>
          </p:nvPr>
        </p:nvSpPr>
        <p:spPr>
          <a:xfrm>
            <a:off x="125201" y="77150"/>
            <a:ext cx="59694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Example 3:Visual illustration</a:t>
            </a:r>
            <a:endParaRPr/>
          </a:p>
        </p:txBody>
      </p:sp>
      <p:sp>
        <p:nvSpPr>
          <p:cNvPr id="309" name="Google Shape;309;g188d18a41c8_0_18"/>
          <p:cNvSpPr txBox="1"/>
          <p:nvPr>
            <p:ph idx="1" type="body"/>
          </p:nvPr>
        </p:nvSpPr>
        <p:spPr>
          <a:xfrm>
            <a:off x="254755" y="2261600"/>
            <a:ext cx="5420700" cy="4195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440"/>
              <a:buNone/>
            </a:pPr>
            <a:r>
              <a:rPr lang="en-US"/>
              <a:t>int numbers[7]={5,3,1,9,8,2,4,7};</a:t>
            </a:r>
            <a:endParaRPr/>
          </a:p>
          <a:p>
            <a:pPr indent="0" lvl="0" marL="0" rtl="0" algn="l">
              <a:lnSpc>
                <a:spcPct val="100000"/>
              </a:lnSpc>
              <a:spcBef>
                <a:spcPts val="1000"/>
              </a:spcBef>
              <a:spcAft>
                <a:spcPts val="0"/>
              </a:spcAft>
              <a:buClr>
                <a:schemeClr val="dk1"/>
              </a:buClr>
              <a:buSzPts val="1100"/>
              <a:buFont typeface="Arial"/>
              <a:buNone/>
            </a:pPr>
            <a:r>
              <a:rPr lang="en-US" sz="2600"/>
              <a:t>The number of comparison is always n-1</a:t>
            </a:r>
            <a:endParaRPr sz="2600"/>
          </a:p>
          <a:p>
            <a:pPr indent="0" lvl="0" marL="0" rtl="0" algn="l">
              <a:lnSpc>
                <a:spcPct val="100000"/>
              </a:lnSpc>
              <a:spcBef>
                <a:spcPts val="1000"/>
              </a:spcBef>
              <a:spcAft>
                <a:spcPts val="0"/>
              </a:spcAft>
              <a:buClr>
                <a:schemeClr val="dk1"/>
              </a:buClr>
              <a:buSzPts val="1100"/>
              <a:buFont typeface="Arial"/>
              <a:buNone/>
            </a:pPr>
            <a:r>
              <a:t/>
            </a:r>
            <a:endParaRPr sz="2600"/>
          </a:p>
          <a:p>
            <a:pPr indent="-393700" lvl="0" marL="685800" rtl="0" algn="l">
              <a:lnSpc>
                <a:spcPct val="158000"/>
              </a:lnSpc>
              <a:spcBef>
                <a:spcPts val="0"/>
              </a:spcBef>
              <a:spcAft>
                <a:spcPts val="0"/>
              </a:spcAft>
              <a:buClr>
                <a:srgbClr val="273239"/>
              </a:buClr>
              <a:buSzPts val="2600"/>
              <a:buFont typeface="Arial"/>
              <a:buChar char="●"/>
            </a:pPr>
            <a:r>
              <a:rPr lang="en-US" sz="2600">
                <a:solidFill>
                  <a:srgbClr val="273239"/>
                </a:solidFill>
                <a:latin typeface="Arial"/>
                <a:ea typeface="Arial"/>
                <a:cs typeface="Arial"/>
                <a:sym typeface="Arial"/>
              </a:rPr>
              <a:t>If </a:t>
            </a:r>
            <a:r>
              <a:rPr b="1" lang="en-US" sz="2600">
                <a:solidFill>
                  <a:srgbClr val="273239"/>
                </a:solidFill>
                <a:latin typeface="Arial"/>
                <a:ea typeface="Arial"/>
                <a:cs typeface="Arial"/>
                <a:sym typeface="Arial"/>
              </a:rPr>
              <a:t>arr[j]</a:t>
            </a:r>
            <a:r>
              <a:rPr lang="en-US" sz="2600">
                <a:solidFill>
                  <a:srgbClr val="273239"/>
                </a:solidFill>
                <a:latin typeface="Arial"/>
                <a:ea typeface="Arial"/>
                <a:cs typeface="Arial"/>
                <a:sym typeface="Arial"/>
              </a:rPr>
              <a:t> is greater than </a:t>
            </a:r>
            <a:r>
              <a:rPr b="1" lang="en-US" sz="2600">
                <a:solidFill>
                  <a:srgbClr val="273239"/>
                </a:solidFill>
                <a:latin typeface="Arial"/>
                <a:ea typeface="Arial"/>
                <a:cs typeface="Arial"/>
                <a:sym typeface="Arial"/>
              </a:rPr>
              <a:t>arr[j+1]</a:t>
            </a:r>
            <a:r>
              <a:rPr lang="en-US" sz="2600">
                <a:solidFill>
                  <a:srgbClr val="273239"/>
                </a:solidFill>
                <a:latin typeface="Arial"/>
                <a:ea typeface="Arial"/>
                <a:cs typeface="Arial"/>
                <a:sym typeface="Arial"/>
              </a:rPr>
              <a:t> then swap these adjacent elements, else move on</a:t>
            </a:r>
            <a:endParaRPr/>
          </a:p>
        </p:txBody>
      </p:sp>
      <p:pic>
        <p:nvPicPr>
          <p:cNvPr id="310" name="Google Shape;310;g188d18a41c8_0_18"/>
          <p:cNvPicPr preferRelativeResize="0"/>
          <p:nvPr/>
        </p:nvPicPr>
        <p:blipFill rotWithShape="1">
          <a:blip r:embed="rId3">
            <a:alphaModFix/>
          </a:blip>
          <a:srcRect b="0" l="0" r="0" t="0"/>
          <a:stretch/>
        </p:blipFill>
        <p:spPr>
          <a:xfrm>
            <a:off x="6285047" y="152400"/>
            <a:ext cx="5762395" cy="6705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9"/>
          <p:cNvSpPr txBox="1"/>
          <p:nvPr>
            <p:ph type="title"/>
          </p:nvPr>
        </p:nvSpPr>
        <p:spPr>
          <a:xfrm>
            <a:off x="99356" y="129065"/>
            <a:ext cx="9404723" cy="48053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C++ Program</a:t>
            </a:r>
            <a:endParaRPr/>
          </a:p>
        </p:txBody>
      </p:sp>
      <p:sp>
        <p:nvSpPr>
          <p:cNvPr id="316" name="Google Shape;316;p9"/>
          <p:cNvSpPr txBox="1"/>
          <p:nvPr>
            <p:ph idx="1" type="body"/>
          </p:nvPr>
        </p:nvSpPr>
        <p:spPr>
          <a:xfrm>
            <a:off x="325226" y="933254"/>
            <a:ext cx="5401500" cy="53151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20000"/>
              </a:lnSpc>
              <a:spcBef>
                <a:spcPts val="1000"/>
              </a:spcBef>
              <a:spcAft>
                <a:spcPts val="0"/>
              </a:spcAft>
              <a:buClr>
                <a:schemeClr val="dk1"/>
              </a:buClr>
              <a:buSzPts val="1100"/>
              <a:buFont typeface="Arial"/>
              <a:buNone/>
            </a:pPr>
            <a:r>
              <a:rPr lang="en-US"/>
              <a:t>#include&lt;iostream&gt;</a:t>
            </a:r>
            <a:endParaRPr/>
          </a:p>
          <a:p>
            <a:pPr indent="0" lvl="0" marL="0" rtl="0" algn="l">
              <a:lnSpc>
                <a:spcPct val="120000"/>
              </a:lnSpc>
              <a:spcBef>
                <a:spcPts val="1000"/>
              </a:spcBef>
              <a:spcAft>
                <a:spcPts val="0"/>
              </a:spcAft>
              <a:buClr>
                <a:schemeClr val="dk1"/>
              </a:buClr>
              <a:buSzPts val="1100"/>
              <a:buFont typeface="Arial"/>
              <a:buNone/>
            </a:pPr>
            <a:r>
              <a:rPr lang="en-US"/>
              <a:t>using namespace std;</a:t>
            </a:r>
            <a:endParaRPr/>
          </a:p>
          <a:p>
            <a:pPr indent="0" lvl="0" marL="0" rtl="0" algn="l">
              <a:lnSpc>
                <a:spcPct val="120000"/>
              </a:lnSpc>
              <a:spcBef>
                <a:spcPts val="1000"/>
              </a:spcBef>
              <a:spcAft>
                <a:spcPts val="0"/>
              </a:spcAft>
              <a:buClr>
                <a:schemeClr val="dk1"/>
              </a:buClr>
              <a:buSzPts val="1100"/>
              <a:buFont typeface="Arial"/>
              <a:buNone/>
            </a:pPr>
            <a:r>
              <a:rPr lang="en-US"/>
              <a:t>int main(){</a:t>
            </a:r>
            <a:endParaRPr/>
          </a:p>
          <a:p>
            <a:pPr indent="0" lvl="0" marL="0" rtl="0" algn="l">
              <a:lnSpc>
                <a:spcPct val="120000"/>
              </a:lnSpc>
              <a:spcBef>
                <a:spcPts val="1000"/>
              </a:spcBef>
              <a:spcAft>
                <a:spcPts val="0"/>
              </a:spcAft>
              <a:buClr>
                <a:schemeClr val="dk1"/>
              </a:buClr>
              <a:buSzPts val="1100"/>
              <a:buFont typeface="Arial"/>
              <a:buNone/>
            </a:pPr>
            <a:r>
              <a:rPr lang="en-US"/>
              <a:t>int i,count,j,temp,n=8;</a:t>
            </a:r>
            <a:endParaRPr/>
          </a:p>
          <a:p>
            <a:pPr indent="0" lvl="0" marL="0" rtl="0" algn="l">
              <a:lnSpc>
                <a:spcPct val="120000"/>
              </a:lnSpc>
              <a:spcBef>
                <a:spcPts val="1000"/>
              </a:spcBef>
              <a:spcAft>
                <a:spcPts val="0"/>
              </a:spcAft>
              <a:buClr>
                <a:schemeClr val="dk1"/>
              </a:buClr>
              <a:buSzPts val="1100"/>
              <a:buFont typeface="Arial"/>
              <a:buNone/>
            </a:pPr>
            <a:r>
              <a:rPr lang="en-US"/>
              <a:t>int arr[8]={12,3,1,5,18,10,7,35};</a:t>
            </a:r>
            <a:endParaRPr/>
          </a:p>
          <a:p>
            <a:pPr indent="0" lvl="0" marL="0" rtl="0" algn="l">
              <a:lnSpc>
                <a:spcPct val="120000"/>
              </a:lnSpc>
              <a:spcBef>
                <a:spcPts val="1000"/>
              </a:spcBef>
              <a:spcAft>
                <a:spcPts val="0"/>
              </a:spcAft>
              <a:buClr>
                <a:schemeClr val="dk1"/>
              </a:buClr>
              <a:buSzPts val="1100"/>
              <a:buFont typeface="Arial"/>
              <a:buNone/>
            </a:pPr>
            <a:r>
              <a:rPr lang="en-US"/>
              <a:t>cout&lt;&lt;"Unsorted array"&lt;&lt;endl;</a:t>
            </a:r>
            <a:endParaRPr/>
          </a:p>
          <a:p>
            <a:pPr indent="0" lvl="0" marL="0" rtl="0" algn="l">
              <a:lnSpc>
                <a:spcPct val="120000"/>
              </a:lnSpc>
              <a:spcBef>
                <a:spcPts val="1000"/>
              </a:spcBef>
              <a:spcAft>
                <a:spcPts val="0"/>
              </a:spcAft>
              <a:buClr>
                <a:schemeClr val="dk1"/>
              </a:buClr>
              <a:buSzPts val="1100"/>
              <a:buFont typeface="Arial"/>
              <a:buNone/>
            </a:pPr>
            <a:r>
              <a:rPr lang="en-US"/>
              <a:t>for(i=0;i&lt;n;i++){</a:t>
            </a:r>
            <a:endParaRPr/>
          </a:p>
          <a:p>
            <a:pPr indent="0" lvl="0" marL="0" rtl="0" algn="l">
              <a:lnSpc>
                <a:spcPct val="120000"/>
              </a:lnSpc>
              <a:spcBef>
                <a:spcPts val="1000"/>
              </a:spcBef>
              <a:spcAft>
                <a:spcPts val="0"/>
              </a:spcAft>
              <a:buClr>
                <a:schemeClr val="dk1"/>
              </a:buClr>
              <a:buSzPts val="1100"/>
              <a:buFont typeface="Arial"/>
              <a:buNone/>
            </a:pPr>
            <a:r>
              <a:rPr lang="en-US"/>
              <a:t>cout&lt;&lt; arr[i]&lt;&lt;"\t";</a:t>
            </a:r>
            <a:endParaRPr/>
          </a:p>
          <a:p>
            <a:pPr indent="0" lvl="0" marL="0" rtl="0" algn="l">
              <a:lnSpc>
                <a:spcPct val="120000"/>
              </a:lnSpc>
              <a:spcBef>
                <a:spcPts val="1000"/>
              </a:spcBef>
              <a:spcAft>
                <a:spcPts val="0"/>
              </a:spcAft>
              <a:buClr>
                <a:schemeClr val="dk1"/>
              </a:buClr>
              <a:buSzPts val="1100"/>
              <a:buFont typeface="Arial"/>
              <a:buNone/>
            </a:pPr>
            <a:r>
              <a:rPr lang="en-US"/>
              <a:t>}</a:t>
            </a:r>
            <a:endParaRPr/>
          </a:p>
          <a:p>
            <a:pPr indent="0" lvl="0" marL="0" rtl="0" algn="l">
              <a:lnSpc>
                <a:spcPct val="120000"/>
              </a:lnSpc>
              <a:spcBef>
                <a:spcPts val="1000"/>
              </a:spcBef>
              <a:spcAft>
                <a:spcPts val="0"/>
              </a:spcAft>
              <a:buClr>
                <a:schemeClr val="dk1"/>
              </a:buClr>
              <a:buSzPts val="1100"/>
              <a:buFont typeface="Arial"/>
              <a:buNone/>
            </a:pPr>
            <a:r>
              <a:rPr lang="en-US"/>
              <a:t>cout&lt;&lt;endl;</a:t>
            </a:r>
            <a:endParaRPr/>
          </a:p>
          <a:p>
            <a:pPr indent="0" lvl="0" marL="0" rtl="0" algn="l">
              <a:lnSpc>
                <a:spcPct val="120000"/>
              </a:lnSpc>
              <a:spcBef>
                <a:spcPts val="1000"/>
              </a:spcBef>
              <a:spcAft>
                <a:spcPts val="0"/>
              </a:spcAft>
              <a:buSzPts val="1100"/>
              <a:buNone/>
            </a:pPr>
            <a:r>
              <a:rPr lang="en-US"/>
              <a:t>cout&lt;&lt;endl;</a:t>
            </a:r>
            <a:endParaRPr/>
          </a:p>
        </p:txBody>
      </p:sp>
      <p:sp>
        <p:nvSpPr>
          <p:cNvPr id="317" name="Google Shape;317;p9"/>
          <p:cNvSpPr/>
          <p:nvPr/>
        </p:nvSpPr>
        <p:spPr>
          <a:xfrm>
            <a:off x="5726725" y="591299"/>
            <a:ext cx="6096000" cy="62667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for(count=1;count&lt;=n-1;count++){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  for(j=0;j&lt;=n-2;j++)</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if(arr[j+1]&lt;arr[j]){</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temp=arr[j];</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arr[j]=arr[j+1];</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arr[j+1]=temp;</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      }</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    }</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cout&lt;&lt;"Sorted array"&lt;&lt;endl;</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for(i=0;i&lt;n;i++){</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cout&lt;&lt; arr[i]&lt;&lt;"\t";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cout&lt;&lt;endl;</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return 0;</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chemeClr val="dk1"/>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900"/>
              <a:buFont typeface="Arial"/>
              <a:buNone/>
            </a:pPr>
            <a:r>
              <a:t/>
            </a:r>
            <a:endParaRPr b="0" i="0" sz="19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188d18a41c8_0_44"/>
          <p:cNvSpPr txBox="1"/>
          <p:nvPr>
            <p:ph type="title"/>
          </p:nvPr>
        </p:nvSpPr>
        <p:spPr>
          <a:xfrm>
            <a:off x="99356" y="129065"/>
            <a:ext cx="9404700" cy="48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C++ Program with Swap function</a:t>
            </a:r>
            <a:endParaRPr/>
          </a:p>
        </p:txBody>
      </p:sp>
      <p:sp>
        <p:nvSpPr>
          <p:cNvPr id="323" name="Google Shape;323;g188d18a41c8_0_44"/>
          <p:cNvSpPr txBox="1"/>
          <p:nvPr>
            <p:ph idx="1" type="body"/>
          </p:nvPr>
        </p:nvSpPr>
        <p:spPr>
          <a:xfrm>
            <a:off x="325226" y="933254"/>
            <a:ext cx="5401500" cy="53151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20000"/>
              </a:lnSpc>
              <a:spcBef>
                <a:spcPts val="1000"/>
              </a:spcBef>
              <a:spcAft>
                <a:spcPts val="0"/>
              </a:spcAft>
              <a:buSzPts val="1100"/>
              <a:buNone/>
            </a:pPr>
            <a:r>
              <a:rPr lang="en-US"/>
              <a:t>#include&lt;iostream&gt;</a:t>
            </a:r>
            <a:endParaRPr/>
          </a:p>
          <a:p>
            <a:pPr indent="0" lvl="0" marL="0" rtl="0" algn="l">
              <a:lnSpc>
                <a:spcPct val="120000"/>
              </a:lnSpc>
              <a:spcBef>
                <a:spcPts val="1000"/>
              </a:spcBef>
              <a:spcAft>
                <a:spcPts val="0"/>
              </a:spcAft>
              <a:buSzPts val="1100"/>
              <a:buNone/>
            </a:pPr>
            <a:r>
              <a:rPr lang="en-US"/>
              <a:t>using namespace std;</a:t>
            </a:r>
            <a:endParaRPr/>
          </a:p>
          <a:p>
            <a:pPr indent="0" lvl="0" marL="0" rtl="0" algn="l">
              <a:lnSpc>
                <a:spcPct val="120000"/>
              </a:lnSpc>
              <a:spcBef>
                <a:spcPts val="1000"/>
              </a:spcBef>
              <a:spcAft>
                <a:spcPts val="0"/>
              </a:spcAft>
              <a:buSzPts val="1100"/>
              <a:buNone/>
            </a:pPr>
            <a:r>
              <a:rPr lang="en-US"/>
              <a:t>int main(){</a:t>
            </a:r>
            <a:endParaRPr/>
          </a:p>
          <a:p>
            <a:pPr indent="0" lvl="0" marL="0" rtl="0" algn="l">
              <a:lnSpc>
                <a:spcPct val="120000"/>
              </a:lnSpc>
              <a:spcBef>
                <a:spcPts val="1000"/>
              </a:spcBef>
              <a:spcAft>
                <a:spcPts val="0"/>
              </a:spcAft>
              <a:buSzPts val="1100"/>
              <a:buNone/>
            </a:pPr>
            <a:r>
              <a:rPr lang="en-US"/>
              <a:t>int i,count,j,temp,n=8;</a:t>
            </a:r>
            <a:endParaRPr/>
          </a:p>
          <a:p>
            <a:pPr indent="0" lvl="0" marL="0" rtl="0" algn="l">
              <a:lnSpc>
                <a:spcPct val="120000"/>
              </a:lnSpc>
              <a:spcBef>
                <a:spcPts val="1000"/>
              </a:spcBef>
              <a:spcAft>
                <a:spcPts val="0"/>
              </a:spcAft>
              <a:buSzPts val="1100"/>
              <a:buNone/>
            </a:pPr>
            <a:r>
              <a:rPr lang="en-US"/>
              <a:t>int arr[8]={12,3,1,5,18,10,7,35};</a:t>
            </a:r>
            <a:endParaRPr/>
          </a:p>
          <a:p>
            <a:pPr indent="0" lvl="0" marL="0" rtl="0" algn="l">
              <a:lnSpc>
                <a:spcPct val="120000"/>
              </a:lnSpc>
              <a:spcBef>
                <a:spcPts val="1000"/>
              </a:spcBef>
              <a:spcAft>
                <a:spcPts val="0"/>
              </a:spcAft>
              <a:buSzPts val="1100"/>
              <a:buNone/>
            </a:pPr>
            <a:r>
              <a:rPr lang="en-US"/>
              <a:t>cout&lt;&lt;"Unsorted array"&lt;&lt;endl;</a:t>
            </a:r>
            <a:endParaRPr/>
          </a:p>
          <a:p>
            <a:pPr indent="0" lvl="0" marL="0" rtl="0" algn="l">
              <a:lnSpc>
                <a:spcPct val="120000"/>
              </a:lnSpc>
              <a:spcBef>
                <a:spcPts val="1000"/>
              </a:spcBef>
              <a:spcAft>
                <a:spcPts val="0"/>
              </a:spcAft>
              <a:buSzPts val="1100"/>
              <a:buNone/>
            </a:pPr>
            <a:r>
              <a:rPr lang="en-US"/>
              <a:t>for(i=0;i&lt;n;i++){</a:t>
            </a:r>
            <a:endParaRPr/>
          </a:p>
          <a:p>
            <a:pPr indent="0" lvl="0" marL="0" rtl="0" algn="l">
              <a:lnSpc>
                <a:spcPct val="120000"/>
              </a:lnSpc>
              <a:spcBef>
                <a:spcPts val="1000"/>
              </a:spcBef>
              <a:spcAft>
                <a:spcPts val="0"/>
              </a:spcAft>
              <a:buSzPts val="1100"/>
              <a:buNone/>
            </a:pPr>
            <a:r>
              <a:rPr lang="en-US"/>
              <a:t>cout&lt;&lt; arr[i]&lt;&lt;"\t";</a:t>
            </a:r>
            <a:endParaRPr/>
          </a:p>
          <a:p>
            <a:pPr indent="0" lvl="0" marL="0" rtl="0" algn="l">
              <a:lnSpc>
                <a:spcPct val="120000"/>
              </a:lnSpc>
              <a:spcBef>
                <a:spcPts val="1000"/>
              </a:spcBef>
              <a:spcAft>
                <a:spcPts val="0"/>
              </a:spcAft>
              <a:buSzPts val="1100"/>
              <a:buNone/>
            </a:pPr>
            <a:r>
              <a:rPr lang="en-US"/>
              <a:t>}</a:t>
            </a:r>
            <a:endParaRPr/>
          </a:p>
          <a:p>
            <a:pPr indent="0" lvl="0" marL="0" rtl="0" algn="l">
              <a:lnSpc>
                <a:spcPct val="120000"/>
              </a:lnSpc>
              <a:spcBef>
                <a:spcPts val="1000"/>
              </a:spcBef>
              <a:spcAft>
                <a:spcPts val="0"/>
              </a:spcAft>
              <a:buSzPts val="1100"/>
              <a:buNone/>
            </a:pPr>
            <a:r>
              <a:rPr lang="en-US"/>
              <a:t>cout&lt;&lt;endl;</a:t>
            </a:r>
            <a:endParaRPr/>
          </a:p>
          <a:p>
            <a:pPr indent="0" lvl="0" marL="0" rtl="0" algn="l">
              <a:lnSpc>
                <a:spcPct val="120000"/>
              </a:lnSpc>
              <a:spcBef>
                <a:spcPts val="1000"/>
              </a:spcBef>
              <a:spcAft>
                <a:spcPts val="0"/>
              </a:spcAft>
              <a:buSzPts val="1100"/>
              <a:buNone/>
            </a:pPr>
            <a:r>
              <a:rPr lang="en-US"/>
              <a:t>cout&lt;&lt;endl;</a:t>
            </a:r>
            <a:endParaRPr/>
          </a:p>
        </p:txBody>
      </p:sp>
      <p:sp>
        <p:nvSpPr>
          <p:cNvPr id="324" name="Google Shape;324;g188d18a41c8_0_44"/>
          <p:cNvSpPr/>
          <p:nvPr/>
        </p:nvSpPr>
        <p:spPr>
          <a:xfrm>
            <a:off x="5726725" y="1071125"/>
            <a:ext cx="6096000" cy="5787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for(count=1;count&lt;=n-1;count++){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  for(j=0;j&lt;=n-2;j++)</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if(arr[j+1]&lt;arr[j]){</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swap(arr[j],arr[j+1]);</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      }</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    }</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cout&lt;&lt;"Sorted array"&lt;&lt;endl;</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for(i=0;i&lt;n;i++){</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cout&lt;&lt; arr[i]&lt;&lt;"\t";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cout&lt;&lt;endl;</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return 0;</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900" u="none" cap="none" strike="noStrike">
                <a:solidFill>
                  <a:schemeClr val="dk1"/>
                </a:solidFill>
                <a:latin typeface="Century Gothic"/>
                <a:ea typeface="Century Gothic"/>
                <a:cs typeface="Century Gothic"/>
                <a:sym typeface="Century Gothic"/>
              </a:rPr>
              <a:t>}</a:t>
            </a:r>
            <a:endParaRPr b="0" i="0" sz="19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900"/>
              <a:buFont typeface="Arial"/>
              <a:buNone/>
            </a:pPr>
            <a:r>
              <a:t/>
            </a:r>
            <a:endParaRPr b="0" i="0" sz="19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188d18a41c8_0_50"/>
          <p:cNvSpPr txBox="1"/>
          <p:nvPr>
            <p:ph type="title"/>
          </p:nvPr>
        </p:nvSpPr>
        <p:spPr>
          <a:xfrm>
            <a:off x="646100" y="224122"/>
            <a:ext cx="9404700" cy="72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Introduction to Time Complexity</a:t>
            </a:r>
            <a:endParaRPr/>
          </a:p>
        </p:txBody>
      </p:sp>
      <p:sp>
        <p:nvSpPr>
          <p:cNvPr id="330" name="Google Shape;330;g188d18a41c8_0_50"/>
          <p:cNvSpPr txBox="1"/>
          <p:nvPr>
            <p:ph idx="1" type="body"/>
          </p:nvPr>
        </p:nvSpPr>
        <p:spPr>
          <a:xfrm>
            <a:off x="601925" y="1140700"/>
            <a:ext cx="10759500" cy="5550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440"/>
              <a:buNone/>
            </a:pPr>
            <a:r>
              <a:rPr lang="en-US" sz="2200"/>
              <a:t>In the Bubble sort:</a:t>
            </a:r>
            <a:endParaRPr sz="2200"/>
          </a:p>
          <a:p>
            <a:pPr indent="-332740" lvl="0" marL="457200" rtl="0" algn="l">
              <a:lnSpc>
                <a:spcPct val="100000"/>
              </a:lnSpc>
              <a:spcBef>
                <a:spcPts val="1000"/>
              </a:spcBef>
              <a:spcAft>
                <a:spcPts val="0"/>
              </a:spcAft>
              <a:buSzPts val="1640"/>
              <a:buChar char="►"/>
            </a:pPr>
            <a:r>
              <a:rPr lang="en-US" sz="2200"/>
              <a:t>The inner loop will executes n-1 times</a:t>
            </a:r>
            <a:endParaRPr sz="2200"/>
          </a:p>
          <a:p>
            <a:pPr indent="-332740" lvl="0" marL="457200" rtl="0" algn="l">
              <a:lnSpc>
                <a:spcPct val="100000"/>
              </a:lnSpc>
              <a:spcBef>
                <a:spcPts val="0"/>
              </a:spcBef>
              <a:spcAft>
                <a:spcPts val="0"/>
              </a:spcAft>
              <a:buSzPts val="1640"/>
              <a:buChar char="►"/>
            </a:pPr>
            <a:r>
              <a:rPr lang="en-US" sz="2200"/>
              <a:t>The outer loop will execute n-1 times</a:t>
            </a:r>
            <a:endParaRPr sz="2200"/>
          </a:p>
          <a:p>
            <a:pPr indent="-332740" lvl="0" marL="457200" rtl="0" algn="l">
              <a:lnSpc>
                <a:spcPct val="100000"/>
              </a:lnSpc>
              <a:spcBef>
                <a:spcPts val="0"/>
              </a:spcBef>
              <a:spcAft>
                <a:spcPts val="0"/>
              </a:spcAft>
              <a:buSzPts val="1640"/>
              <a:buChar char="►"/>
            </a:pPr>
            <a:r>
              <a:rPr lang="en-US" sz="2200"/>
              <a:t>The number of steps=(n-1)*(n-1);</a:t>
            </a:r>
            <a:endParaRPr sz="2200"/>
          </a:p>
          <a:p>
            <a:pPr indent="0" lvl="0" marL="457200" rtl="0" algn="l">
              <a:lnSpc>
                <a:spcPct val="100000"/>
              </a:lnSpc>
              <a:spcBef>
                <a:spcPts val="1000"/>
              </a:spcBef>
              <a:spcAft>
                <a:spcPts val="0"/>
              </a:spcAft>
              <a:buSzPts val="1440"/>
              <a:buNone/>
            </a:pPr>
            <a:r>
              <a:rPr lang="en-US" sz="2200"/>
              <a:t>                                   =n</a:t>
            </a:r>
            <a:r>
              <a:rPr baseline="30000" lang="en-US" sz="2200"/>
              <a:t>2</a:t>
            </a:r>
            <a:r>
              <a:rPr lang="en-US" sz="2200"/>
              <a:t>+n+c</a:t>
            </a:r>
            <a:endParaRPr sz="2200"/>
          </a:p>
          <a:p>
            <a:pPr indent="0" lvl="0" marL="457200" rtl="0" algn="l">
              <a:lnSpc>
                <a:spcPct val="100000"/>
              </a:lnSpc>
              <a:spcBef>
                <a:spcPts val="1000"/>
              </a:spcBef>
              <a:spcAft>
                <a:spcPts val="0"/>
              </a:spcAft>
              <a:buSzPts val="1440"/>
              <a:buNone/>
            </a:pPr>
            <a:r>
              <a:rPr lang="en-US" sz="2200"/>
              <a:t>                                   ⋍n</a:t>
            </a:r>
            <a:r>
              <a:rPr baseline="30000" lang="en-US" sz="2200"/>
              <a:t>2</a:t>
            </a:r>
            <a:endParaRPr sz="2200"/>
          </a:p>
          <a:p>
            <a:pPr indent="-332740" lvl="0" marL="457200" rtl="0" algn="l">
              <a:lnSpc>
                <a:spcPct val="100000"/>
              </a:lnSpc>
              <a:spcBef>
                <a:spcPts val="1000"/>
              </a:spcBef>
              <a:spcAft>
                <a:spcPts val="0"/>
              </a:spcAft>
              <a:buSzPts val="1640"/>
              <a:buChar char="►"/>
            </a:pPr>
            <a:r>
              <a:rPr lang="en-US" sz="2200"/>
              <a:t>The number of steps is called the Time complexity(How many steps the program took to execute?)</a:t>
            </a:r>
            <a:endParaRPr sz="2200"/>
          </a:p>
          <a:p>
            <a:pPr indent="-332740" lvl="0" marL="457200" rtl="0" algn="l">
              <a:lnSpc>
                <a:spcPct val="100000"/>
              </a:lnSpc>
              <a:spcBef>
                <a:spcPts val="0"/>
              </a:spcBef>
              <a:spcAft>
                <a:spcPts val="0"/>
              </a:spcAft>
              <a:buSzPts val="1640"/>
              <a:buChar char="►"/>
            </a:pPr>
            <a:r>
              <a:rPr lang="en-US" sz="2200"/>
              <a:t>The time complexity is written with notation O</a:t>
            </a:r>
            <a:endParaRPr sz="2200"/>
          </a:p>
          <a:p>
            <a:pPr indent="-332740" lvl="0" marL="457200" rtl="0" algn="l">
              <a:lnSpc>
                <a:spcPct val="100000"/>
              </a:lnSpc>
              <a:spcBef>
                <a:spcPts val="0"/>
              </a:spcBef>
              <a:spcAft>
                <a:spcPts val="0"/>
              </a:spcAft>
              <a:buSzPts val="1640"/>
              <a:buChar char="►"/>
            </a:pPr>
            <a:r>
              <a:rPr lang="en-US" sz="2200"/>
              <a:t>The time complexity of Bubble sort is O(n</a:t>
            </a:r>
            <a:r>
              <a:rPr baseline="30000" lang="en-US" sz="2200"/>
              <a:t>2</a:t>
            </a:r>
            <a:r>
              <a:rPr lang="en-US" sz="2200"/>
              <a:t>)</a:t>
            </a:r>
            <a:endParaRPr sz="2200"/>
          </a:p>
        </p:txBody>
      </p:sp>
      <p:sp>
        <p:nvSpPr>
          <p:cNvPr id="331" name="Google Shape;331;g188d18a41c8_0_50"/>
          <p:cNvSpPr txBox="1"/>
          <p:nvPr/>
        </p:nvSpPr>
        <p:spPr>
          <a:xfrm>
            <a:off x="1126775" y="5216525"/>
            <a:ext cx="101130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Century Gothic"/>
                <a:ea typeface="Century Gothic"/>
                <a:cs typeface="Century Gothic"/>
                <a:sym typeface="Century Gothic"/>
              </a:rPr>
              <a:t>Note:</a:t>
            </a:r>
            <a:r>
              <a:rPr b="0" i="0" lang="en-US" sz="1900" u="none" cap="none" strike="noStrike">
                <a:solidFill>
                  <a:srgbClr val="000000"/>
                </a:solidFill>
                <a:latin typeface="Century Gothic"/>
                <a:ea typeface="Century Gothic"/>
                <a:cs typeface="Century Gothic"/>
                <a:sym typeface="Century Gothic"/>
              </a:rPr>
              <a:t> The time complexity assists to make a choice of the best algorithm with a least amount of time</a:t>
            </a:r>
            <a:endParaRPr b="0" i="0" sz="19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0"/>
          <p:cNvSpPr txBox="1"/>
          <p:nvPr>
            <p:ph idx="1" type="body"/>
          </p:nvPr>
        </p:nvSpPr>
        <p:spPr>
          <a:xfrm>
            <a:off x="461913" y="329938"/>
            <a:ext cx="11104775" cy="5918461"/>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Clr>
                <a:srgbClr val="FF9900"/>
              </a:buClr>
              <a:buSzPts val="1800"/>
              <a:buChar char="●"/>
            </a:pPr>
            <a:r>
              <a:rPr lang="en-US" sz="2200"/>
              <a:t>As we can see in the above example, we have an unsorted array containing elements </a:t>
            </a:r>
            <a:endParaRPr sz="2200"/>
          </a:p>
          <a:p>
            <a:pPr indent="-342900" lvl="0" marL="342900" rtl="0" algn="l">
              <a:lnSpc>
                <a:spcPct val="100000"/>
              </a:lnSpc>
              <a:spcBef>
                <a:spcPts val="1000"/>
              </a:spcBef>
              <a:spcAft>
                <a:spcPts val="0"/>
              </a:spcAft>
              <a:buClr>
                <a:srgbClr val="FF9900"/>
              </a:buClr>
              <a:buSzPts val="1800"/>
              <a:buChar char="●"/>
            </a:pPr>
            <a:r>
              <a:rPr lang="en-US" sz="2200"/>
              <a:t>12, 3, 1, 5, 18, 10, 7 and 35. </a:t>
            </a:r>
            <a:endParaRPr b="1" sz="2200"/>
          </a:p>
          <a:p>
            <a:pPr indent="-342900" lvl="0" marL="342900" rtl="0" algn="l">
              <a:lnSpc>
                <a:spcPct val="158000"/>
              </a:lnSpc>
              <a:spcBef>
                <a:spcPts val="0"/>
              </a:spcBef>
              <a:spcAft>
                <a:spcPts val="0"/>
              </a:spcAft>
              <a:buClr>
                <a:srgbClr val="FF9900"/>
              </a:buClr>
              <a:buSzPts val="2300"/>
              <a:buFont typeface="Arial"/>
              <a:buChar char="●"/>
            </a:pPr>
            <a:r>
              <a:rPr lang="en-US" sz="2300">
                <a:solidFill>
                  <a:srgbClr val="273239"/>
                </a:solidFill>
                <a:latin typeface="Arial"/>
                <a:ea typeface="Arial"/>
                <a:cs typeface="Arial"/>
                <a:sym typeface="Arial"/>
              </a:rPr>
              <a:t>Run a nested for loop to traverse the input array using two variables </a:t>
            </a:r>
            <a:r>
              <a:rPr b="1" lang="en-US" sz="2300">
                <a:solidFill>
                  <a:srgbClr val="273239"/>
                </a:solidFill>
                <a:latin typeface="Arial"/>
                <a:ea typeface="Arial"/>
                <a:cs typeface="Arial"/>
                <a:sym typeface="Arial"/>
              </a:rPr>
              <a:t>i</a:t>
            </a:r>
            <a:r>
              <a:rPr lang="en-US" sz="2300">
                <a:solidFill>
                  <a:srgbClr val="273239"/>
                </a:solidFill>
                <a:latin typeface="Arial"/>
                <a:ea typeface="Arial"/>
                <a:cs typeface="Arial"/>
                <a:sym typeface="Arial"/>
              </a:rPr>
              <a:t> and </a:t>
            </a:r>
            <a:r>
              <a:rPr b="1" lang="en-US" sz="2300">
                <a:solidFill>
                  <a:srgbClr val="273239"/>
                </a:solidFill>
                <a:latin typeface="Arial"/>
                <a:ea typeface="Arial"/>
                <a:cs typeface="Arial"/>
                <a:sym typeface="Arial"/>
              </a:rPr>
              <a:t>j</a:t>
            </a:r>
            <a:r>
              <a:rPr lang="en-US" sz="2300">
                <a:solidFill>
                  <a:srgbClr val="273239"/>
                </a:solidFill>
                <a:latin typeface="Arial"/>
                <a:ea typeface="Arial"/>
                <a:cs typeface="Arial"/>
                <a:sym typeface="Arial"/>
              </a:rPr>
              <a:t>, such that 0 ≤ i &lt; n-1 and 0 ≤ j &lt; n-i-1</a:t>
            </a:r>
            <a:endParaRPr sz="2300">
              <a:solidFill>
                <a:srgbClr val="273239"/>
              </a:solidFill>
              <a:latin typeface="Arial"/>
              <a:ea typeface="Arial"/>
              <a:cs typeface="Arial"/>
              <a:sym typeface="Arial"/>
            </a:endParaRPr>
          </a:p>
          <a:p>
            <a:pPr indent="-342900" lvl="0" marL="342900" rtl="0" algn="l">
              <a:lnSpc>
                <a:spcPct val="158000"/>
              </a:lnSpc>
              <a:spcBef>
                <a:spcPts val="0"/>
              </a:spcBef>
              <a:spcAft>
                <a:spcPts val="0"/>
              </a:spcAft>
              <a:buClr>
                <a:srgbClr val="FF9900"/>
              </a:buClr>
              <a:buSzPts val="2300"/>
              <a:buFont typeface="Arial"/>
              <a:buChar char="●"/>
            </a:pPr>
            <a:r>
              <a:rPr lang="en-US" sz="2300">
                <a:solidFill>
                  <a:srgbClr val="273239"/>
                </a:solidFill>
                <a:latin typeface="Arial"/>
                <a:ea typeface="Arial"/>
                <a:cs typeface="Arial"/>
                <a:sym typeface="Arial"/>
              </a:rPr>
              <a:t>If </a:t>
            </a:r>
            <a:r>
              <a:rPr b="1" lang="en-US" sz="2300">
                <a:solidFill>
                  <a:srgbClr val="273239"/>
                </a:solidFill>
                <a:latin typeface="Arial"/>
                <a:ea typeface="Arial"/>
                <a:cs typeface="Arial"/>
                <a:sym typeface="Arial"/>
              </a:rPr>
              <a:t>arr[j]</a:t>
            </a:r>
            <a:r>
              <a:rPr lang="en-US" sz="2300">
                <a:solidFill>
                  <a:srgbClr val="273239"/>
                </a:solidFill>
                <a:latin typeface="Arial"/>
                <a:ea typeface="Arial"/>
                <a:cs typeface="Arial"/>
                <a:sym typeface="Arial"/>
              </a:rPr>
              <a:t> is greater than </a:t>
            </a:r>
            <a:r>
              <a:rPr b="1" lang="en-US" sz="2300">
                <a:solidFill>
                  <a:srgbClr val="273239"/>
                </a:solidFill>
                <a:latin typeface="Arial"/>
                <a:ea typeface="Arial"/>
                <a:cs typeface="Arial"/>
                <a:sym typeface="Arial"/>
              </a:rPr>
              <a:t>arr[j+1]</a:t>
            </a:r>
            <a:r>
              <a:rPr lang="en-US" sz="2300">
                <a:solidFill>
                  <a:srgbClr val="273239"/>
                </a:solidFill>
                <a:latin typeface="Arial"/>
                <a:ea typeface="Arial"/>
                <a:cs typeface="Arial"/>
                <a:sym typeface="Arial"/>
              </a:rPr>
              <a:t> then swap these adjacent elements, else move on</a:t>
            </a:r>
            <a:endParaRPr sz="2300">
              <a:solidFill>
                <a:srgbClr val="273239"/>
              </a:solidFill>
              <a:latin typeface="Arial"/>
              <a:ea typeface="Arial"/>
              <a:cs typeface="Arial"/>
              <a:sym typeface="Arial"/>
            </a:endParaRPr>
          </a:p>
          <a:p>
            <a:pPr indent="-342900" lvl="0" marL="342900" rtl="0" algn="l">
              <a:lnSpc>
                <a:spcPct val="158000"/>
              </a:lnSpc>
              <a:spcBef>
                <a:spcPts val="0"/>
              </a:spcBef>
              <a:spcAft>
                <a:spcPts val="0"/>
              </a:spcAft>
              <a:buClr>
                <a:srgbClr val="FF9900"/>
              </a:buClr>
              <a:buSzPts val="2300"/>
              <a:buFont typeface="Arial"/>
              <a:buChar char="●"/>
            </a:pPr>
            <a:r>
              <a:rPr lang="en-US" sz="2300">
                <a:solidFill>
                  <a:srgbClr val="273239"/>
                </a:solidFill>
                <a:latin typeface="Arial"/>
                <a:ea typeface="Arial"/>
                <a:cs typeface="Arial"/>
                <a:sym typeface="Arial"/>
              </a:rPr>
              <a:t>j must be not greater than n-2 to avoid segmentation fault</a:t>
            </a:r>
            <a:endParaRPr sz="2300">
              <a:solidFill>
                <a:srgbClr val="273239"/>
              </a:solidFill>
              <a:latin typeface="Arial"/>
              <a:ea typeface="Arial"/>
              <a:cs typeface="Arial"/>
              <a:sym typeface="Arial"/>
            </a:endParaRPr>
          </a:p>
          <a:p>
            <a:pPr indent="-342900" lvl="0" marL="342900" rtl="0" algn="l">
              <a:lnSpc>
                <a:spcPct val="158000"/>
              </a:lnSpc>
              <a:spcBef>
                <a:spcPts val="0"/>
              </a:spcBef>
              <a:spcAft>
                <a:spcPts val="0"/>
              </a:spcAft>
              <a:buClr>
                <a:srgbClr val="FF9900"/>
              </a:buClr>
              <a:buSzPts val="2300"/>
              <a:buFont typeface="Arial"/>
              <a:buChar char="●"/>
            </a:pPr>
            <a:r>
              <a:rPr lang="en-US" sz="2300">
                <a:solidFill>
                  <a:srgbClr val="273239"/>
                </a:solidFill>
                <a:latin typeface="Arial"/>
                <a:ea typeface="Arial"/>
                <a:cs typeface="Arial"/>
                <a:sym typeface="Arial"/>
              </a:rPr>
              <a:t>To sort n numbers, perform a sorting of n-1 numbers.</a:t>
            </a:r>
            <a:endParaRPr sz="2300">
              <a:solidFill>
                <a:srgbClr val="273239"/>
              </a:solidFill>
              <a:latin typeface="Arial"/>
              <a:ea typeface="Arial"/>
              <a:cs typeface="Arial"/>
              <a:sym typeface="Arial"/>
            </a:endParaRPr>
          </a:p>
          <a:p>
            <a:pPr indent="-342900" lvl="0" marL="342900" rtl="0" algn="l">
              <a:lnSpc>
                <a:spcPct val="158000"/>
              </a:lnSpc>
              <a:spcBef>
                <a:spcPts val="0"/>
              </a:spcBef>
              <a:spcAft>
                <a:spcPts val="0"/>
              </a:spcAft>
              <a:buClr>
                <a:srgbClr val="FF9900"/>
              </a:buClr>
              <a:buSzPts val="2300"/>
              <a:buFont typeface="Arial"/>
              <a:buChar char="●"/>
            </a:pPr>
            <a:r>
              <a:rPr lang="en-US" sz="2300">
                <a:solidFill>
                  <a:srgbClr val="273239"/>
                </a:solidFill>
                <a:latin typeface="Arial"/>
                <a:ea typeface="Arial"/>
                <a:cs typeface="Arial"/>
                <a:sym typeface="Arial"/>
              </a:rPr>
              <a:t>In the first iteration, the first largest number reaches its final position, in the second iteration the second largest reaches its final position, and the process continue.</a:t>
            </a:r>
            <a:endParaRPr sz="2300">
              <a:solidFill>
                <a:srgbClr val="273239"/>
              </a:solidFill>
              <a:latin typeface="Arial"/>
              <a:ea typeface="Arial"/>
              <a:cs typeface="Arial"/>
              <a:sym typeface="Arial"/>
            </a:endParaRPr>
          </a:p>
          <a:p>
            <a:pPr indent="-342900" lvl="0" marL="342900" rtl="0" algn="l">
              <a:lnSpc>
                <a:spcPct val="158000"/>
              </a:lnSpc>
              <a:spcBef>
                <a:spcPts val="0"/>
              </a:spcBef>
              <a:spcAft>
                <a:spcPts val="0"/>
              </a:spcAft>
              <a:buClr>
                <a:srgbClr val="FF9900"/>
              </a:buClr>
              <a:buSzPts val="2300"/>
              <a:buFont typeface="Arial"/>
              <a:buChar char="●"/>
            </a:pPr>
            <a:r>
              <a:rPr lang="en-US" sz="2300">
                <a:solidFill>
                  <a:srgbClr val="273239"/>
                </a:solidFill>
                <a:latin typeface="Arial"/>
                <a:ea typeface="Arial"/>
                <a:cs typeface="Arial"/>
                <a:sym typeface="Arial"/>
              </a:rPr>
              <a:t>Print the sorted array</a:t>
            </a:r>
            <a:endParaRPr b="1" sz="2200"/>
          </a:p>
          <a:p>
            <a:pPr indent="-342900" lvl="0" marL="342900" rtl="0" algn="l">
              <a:lnSpc>
                <a:spcPct val="100000"/>
              </a:lnSpc>
              <a:spcBef>
                <a:spcPts val="1000"/>
              </a:spcBef>
              <a:spcAft>
                <a:spcPts val="0"/>
              </a:spcAft>
              <a:buClr>
                <a:srgbClr val="FF9900"/>
              </a:buClr>
              <a:buSzPts val="1800"/>
              <a:buChar char="●"/>
            </a:pPr>
            <a:r>
              <a:rPr lang="en-US" sz="2200"/>
              <a:t>The output will look like this:</a:t>
            </a:r>
            <a:endParaRPr sz="2200"/>
          </a:p>
        </p:txBody>
      </p:sp>
      <p:pic>
        <p:nvPicPr>
          <p:cNvPr id="337" name="Google Shape;337;p10"/>
          <p:cNvPicPr preferRelativeResize="0"/>
          <p:nvPr/>
        </p:nvPicPr>
        <p:blipFill rotWithShape="1">
          <a:blip r:embed="rId3">
            <a:alphaModFix/>
          </a:blip>
          <a:srcRect b="0" l="0" r="0" t="0"/>
          <a:stretch/>
        </p:blipFill>
        <p:spPr>
          <a:xfrm>
            <a:off x="5388669" y="5423910"/>
            <a:ext cx="6344984" cy="1152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188d18a41c8_0_34"/>
          <p:cNvSpPr txBox="1"/>
          <p:nvPr>
            <p:ph type="title"/>
          </p:nvPr>
        </p:nvSpPr>
        <p:spPr>
          <a:xfrm>
            <a:off x="646111" y="452718"/>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Exercise: Indicate the steps and comparison of  the bubble sort of the following array sorted in reverse order</a:t>
            </a:r>
            <a:endParaRPr/>
          </a:p>
        </p:txBody>
      </p:sp>
      <p:sp>
        <p:nvSpPr>
          <p:cNvPr id="343" name="Google Shape;343;g188d18a41c8_0_34"/>
          <p:cNvSpPr txBox="1"/>
          <p:nvPr>
            <p:ph idx="1" type="body"/>
          </p:nvPr>
        </p:nvSpPr>
        <p:spPr>
          <a:xfrm>
            <a:off x="951175" y="3463746"/>
            <a:ext cx="8946600" cy="1866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440"/>
              <a:buNone/>
            </a:pPr>
            <a:r>
              <a:rPr lang="en-US" sz="3700"/>
              <a:t>int arr[4]={55,18,12,5};</a:t>
            </a:r>
            <a:endParaRPr sz="3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188d18a41c8_0_39"/>
          <p:cNvSpPr txBox="1"/>
          <p:nvPr>
            <p:ph type="title"/>
          </p:nvPr>
        </p:nvSpPr>
        <p:spPr>
          <a:xfrm>
            <a:off x="645300" y="115872"/>
            <a:ext cx="9404700" cy="84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Optimisation of Bubble sort</a:t>
            </a:r>
            <a:endParaRPr/>
          </a:p>
        </p:txBody>
      </p:sp>
      <p:sp>
        <p:nvSpPr>
          <p:cNvPr id="349" name="Google Shape;349;g188d18a41c8_0_39"/>
          <p:cNvSpPr txBox="1"/>
          <p:nvPr>
            <p:ph idx="1" type="body"/>
          </p:nvPr>
        </p:nvSpPr>
        <p:spPr>
          <a:xfrm>
            <a:off x="264300" y="959775"/>
            <a:ext cx="11587800" cy="5330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440"/>
              <a:buNone/>
            </a:pPr>
            <a:r>
              <a:rPr lang="en-US"/>
              <a:t>Consider the following arrays A and B:</a:t>
            </a:r>
            <a:endParaRPr/>
          </a:p>
          <a:p>
            <a:pPr indent="0" lvl="0" marL="0" rtl="0" algn="l">
              <a:lnSpc>
                <a:spcPct val="100000"/>
              </a:lnSpc>
              <a:spcBef>
                <a:spcPts val="1000"/>
              </a:spcBef>
              <a:spcAft>
                <a:spcPts val="0"/>
              </a:spcAft>
              <a:buSzPts val="1440"/>
              <a:buNone/>
            </a:pPr>
            <a:r>
              <a:t/>
            </a:r>
            <a:endParaRPr/>
          </a:p>
          <a:p>
            <a:pPr indent="0" lvl="0" marL="0" rtl="0" algn="l">
              <a:lnSpc>
                <a:spcPct val="100000"/>
              </a:lnSpc>
              <a:spcBef>
                <a:spcPts val="1000"/>
              </a:spcBef>
              <a:spcAft>
                <a:spcPts val="0"/>
              </a:spcAft>
              <a:buSzPts val="1440"/>
              <a:buNone/>
            </a:pPr>
            <a:r>
              <a:t/>
            </a:r>
            <a:endParaRPr/>
          </a:p>
          <a:p>
            <a:pPr indent="0" lvl="0" marL="0" rtl="0" algn="l">
              <a:lnSpc>
                <a:spcPct val="100000"/>
              </a:lnSpc>
              <a:spcBef>
                <a:spcPts val="1000"/>
              </a:spcBef>
              <a:spcAft>
                <a:spcPts val="0"/>
              </a:spcAft>
              <a:buSzPts val="1440"/>
              <a:buNone/>
            </a:pPr>
            <a:r>
              <a:t/>
            </a:r>
            <a:endParaRPr/>
          </a:p>
          <a:p>
            <a:pPr indent="0" lvl="0" marL="0" rtl="0" algn="l">
              <a:lnSpc>
                <a:spcPct val="100000"/>
              </a:lnSpc>
              <a:spcBef>
                <a:spcPts val="1000"/>
              </a:spcBef>
              <a:spcAft>
                <a:spcPts val="0"/>
              </a:spcAft>
              <a:buSzPts val="1440"/>
              <a:buNone/>
            </a:pPr>
            <a:r>
              <a:t/>
            </a:r>
            <a:endParaRPr/>
          </a:p>
          <a:p>
            <a:pPr indent="0" lvl="0" marL="0" rtl="0" algn="l">
              <a:lnSpc>
                <a:spcPct val="100000"/>
              </a:lnSpc>
              <a:spcBef>
                <a:spcPts val="1000"/>
              </a:spcBef>
              <a:spcAft>
                <a:spcPts val="0"/>
              </a:spcAft>
              <a:buSzPts val="1440"/>
              <a:buNone/>
            </a:pPr>
            <a:r>
              <a:t/>
            </a:r>
            <a:endParaRPr/>
          </a:p>
          <a:p>
            <a:pPr indent="0" lvl="0" marL="0" rtl="0" algn="l">
              <a:lnSpc>
                <a:spcPct val="100000"/>
              </a:lnSpc>
              <a:spcBef>
                <a:spcPts val="1000"/>
              </a:spcBef>
              <a:spcAft>
                <a:spcPts val="0"/>
              </a:spcAft>
              <a:buSzPts val="1440"/>
              <a:buNone/>
            </a:pPr>
            <a:r>
              <a:rPr lang="en-US"/>
              <a:t>The time complexity of A is O(n</a:t>
            </a:r>
            <a:r>
              <a:rPr baseline="30000" lang="en-US"/>
              <a:t>2</a:t>
            </a:r>
            <a:r>
              <a:rPr lang="en-US"/>
              <a:t>) and the time complexity of B is O(n</a:t>
            </a:r>
            <a:r>
              <a:rPr baseline="30000" lang="en-US"/>
              <a:t>2</a:t>
            </a:r>
            <a:r>
              <a:rPr lang="en-US"/>
              <a:t>)</a:t>
            </a:r>
            <a:endParaRPr/>
          </a:p>
          <a:p>
            <a:pPr indent="0" lvl="0" marL="0" rtl="0" algn="l">
              <a:lnSpc>
                <a:spcPct val="100000"/>
              </a:lnSpc>
              <a:spcBef>
                <a:spcPts val="1000"/>
              </a:spcBef>
              <a:spcAft>
                <a:spcPts val="0"/>
              </a:spcAft>
              <a:buSzPts val="1440"/>
              <a:buNone/>
            </a:pPr>
            <a:r>
              <a:rPr lang="en-US"/>
              <a:t>If the array is in the correct order, the same time complexity will be used. It can be optimized by stopping the algorithm if the inner loop didn’t cause any swap. This means the Sorted array will take n steps in the bubble sort O(n) which is the best time complexity.</a:t>
            </a:r>
            <a:endParaRPr/>
          </a:p>
        </p:txBody>
      </p:sp>
      <p:graphicFrame>
        <p:nvGraphicFramePr>
          <p:cNvPr id="350" name="Google Shape;350;g188d18a41c8_0_39"/>
          <p:cNvGraphicFramePr/>
          <p:nvPr/>
        </p:nvGraphicFramePr>
        <p:xfrm>
          <a:off x="723900" y="2542950"/>
          <a:ext cx="3000000" cy="3000000"/>
        </p:xfrm>
        <a:graphic>
          <a:graphicData uri="http://schemas.openxmlformats.org/drawingml/2006/table">
            <a:tbl>
              <a:tblPr>
                <a:noFill/>
                <a:tableStyleId>{50B76520-13DC-4B26-A941-1D5C00A8A130}</a:tableStyleId>
              </a:tblPr>
              <a:tblGrid>
                <a:gridCol w="715250"/>
                <a:gridCol w="643600"/>
                <a:gridCol w="619750"/>
                <a:gridCol w="810275"/>
                <a:gridCol w="667950"/>
              </a:tblGrid>
              <a:tr h="396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a:t>
                      </a:r>
                      <a:endParaRPr sz="1400" u="none" cap="none" strike="noStrike"/>
                    </a:p>
                  </a:txBody>
                  <a:tcPr marT="91425" marB="91425" marR="91425" marL="91425"/>
                </a:tc>
              </a:tr>
            </a:tbl>
          </a:graphicData>
        </a:graphic>
      </p:graphicFrame>
      <p:graphicFrame>
        <p:nvGraphicFramePr>
          <p:cNvPr id="351" name="Google Shape;351;g188d18a41c8_0_39"/>
          <p:cNvGraphicFramePr/>
          <p:nvPr/>
        </p:nvGraphicFramePr>
        <p:xfrm>
          <a:off x="723900" y="1638300"/>
          <a:ext cx="3000000" cy="3000000"/>
        </p:xfrm>
        <a:graphic>
          <a:graphicData uri="http://schemas.openxmlformats.org/drawingml/2006/table">
            <a:tbl>
              <a:tblPr>
                <a:noFill/>
                <a:tableStyleId>{50B76520-13DC-4B26-A941-1D5C00A8A130}</a:tableStyleId>
              </a:tblPr>
              <a:tblGrid>
                <a:gridCol w="833250"/>
                <a:gridCol w="749775"/>
                <a:gridCol w="722000"/>
                <a:gridCol w="555025"/>
                <a:gridCol w="5967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a:t>
                      </a:r>
                      <a:endParaRPr sz="1400" u="none" cap="none" strike="noStrike"/>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188d18a41c8_0_59"/>
          <p:cNvSpPr txBox="1"/>
          <p:nvPr>
            <p:ph type="title"/>
          </p:nvPr>
        </p:nvSpPr>
        <p:spPr>
          <a:xfrm>
            <a:off x="99356" y="129065"/>
            <a:ext cx="9404700" cy="48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Example: Bubble sort optimised</a:t>
            </a:r>
            <a:endParaRPr/>
          </a:p>
        </p:txBody>
      </p:sp>
      <p:sp>
        <p:nvSpPr>
          <p:cNvPr id="357" name="Google Shape;357;g188d18a41c8_0_59"/>
          <p:cNvSpPr txBox="1"/>
          <p:nvPr>
            <p:ph idx="1" type="body"/>
          </p:nvPr>
        </p:nvSpPr>
        <p:spPr>
          <a:xfrm>
            <a:off x="325226" y="933254"/>
            <a:ext cx="5401500" cy="53151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20000"/>
              </a:lnSpc>
              <a:spcBef>
                <a:spcPts val="1000"/>
              </a:spcBef>
              <a:spcAft>
                <a:spcPts val="0"/>
              </a:spcAft>
              <a:buSzPts val="1100"/>
              <a:buNone/>
            </a:pPr>
            <a:r>
              <a:rPr lang="en-US"/>
              <a:t>#include&lt;iostream&gt;</a:t>
            </a:r>
            <a:endParaRPr/>
          </a:p>
          <a:p>
            <a:pPr indent="0" lvl="0" marL="0" rtl="0" algn="l">
              <a:lnSpc>
                <a:spcPct val="120000"/>
              </a:lnSpc>
              <a:spcBef>
                <a:spcPts val="1000"/>
              </a:spcBef>
              <a:spcAft>
                <a:spcPts val="0"/>
              </a:spcAft>
              <a:buSzPts val="1100"/>
              <a:buNone/>
            </a:pPr>
            <a:r>
              <a:rPr lang="en-US"/>
              <a:t>using namespace std;</a:t>
            </a:r>
            <a:endParaRPr/>
          </a:p>
          <a:p>
            <a:pPr indent="0" lvl="0" marL="0" rtl="0" algn="l">
              <a:lnSpc>
                <a:spcPct val="120000"/>
              </a:lnSpc>
              <a:spcBef>
                <a:spcPts val="1000"/>
              </a:spcBef>
              <a:spcAft>
                <a:spcPts val="0"/>
              </a:spcAft>
              <a:buSzPts val="1100"/>
              <a:buNone/>
            </a:pPr>
            <a:r>
              <a:rPr lang="en-US"/>
              <a:t>int main(){</a:t>
            </a:r>
            <a:endParaRPr/>
          </a:p>
          <a:p>
            <a:pPr indent="0" lvl="0" marL="0" rtl="0" algn="l">
              <a:lnSpc>
                <a:spcPct val="120000"/>
              </a:lnSpc>
              <a:spcBef>
                <a:spcPts val="1000"/>
              </a:spcBef>
              <a:spcAft>
                <a:spcPts val="0"/>
              </a:spcAft>
              <a:buSzPts val="1100"/>
              <a:buNone/>
            </a:pPr>
            <a:r>
              <a:rPr lang="en-US"/>
              <a:t>int i,count,j,temp,n=8;</a:t>
            </a:r>
            <a:endParaRPr/>
          </a:p>
          <a:p>
            <a:pPr indent="0" lvl="0" marL="0" rtl="0" algn="l">
              <a:lnSpc>
                <a:spcPct val="120000"/>
              </a:lnSpc>
              <a:spcBef>
                <a:spcPts val="1000"/>
              </a:spcBef>
              <a:spcAft>
                <a:spcPts val="0"/>
              </a:spcAft>
              <a:buSzPts val="1100"/>
              <a:buNone/>
            </a:pPr>
            <a:r>
              <a:rPr lang="en-US"/>
              <a:t>int arr[8]={12,3,1,5,18,10,7,35};</a:t>
            </a:r>
            <a:endParaRPr/>
          </a:p>
          <a:p>
            <a:pPr indent="0" lvl="0" marL="0" rtl="0" algn="l">
              <a:lnSpc>
                <a:spcPct val="120000"/>
              </a:lnSpc>
              <a:spcBef>
                <a:spcPts val="1000"/>
              </a:spcBef>
              <a:spcAft>
                <a:spcPts val="0"/>
              </a:spcAft>
              <a:buSzPts val="1100"/>
              <a:buNone/>
            </a:pPr>
            <a:r>
              <a:rPr lang="en-US"/>
              <a:t>cout&lt;&lt;"Unsorted array"&lt;&lt;endl;</a:t>
            </a:r>
            <a:endParaRPr/>
          </a:p>
          <a:p>
            <a:pPr indent="0" lvl="0" marL="0" rtl="0" algn="l">
              <a:lnSpc>
                <a:spcPct val="120000"/>
              </a:lnSpc>
              <a:spcBef>
                <a:spcPts val="1000"/>
              </a:spcBef>
              <a:spcAft>
                <a:spcPts val="0"/>
              </a:spcAft>
              <a:buSzPts val="1100"/>
              <a:buNone/>
            </a:pPr>
            <a:r>
              <a:rPr lang="en-US"/>
              <a:t>for(i=0;i&lt;n;i++){</a:t>
            </a:r>
            <a:endParaRPr/>
          </a:p>
          <a:p>
            <a:pPr indent="0" lvl="0" marL="0" rtl="0" algn="l">
              <a:lnSpc>
                <a:spcPct val="120000"/>
              </a:lnSpc>
              <a:spcBef>
                <a:spcPts val="1000"/>
              </a:spcBef>
              <a:spcAft>
                <a:spcPts val="0"/>
              </a:spcAft>
              <a:buSzPts val="1100"/>
              <a:buNone/>
            </a:pPr>
            <a:r>
              <a:rPr lang="en-US"/>
              <a:t>cout&lt;&lt; arr[i]&lt;&lt;"\t";</a:t>
            </a:r>
            <a:endParaRPr/>
          </a:p>
          <a:p>
            <a:pPr indent="0" lvl="0" marL="0" rtl="0" algn="l">
              <a:lnSpc>
                <a:spcPct val="120000"/>
              </a:lnSpc>
              <a:spcBef>
                <a:spcPts val="1000"/>
              </a:spcBef>
              <a:spcAft>
                <a:spcPts val="0"/>
              </a:spcAft>
              <a:buSzPts val="1100"/>
              <a:buNone/>
            </a:pPr>
            <a:r>
              <a:rPr lang="en-US"/>
              <a:t>}</a:t>
            </a:r>
            <a:endParaRPr/>
          </a:p>
          <a:p>
            <a:pPr indent="0" lvl="0" marL="0" rtl="0" algn="l">
              <a:lnSpc>
                <a:spcPct val="120000"/>
              </a:lnSpc>
              <a:spcBef>
                <a:spcPts val="1000"/>
              </a:spcBef>
              <a:spcAft>
                <a:spcPts val="0"/>
              </a:spcAft>
              <a:buSzPts val="1100"/>
              <a:buNone/>
            </a:pPr>
            <a:r>
              <a:rPr lang="en-US"/>
              <a:t>cout&lt;&lt;endl;</a:t>
            </a:r>
            <a:endParaRPr/>
          </a:p>
          <a:p>
            <a:pPr indent="0" lvl="0" marL="0" rtl="0" algn="l">
              <a:lnSpc>
                <a:spcPct val="120000"/>
              </a:lnSpc>
              <a:spcBef>
                <a:spcPts val="1000"/>
              </a:spcBef>
              <a:spcAft>
                <a:spcPts val="0"/>
              </a:spcAft>
              <a:buSzPts val="1100"/>
              <a:buNone/>
            </a:pPr>
            <a:r>
              <a:rPr lang="en-US"/>
              <a:t>cout&lt;&lt;endl;</a:t>
            </a:r>
            <a:endParaRPr/>
          </a:p>
        </p:txBody>
      </p:sp>
      <p:sp>
        <p:nvSpPr>
          <p:cNvPr id="358" name="Google Shape;358;g188d18a41c8_0_59"/>
          <p:cNvSpPr/>
          <p:nvPr/>
        </p:nvSpPr>
        <p:spPr>
          <a:xfrm>
            <a:off x="5726725" y="1071125"/>
            <a:ext cx="6096000" cy="5787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for(count=1;count&lt;=n-1;count++){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 int check=0;</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 for(j=0;j&lt;=n-2;j++)</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if(arr[j+1]&lt;arr[j]){</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swap(arr[j],arr[j+1];</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check=1;</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      }</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    }</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if(check==0){</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break;//The array is sorted</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cout&lt;&lt;"Sorted array"&lt;&lt;endl;</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for(i=0;i&lt;n;i++){</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cout&lt;&lt; arr[i]&lt;&lt;"\t";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cout&lt;&lt;endl;</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return 0;</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100"/>
              <a:buFont typeface="Arial"/>
              <a:buNone/>
            </a:pPr>
            <a:r>
              <a:rPr b="0" i="0" lang="en-US" sz="1500" u="none" cap="none" strike="noStrike">
                <a:solidFill>
                  <a:schemeClr val="dk1"/>
                </a:solidFill>
                <a:latin typeface="Century Gothic"/>
                <a:ea typeface="Century Gothic"/>
                <a:cs typeface="Century Gothic"/>
                <a:sym typeface="Century Gothic"/>
              </a:rPr>
              <a:t>}</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1500"/>
              <a:buFont typeface="Arial"/>
              <a:buNone/>
            </a:pPr>
            <a:r>
              <a:t/>
            </a:r>
            <a:endParaRPr b="0" i="0" sz="15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1"/>
          <p:cNvSpPr txBox="1"/>
          <p:nvPr>
            <p:ph type="title"/>
          </p:nvPr>
        </p:nvSpPr>
        <p:spPr>
          <a:xfrm>
            <a:off x="449826" y="141633"/>
            <a:ext cx="9404723" cy="7539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b="1" lang="en-US"/>
              <a:t>2. Insertion Sort</a:t>
            </a:r>
            <a:br>
              <a:rPr b="1" lang="en-US"/>
            </a:br>
            <a:endParaRPr/>
          </a:p>
        </p:txBody>
      </p:sp>
      <p:sp>
        <p:nvSpPr>
          <p:cNvPr id="364" name="Google Shape;364;p11"/>
          <p:cNvSpPr txBox="1"/>
          <p:nvPr>
            <p:ph idx="1" type="body"/>
          </p:nvPr>
        </p:nvSpPr>
        <p:spPr>
          <a:xfrm>
            <a:off x="254524" y="895547"/>
            <a:ext cx="11487650" cy="582082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lang="en-US"/>
              <a:t>Insertion sort is a simple sorting algorithm that works similar to the way you sort playing cards in your hands. The array is virtually split into a sorted and an unsorted part. Values from the unsorted part are picked and placed at the correct position in the sorted part.</a:t>
            </a:r>
            <a:endParaRPr/>
          </a:p>
          <a:p>
            <a:pPr indent="0" lvl="0" marL="0" rtl="0" algn="l">
              <a:lnSpc>
                <a:spcPct val="100000"/>
              </a:lnSpc>
              <a:spcBef>
                <a:spcPts val="1000"/>
              </a:spcBef>
              <a:spcAft>
                <a:spcPts val="0"/>
              </a:spcAft>
              <a:buSzPts val="1600"/>
              <a:buNone/>
            </a:pPr>
            <a:r>
              <a:rPr b="1" lang="en-US"/>
              <a:t>Algorithm </a:t>
            </a:r>
            <a:endParaRPr/>
          </a:p>
          <a:p>
            <a:pPr indent="-342900" lvl="0" marL="342900" rtl="0" algn="l">
              <a:lnSpc>
                <a:spcPct val="100000"/>
              </a:lnSpc>
              <a:spcBef>
                <a:spcPts val="1000"/>
              </a:spcBef>
              <a:spcAft>
                <a:spcPts val="0"/>
              </a:spcAft>
              <a:buSzPts val="1600"/>
              <a:buChar char="►"/>
            </a:pPr>
            <a:r>
              <a:rPr lang="en-US"/>
              <a:t>To sort an array of size n in ascending order: </a:t>
            </a:r>
            <a:endParaRPr/>
          </a:p>
          <a:p>
            <a:pPr indent="-342900" lvl="0" marL="342900" rtl="0" algn="l">
              <a:lnSpc>
                <a:spcPct val="100000"/>
              </a:lnSpc>
              <a:spcBef>
                <a:spcPts val="1000"/>
              </a:spcBef>
              <a:spcAft>
                <a:spcPts val="0"/>
              </a:spcAft>
              <a:buSzPts val="1600"/>
              <a:buChar char="►"/>
            </a:pPr>
            <a:r>
              <a:rPr lang="en-US"/>
              <a:t>Iterate from arr[1] to arr[n-1] over the array. </a:t>
            </a:r>
            <a:endParaRPr/>
          </a:p>
          <a:p>
            <a:pPr indent="-342900" lvl="0" marL="342900" rtl="0" algn="l">
              <a:lnSpc>
                <a:spcPct val="100000"/>
              </a:lnSpc>
              <a:spcBef>
                <a:spcPts val="1000"/>
              </a:spcBef>
              <a:spcAft>
                <a:spcPts val="0"/>
              </a:spcAft>
              <a:buSzPts val="1600"/>
              <a:buChar char="►"/>
            </a:pPr>
            <a:r>
              <a:rPr lang="en-US"/>
              <a:t>Compare the current element (key) to its predecessor. It starts by comparing the second element with the first element. If the second element is smaller than the first, then we will swap it.</a:t>
            </a:r>
            <a:endParaRPr/>
          </a:p>
          <a:p>
            <a:pPr indent="-342900" lvl="0" marL="342900" rtl="0" algn="l">
              <a:lnSpc>
                <a:spcPct val="100000"/>
              </a:lnSpc>
              <a:spcBef>
                <a:spcPts val="1000"/>
              </a:spcBef>
              <a:spcAft>
                <a:spcPts val="0"/>
              </a:spcAft>
              <a:buSzPts val="1600"/>
              <a:buChar char="►"/>
            </a:pPr>
            <a:r>
              <a:rPr lang="en-US"/>
              <a:t>If the key element is smaller than its predecessor, compare it to the elements before. Move the greater elements one position up to make space for the swapped element.</a:t>
            </a:r>
            <a:endParaRPr/>
          </a:p>
          <a:p>
            <a:pPr indent="0" lvl="0" marL="0" rtl="0" algn="l">
              <a:lnSpc>
                <a:spcPct val="100000"/>
              </a:lnSpc>
              <a:spcBef>
                <a:spcPts val="1000"/>
              </a:spcBef>
              <a:spcAft>
                <a:spcPts val="0"/>
              </a:spcAft>
              <a:buSzPts val="16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88d18a41c8_0_70"/>
          <p:cNvSpPr txBox="1"/>
          <p:nvPr>
            <p:ph type="title"/>
          </p:nvPr>
        </p:nvSpPr>
        <p:spPr>
          <a:xfrm>
            <a:off x="510450" y="368021"/>
            <a:ext cx="94047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1300"/>
              </a:spcAft>
              <a:buClr>
                <a:schemeClr val="dk1"/>
              </a:buClr>
              <a:buSzPts val="1100"/>
              <a:buFont typeface="Arial"/>
              <a:buNone/>
            </a:pPr>
            <a:r>
              <a:rPr b="1" lang="en-US" sz="2000">
                <a:solidFill>
                  <a:srgbClr val="222222"/>
                </a:solidFill>
                <a:latin typeface="Proxima Nova"/>
                <a:ea typeface="Proxima Nova"/>
                <a:cs typeface="Proxima Nova"/>
                <a:sym typeface="Proxima Nova"/>
              </a:rPr>
              <a:t>Let us go ahead with a playing card example.</a:t>
            </a:r>
            <a:endParaRPr b="1" sz="5000"/>
          </a:p>
        </p:txBody>
      </p:sp>
      <p:sp>
        <p:nvSpPr>
          <p:cNvPr id="370" name="Google Shape;370;g188d18a41c8_0_70"/>
          <p:cNvSpPr txBox="1"/>
          <p:nvPr>
            <p:ph idx="1" type="body"/>
          </p:nvPr>
        </p:nvSpPr>
        <p:spPr>
          <a:xfrm>
            <a:off x="148700" y="992125"/>
            <a:ext cx="3558300" cy="50385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115000"/>
              </a:lnSpc>
              <a:spcBef>
                <a:spcPts val="1300"/>
              </a:spcBef>
              <a:spcAft>
                <a:spcPts val="0"/>
              </a:spcAft>
              <a:buSzPct val="64864"/>
              <a:buNone/>
            </a:pPr>
            <a:r>
              <a:rPr lang="en-US" sz="2400">
                <a:solidFill>
                  <a:srgbClr val="222222"/>
                </a:solidFill>
                <a:latin typeface="Proxima Nova"/>
                <a:ea typeface="Proxima Nova"/>
                <a:cs typeface="Proxima Nova"/>
                <a:sym typeface="Proxima Nova"/>
              </a:rPr>
              <a:t>Imagine being handed one card at a time. You take the first card in your hand. Then you sort the second card to the left or right of it. The third card is placed to the left, in between or to the right, depending on its size. And also, all the following cards are placed in the right position.</a:t>
            </a:r>
            <a:endParaRPr sz="2400">
              <a:solidFill>
                <a:srgbClr val="222222"/>
              </a:solidFill>
              <a:latin typeface="Proxima Nova"/>
              <a:ea typeface="Proxima Nova"/>
              <a:cs typeface="Proxima Nova"/>
              <a:sym typeface="Proxima Nova"/>
            </a:endParaRPr>
          </a:p>
          <a:p>
            <a:pPr indent="0" lvl="0" marL="0" rtl="0" algn="just">
              <a:lnSpc>
                <a:spcPct val="115000"/>
              </a:lnSpc>
              <a:spcBef>
                <a:spcPts val="1300"/>
              </a:spcBef>
              <a:spcAft>
                <a:spcPts val="1300"/>
              </a:spcAft>
              <a:buSzPct val="64864"/>
              <a:buNone/>
            </a:pPr>
            <a:r>
              <a:rPr lang="en-US" sz="2400">
                <a:solidFill>
                  <a:srgbClr val="222222"/>
                </a:solidFill>
                <a:latin typeface="Proxima Nova"/>
                <a:ea typeface="Proxima Nova"/>
                <a:cs typeface="Proxima Nova"/>
                <a:sym typeface="Proxima Nova"/>
              </a:rPr>
              <a:t>Have you ever sorted cards this way before?</a:t>
            </a:r>
            <a:endParaRPr sz="3200"/>
          </a:p>
        </p:txBody>
      </p:sp>
      <p:pic>
        <p:nvPicPr>
          <p:cNvPr descr="Insertion Sort with playing cards" id="371" name="Google Shape;371;g188d18a41c8_0_70"/>
          <p:cNvPicPr preferRelativeResize="0"/>
          <p:nvPr/>
        </p:nvPicPr>
        <p:blipFill rotWithShape="1">
          <a:blip r:embed="rId3">
            <a:alphaModFix/>
          </a:blip>
          <a:srcRect b="0" l="0" r="0" t="0"/>
          <a:stretch/>
        </p:blipFill>
        <p:spPr>
          <a:xfrm>
            <a:off x="4282925" y="781200"/>
            <a:ext cx="7909075" cy="4664321"/>
          </a:xfrm>
          <a:prstGeom prst="rect">
            <a:avLst/>
          </a:prstGeom>
          <a:noFill/>
          <a:ln>
            <a:noFill/>
          </a:ln>
        </p:spPr>
      </p:pic>
      <p:sp>
        <p:nvSpPr>
          <p:cNvPr id="372" name="Google Shape;372;g188d18a41c8_0_70"/>
          <p:cNvSpPr txBox="1"/>
          <p:nvPr/>
        </p:nvSpPr>
        <p:spPr>
          <a:xfrm>
            <a:off x="3694225" y="5445525"/>
            <a:ext cx="8512800" cy="14475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15000"/>
              </a:lnSpc>
              <a:spcBef>
                <a:spcPts val="1300"/>
              </a:spcBef>
              <a:spcAft>
                <a:spcPts val="0"/>
              </a:spcAft>
              <a:buClr>
                <a:srgbClr val="000000"/>
              </a:buClr>
              <a:buSzPts val="1600"/>
              <a:buFont typeface="Arial"/>
              <a:buNone/>
            </a:pPr>
            <a:r>
              <a:rPr b="0" i="0" lang="en-US" sz="1600" u="none" cap="none" strike="noStrike">
                <a:solidFill>
                  <a:srgbClr val="222222"/>
                </a:solidFill>
                <a:latin typeface="Proxima Nova"/>
                <a:ea typeface="Proxima Nova"/>
                <a:cs typeface="Proxima Nova"/>
                <a:sym typeface="Proxima Nova"/>
              </a:rPr>
              <a:t>If so, then you have intuitively used "</a:t>
            </a:r>
            <a:r>
              <a:rPr b="1" i="0" lang="en-US" sz="1600" u="none" cap="none" strike="noStrike">
                <a:solidFill>
                  <a:srgbClr val="222222"/>
                </a:solidFill>
                <a:latin typeface="Proxima Nova"/>
                <a:ea typeface="Proxima Nova"/>
                <a:cs typeface="Proxima Nova"/>
                <a:sym typeface="Proxima Nova"/>
              </a:rPr>
              <a:t>Insertion Sort</a:t>
            </a:r>
            <a:r>
              <a:rPr b="0" i="0" lang="en-US" sz="1600" u="none" cap="none" strike="noStrike">
                <a:solidFill>
                  <a:srgbClr val="222222"/>
                </a:solidFill>
                <a:latin typeface="Proxima Nova"/>
                <a:ea typeface="Proxima Nova"/>
                <a:cs typeface="Proxima Nova"/>
                <a:sym typeface="Proxima Nova"/>
              </a:rPr>
              <a:t>".</a:t>
            </a:r>
            <a:endParaRPr b="0" i="0" sz="1600" u="none" cap="none" strike="noStrike">
              <a:solidFill>
                <a:srgbClr val="222222"/>
              </a:solidFill>
              <a:latin typeface="Proxima Nova"/>
              <a:ea typeface="Proxima Nova"/>
              <a:cs typeface="Proxima Nova"/>
              <a:sym typeface="Proxima Nova"/>
            </a:endParaRPr>
          </a:p>
          <a:p>
            <a:pPr indent="0" lvl="0" marL="0" marR="0" rtl="0" algn="l">
              <a:lnSpc>
                <a:spcPct val="115000"/>
              </a:lnSpc>
              <a:spcBef>
                <a:spcPts val="1300"/>
              </a:spcBef>
              <a:spcAft>
                <a:spcPts val="1300"/>
              </a:spcAft>
              <a:buClr>
                <a:srgbClr val="000000"/>
              </a:buClr>
              <a:buSzPts val="1600"/>
              <a:buFont typeface="Arial"/>
              <a:buNone/>
            </a:pPr>
            <a:r>
              <a:rPr b="0" i="0" lang="en-US" sz="1600" u="none" cap="none" strike="noStrike">
                <a:solidFill>
                  <a:srgbClr val="222222"/>
                </a:solidFill>
                <a:latin typeface="Proxima Nova"/>
                <a:ea typeface="Proxima Nova"/>
                <a:cs typeface="Proxima Nova"/>
                <a:sym typeface="Proxima Nova"/>
              </a:rPr>
              <a:t>Let's move from the card example to the computer algorithm. Let us assume we have an array with the elements [6, 2, 4, 9, 3, 7]. This array should be sorted with Insertion Sort in ascending order.</a:t>
            </a:r>
            <a:endParaRPr b="0" i="0" sz="1600" u="none" cap="none" strike="noStrike">
              <a:solidFill>
                <a:srgbClr val="222222"/>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188d18a41c8_0_84"/>
          <p:cNvSpPr txBox="1"/>
          <p:nvPr>
            <p:ph type="title"/>
          </p:nvPr>
        </p:nvSpPr>
        <p:spPr>
          <a:xfrm>
            <a:off x="205650" y="63221"/>
            <a:ext cx="94047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1900">
                <a:solidFill>
                  <a:srgbClr val="212529"/>
                </a:solidFill>
                <a:highlight>
                  <a:srgbClr val="FFFFFF"/>
                </a:highlight>
                <a:latin typeface="Proxima Nova"/>
                <a:ea typeface="Proxima Nova"/>
                <a:cs typeface="Proxima Nova"/>
                <a:sym typeface="Proxima Nova"/>
              </a:rPr>
              <a:t> </a:t>
            </a:r>
            <a:r>
              <a:rPr b="1" lang="en-US" sz="1900">
                <a:solidFill>
                  <a:srgbClr val="212529"/>
                </a:solidFill>
                <a:highlight>
                  <a:srgbClr val="E0E0E0"/>
                </a:highlight>
                <a:latin typeface="Proxima Nova"/>
                <a:ea typeface="Proxima Nova"/>
                <a:cs typeface="Proxima Nova"/>
                <a:sym typeface="Proxima Nova"/>
              </a:rPr>
              <a:t>Step 1</a:t>
            </a:r>
            <a:endParaRPr b="1" sz="5800"/>
          </a:p>
        </p:txBody>
      </p:sp>
      <p:sp>
        <p:nvSpPr>
          <p:cNvPr id="378" name="Google Shape;378;g188d18a41c8_0_84"/>
          <p:cNvSpPr txBox="1"/>
          <p:nvPr>
            <p:ph idx="1" type="body"/>
          </p:nvPr>
        </p:nvSpPr>
        <p:spPr>
          <a:xfrm>
            <a:off x="148700" y="992125"/>
            <a:ext cx="4525200" cy="5699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0"/>
              </a:spcAft>
              <a:buSzPts val="1440"/>
              <a:buNone/>
            </a:pPr>
            <a:r>
              <a:rPr lang="en-US" sz="2800">
                <a:solidFill>
                  <a:srgbClr val="222222"/>
                </a:solidFill>
                <a:latin typeface="Proxima Nova"/>
                <a:ea typeface="Proxima Nova"/>
                <a:cs typeface="Proxima Nova"/>
                <a:sym typeface="Proxima Nova"/>
              </a:rPr>
              <a:t>First, we divide the array into a left, sorted part, and a right, unsorted part.</a:t>
            </a:r>
            <a:endParaRPr sz="2800">
              <a:solidFill>
                <a:srgbClr val="222222"/>
              </a:solidFill>
              <a:latin typeface="Proxima Nova"/>
              <a:ea typeface="Proxima Nova"/>
              <a:cs typeface="Proxima Nova"/>
              <a:sym typeface="Proxima Nova"/>
            </a:endParaRPr>
          </a:p>
          <a:p>
            <a:pPr indent="0" lvl="0" marL="0" rtl="0" algn="l">
              <a:lnSpc>
                <a:spcPct val="115000"/>
              </a:lnSpc>
              <a:spcBef>
                <a:spcPts val="1300"/>
              </a:spcBef>
              <a:spcAft>
                <a:spcPts val="0"/>
              </a:spcAft>
              <a:buSzPts val="1440"/>
              <a:buNone/>
            </a:pPr>
            <a:r>
              <a:t/>
            </a:r>
            <a:endParaRPr sz="2800">
              <a:solidFill>
                <a:srgbClr val="222222"/>
              </a:solidFill>
              <a:latin typeface="Proxima Nova"/>
              <a:ea typeface="Proxima Nova"/>
              <a:cs typeface="Proxima Nova"/>
              <a:sym typeface="Proxima Nova"/>
            </a:endParaRPr>
          </a:p>
          <a:p>
            <a:pPr indent="0" lvl="0" marL="0" rtl="0" algn="l">
              <a:lnSpc>
                <a:spcPct val="115000"/>
              </a:lnSpc>
              <a:spcBef>
                <a:spcPts val="1300"/>
              </a:spcBef>
              <a:spcAft>
                <a:spcPts val="1300"/>
              </a:spcAft>
              <a:buSzPts val="1440"/>
              <a:buNone/>
            </a:pPr>
            <a:r>
              <a:rPr lang="en-US" sz="2800">
                <a:solidFill>
                  <a:srgbClr val="222222"/>
                </a:solidFill>
                <a:latin typeface="Proxima Nova"/>
                <a:ea typeface="Proxima Nova"/>
                <a:cs typeface="Proxima Nova"/>
                <a:sym typeface="Proxima Nova"/>
              </a:rPr>
              <a:t> The sorted part already contains the first element at the beginning, because an array with a single element can always be considered sorted.</a:t>
            </a:r>
            <a:endParaRPr sz="4000">
              <a:solidFill>
                <a:srgbClr val="222222"/>
              </a:solidFill>
              <a:latin typeface="Proxima Nova"/>
              <a:ea typeface="Proxima Nova"/>
              <a:cs typeface="Proxima Nova"/>
              <a:sym typeface="Proxima Nova"/>
            </a:endParaRPr>
          </a:p>
        </p:txBody>
      </p:sp>
      <p:pic>
        <p:nvPicPr>
          <p:cNvPr descr="Insertion Sort Algorithm - Step 1" id="379" name="Google Shape;379;g188d18a41c8_0_84"/>
          <p:cNvPicPr preferRelativeResize="0"/>
          <p:nvPr/>
        </p:nvPicPr>
        <p:blipFill rotWithShape="1">
          <a:blip r:embed="rId3">
            <a:alphaModFix/>
          </a:blip>
          <a:srcRect b="0" l="0" r="0" t="0"/>
          <a:stretch/>
        </p:blipFill>
        <p:spPr>
          <a:xfrm>
            <a:off x="4791400" y="839096"/>
            <a:ext cx="5448300" cy="3838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88d18a41c8_0_95"/>
          <p:cNvSpPr txBox="1"/>
          <p:nvPr>
            <p:ph type="title"/>
          </p:nvPr>
        </p:nvSpPr>
        <p:spPr>
          <a:xfrm>
            <a:off x="205650" y="63221"/>
            <a:ext cx="94047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1900">
                <a:solidFill>
                  <a:srgbClr val="212529"/>
                </a:solidFill>
                <a:highlight>
                  <a:srgbClr val="FFFFFF"/>
                </a:highlight>
                <a:latin typeface="Proxima Nova"/>
                <a:ea typeface="Proxima Nova"/>
                <a:cs typeface="Proxima Nova"/>
                <a:sym typeface="Proxima Nova"/>
              </a:rPr>
              <a:t> </a:t>
            </a:r>
            <a:r>
              <a:rPr b="1" lang="en-US" sz="1900">
                <a:solidFill>
                  <a:srgbClr val="212529"/>
                </a:solidFill>
                <a:highlight>
                  <a:srgbClr val="E0E0E0"/>
                </a:highlight>
                <a:latin typeface="Proxima Nova"/>
                <a:ea typeface="Proxima Nova"/>
                <a:cs typeface="Proxima Nova"/>
                <a:sym typeface="Proxima Nova"/>
              </a:rPr>
              <a:t>Step 2</a:t>
            </a:r>
            <a:endParaRPr b="1" sz="5800"/>
          </a:p>
        </p:txBody>
      </p:sp>
      <p:sp>
        <p:nvSpPr>
          <p:cNvPr id="385" name="Google Shape;385;g188d18a41c8_0_95"/>
          <p:cNvSpPr txBox="1"/>
          <p:nvPr>
            <p:ph idx="1" type="body"/>
          </p:nvPr>
        </p:nvSpPr>
        <p:spPr>
          <a:xfrm>
            <a:off x="129450" y="71635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0"/>
              </a:spcAft>
              <a:buSzPts val="1440"/>
              <a:buNone/>
            </a:pPr>
            <a:r>
              <a:rPr lang="en-US" sz="2200">
                <a:solidFill>
                  <a:srgbClr val="222222"/>
                </a:solidFill>
                <a:latin typeface="Proxima Nova"/>
                <a:ea typeface="Proxima Nova"/>
                <a:cs typeface="Proxima Nova"/>
                <a:sym typeface="Proxima Nova"/>
              </a:rPr>
              <a:t>Then we look at the first element of the </a:t>
            </a:r>
            <a:r>
              <a:rPr i="1" lang="en-US" sz="2200">
                <a:solidFill>
                  <a:srgbClr val="222222"/>
                </a:solidFill>
                <a:latin typeface="Proxima Nova"/>
                <a:ea typeface="Proxima Nova"/>
                <a:cs typeface="Proxima Nova"/>
                <a:sym typeface="Proxima Nova"/>
              </a:rPr>
              <a:t>unsorted</a:t>
            </a:r>
            <a:r>
              <a:rPr lang="en-US" sz="2200">
                <a:solidFill>
                  <a:srgbClr val="222222"/>
                </a:solidFill>
                <a:latin typeface="Proxima Nova"/>
                <a:ea typeface="Proxima Nova"/>
                <a:cs typeface="Proxima Nova"/>
                <a:sym typeface="Proxima Nova"/>
              </a:rPr>
              <a:t> area and check where, in the sorted area, it needs to be inserted by comparing it with its left neighbor.</a:t>
            </a:r>
            <a:endParaRPr sz="2200">
              <a:solidFill>
                <a:srgbClr val="222222"/>
              </a:solidFill>
              <a:latin typeface="Proxima Nova"/>
              <a:ea typeface="Proxima Nova"/>
              <a:cs typeface="Proxima Nova"/>
              <a:sym typeface="Proxima Nova"/>
            </a:endParaRPr>
          </a:p>
          <a:p>
            <a:pPr indent="0" lvl="0" marL="0" rtl="0" algn="l">
              <a:lnSpc>
                <a:spcPct val="115000"/>
              </a:lnSpc>
              <a:spcBef>
                <a:spcPts val="1300"/>
              </a:spcBef>
              <a:spcAft>
                <a:spcPts val="0"/>
              </a:spcAft>
              <a:buSzPts val="1440"/>
              <a:buNone/>
            </a:pPr>
            <a:r>
              <a:rPr lang="en-US" sz="2200">
                <a:solidFill>
                  <a:srgbClr val="222222"/>
                </a:solidFill>
                <a:latin typeface="Proxima Nova"/>
                <a:ea typeface="Proxima Nova"/>
                <a:cs typeface="Proxima Nova"/>
                <a:sym typeface="Proxima Nova"/>
              </a:rPr>
              <a:t>In the example, the 2 is smaller than the 6, so it belongs to its left. In order to make room, we move the 6 one position to the right and then place the 2 on the empty field. Then we move the border between the sorted and unsorted area one step to the right:</a:t>
            </a:r>
            <a:endParaRPr sz="2200">
              <a:solidFill>
                <a:srgbClr val="222222"/>
              </a:solidFill>
              <a:latin typeface="Proxima Nova"/>
              <a:ea typeface="Proxima Nova"/>
              <a:cs typeface="Proxima Nova"/>
              <a:sym typeface="Proxima Nova"/>
            </a:endParaRPr>
          </a:p>
        </p:txBody>
      </p:sp>
      <p:pic>
        <p:nvPicPr>
          <p:cNvPr descr="Insertion Sort Algorithm - Step 2" id="386" name="Google Shape;386;g188d18a41c8_0_95"/>
          <p:cNvPicPr preferRelativeResize="0"/>
          <p:nvPr/>
        </p:nvPicPr>
        <p:blipFill rotWithShape="1">
          <a:blip r:embed="rId3">
            <a:alphaModFix/>
          </a:blip>
          <a:srcRect b="0" l="0" r="0" t="0"/>
          <a:stretch/>
        </p:blipFill>
        <p:spPr>
          <a:xfrm>
            <a:off x="5139200" y="716351"/>
            <a:ext cx="6573675" cy="4314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188d18a41c8_0_104"/>
          <p:cNvSpPr txBox="1"/>
          <p:nvPr>
            <p:ph type="title"/>
          </p:nvPr>
        </p:nvSpPr>
        <p:spPr>
          <a:xfrm>
            <a:off x="205650" y="63221"/>
            <a:ext cx="94047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1900">
                <a:solidFill>
                  <a:srgbClr val="212529"/>
                </a:solidFill>
                <a:highlight>
                  <a:srgbClr val="FFFFFF"/>
                </a:highlight>
                <a:latin typeface="Proxima Nova"/>
                <a:ea typeface="Proxima Nova"/>
                <a:cs typeface="Proxima Nova"/>
                <a:sym typeface="Proxima Nova"/>
              </a:rPr>
              <a:t> </a:t>
            </a:r>
            <a:r>
              <a:rPr b="1" lang="en-US" sz="1900">
                <a:solidFill>
                  <a:srgbClr val="212529"/>
                </a:solidFill>
                <a:highlight>
                  <a:srgbClr val="E0E0E0"/>
                </a:highlight>
                <a:latin typeface="Proxima Nova"/>
                <a:ea typeface="Proxima Nova"/>
                <a:cs typeface="Proxima Nova"/>
                <a:sym typeface="Proxima Nova"/>
              </a:rPr>
              <a:t>Step 3</a:t>
            </a:r>
            <a:endParaRPr b="1" sz="5800"/>
          </a:p>
        </p:txBody>
      </p:sp>
      <p:sp>
        <p:nvSpPr>
          <p:cNvPr id="392" name="Google Shape;392;g188d18a41c8_0_104"/>
          <p:cNvSpPr txBox="1"/>
          <p:nvPr>
            <p:ph idx="1" type="body"/>
          </p:nvPr>
        </p:nvSpPr>
        <p:spPr>
          <a:xfrm>
            <a:off x="129450" y="71635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1300"/>
              </a:spcAft>
              <a:buSzPts val="1440"/>
              <a:buNone/>
            </a:pPr>
            <a:r>
              <a:rPr lang="en-US" sz="3000">
                <a:solidFill>
                  <a:srgbClr val="222222"/>
                </a:solidFill>
                <a:latin typeface="Proxima Nova"/>
                <a:ea typeface="Proxima Nova"/>
                <a:cs typeface="Proxima Nova"/>
                <a:sym typeface="Proxima Nova"/>
              </a:rPr>
              <a:t>We look again at the first element of the unsorted area, 4. It is smaller than 6, but not smaller than the 2 and, therefore, belongs between 2 and 6. So we move the 6 again one position to the right and place the 4 on the vacant field:</a:t>
            </a:r>
            <a:endParaRPr sz="4000">
              <a:solidFill>
                <a:srgbClr val="222222"/>
              </a:solidFill>
              <a:latin typeface="Proxima Nova"/>
              <a:ea typeface="Proxima Nova"/>
              <a:cs typeface="Proxima Nova"/>
              <a:sym typeface="Proxima Nova"/>
            </a:endParaRPr>
          </a:p>
        </p:txBody>
      </p:sp>
      <p:pic>
        <p:nvPicPr>
          <p:cNvPr descr="Insertion Sort Algorithm - Step 3" id="393" name="Google Shape;393;g188d18a41c8_0_104"/>
          <p:cNvPicPr preferRelativeResize="0"/>
          <p:nvPr/>
        </p:nvPicPr>
        <p:blipFill rotWithShape="1">
          <a:blip r:embed="rId3">
            <a:alphaModFix/>
          </a:blip>
          <a:srcRect b="0" l="0" r="0" t="0"/>
          <a:stretch/>
        </p:blipFill>
        <p:spPr>
          <a:xfrm>
            <a:off x="5146275" y="903625"/>
            <a:ext cx="6677500" cy="4382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188d18a41c8_0_118"/>
          <p:cNvSpPr txBox="1"/>
          <p:nvPr/>
        </p:nvSpPr>
        <p:spPr>
          <a:xfrm>
            <a:off x="236475" y="250400"/>
            <a:ext cx="11671200" cy="5987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3300"/>
              <a:buFont typeface="Arial"/>
              <a:buNone/>
            </a:pPr>
            <a:r>
              <a:rPr b="1" i="0" lang="en-US" sz="3300" u="none" cap="none" strike="noStrike">
                <a:solidFill>
                  <a:srgbClr val="212529"/>
                </a:solidFill>
                <a:highlight>
                  <a:srgbClr val="FFFFFF"/>
                </a:highlight>
                <a:latin typeface="Proxima Nova"/>
                <a:ea typeface="Proxima Nova"/>
                <a:cs typeface="Proxima Nova"/>
                <a:sym typeface="Proxima Nova"/>
              </a:rPr>
              <a:t> </a:t>
            </a:r>
            <a:r>
              <a:rPr b="1" i="0" lang="en-US" sz="3300" u="none" cap="none" strike="noStrike">
                <a:solidFill>
                  <a:srgbClr val="212529"/>
                </a:solidFill>
                <a:highlight>
                  <a:srgbClr val="E0E0E0"/>
                </a:highlight>
                <a:latin typeface="Proxima Nova"/>
                <a:ea typeface="Proxima Nova"/>
                <a:cs typeface="Proxima Nova"/>
                <a:sym typeface="Proxima Nova"/>
              </a:rPr>
              <a:t>Step 4</a:t>
            </a:r>
            <a:endParaRPr b="1" i="0" sz="3300" u="none" cap="none" strike="noStrike">
              <a:solidFill>
                <a:srgbClr val="212529"/>
              </a:solidFill>
              <a:highlight>
                <a:srgbClr val="E0E0E0"/>
              </a:highlight>
              <a:latin typeface="Proxima Nova"/>
              <a:ea typeface="Proxima Nova"/>
              <a:cs typeface="Proxima Nova"/>
              <a:sym typeface="Proxima Nova"/>
            </a:endParaRPr>
          </a:p>
          <a:p>
            <a:pPr indent="0" lvl="0" marL="0" marR="0" rtl="0" algn="l">
              <a:lnSpc>
                <a:spcPct val="115000"/>
              </a:lnSpc>
              <a:spcBef>
                <a:spcPts val="1300"/>
              </a:spcBef>
              <a:spcAft>
                <a:spcPts val="0"/>
              </a:spcAft>
              <a:buClr>
                <a:srgbClr val="000000"/>
              </a:buClr>
              <a:buSzPts val="3400"/>
              <a:buFont typeface="Arial"/>
              <a:buNone/>
            </a:pPr>
            <a:r>
              <a:rPr b="0" i="0" lang="en-US" sz="3400" u="none" cap="none" strike="noStrike">
                <a:solidFill>
                  <a:srgbClr val="222222"/>
                </a:solidFill>
                <a:latin typeface="Proxima Nova"/>
                <a:ea typeface="Proxima Nova"/>
                <a:cs typeface="Proxima Nova"/>
                <a:sym typeface="Proxima Nova"/>
              </a:rPr>
              <a:t>The next element to be sorted is the 9, which is larger than its left neighbor 6, and thus larger than all elements in the sorted area. Therefore, it is already in the correct position, so we do not need to shift any element in this step.</a:t>
            </a:r>
            <a:endParaRPr b="0" i="0" sz="3400" u="none" cap="none" strike="noStrike">
              <a:solidFill>
                <a:srgbClr val="222222"/>
              </a:solidFill>
              <a:latin typeface="Proxima Nova"/>
              <a:ea typeface="Proxima Nova"/>
              <a:cs typeface="Proxima Nova"/>
              <a:sym typeface="Proxima Nova"/>
            </a:endParaRPr>
          </a:p>
          <a:p>
            <a:pPr indent="0" lvl="0" marL="0" marR="0" rtl="0" algn="l">
              <a:lnSpc>
                <a:spcPct val="115000"/>
              </a:lnSpc>
              <a:spcBef>
                <a:spcPts val="1300"/>
              </a:spcBef>
              <a:spcAft>
                <a:spcPts val="0"/>
              </a:spcAft>
              <a:buClr>
                <a:srgbClr val="000000"/>
              </a:buClr>
              <a:buSzPts val="3300"/>
              <a:buFont typeface="Arial"/>
              <a:buNone/>
            </a:pPr>
            <a:r>
              <a:rPr b="1" i="0" lang="en-US" sz="3300" u="none" cap="none" strike="noStrike">
                <a:solidFill>
                  <a:srgbClr val="212529"/>
                </a:solidFill>
                <a:highlight>
                  <a:srgbClr val="E0E0E0"/>
                </a:highlight>
                <a:latin typeface="Proxima Nova"/>
                <a:ea typeface="Proxima Nova"/>
                <a:cs typeface="Proxima Nova"/>
                <a:sym typeface="Proxima Nova"/>
              </a:rPr>
              <a:t>Step 5</a:t>
            </a:r>
            <a:endParaRPr b="1" i="0" sz="3300" u="none" cap="none" strike="noStrike">
              <a:solidFill>
                <a:srgbClr val="212529"/>
              </a:solidFill>
              <a:highlight>
                <a:srgbClr val="E0E0E0"/>
              </a:highlight>
              <a:latin typeface="Proxima Nova"/>
              <a:ea typeface="Proxima Nova"/>
              <a:cs typeface="Proxima Nova"/>
              <a:sym typeface="Proxima Nova"/>
            </a:endParaRPr>
          </a:p>
          <a:p>
            <a:pPr indent="0" lvl="0" marL="0" marR="0" rtl="0" algn="l">
              <a:lnSpc>
                <a:spcPct val="115000"/>
              </a:lnSpc>
              <a:spcBef>
                <a:spcPts val="1300"/>
              </a:spcBef>
              <a:spcAft>
                <a:spcPts val="1300"/>
              </a:spcAft>
              <a:buClr>
                <a:srgbClr val="000000"/>
              </a:buClr>
              <a:buSzPts val="3400"/>
              <a:buFont typeface="Arial"/>
              <a:buNone/>
            </a:pPr>
            <a:r>
              <a:rPr b="0" i="0" lang="en-US" sz="3400" u="none" cap="none" strike="noStrike">
                <a:solidFill>
                  <a:srgbClr val="222222"/>
                </a:solidFill>
                <a:latin typeface="Proxima Nova"/>
                <a:ea typeface="Proxima Nova"/>
                <a:cs typeface="Proxima Nova"/>
                <a:sym typeface="Proxima Nova"/>
              </a:rPr>
              <a:t>The next element is the 3, which is smaller than 9, 6, and 4, but greater than the 2. So we move the 9, 6, and 4 one position to the right and then put 3 where the 4 was before.</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188d18a41c8_0_130"/>
          <p:cNvSpPr txBox="1"/>
          <p:nvPr>
            <p:ph type="title"/>
          </p:nvPr>
        </p:nvSpPr>
        <p:spPr>
          <a:xfrm>
            <a:off x="205650" y="63221"/>
            <a:ext cx="94047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3000">
                <a:solidFill>
                  <a:srgbClr val="212529"/>
                </a:solidFill>
                <a:highlight>
                  <a:srgbClr val="E0E0E0"/>
                </a:highlight>
                <a:latin typeface="Proxima Nova"/>
                <a:ea typeface="Proxima Nova"/>
                <a:cs typeface="Proxima Nova"/>
                <a:sym typeface="Proxima Nova"/>
              </a:rPr>
              <a:t>Step 6</a:t>
            </a:r>
            <a:endParaRPr b="1" sz="6900"/>
          </a:p>
        </p:txBody>
      </p:sp>
      <p:sp>
        <p:nvSpPr>
          <p:cNvPr id="404" name="Google Shape;404;g188d18a41c8_0_130"/>
          <p:cNvSpPr txBox="1"/>
          <p:nvPr>
            <p:ph idx="1" type="body"/>
          </p:nvPr>
        </p:nvSpPr>
        <p:spPr>
          <a:xfrm>
            <a:off x="129450" y="71635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1300"/>
              </a:spcAft>
              <a:buSzPts val="1440"/>
              <a:buNone/>
            </a:pPr>
            <a:r>
              <a:rPr lang="en-US" sz="3700">
                <a:solidFill>
                  <a:srgbClr val="222222"/>
                </a:solidFill>
                <a:latin typeface="Proxima Nova"/>
                <a:ea typeface="Proxima Nova"/>
                <a:cs typeface="Proxima Nova"/>
                <a:sym typeface="Proxima Nova"/>
              </a:rPr>
              <a:t>That leaves the 7 – it is smaller than the 9, but larger than the 6, so we move the 9 one field to the right and place the 7 on the vacant position:</a:t>
            </a:r>
            <a:endParaRPr sz="5500">
              <a:solidFill>
                <a:srgbClr val="222222"/>
              </a:solidFill>
              <a:latin typeface="Proxima Nova"/>
              <a:ea typeface="Proxima Nova"/>
              <a:cs typeface="Proxima Nova"/>
              <a:sym typeface="Proxima Nova"/>
            </a:endParaRPr>
          </a:p>
        </p:txBody>
      </p:sp>
      <p:pic>
        <p:nvPicPr>
          <p:cNvPr descr="Insertion Sort Algorithm - Step 6" id="405" name="Google Shape;405;g188d18a41c8_0_130"/>
          <p:cNvPicPr preferRelativeResize="0"/>
          <p:nvPr/>
        </p:nvPicPr>
        <p:blipFill rotWithShape="1">
          <a:blip r:embed="rId3">
            <a:alphaModFix/>
          </a:blip>
          <a:srcRect b="0" l="0" r="0" t="0"/>
          <a:stretch/>
        </p:blipFill>
        <p:spPr>
          <a:xfrm>
            <a:off x="5104550" y="1167926"/>
            <a:ext cx="6849850" cy="4730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descr="Sorting_in_C++_Example9." id="410" name="Google Shape;410;p12"/>
          <p:cNvPicPr preferRelativeResize="0"/>
          <p:nvPr/>
        </p:nvPicPr>
        <p:blipFill rotWithShape="1">
          <a:blip r:embed="rId3">
            <a:alphaModFix/>
          </a:blip>
          <a:srcRect b="0" l="0" r="0" t="0"/>
          <a:stretch/>
        </p:blipFill>
        <p:spPr>
          <a:xfrm>
            <a:off x="1332813" y="198486"/>
            <a:ext cx="8716160" cy="64610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3"/>
          <p:cNvSpPr txBox="1"/>
          <p:nvPr>
            <p:ph idx="1" type="body"/>
          </p:nvPr>
        </p:nvSpPr>
        <p:spPr>
          <a:xfrm>
            <a:off x="414775" y="361675"/>
            <a:ext cx="10925700" cy="58866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2560"/>
              <a:buChar char="►"/>
            </a:pPr>
            <a:r>
              <a:rPr lang="en-US" sz="3200"/>
              <a:t>It starts by comparing the second element with the first element. If the second element is smaller than the first, then we will swap it.</a:t>
            </a:r>
            <a:endParaRPr/>
          </a:p>
          <a:p>
            <a:pPr indent="-342900" lvl="0" marL="342900" rtl="0" algn="l">
              <a:lnSpc>
                <a:spcPct val="100000"/>
              </a:lnSpc>
              <a:spcBef>
                <a:spcPts val="1000"/>
              </a:spcBef>
              <a:spcAft>
                <a:spcPts val="0"/>
              </a:spcAft>
              <a:buSzPts val="2560"/>
              <a:buChar char="►"/>
            </a:pPr>
            <a:r>
              <a:rPr lang="en-US" sz="3200"/>
              <a:t>After that, we will compare the third element with all the elements that are before it. Similarly, it goes for the fourth element and so on. Once all the comparisons are made, the elements become sorted.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14"/>
          <p:cNvSpPr txBox="1"/>
          <p:nvPr>
            <p:ph idx="1" type="body"/>
          </p:nvPr>
        </p:nvSpPr>
        <p:spPr>
          <a:xfrm>
            <a:off x="113498" y="582339"/>
            <a:ext cx="5005257" cy="602585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SzPct val="80000"/>
              <a:buChar char="►"/>
            </a:pPr>
            <a:r>
              <a:rPr lang="en-US"/>
              <a:t>// C++ program for insertion sort</a:t>
            </a:r>
            <a:br>
              <a:rPr lang="en-US"/>
            </a:br>
            <a:r>
              <a:rPr lang="en-US"/>
              <a:t>#include &lt;bits/stdc++.h&gt;</a:t>
            </a:r>
            <a:br>
              <a:rPr lang="en-US"/>
            </a:br>
            <a:r>
              <a:rPr b="1" lang="en-US"/>
              <a:t>using</a:t>
            </a:r>
            <a:r>
              <a:rPr lang="en-US"/>
              <a:t> </a:t>
            </a:r>
            <a:r>
              <a:rPr b="1" lang="en-US"/>
              <a:t>namespace</a:t>
            </a:r>
            <a:r>
              <a:rPr lang="en-US"/>
              <a:t> std;</a:t>
            </a:r>
            <a:br>
              <a:rPr lang="en-US"/>
            </a:br>
            <a:br>
              <a:rPr lang="en-US"/>
            </a:br>
            <a:r>
              <a:rPr lang="en-US"/>
              <a:t>/* Function to sort an array using insertion sort*/</a:t>
            </a:r>
            <a:br>
              <a:rPr lang="en-US"/>
            </a:br>
            <a:r>
              <a:rPr b="1" lang="en-US"/>
              <a:t>void</a:t>
            </a:r>
            <a:r>
              <a:rPr lang="en-US"/>
              <a:t> </a:t>
            </a:r>
            <a:r>
              <a:rPr b="1" lang="en-US"/>
              <a:t>insertionSort</a:t>
            </a:r>
            <a:r>
              <a:rPr lang="en-US"/>
              <a:t>(</a:t>
            </a:r>
            <a:r>
              <a:rPr b="1" lang="en-US"/>
              <a:t>int</a:t>
            </a:r>
            <a:r>
              <a:rPr lang="en-US"/>
              <a:t> arr[], </a:t>
            </a:r>
            <a:r>
              <a:rPr b="1" lang="en-US"/>
              <a:t>int</a:t>
            </a:r>
            <a:r>
              <a:rPr lang="en-US"/>
              <a:t> n)</a:t>
            </a:r>
            <a:br>
              <a:rPr lang="en-US"/>
            </a:br>
            <a:r>
              <a:rPr lang="en-US"/>
              <a:t>{</a:t>
            </a:r>
            <a:br>
              <a:rPr lang="en-US"/>
            </a:br>
            <a:r>
              <a:rPr lang="en-US"/>
              <a:t>	</a:t>
            </a:r>
            <a:r>
              <a:rPr b="1" lang="en-US"/>
              <a:t>int</a:t>
            </a:r>
            <a:r>
              <a:rPr lang="en-US"/>
              <a:t> i, key, j;</a:t>
            </a:r>
            <a:br>
              <a:rPr lang="en-US"/>
            </a:br>
            <a:r>
              <a:rPr lang="en-US"/>
              <a:t>	</a:t>
            </a:r>
            <a:r>
              <a:rPr b="1" lang="en-US"/>
              <a:t>for</a:t>
            </a:r>
            <a:r>
              <a:rPr lang="en-US"/>
              <a:t> (i = 1; i &lt; n; i++)</a:t>
            </a:r>
            <a:br>
              <a:rPr lang="en-US"/>
            </a:br>
            <a:r>
              <a:rPr lang="en-US"/>
              <a:t>	{</a:t>
            </a:r>
            <a:br>
              <a:rPr lang="en-US"/>
            </a:br>
            <a:r>
              <a:rPr lang="en-US"/>
              <a:t>		key = arr[i];</a:t>
            </a:r>
            <a:br>
              <a:rPr lang="en-US"/>
            </a:br>
            <a:r>
              <a:rPr lang="en-US"/>
              <a:t>		j = i - 1;</a:t>
            </a:r>
            <a:br>
              <a:rPr lang="en-US"/>
            </a:br>
            <a:br>
              <a:rPr lang="en-US"/>
            </a:br>
            <a:r>
              <a:rPr lang="en-US"/>
              <a:t>	</a:t>
            </a:r>
            <a:r>
              <a:rPr lang="en-US">
                <a:solidFill>
                  <a:schemeClr val="lt2"/>
                </a:solidFill>
              </a:rPr>
              <a:t>	/* Move elements of arr[0..i-1], that are greater than temp, to one position ahead of their current position */</a:t>
            </a:r>
            <a:br>
              <a:rPr lang="en-US"/>
            </a:br>
            <a:r>
              <a:rPr lang="en-US"/>
              <a:t>		</a:t>
            </a:r>
            <a:r>
              <a:rPr b="1" lang="en-US"/>
              <a:t>while</a:t>
            </a:r>
            <a:r>
              <a:rPr lang="en-US"/>
              <a:t> (j &gt;= 0 &amp;&amp; arr[j] &gt; key)</a:t>
            </a:r>
            <a:br>
              <a:rPr lang="en-US"/>
            </a:br>
            <a:r>
              <a:rPr lang="en-US"/>
              <a:t>		{</a:t>
            </a:r>
            <a:br>
              <a:rPr lang="en-US"/>
            </a:br>
            <a:r>
              <a:rPr lang="en-US"/>
              <a:t>			arr[j + 1] = arr[j];</a:t>
            </a:r>
            <a:br>
              <a:rPr lang="en-US"/>
            </a:br>
            <a:r>
              <a:rPr lang="en-US"/>
              <a:t>			j = j - 1;</a:t>
            </a:r>
            <a:br>
              <a:rPr lang="en-US"/>
            </a:br>
            <a:r>
              <a:rPr lang="en-US"/>
              <a:t>		}</a:t>
            </a:r>
            <a:br>
              <a:rPr lang="en-US"/>
            </a:br>
            <a:r>
              <a:rPr lang="en-US"/>
              <a:t>		arr[j +1] = key;</a:t>
            </a:r>
            <a:br>
              <a:rPr lang="en-US"/>
            </a:br>
            <a:r>
              <a:rPr lang="en-US"/>
              <a:t>	}</a:t>
            </a:r>
            <a:br>
              <a:rPr lang="en-US"/>
            </a:br>
            <a:r>
              <a:rPr lang="en-US"/>
              <a:t>}</a:t>
            </a:r>
            <a:br>
              <a:rPr lang="en-US"/>
            </a:br>
            <a:br>
              <a:rPr lang="en-US"/>
            </a:br>
            <a:endParaRPr/>
          </a:p>
        </p:txBody>
      </p:sp>
      <p:sp>
        <p:nvSpPr>
          <p:cNvPr id="421" name="Google Shape;421;p14"/>
          <p:cNvSpPr/>
          <p:nvPr/>
        </p:nvSpPr>
        <p:spPr>
          <a:xfrm>
            <a:off x="5612100" y="612850"/>
            <a:ext cx="6096000" cy="602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 A function to print an array of size n</a:t>
            </a:r>
            <a:br>
              <a:rPr b="0" i="0" lang="en-US" sz="1800" u="none" cap="none" strike="noStrike">
                <a:solidFill>
                  <a:schemeClr val="dk1"/>
                </a:solidFill>
                <a:latin typeface="Century Gothic"/>
                <a:ea typeface="Century Gothic"/>
                <a:cs typeface="Century Gothic"/>
                <a:sym typeface="Century Gothic"/>
              </a:rPr>
            </a:br>
            <a:r>
              <a:rPr b="1" i="0" lang="en-US" sz="1800" u="none" cap="none" strike="noStrike">
                <a:solidFill>
                  <a:schemeClr val="dk1"/>
                </a:solidFill>
                <a:latin typeface="Century Gothic"/>
                <a:ea typeface="Century Gothic"/>
                <a:cs typeface="Century Gothic"/>
                <a:sym typeface="Century Gothic"/>
              </a:rPr>
              <a:t>void</a:t>
            </a: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printArray</a:t>
            </a:r>
            <a:r>
              <a:rPr b="0" i="0" lang="en-US" sz="1800" u="none" cap="none" strike="noStrike">
                <a:solidFill>
                  <a:schemeClr val="dk1"/>
                </a:solidFill>
                <a:latin typeface="Century Gothic"/>
                <a:ea typeface="Century Gothic"/>
                <a:cs typeface="Century Gothic"/>
                <a:sym typeface="Century Gothic"/>
              </a:rPr>
              <a:t>(</a:t>
            </a:r>
            <a:r>
              <a:rPr b="1" i="0" lang="en-US" sz="1800" u="none" cap="none" strike="noStrike">
                <a:solidFill>
                  <a:schemeClr val="dk1"/>
                </a:solidFill>
                <a:latin typeface="Century Gothic"/>
                <a:ea typeface="Century Gothic"/>
                <a:cs typeface="Century Gothic"/>
                <a:sym typeface="Century Gothic"/>
              </a:rPr>
              <a:t>int</a:t>
            </a:r>
            <a:r>
              <a:rPr b="0" i="0" lang="en-US" sz="1800" u="none" cap="none" strike="noStrike">
                <a:solidFill>
                  <a:schemeClr val="dk1"/>
                </a:solidFill>
                <a:latin typeface="Century Gothic"/>
                <a:ea typeface="Century Gothic"/>
                <a:cs typeface="Century Gothic"/>
                <a:sym typeface="Century Gothic"/>
              </a:rPr>
              <a:t> arr[], </a:t>
            </a:r>
            <a:r>
              <a:rPr b="1" i="0" lang="en-US" sz="1800" u="none" cap="none" strike="noStrike">
                <a:solidFill>
                  <a:schemeClr val="dk1"/>
                </a:solidFill>
                <a:latin typeface="Century Gothic"/>
                <a:ea typeface="Century Gothic"/>
                <a:cs typeface="Century Gothic"/>
                <a:sym typeface="Century Gothic"/>
              </a:rPr>
              <a:t>int</a:t>
            </a:r>
            <a:r>
              <a:rPr b="0" i="0" lang="en-US" sz="1800" u="none" cap="none" strike="noStrike">
                <a:solidFill>
                  <a:schemeClr val="dk1"/>
                </a:solidFill>
                <a:latin typeface="Century Gothic"/>
                <a:ea typeface="Century Gothic"/>
                <a:cs typeface="Century Gothic"/>
                <a:sym typeface="Century Gothic"/>
              </a:rPr>
              <a:t> n)</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int</a:t>
            </a:r>
            <a:r>
              <a:rPr b="0" i="0" lang="en-US" sz="1800" u="none" cap="none" strike="noStrike">
                <a:solidFill>
                  <a:schemeClr val="dk1"/>
                </a:solidFill>
                <a:latin typeface="Century Gothic"/>
                <a:ea typeface="Century Gothic"/>
                <a:cs typeface="Century Gothic"/>
                <a:sym typeface="Century Gothic"/>
              </a:rPr>
              <a:t> i;</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for</a:t>
            </a:r>
            <a:r>
              <a:rPr b="0" i="0" lang="en-US" sz="1800" u="none" cap="none" strike="noStrike">
                <a:solidFill>
                  <a:schemeClr val="dk1"/>
                </a:solidFill>
                <a:latin typeface="Century Gothic"/>
                <a:ea typeface="Century Gothic"/>
                <a:cs typeface="Century Gothic"/>
                <a:sym typeface="Century Gothic"/>
              </a:rPr>
              <a:t> (i = 0; i &lt; n; i++)</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cout &lt;&lt; arr[i] &lt;&lt; " ";</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cout &lt;&lt; endl;</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a:t>
            </a:r>
            <a:br>
              <a:rPr b="0" i="0" lang="en-US" sz="1800" u="none" cap="none" strike="noStrike">
                <a:solidFill>
                  <a:schemeClr val="dk1"/>
                </a:solidFill>
                <a:latin typeface="Century Gothic"/>
                <a:ea typeface="Century Gothic"/>
                <a:cs typeface="Century Gothic"/>
                <a:sym typeface="Century Gothic"/>
              </a:rPr>
            </a:b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Driver code */</a:t>
            </a:r>
            <a:br>
              <a:rPr b="0" i="0" lang="en-US" sz="1800" u="none" cap="none" strike="noStrike">
                <a:solidFill>
                  <a:schemeClr val="dk1"/>
                </a:solidFill>
                <a:latin typeface="Century Gothic"/>
                <a:ea typeface="Century Gothic"/>
                <a:cs typeface="Century Gothic"/>
                <a:sym typeface="Century Gothic"/>
              </a:rPr>
            </a:br>
            <a:r>
              <a:rPr b="1" i="0" lang="en-US" sz="1800" u="none" cap="none" strike="noStrike">
                <a:solidFill>
                  <a:schemeClr val="dk1"/>
                </a:solidFill>
                <a:latin typeface="Century Gothic"/>
                <a:ea typeface="Century Gothic"/>
                <a:cs typeface="Century Gothic"/>
                <a:sym typeface="Century Gothic"/>
              </a:rPr>
              <a:t>int</a:t>
            </a: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main</a:t>
            </a:r>
            <a:r>
              <a:rPr b="0" i="0" lang="en-US" sz="1800" u="none" cap="none" strike="noStrike">
                <a:solidFill>
                  <a:schemeClr val="dk1"/>
                </a:solidFill>
                <a:latin typeface="Century Gothic"/>
                <a:ea typeface="Century Gothic"/>
                <a:cs typeface="Century Gothic"/>
                <a:sym typeface="Century Gothic"/>
              </a:rPr>
              <a:t>()</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int</a:t>
            </a:r>
            <a:r>
              <a:rPr b="0" i="0" lang="en-US" sz="1800" u="none" cap="none" strike="noStrike">
                <a:solidFill>
                  <a:schemeClr val="dk1"/>
                </a:solidFill>
                <a:latin typeface="Century Gothic"/>
                <a:ea typeface="Century Gothic"/>
                <a:cs typeface="Century Gothic"/>
                <a:sym typeface="Century Gothic"/>
              </a:rPr>
              <a:t> arr[] = { 12, 11, 13, 5, 6 };</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int</a:t>
            </a:r>
            <a:r>
              <a:rPr b="0" i="0" lang="en-US" sz="1800" u="none" cap="none" strike="noStrike">
                <a:solidFill>
                  <a:schemeClr val="dk1"/>
                </a:solidFill>
                <a:latin typeface="Century Gothic"/>
                <a:ea typeface="Century Gothic"/>
                <a:cs typeface="Century Gothic"/>
                <a:sym typeface="Century Gothic"/>
              </a:rPr>
              <a:t> n = </a:t>
            </a:r>
            <a:r>
              <a:rPr b="1" i="0" lang="en-US" sz="1800" u="none" cap="none" strike="noStrike">
                <a:solidFill>
                  <a:schemeClr val="dk1"/>
                </a:solidFill>
                <a:latin typeface="Century Gothic"/>
                <a:ea typeface="Century Gothic"/>
                <a:cs typeface="Century Gothic"/>
                <a:sym typeface="Century Gothic"/>
              </a:rPr>
              <a:t>sizeof</a:t>
            </a:r>
            <a:r>
              <a:rPr b="0" i="0" lang="en-US" sz="1800" u="none" cap="none" strike="noStrike">
                <a:solidFill>
                  <a:schemeClr val="dk1"/>
                </a:solidFill>
                <a:latin typeface="Century Gothic"/>
                <a:ea typeface="Century Gothic"/>
                <a:cs typeface="Century Gothic"/>
                <a:sym typeface="Century Gothic"/>
              </a:rPr>
              <a:t>(arr) / </a:t>
            </a:r>
            <a:r>
              <a:rPr b="1" i="0" lang="en-US" sz="1800" u="none" cap="none" strike="noStrike">
                <a:solidFill>
                  <a:schemeClr val="dk1"/>
                </a:solidFill>
                <a:latin typeface="Century Gothic"/>
                <a:ea typeface="Century Gothic"/>
                <a:cs typeface="Century Gothic"/>
                <a:sym typeface="Century Gothic"/>
              </a:rPr>
              <a:t>sizeof</a:t>
            </a:r>
            <a:r>
              <a:rPr b="0" i="0" lang="en-US" sz="1800" u="none" cap="none" strike="noStrike">
                <a:solidFill>
                  <a:schemeClr val="dk1"/>
                </a:solidFill>
                <a:latin typeface="Century Gothic"/>
                <a:ea typeface="Century Gothic"/>
                <a:cs typeface="Century Gothic"/>
                <a:sym typeface="Century Gothic"/>
              </a:rPr>
              <a:t>(arr[0]);</a:t>
            </a:r>
            <a:br>
              <a:rPr b="0" i="0" lang="en-US" sz="1800" u="none" cap="none" strike="noStrike">
                <a:solidFill>
                  <a:schemeClr val="dk1"/>
                </a:solidFill>
                <a:latin typeface="Century Gothic"/>
                <a:ea typeface="Century Gothic"/>
                <a:cs typeface="Century Gothic"/>
                <a:sym typeface="Century Gothic"/>
              </a:rPr>
            </a:b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insertionSort(arr, n);</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printArray(arr, n);</a:t>
            </a:r>
            <a:br>
              <a:rPr b="0" i="0" lang="en-US" sz="1800" u="none" cap="none" strike="noStrike">
                <a:solidFill>
                  <a:schemeClr val="dk1"/>
                </a:solidFill>
                <a:latin typeface="Century Gothic"/>
                <a:ea typeface="Century Gothic"/>
                <a:cs typeface="Century Gothic"/>
                <a:sym typeface="Century Gothic"/>
              </a:rPr>
            </a:b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return</a:t>
            </a:r>
            <a:r>
              <a:rPr b="0" i="0" lang="en-US" sz="1800" u="none" cap="none" strike="noStrike">
                <a:solidFill>
                  <a:schemeClr val="dk1"/>
                </a:solidFill>
                <a:latin typeface="Century Gothic"/>
                <a:ea typeface="Century Gothic"/>
                <a:cs typeface="Century Gothic"/>
                <a:sym typeface="Century Gothic"/>
              </a:rPr>
              <a:t> 0;</a:t>
            </a:r>
            <a:endParaRPr sz="18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lang="en-US" sz="1800">
                <a:solidFill>
                  <a:schemeClr val="dk1"/>
                </a:solidFill>
                <a:latin typeface="Century Gothic"/>
                <a:ea typeface="Century Gothic"/>
                <a:cs typeface="Century Gothic"/>
                <a:sym typeface="Century Gothic"/>
              </a:rPr>
              <a:t>}</a:t>
            </a:r>
            <a:endParaRPr sz="1800">
              <a:solidFill>
                <a:schemeClr val="dk1"/>
              </a:solidFill>
              <a:latin typeface="Century Gothic"/>
              <a:ea typeface="Century Gothic"/>
              <a:cs typeface="Century Gothic"/>
              <a:sym typeface="Century Gothic"/>
            </a:endParaRPr>
          </a:p>
        </p:txBody>
      </p:sp>
      <p:sp>
        <p:nvSpPr>
          <p:cNvPr id="422" name="Google Shape;422;p14"/>
          <p:cNvSpPr/>
          <p:nvPr/>
        </p:nvSpPr>
        <p:spPr>
          <a:xfrm>
            <a:off x="4703975" y="2139885"/>
            <a:ext cx="838986" cy="320511"/>
          </a:xfrm>
          <a:prstGeom prst="rightArrow">
            <a:avLst>
              <a:gd fmla="val 50000" name="adj1"/>
              <a:gd fmla="val 50000" name="adj2"/>
            </a:avLst>
          </a:prstGeom>
          <a:solidFill>
            <a:schemeClr val="accent1"/>
          </a:solidFill>
          <a:ln cap="rnd" cmpd="sng" w="19050">
            <a:solidFill>
              <a:srgbClr val="B277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3" name="Google Shape;423;p14"/>
          <p:cNvSpPr txBox="1"/>
          <p:nvPr/>
        </p:nvSpPr>
        <p:spPr>
          <a:xfrm>
            <a:off x="4449452" y="65988"/>
            <a:ext cx="37801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C++ program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29daaaf69b5_12_0"/>
          <p:cNvSpPr txBox="1"/>
          <p:nvPr>
            <p:ph type="title"/>
          </p:nvPr>
        </p:nvSpPr>
        <p:spPr>
          <a:xfrm>
            <a:off x="646111" y="452718"/>
            <a:ext cx="94047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Insertion sort complexity</a:t>
            </a:r>
            <a:endParaRPr/>
          </a:p>
        </p:txBody>
      </p:sp>
      <p:sp>
        <p:nvSpPr>
          <p:cNvPr id="429" name="Google Shape;429;g29daaaf69b5_12_0"/>
          <p:cNvSpPr txBox="1"/>
          <p:nvPr>
            <p:ph idx="1" type="body"/>
          </p:nvPr>
        </p:nvSpPr>
        <p:spPr>
          <a:xfrm>
            <a:off x="1103300" y="1422826"/>
            <a:ext cx="8946600" cy="482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900"/>
              <a:t>The insertion sort will take the time complexity of O(n</a:t>
            </a:r>
            <a:r>
              <a:rPr baseline="30000" lang="en-US" sz="3900"/>
              <a:t>2</a:t>
            </a:r>
            <a:r>
              <a:rPr lang="en-US" sz="3900"/>
              <a:t>). The outer loop is taking n-1 steps and inner loop n-2 steps.</a:t>
            </a:r>
            <a:endParaRPr sz="3900"/>
          </a:p>
          <a:p>
            <a:pPr indent="0" lvl="0" marL="0" rtl="0" algn="l">
              <a:spcBef>
                <a:spcPts val="1000"/>
              </a:spcBef>
              <a:spcAft>
                <a:spcPts val="0"/>
              </a:spcAft>
              <a:buNone/>
            </a:pPr>
            <a:r>
              <a:rPr lang="en-US" sz="3900"/>
              <a:t>(n-1)*(n-2)=n</a:t>
            </a:r>
            <a:r>
              <a:rPr baseline="30000" lang="en-US" sz="3900"/>
              <a:t>2</a:t>
            </a:r>
            <a:r>
              <a:rPr lang="en-US" sz="3900"/>
              <a:t>+kn+c</a:t>
            </a:r>
            <a:endParaRPr sz="3900"/>
          </a:p>
          <a:p>
            <a:pPr indent="0" lvl="0" marL="0" rtl="0" algn="l">
              <a:spcBef>
                <a:spcPts val="1000"/>
              </a:spcBef>
              <a:spcAft>
                <a:spcPts val="0"/>
              </a:spcAft>
              <a:buNone/>
            </a:pPr>
            <a:r>
              <a:rPr lang="en-US" sz="3900"/>
              <a:t>                 </a:t>
            </a:r>
            <a:r>
              <a:rPr lang="en-US" sz="2200"/>
              <a:t>⋍</a:t>
            </a:r>
            <a:r>
              <a:rPr lang="en-US" sz="3900"/>
              <a:t>n</a:t>
            </a:r>
            <a:r>
              <a:rPr baseline="30000" lang="en-US" sz="3900"/>
              <a:t>2</a:t>
            </a:r>
            <a:endParaRPr baseline="30000" sz="39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15"/>
          <p:cNvSpPr txBox="1"/>
          <p:nvPr>
            <p:ph idx="1" type="body"/>
          </p:nvPr>
        </p:nvSpPr>
        <p:spPr>
          <a:xfrm>
            <a:off x="254524" y="226244"/>
            <a:ext cx="9795329" cy="6022156"/>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lang="en-US"/>
              <a:t>A for loop is used, which is iterating from 1 to num-1; the loop starts from 1 because the comparison will start from index 1.</a:t>
            </a:r>
            <a:endParaRPr/>
          </a:p>
          <a:p>
            <a:pPr indent="-342900" lvl="0" marL="342900" rtl="0" algn="l">
              <a:lnSpc>
                <a:spcPct val="100000"/>
              </a:lnSpc>
              <a:spcBef>
                <a:spcPts val="1000"/>
              </a:spcBef>
              <a:spcAft>
                <a:spcPts val="0"/>
              </a:spcAft>
              <a:buSzPts val="1600"/>
              <a:buChar char="►"/>
            </a:pPr>
            <a:r>
              <a:rPr lang="en-US"/>
              <a:t>Inside the for loop, the array element is copied to the </a:t>
            </a:r>
            <a:r>
              <a:rPr b="1" lang="en-US"/>
              <a:t>key</a:t>
            </a:r>
            <a:r>
              <a:rPr lang="en-US"/>
              <a:t> variable, and j is set i-1 because we have to compare the element with its previous element(s). </a:t>
            </a:r>
            <a:endParaRPr/>
          </a:p>
          <a:p>
            <a:pPr indent="-342900" lvl="0" marL="342900" rtl="0" algn="l">
              <a:lnSpc>
                <a:spcPct val="100000"/>
              </a:lnSpc>
              <a:spcBef>
                <a:spcPts val="1000"/>
              </a:spcBef>
              <a:spcAft>
                <a:spcPts val="0"/>
              </a:spcAft>
              <a:buSzPts val="1600"/>
              <a:buChar char="►"/>
            </a:pPr>
            <a:r>
              <a:rPr lang="en-US"/>
              <a:t>Inside the while loop, there's a condition if the </a:t>
            </a:r>
            <a:r>
              <a:rPr b="1" lang="en-US"/>
              <a:t>key</a:t>
            </a:r>
            <a:r>
              <a:rPr lang="en-US"/>
              <a:t> is less than arr[j], that means if </a:t>
            </a:r>
            <a:r>
              <a:rPr b="1" lang="en-US"/>
              <a:t>key</a:t>
            </a:r>
            <a:r>
              <a:rPr lang="en-US"/>
              <a:t> which is storing the index 1 element is less than arr[j], which is index 0 element, then we will put arr[j] into its correct position, i.e., arr[j+1].</a:t>
            </a:r>
            <a:endParaRPr/>
          </a:p>
          <a:p>
            <a:pPr indent="-342900" lvl="0" marL="342900" rtl="0" algn="l">
              <a:lnSpc>
                <a:spcPct val="100000"/>
              </a:lnSpc>
              <a:spcBef>
                <a:spcPts val="1000"/>
              </a:spcBef>
              <a:spcAft>
                <a:spcPts val="0"/>
              </a:spcAft>
              <a:buSzPts val="1600"/>
              <a:buChar char="►"/>
            </a:pPr>
            <a:r>
              <a:rPr lang="en-US"/>
              <a:t>j=j-1 is used for decrementing the loop, as per the condition j must be greater than 0. </a:t>
            </a:r>
            <a:endParaRPr/>
          </a:p>
          <a:p>
            <a:pPr indent="-241300" lvl="0" marL="342900" rtl="0" algn="l">
              <a:lnSpc>
                <a:spcPct val="100000"/>
              </a:lnSpc>
              <a:spcBef>
                <a:spcPts val="1000"/>
              </a:spcBef>
              <a:spcAft>
                <a:spcPts val="0"/>
              </a:spcAft>
              <a:buSzPts val="16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6"/>
          <p:cNvSpPr txBox="1"/>
          <p:nvPr>
            <p:ph type="title"/>
          </p:nvPr>
        </p:nvSpPr>
        <p:spPr>
          <a:xfrm>
            <a:off x="646111" y="452718"/>
            <a:ext cx="9404723" cy="80104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Century Gothic"/>
              <a:buNone/>
            </a:pPr>
            <a:r>
              <a:rPr lang="en-US"/>
              <a:t>Exercise</a:t>
            </a:r>
            <a:endParaRPr/>
          </a:p>
        </p:txBody>
      </p:sp>
      <p:sp>
        <p:nvSpPr>
          <p:cNvPr id="440" name="Google Shape;440;p16"/>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1. Given the following array of 5 elements</a:t>
            </a:r>
            <a:endParaRPr/>
          </a:p>
          <a:p>
            <a:pPr indent="-342900" lvl="0" marL="342900" rtl="0" algn="l">
              <a:lnSpc>
                <a:spcPct val="100000"/>
              </a:lnSpc>
              <a:spcBef>
                <a:spcPts val="1000"/>
              </a:spcBef>
              <a:spcAft>
                <a:spcPts val="0"/>
              </a:spcAft>
              <a:buSzPts val="1600"/>
              <a:buChar char="►"/>
            </a:pPr>
            <a:r>
              <a:rPr b="1" lang="en-US"/>
              <a:t>int</a:t>
            </a:r>
            <a:r>
              <a:rPr lang="en-US"/>
              <a:t> arr[] = { 12, 11, 13, 5, 6 };</a:t>
            </a:r>
            <a:endParaRPr/>
          </a:p>
          <a:p>
            <a:pPr indent="-342900" lvl="0" marL="342900" rtl="0" algn="l">
              <a:lnSpc>
                <a:spcPct val="100000"/>
              </a:lnSpc>
              <a:spcBef>
                <a:spcPts val="1000"/>
              </a:spcBef>
              <a:spcAft>
                <a:spcPts val="0"/>
              </a:spcAft>
              <a:buSzPts val="1600"/>
              <a:buChar char="►"/>
            </a:pPr>
            <a:r>
              <a:rPr lang="en-US"/>
              <a:t>Write a program to return the minimum and maximum number in the array</a:t>
            </a:r>
            <a:endParaRPr/>
          </a:p>
          <a:p>
            <a:pPr indent="-241300" lvl="0" marL="342900" rtl="0" algn="l">
              <a:lnSpc>
                <a:spcPct val="100000"/>
              </a:lnSpc>
              <a:spcBef>
                <a:spcPts val="1000"/>
              </a:spcBef>
              <a:spcAft>
                <a:spcPts val="0"/>
              </a:spcAft>
              <a:buSzPts val="16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188d18a41c8_0_141"/>
          <p:cNvSpPr txBox="1"/>
          <p:nvPr>
            <p:ph type="title"/>
          </p:nvPr>
        </p:nvSpPr>
        <p:spPr>
          <a:xfrm>
            <a:off x="548725" y="140046"/>
            <a:ext cx="9404700" cy="687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1" lang="en-US"/>
              <a:t>Selection Sort</a:t>
            </a:r>
            <a:endParaRPr b="1"/>
          </a:p>
        </p:txBody>
      </p:sp>
      <p:sp>
        <p:nvSpPr>
          <p:cNvPr id="446" name="Google Shape;446;g188d18a41c8_0_141"/>
          <p:cNvSpPr txBox="1"/>
          <p:nvPr>
            <p:ph idx="1" type="body"/>
          </p:nvPr>
        </p:nvSpPr>
        <p:spPr>
          <a:xfrm>
            <a:off x="548725" y="1126775"/>
            <a:ext cx="10913700" cy="5511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00"/>
              </a:spcBef>
              <a:spcAft>
                <a:spcPts val="0"/>
              </a:spcAft>
              <a:buSzPts val="1440"/>
              <a:buNone/>
            </a:pPr>
            <a:r>
              <a:rPr lang="en-US">
                <a:solidFill>
                  <a:srgbClr val="404040"/>
                </a:solidFill>
                <a:latin typeface="Proxima Nova"/>
                <a:ea typeface="Proxima Nova"/>
                <a:cs typeface="Proxima Nova"/>
                <a:sym typeface="Proxima Nova"/>
              </a:rPr>
              <a:t>Selection sort is a sorting technique that works by </a:t>
            </a:r>
            <a:r>
              <a:rPr b="1" lang="en-US">
                <a:solidFill>
                  <a:srgbClr val="404040"/>
                </a:solidFill>
                <a:latin typeface="Proxima Nova"/>
                <a:ea typeface="Proxima Nova"/>
                <a:cs typeface="Proxima Nova"/>
                <a:sym typeface="Proxima Nova"/>
              </a:rPr>
              <a:t>finding the smallest value in the array and placing it in the first position.</a:t>
            </a:r>
            <a:endParaRPr b="1">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SzPts val="1440"/>
              <a:buNone/>
            </a:pPr>
            <a:r>
              <a:rPr lang="en-US">
                <a:solidFill>
                  <a:srgbClr val="404040"/>
                </a:solidFill>
                <a:latin typeface="Proxima Nova"/>
                <a:ea typeface="Proxima Nova"/>
                <a:cs typeface="Proxima Nova"/>
                <a:sym typeface="Proxima Nova"/>
              </a:rPr>
              <a:t>After that, it was then  .</a:t>
            </a:r>
            <a:endParaRPr>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SzPts val="1440"/>
              <a:buNone/>
            </a:pPr>
            <a:r>
              <a:rPr lang="en-US">
                <a:solidFill>
                  <a:srgbClr val="404040"/>
                </a:solidFill>
                <a:latin typeface="Proxima Nova"/>
                <a:ea typeface="Proxima Nova"/>
                <a:cs typeface="Proxima Nova"/>
                <a:sym typeface="Proxima Nova"/>
              </a:rPr>
              <a:t>Thus, the selection sort works by finding the smallest unsorted element remaining in the entire array and then swapping it with the element in the next position to be filled.</a:t>
            </a:r>
            <a:endParaRPr>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SzPts val="1440"/>
              <a:buNone/>
            </a:pPr>
            <a:r>
              <a:rPr lang="en-US">
                <a:solidFill>
                  <a:srgbClr val="404040"/>
                </a:solidFill>
                <a:latin typeface="Proxima Nova"/>
                <a:ea typeface="Proxima Nova"/>
                <a:cs typeface="Proxima Nova"/>
                <a:sym typeface="Proxima Nova"/>
              </a:rPr>
              <a:t>It is a very simple technique, and it is also easier to implement than other sorting techniques. Selection sort is used for sorting files with large records.</a:t>
            </a:r>
            <a:endParaRPr>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SzPts val="1440"/>
              <a:buNone/>
            </a:pPr>
            <a:r>
              <a:rPr lang="en-US">
                <a:solidFill>
                  <a:srgbClr val="404040"/>
                </a:solidFill>
                <a:latin typeface="Proxima Nova"/>
                <a:ea typeface="Proxima Nova"/>
                <a:cs typeface="Proxima Nova"/>
                <a:sym typeface="Proxima Nova"/>
              </a:rPr>
              <a:t>Let’s take the same example as in the selection sort of playing cards.</a:t>
            </a:r>
            <a:endParaRPr>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SzPts val="1440"/>
              <a:buNone/>
            </a:pPr>
            <a:r>
              <a:rPr lang="en-US">
                <a:solidFill>
                  <a:srgbClr val="404040"/>
                </a:solidFill>
                <a:latin typeface="Proxima Nova"/>
                <a:ea typeface="Proxima Nova"/>
                <a:cs typeface="Proxima Nova"/>
                <a:sym typeface="Proxima Nova"/>
              </a:rPr>
              <a:t>The algorithm maintains two subarrays in a given array.</a:t>
            </a:r>
            <a:endParaRPr>
              <a:solidFill>
                <a:srgbClr val="404040"/>
              </a:solidFill>
              <a:latin typeface="Proxima Nova"/>
              <a:ea typeface="Proxima Nova"/>
              <a:cs typeface="Proxima Nova"/>
              <a:sym typeface="Proxima Nova"/>
            </a:endParaRPr>
          </a:p>
          <a:p>
            <a:pPr indent="-355600" lvl="0" marL="457200" rtl="0" algn="l">
              <a:lnSpc>
                <a:spcPct val="115000"/>
              </a:lnSpc>
              <a:spcBef>
                <a:spcPts val="600"/>
              </a:spcBef>
              <a:spcAft>
                <a:spcPts val="0"/>
              </a:spcAft>
              <a:buClr>
                <a:srgbClr val="404040"/>
              </a:buClr>
              <a:buSzPts val="2000"/>
              <a:buFont typeface="Proxima Nova"/>
              <a:buAutoNum type="arabicPeriod"/>
            </a:pPr>
            <a:r>
              <a:rPr lang="en-US">
                <a:solidFill>
                  <a:srgbClr val="404040"/>
                </a:solidFill>
                <a:latin typeface="Proxima Nova"/>
                <a:ea typeface="Proxima Nova"/>
                <a:cs typeface="Proxima Nova"/>
                <a:sym typeface="Proxima Nova"/>
              </a:rPr>
              <a:t>The subarray is already sorted. </a:t>
            </a:r>
            <a:endParaRPr>
              <a:solidFill>
                <a:srgbClr val="404040"/>
              </a:solidFill>
              <a:latin typeface="Proxima Nova"/>
              <a:ea typeface="Proxima Nova"/>
              <a:cs typeface="Proxima Nova"/>
              <a:sym typeface="Proxima Nova"/>
            </a:endParaRPr>
          </a:p>
          <a:p>
            <a:pPr indent="-355600" lvl="0" marL="457200" rtl="0" algn="l">
              <a:lnSpc>
                <a:spcPct val="115000"/>
              </a:lnSpc>
              <a:spcBef>
                <a:spcPts val="0"/>
              </a:spcBef>
              <a:spcAft>
                <a:spcPts val="0"/>
              </a:spcAft>
              <a:buClr>
                <a:srgbClr val="404040"/>
              </a:buClr>
              <a:buSzPts val="2000"/>
              <a:buFont typeface="Proxima Nova"/>
              <a:buAutoNum type="arabicPeriod"/>
            </a:pPr>
            <a:r>
              <a:rPr lang="en-US">
                <a:solidFill>
                  <a:srgbClr val="404040"/>
                </a:solidFill>
                <a:latin typeface="Proxima Nova"/>
                <a:ea typeface="Proxima Nova"/>
                <a:cs typeface="Proxima Nova"/>
                <a:sym typeface="Proxima Nova"/>
              </a:rPr>
              <a:t>The remaining subarray is unsorted.</a:t>
            </a:r>
            <a:endParaRPr>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600"/>
              </a:spcAft>
              <a:buSzPts val="1440"/>
              <a:buNone/>
            </a:pPr>
            <a:r>
              <a:rPr b="1" lang="en-US">
                <a:solidFill>
                  <a:srgbClr val="404040"/>
                </a:solidFill>
                <a:latin typeface="Proxima Nova"/>
                <a:ea typeface="Proxima Nova"/>
                <a:cs typeface="Proxima Nova"/>
                <a:sym typeface="Proxima Nova"/>
              </a:rPr>
              <a:t>In every iteration of selection sort, the minimum element (considering ascending order) from the unsorted subarray is picked and moved to the sorted subarray. </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18a262debf9_0_5"/>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3900"/>
              <a:t>selection sort algorithm(next)</a:t>
            </a:r>
            <a:endParaRPr b="1" sz="3900"/>
          </a:p>
        </p:txBody>
      </p:sp>
      <p:sp>
        <p:nvSpPr>
          <p:cNvPr id="452" name="Google Shape;452;g18a262debf9_0_5"/>
          <p:cNvSpPr txBox="1"/>
          <p:nvPr>
            <p:ph idx="1" type="body"/>
          </p:nvPr>
        </p:nvSpPr>
        <p:spPr>
          <a:xfrm>
            <a:off x="129450" y="71635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00"/>
              </a:spcBef>
              <a:spcAft>
                <a:spcPts val="0"/>
              </a:spcAft>
              <a:buSzPts val="1440"/>
              <a:buNone/>
            </a:pPr>
            <a:r>
              <a:rPr lang="en-US">
                <a:solidFill>
                  <a:srgbClr val="222222"/>
                </a:solidFill>
                <a:latin typeface="Proxima Nova"/>
                <a:ea typeface="Proxima Nova"/>
                <a:cs typeface="Proxima Nova"/>
                <a:sym typeface="Proxima Nova"/>
              </a:rPr>
              <a:t>First, you lay all your cards face-up on the table in front of you. You look for the smallest card and take it to the left of your hand. Then you look for the next smaller card and place it to the right of the smallest card, and so on until you finally pick up the largest card to the far right.</a:t>
            </a:r>
            <a:endParaRPr sz="3000">
              <a:solidFill>
                <a:srgbClr val="222222"/>
              </a:solidFill>
              <a:latin typeface="Proxima Nova"/>
              <a:ea typeface="Proxima Nova"/>
              <a:cs typeface="Proxima Nova"/>
              <a:sym typeface="Proxima Nova"/>
            </a:endParaRPr>
          </a:p>
          <a:p>
            <a:pPr indent="0" lvl="0" marL="0" rtl="0" algn="l">
              <a:lnSpc>
                <a:spcPct val="115000"/>
              </a:lnSpc>
              <a:spcBef>
                <a:spcPts val="1800"/>
              </a:spcBef>
              <a:spcAft>
                <a:spcPts val="0"/>
              </a:spcAft>
              <a:buClr>
                <a:schemeClr val="dk1"/>
              </a:buClr>
              <a:buSzPts val="1100"/>
              <a:buFont typeface="Arial"/>
              <a:buNone/>
            </a:pPr>
            <a:r>
              <a:rPr b="1" lang="en-US">
                <a:solidFill>
                  <a:srgbClr val="212529"/>
                </a:solidFill>
                <a:latin typeface="Proxima Nova"/>
                <a:ea typeface="Proxima Nova"/>
                <a:cs typeface="Proxima Nova"/>
                <a:sym typeface="Proxima Nova"/>
              </a:rPr>
              <a:t>Selection Sort Algorithm</a:t>
            </a:r>
            <a:endParaRPr b="1">
              <a:solidFill>
                <a:srgbClr val="212529"/>
              </a:solidFill>
              <a:latin typeface="Proxima Nova"/>
              <a:ea typeface="Proxima Nova"/>
              <a:cs typeface="Proxima Nova"/>
              <a:sym typeface="Proxima Nova"/>
            </a:endParaRPr>
          </a:p>
          <a:p>
            <a:pPr indent="0" lvl="0" marL="0" rtl="0" algn="l">
              <a:lnSpc>
                <a:spcPct val="115000"/>
              </a:lnSpc>
              <a:spcBef>
                <a:spcPts val="1300"/>
              </a:spcBef>
              <a:spcAft>
                <a:spcPts val="1300"/>
              </a:spcAft>
              <a:buClr>
                <a:schemeClr val="dk1"/>
              </a:buClr>
              <a:buSzPts val="1100"/>
              <a:buFont typeface="Arial"/>
              <a:buNone/>
            </a:pPr>
            <a:r>
              <a:rPr lang="en-US">
                <a:solidFill>
                  <a:srgbClr val="222222"/>
                </a:solidFill>
                <a:latin typeface="Proxima Nova"/>
                <a:ea typeface="Proxima Nova"/>
                <a:cs typeface="Proxima Nova"/>
                <a:sym typeface="Proxima Nova"/>
              </a:rPr>
              <a:t>The algorithm can be explained most simply by an example. In the following steps, I show how to sort the array [6, 2, 4, 9, 3, 7] with Selection Sort:</a:t>
            </a:r>
            <a:endParaRPr sz="3000">
              <a:solidFill>
                <a:srgbClr val="222222"/>
              </a:solidFill>
              <a:latin typeface="Proxima Nova"/>
              <a:ea typeface="Proxima Nova"/>
              <a:cs typeface="Proxima Nova"/>
              <a:sym typeface="Proxima Nova"/>
            </a:endParaRPr>
          </a:p>
        </p:txBody>
      </p:sp>
      <p:pic>
        <p:nvPicPr>
          <p:cNvPr descr="Selection Sort Beispiel mit Spielkarten" id="453" name="Google Shape;453;g18a262debf9_0_5"/>
          <p:cNvPicPr preferRelativeResize="0"/>
          <p:nvPr/>
        </p:nvPicPr>
        <p:blipFill rotWithShape="1">
          <a:blip r:embed="rId3">
            <a:alphaModFix/>
          </a:blip>
          <a:srcRect b="0" l="0" r="0" t="0"/>
          <a:stretch/>
        </p:blipFill>
        <p:spPr>
          <a:xfrm>
            <a:off x="4882050" y="1773300"/>
            <a:ext cx="7309949" cy="33113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18a262debf9_0_13"/>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3900"/>
              <a:t>Step1 </a:t>
            </a:r>
            <a:endParaRPr b="1" sz="3900"/>
          </a:p>
        </p:txBody>
      </p:sp>
      <p:sp>
        <p:nvSpPr>
          <p:cNvPr id="459" name="Google Shape;459;g18a262debf9_0_13"/>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1300"/>
              </a:spcAft>
              <a:buSzPts val="1440"/>
              <a:buNone/>
            </a:pPr>
            <a:r>
              <a:rPr lang="en-US" sz="4000">
                <a:solidFill>
                  <a:srgbClr val="222222"/>
                </a:solidFill>
                <a:latin typeface="Proxima Nova"/>
                <a:ea typeface="Proxima Nova"/>
                <a:cs typeface="Proxima Nova"/>
                <a:sym typeface="Proxima Nova"/>
              </a:rPr>
              <a:t>We divide the array into a left, sorted part and a right, unsorted part. The sorted part is empty at the beginning:</a:t>
            </a:r>
            <a:endParaRPr sz="5800">
              <a:solidFill>
                <a:srgbClr val="222222"/>
              </a:solidFill>
              <a:latin typeface="Proxima Nova"/>
              <a:ea typeface="Proxima Nova"/>
              <a:cs typeface="Proxima Nova"/>
              <a:sym typeface="Proxima Nova"/>
            </a:endParaRPr>
          </a:p>
        </p:txBody>
      </p:sp>
      <p:pic>
        <p:nvPicPr>
          <p:cNvPr descr="Selection Sort algorithm - Step 1" id="460" name="Google Shape;460;g18a262debf9_0_13"/>
          <p:cNvPicPr preferRelativeResize="0"/>
          <p:nvPr/>
        </p:nvPicPr>
        <p:blipFill rotWithShape="1">
          <a:blip r:embed="rId3">
            <a:alphaModFix/>
          </a:blip>
          <a:srcRect b="0" l="0" r="0" t="0"/>
          <a:stretch/>
        </p:blipFill>
        <p:spPr>
          <a:xfrm>
            <a:off x="5869075" y="1585250"/>
            <a:ext cx="5514975" cy="3810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18a262debf9_0_22"/>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3900"/>
              <a:t>Step2 </a:t>
            </a:r>
            <a:endParaRPr b="1" sz="3900"/>
          </a:p>
        </p:txBody>
      </p:sp>
      <p:sp>
        <p:nvSpPr>
          <p:cNvPr id="466" name="Google Shape;466;g18a262debf9_0_22"/>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0"/>
              </a:spcAft>
              <a:buSzPts val="1440"/>
              <a:buNone/>
            </a:pPr>
            <a:r>
              <a:rPr lang="en-US" sz="1800">
                <a:solidFill>
                  <a:srgbClr val="222222"/>
                </a:solidFill>
                <a:latin typeface="Proxima Nova"/>
                <a:ea typeface="Proxima Nova"/>
                <a:cs typeface="Proxima Nova"/>
                <a:sym typeface="Proxima Nova"/>
              </a:rPr>
              <a:t>We search for the smallest element in the right, unsorted part. To do this, </a:t>
            </a:r>
            <a:r>
              <a:rPr b="1" lang="en-US" sz="1800">
                <a:solidFill>
                  <a:srgbClr val="222222"/>
                </a:solidFill>
                <a:latin typeface="Proxima Nova"/>
                <a:ea typeface="Proxima Nova"/>
                <a:cs typeface="Proxima Nova"/>
                <a:sym typeface="Proxima Nova"/>
              </a:rPr>
              <a:t>we first remember the first element,</a:t>
            </a:r>
            <a:r>
              <a:rPr lang="en-US" sz="1800">
                <a:solidFill>
                  <a:srgbClr val="222222"/>
                </a:solidFill>
                <a:latin typeface="Proxima Nova"/>
                <a:ea typeface="Proxima Nova"/>
                <a:cs typeface="Proxima Nova"/>
                <a:sym typeface="Proxima Nova"/>
              </a:rPr>
              <a:t> which is 6. We go to the next field, where we find an even smaller element is 2. We walk over the rest of the array, looking for a smaller element. Since we can't find one, we stick with 2. We put it in the correct position by swapping it with the element in the first place. Then we move the border between the array sections one field to the right:</a:t>
            </a:r>
            <a:endParaRPr sz="1800">
              <a:solidFill>
                <a:srgbClr val="222222"/>
              </a:solidFill>
              <a:latin typeface="Proxima Nova"/>
              <a:ea typeface="Proxima Nova"/>
              <a:cs typeface="Proxima Nova"/>
              <a:sym typeface="Proxima Nova"/>
            </a:endParaRPr>
          </a:p>
          <a:p>
            <a:pPr indent="0" lvl="0" marL="0" rtl="0" algn="l">
              <a:lnSpc>
                <a:spcPct val="115000"/>
              </a:lnSpc>
              <a:spcBef>
                <a:spcPts val="1300"/>
              </a:spcBef>
              <a:spcAft>
                <a:spcPts val="1800"/>
              </a:spcAft>
              <a:buSzPts val="1440"/>
              <a:buNone/>
            </a:pPr>
            <a:r>
              <a:rPr lang="en-US" sz="1800">
                <a:solidFill>
                  <a:srgbClr val="222222"/>
                </a:solidFill>
                <a:latin typeface="Proxima Nova"/>
                <a:ea typeface="Proxima Nova"/>
                <a:cs typeface="Proxima Nova"/>
                <a:sym typeface="Proxima Nova"/>
              </a:rPr>
              <a:t>We search again in the right, unsorted part for the smallest element. This time it is 3; we swap it with the element in the second position:</a:t>
            </a:r>
            <a:endParaRPr sz="4600">
              <a:solidFill>
                <a:srgbClr val="222222"/>
              </a:solidFill>
              <a:latin typeface="Proxima Nova"/>
              <a:ea typeface="Proxima Nova"/>
              <a:cs typeface="Proxima Nova"/>
              <a:sym typeface="Proxima Nova"/>
            </a:endParaRPr>
          </a:p>
        </p:txBody>
      </p:sp>
      <p:pic>
        <p:nvPicPr>
          <p:cNvPr descr="Selection Sort algorithm - Step 2" id="467" name="Google Shape;467;g18a262debf9_0_22"/>
          <p:cNvPicPr preferRelativeResize="0"/>
          <p:nvPr/>
        </p:nvPicPr>
        <p:blipFill rotWithShape="1">
          <a:blip r:embed="rId3">
            <a:alphaModFix/>
          </a:blip>
          <a:srcRect b="0" l="0" r="0" t="0"/>
          <a:stretch/>
        </p:blipFill>
        <p:spPr>
          <a:xfrm>
            <a:off x="5674350" y="1710425"/>
            <a:ext cx="5514975" cy="3619500"/>
          </a:xfrm>
          <a:prstGeom prst="rect">
            <a:avLst/>
          </a:prstGeom>
          <a:noFill/>
          <a:ln>
            <a:noFill/>
          </a:ln>
        </p:spPr>
      </p:pic>
      <p:sp>
        <p:nvSpPr>
          <p:cNvPr id="468" name="Google Shape;468;g18a262debf9_0_22"/>
          <p:cNvSpPr txBox="1"/>
          <p:nvPr/>
        </p:nvSpPr>
        <p:spPr>
          <a:xfrm>
            <a:off x="3833900" y="6035550"/>
            <a:ext cx="80094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FF"/>
                </a:solidFill>
                <a:latin typeface="Arial"/>
                <a:ea typeface="Arial"/>
                <a:cs typeface="Arial"/>
                <a:sym typeface="Arial"/>
              </a:rPr>
              <a:t>Animation” </a:t>
            </a:r>
            <a:r>
              <a:rPr b="0" i="0" lang="en-US" sz="1400" u="sng" cap="none" strike="noStrike">
                <a:solidFill>
                  <a:srgbClr val="0000FF"/>
                </a:solidFill>
                <a:latin typeface="Arial"/>
                <a:ea typeface="Arial"/>
                <a:cs typeface="Arial"/>
                <a:sym typeface="Arial"/>
                <a:hlinkClick r:id="rId4">
                  <a:extLst>
                    <a:ext uri="{A12FA001-AC4F-418D-AE19-62706E023703}">
                      <ahyp:hlinkClr val="tx"/>
                    </a:ext>
                  </a:extLst>
                </a:hlinkClick>
              </a:rPr>
              <a:t>https://afteracademy.com/blog/introduction-to-sorting-algorithms-selection-and-insertion-sort</a:t>
            </a:r>
            <a:endParaRPr b="0" i="0" sz="14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18a262debf9_0_30"/>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sz="3900"/>
              <a:t>Step3 </a:t>
            </a:r>
            <a:endParaRPr b="1" sz="3900"/>
          </a:p>
        </p:txBody>
      </p:sp>
      <p:sp>
        <p:nvSpPr>
          <p:cNvPr id="474" name="Google Shape;474;g18a262debf9_0_30"/>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800"/>
              </a:spcAft>
              <a:buSzPts val="1440"/>
              <a:buNone/>
            </a:pPr>
            <a:r>
              <a:rPr lang="en-US" sz="4000">
                <a:solidFill>
                  <a:srgbClr val="222222"/>
                </a:solidFill>
                <a:latin typeface="Proxima Nova"/>
                <a:ea typeface="Proxima Nova"/>
                <a:cs typeface="Proxima Nova"/>
                <a:sym typeface="Proxima Nova"/>
              </a:rPr>
              <a:t>We search again in the right, unsorted part for the smallest element. This time it is the 3; we swap it with the element in the second position:</a:t>
            </a:r>
            <a:endParaRPr sz="7400">
              <a:solidFill>
                <a:srgbClr val="222222"/>
              </a:solidFill>
              <a:latin typeface="Proxima Nova"/>
              <a:ea typeface="Proxima Nova"/>
              <a:cs typeface="Proxima Nova"/>
              <a:sym typeface="Proxima Nova"/>
            </a:endParaRPr>
          </a:p>
        </p:txBody>
      </p:sp>
      <p:pic>
        <p:nvPicPr>
          <p:cNvPr descr="Selection Sort algorithm - Step 3" id="475" name="Google Shape;475;g18a262debf9_0_30"/>
          <p:cNvPicPr preferRelativeResize="0"/>
          <p:nvPr/>
        </p:nvPicPr>
        <p:blipFill rotWithShape="1">
          <a:blip r:embed="rId3">
            <a:alphaModFix/>
          </a:blip>
          <a:srcRect b="0" l="0" r="0" t="0"/>
          <a:stretch/>
        </p:blipFill>
        <p:spPr>
          <a:xfrm>
            <a:off x="6036025" y="1682625"/>
            <a:ext cx="5514975" cy="3619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18a262debf9_0_38"/>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a:t>Step4 </a:t>
            </a:r>
            <a:endParaRPr b="1"/>
          </a:p>
        </p:txBody>
      </p:sp>
      <p:sp>
        <p:nvSpPr>
          <p:cNvPr id="481" name="Google Shape;481;g18a262debf9_0_38"/>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00"/>
              </a:spcBef>
              <a:spcAft>
                <a:spcPts val="0"/>
              </a:spcAft>
              <a:buSzPts val="1440"/>
              <a:buNone/>
            </a:pPr>
            <a:r>
              <a:rPr lang="en-US" sz="3200">
                <a:solidFill>
                  <a:srgbClr val="222222"/>
                </a:solidFill>
                <a:latin typeface="Proxima Nova"/>
                <a:ea typeface="Proxima Nova"/>
                <a:cs typeface="Proxima Nova"/>
                <a:sym typeface="Proxima Nova"/>
              </a:rPr>
              <a:t>Again we search for the smallest element in the right section. </a:t>
            </a:r>
            <a:endParaRPr sz="3200">
              <a:solidFill>
                <a:srgbClr val="222222"/>
              </a:solidFill>
              <a:latin typeface="Proxima Nova"/>
              <a:ea typeface="Proxima Nova"/>
              <a:cs typeface="Proxima Nova"/>
              <a:sym typeface="Proxima Nova"/>
            </a:endParaRPr>
          </a:p>
          <a:p>
            <a:pPr indent="0" lvl="0" marL="0" rtl="0" algn="l">
              <a:lnSpc>
                <a:spcPct val="115000"/>
              </a:lnSpc>
              <a:spcBef>
                <a:spcPts val="600"/>
              </a:spcBef>
              <a:spcAft>
                <a:spcPts val="600"/>
              </a:spcAft>
              <a:buSzPts val="1440"/>
              <a:buNone/>
            </a:pPr>
            <a:r>
              <a:rPr lang="en-US" sz="3200">
                <a:solidFill>
                  <a:srgbClr val="222222"/>
                </a:solidFill>
                <a:latin typeface="Proxima Nova"/>
                <a:ea typeface="Proxima Nova"/>
                <a:cs typeface="Proxima Nova"/>
                <a:sym typeface="Proxima Nova"/>
              </a:rPr>
              <a:t>It is the 4, which is already in the correct position. So there is no need for swapping operation in this step, and we just -move the section border:</a:t>
            </a:r>
            <a:endParaRPr sz="9400">
              <a:solidFill>
                <a:srgbClr val="222222"/>
              </a:solidFill>
              <a:latin typeface="Proxima Nova"/>
              <a:ea typeface="Proxima Nova"/>
              <a:cs typeface="Proxima Nova"/>
              <a:sym typeface="Proxima Nova"/>
            </a:endParaRPr>
          </a:p>
        </p:txBody>
      </p:sp>
      <p:pic>
        <p:nvPicPr>
          <p:cNvPr descr="Selection Sort algorithm - Step 4" id="482" name="Google Shape;482;g18a262debf9_0_38"/>
          <p:cNvPicPr preferRelativeResize="0"/>
          <p:nvPr/>
        </p:nvPicPr>
        <p:blipFill rotWithShape="1">
          <a:blip r:embed="rId3">
            <a:alphaModFix/>
          </a:blip>
          <a:srcRect b="0" l="0" r="0" t="0"/>
          <a:stretch/>
        </p:blipFill>
        <p:spPr>
          <a:xfrm>
            <a:off x="5034450" y="778425"/>
            <a:ext cx="5514975" cy="3619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18a262debf9_0_46"/>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a:t>Step5 </a:t>
            </a:r>
            <a:endParaRPr b="1"/>
          </a:p>
        </p:txBody>
      </p:sp>
      <p:sp>
        <p:nvSpPr>
          <p:cNvPr id="488" name="Google Shape;488;g18a262debf9_0_46"/>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800"/>
              </a:spcAft>
              <a:buSzPts val="1440"/>
              <a:buNone/>
            </a:pPr>
            <a:r>
              <a:rPr lang="en-US" sz="3600">
                <a:solidFill>
                  <a:srgbClr val="222222"/>
                </a:solidFill>
                <a:latin typeface="Proxima Nova"/>
                <a:ea typeface="Proxima Nova"/>
                <a:cs typeface="Proxima Nova"/>
                <a:sym typeface="Proxima Nova"/>
              </a:rPr>
              <a:t>As the smallest element, we find the 6. We swap it with the element at the beginning of the right part, the 9:</a:t>
            </a:r>
            <a:endParaRPr sz="5600">
              <a:solidFill>
                <a:srgbClr val="222222"/>
              </a:solidFill>
              <a:latin typeface="Proxima Nova"/>
              <a:ea typeface="Proxima Nova"/>
              <a:cs typeface="Proxima Nova"/>
              <a:sym typeface="Proxima Nova"/>
            </a:endParaRPr>
          </a:p>
        </p:txBody>
      </p:sp>
      <p:pic>
        <p:nvPicPr>
          <p:cNvPr descr="Selection Sort algorithm - Step 5" id="489" name="Google Shape;489;g18a262debf9_0_46"/>
          <p:cNvPicPr preferRelativeResize="0"/>
          <p:nvPr/>
        </p:nvPicPr>
        <p:blipFill rotWithShape="1">
          <a:blip r:embed="rId3">
            <a:alphaModFix/>
          </a:blip>
          <a:srcRect b="0" l="0" r="0" t="0"/>
          <a:stretch/>
        </p:blipFill>
        <p:spPr>
          <a:xfrm>
            <a:off x="5034450" y="778425"/>
            <a:ext cx="5514975" cy="3743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18a262debf9_0_59"/>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a:t>Step6</a:t>
            </a:r>
            <a:endParaRPr b="1"/>
          </a:p>
        </p:txBody>
      </p:sp>
      <p:sp>
        <p:nvSpPr>
          <p:cNvPr id="495" name="Google Shape;495;g18a262debf9_0_59"/>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800"/>
              </a:spcAft>
              <a:buSzPts val="1440"/>
              <a:buNone/>
            </a:pPr>
            <a:r>
              <a:rPr lang="en-US" sz="3600">
                <a:solidFill>
                  <a:srgbClr val="222222"/>
                </a:solidFill>
                <a:latin typeface="Proxima Nova"/>
                <a:ea typeface="Proxima Nova"/>
                <a:cs typeface="Proxima Nova"/>
                <a:sym typeface="Proxima Nova"/>
              </a:rPr>
              <a:t>Of the remaining two elements, the 7 is the smallest. We swap it with the 9:</a:t>
            </a:r>
            <a:endParaRPr sz="8000">
              <a:solidFill>
                <a:srgbClr val="222222"/>
              </a:solidFill>
              <a:latin typeface="Proxima Nova"/>
              <a:ea typeface="Proxima Nova"/>
              <a:cs typeface="Proxima Nova"/>
              <a:sym typeface="Proxima Nova"/>
            </a:endParaRPr>
          </a:p>
        </p:txBody>
      </p:sp>
      <p:pic>
        <p:nvPicPr>
          <p:cNvPr descr="Selection Sort algorithm - Step 6" id="496" name="Google Shape;496;g18a262debf9_0_59"/>
          <p:cNvPicPr preferRelativeResize="0"/>
          <p:nvPr/>
        </p:nvPicPr>
        <p:blipFill rotWithShape="1">
          <a:blip r:embed="rId3">
            <a:alphaModFix/>
          </a:blip>
          <a:srcRect b="0" l="0" r="0" t="0"/>
          <a:stretch/>
        </p:blipFill>
        <p:spPr>
          <a:xfrm>
            <a:off x="5048350" y="875800"/>
            <a:ext cx="6743549" cy="4577225"/>
          </a:xfrm>
          <a:prstGeom prst="rect">
            <a:avLst/>
          </a:prstGeom>
          <a:noFill/>
          <a:ln cap="flat" cmpd="sng" w="38100">
            <a:solidFill>
              <a:srgbClr val="CCCCCC"/>
            </a:solidFill>
            <a:prstDash val="solid"/>
            <a:miter lim="8000"/>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18a262debf9_0_67"/>
          <p:cNvSpPr txBox="1"/>
          <p:nvPr>
            <p:ph type="title"/>
          </p:nvPr>
        </p:nvSpPr>
        <p:spPr>
          <a:xfrm>
            <a:off x="205650" y="63225"/>
            <a:ext cx="10380300" cy="56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200"/>
              </a:spcAft>
              <a:buSzPts val="1800"/>
              <a:buNone/>
            </a:pPr>
            <a:r>
              <a:rPr b="1" lang="en-US"/>
              <a:t>Algorithm finished</a:t>
            </a:r>
            <a:endParaRPr b="1"/>
          </a:p>
        </p:txBody>
      </p:sp>
      <p:sp>
        <p:nvSpPr>
          <p:cNvPr id="502" name="Google Shape;502;g18a262debf9_0_67"/>
          <p:cNvSpPr txBox="1"/>
          <p:nvPr>
            <p:ph idx="1" type="body"/>
          </p:nvPr>
        </p:nvSpPr>
        <p:spPr>
          <a:xfrm>
            <a:off x="198450" y="758100"/>
            <a:ext cx="4683600" cy="577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40"/>
              <a:buNone/>
            </a:pPr>
            <a:r>
              <a:rPr lang="en-US" sz="2500">
                <a:solidFill>
                  <a:srgbClr val="222222"/>
                </a:solidFill>
                <a:latin typeface="Proxima Nova"/>
                <a:ea typeface="Proxima Nova"/>
                <a:cs typeface="Proxima Nova"/>
                <a:sym typeface="Proxima Nova"/>
              </a:rPr>
              <a:t>The last element is automatically the largest and, therefore, in the correct position. The algorithm is finished, and the elements are sorted:</a:t>
            </a:r>
            <a:endParaRPr sz="2500">
              <a:solidFill>
                <a:srgbClr val="222222"/>
              </a:solidFill>
              <a:latin typeface="Proxima Nova"/>
              <a:ea typeface="Proxima Nova"/>
              <a:cs typeface="Proxima Nova"/>
              <a:sym typeface="Proxima Nova"/>
            </a:endParaRPr>
          </a:p>
          <a:p>
            <a:pPr indent="0" lvl="0" marL="0" rtl="0" algn="l">
              <a:lnSpc>
                <a:spcPct val="115000"/>
              </a:lnSpc>
              <a:spcBef>
                <a:spcPts val="1800"/>
              </a:spcBef>
              <a:spcAft>
                <a:spcPts val="1800"/>
              </a:spcAft>
              <a:buSzPts val="1440"/>
              <a:buNone/>
            </a:pPr>
            <a:r>
              <a:t/>
            </a:r>
            <a:endParaRPr sz="3600">
              <a:solidFill>
                <a:srgbClr val="222222"/>
              </a:solidFill>
              <a:latin typeface="Proxima Nova"/>
              <a:ea typeface="Proxima Nova"/>
              <a:cs typeface="Proxima Nova"/>
              <a:sym typeface="Proxima Nova"/>
            </a:endParaRPr>
          </a:p>
        </p:txBody>
      </p:sp>
      <p:pic>
        <p:nvPicPr>
          <p:cNvPr descr="Selection Sort algorithm - Finished" id="503" name="Google Shape;503;g18a262debf9_0_67"/>
          <p:cNvPicPr preferRelativeResize="0"/>
          <p:nvPr/>
        </p:nvPicPr>
        <p:blipFill rotWithShape="1">
          <a:blip r:embed="rId3">
            <a:alphaModFix/>
          </a:blip>
          <a:srcRect b="0" l="0" r="0" t="0"/>
          <a:stretch/>
        </p:blipFill>
        <p:spPr>
          <a:xfrm>
            <a:off x="6342075" y="3171075"/>
            <a:ext cx="5514975" cy="3495675"/>
          </a:xfrm>
          <a:prstGeom prst="rect">
            <a:avLst/>
          </a:prstGeom>
          <a:noFill/>
          <a:ln cap="flat" cmpd="sng" w="38100">
            <a:solidFill>
              <a:srgbClr val="CCCCCC"/>
            </a:solidFill>
            <a:prstDash val="solid"/>
            <a:miter lim="8000"/>
            <a:headEnd len="sm" w="sm" type="none"/>
            <a:tailEnd len="sm" w="sm" type="none"/>
          </a:ln>
        </p:spPr>
      </p:pic>
      <p:pic>
        <p:nvPicPr>
          <p:cNvPr descr="Selection Sort algorithm - Step 6" id="504" name="Google Shape;504;g18a262debf9_0_67"/>
          <p:cNvPicPr preferRelativeResize="0"/>
          <p:nvPr/>
        </p:nvPicPr>
        <p:blipFill rotWithShape="1">
          <a:blip r:embed="rId4">
            <a:alphaModFix/>
          </a:blip>
          <a:srcRect b="0" l="0" r="0" t="0"/>
          <a:stretch/>
        </p:blipFill>
        <p:spPr>
          <a:xfrm>
            <a:off x="6481175" y="222000"/>
            <a:ext cx="4202299" cy="2852350"/>
          </a:xfrm>
          <a:prstGeom prst="rect">
            <a:avLst/>
          </a:prstGeom>
          <a:noFill/>
          <a:ln cap="flat" cmpd="sng" w="38100">
            <a:solidFill>
              <a:srgbClr val="CCCCCC"/>
            </a:solidFill>
            <a:prstDash val="solid"/>
            <a:miter lim="8000"/>
            <a:headEnd len="sm" w="sm" type="none"/>
            <a:tailEnd len="sm" w="sm" type="none"/>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18a262debf9_0_54"/>
          <p:cNvSpPr txBox="1"/>
          <p:nvPr>
            <p:ph type="title"/>
          </p:nvPr>
        </p:nvSpPr>
        <p:spPr>
          <a:xfrm>
            <a:off x="89675" y="63221"/>
            <a:ext cx="9404700" cy="674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C++ example</a:t>
            </a:r>
            <a:endParaRPr/>
          </a:p>
        </p:txBody>
      </p:sp>
      <p:sp>
        <p:nvSpPr>
          <p:cNvPr id="510" name="Google Shape;510;g18a262debf9_0_54"/>
          <p:cNvSpPr txBox="1"/>
          <p:nvPr>
            <p:ph idx="1" type="body"/>
          </p:nvPr>
        </p:nvSpPr>
        <p:spPr>
          <a:xfrm>
            <a:off x="5981625" y="701700"/>
            <a:ext cx="5550300" cy="62658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1000"/>
              </a:spcBef>
              <a:spcAft>
                <a:spcPts val="0"/>
              </a:spcAft>
              <a:buClr>
                <a:schemeClr val="dk1"/>
              </a:buClr>
              <a:buSzPts val="1100"/>
              <a:buFont typeface="Arial"/>
              <a:buNone/>
            </a:pPr>
            <a:r>
              <a:rPr lang="en-US"/>
              <a:t>int main(){</a:t>
            </a:r>
            <a:endParaRPr/>
          </a:p>
          <a:p>
            <a:pPr indent="0" lvl="0" marL="0" rtl="0" algn="l">
              <a:lnSpc>
                <a:spcPct val="100000"/>
              </a:lnSpc>
              <a:spcBef>
                <a:spcPts val="1000"/>
              </a:spcBef>
              <a:spcAft>
                <a:spcPts val="0"/>
              </a:spcAft>
              <a:buClr>
                <a:schemeClr val="dk1"/>
              </a:buClr>
              <a:buSzPts val="1100"/>
              <a:buFont typeface="Arial"/>
              <a:buNone/>
            </a:pPr>
            <a:r>
              <a:rPr lang="en-US"/>
              <a:t>   int n;</a:t>
            </a:r>
            <a:endParaRPr/>
          </a:p>
          <a:p>
            <a:pPr indent="0" lvl="0" marL="0" rtl="0" algn="l">
              <a:lnSpc>
                <a:spcPct val="100000"/>
              </a:lnSpc>
              <a:spcBef>
                <a:spcPts val="1000"/>
              </a:spcBef>
              <a:spcAft>
                <a:spcPts val="0"/>
              </a:spcAft>
              <a:buClr>
                <a:schemeClr val="dk1"/>
              </a:buClr>
              <a:buSzPts val="1100"/>
              <a:buFont typeface="Arial"/>
              <a:buNone/>
            </a:pPr>
            <a:r>
              <a:rPr lang="en-US"/>
              <a:t>cout&lt;&lt;"Enter the number of elements"&lt;&lt;endl;</a:t>
            </a:r>
            <a:endParaRPr/>
          </a:p>
          <a:p>
            <a:pPr indent="0" lvl="0" marL="0" rtl="0" algn="l">
              <a:lnSpc>
                <a:spcPct val="100000"/>
              </a:lnSpc>
              <a:spcBef>
                <a:spcPts val="1000"/>
              </a:spcBef>
              <a:spcAft>
                <a:spcPts val="0"/>
              </a:spcAft>
              <a:buClr>
                <a:schemeClr val="dk1"/>
              </a:buClr>
              <a:buSzPts val="1100"/>
              <a:buFont typeface="Arial"/>
              <a:buNone/>
            </a:pPr>
            <a:r>
              <a:rPr lang="en-US"/>
              <a:t>   cin&gt;&gt;n;</a:t>
            </a:r>
            <a:endParaRPr/>
          </a:p>
          <a:p>
            <a:pPr indent="0" lvl="0" marL="0" rtl="0" algn="l">
              <a:lnSpc>
                <a:spcPct val="100000"/>
              </a:lnSpc>
              <a:spcBef>
                <a:spcPts val="1000"/>
              </a:spcBef>
              <a:spcAft>
                <a:spcPts val="0"/>
              </a:spcAft>
              <a:buClr>
                <a:schemeClr val="dk1"/>
              </a:buClr>
              <a:buSzPts val="1100"/>
              <a:buFont typeface="Arial"/>
              <a:buNone/>
            </a:pPr>
            <a:r>
              <a:rPr lang="en-US"/>
              <a:t>   int a[n];</a:t>
            </a:r>
            <a:endParaRPr/>
          </a:p>
          <a:p>
            <a:pPr indent="0" lvl="0" marL="0" rtl="0" algn="l">
              <a:lnSpc>
                <a:spcPct val="100000"/>
              </a:lnSpc>
              <a:spcBef>
                <a:spcPts val="1000"/>
              </a:spcBef>
              <a:spcAft>
                <a:spcPts val="0"/>
              </a:spcAft>
              <a:buClr>
                <a:schemeClr val="dk1"/>
              </a:buClr>
              <a:buSzPts val="1100"/>
              <a:buFont typeface="Arial"/>
              <a:buNone/>
            </a:pPr>
            <a:r>
              <a:rPr lang="en-US"/>
              <a:t>cout&lt;&lt;"Enter "&lt;&lt;n&lt;&lt;" elements"&lt;&lt;endl;</a:t>
            </a:r>
            <a:endParaRPr/>
          </a:p>
          <a:p>
            <a:pPr indent="0" lvl="0" marL="0" rtl="0" algn="l">
              <a:lnSpc>
                <a:spcPct val="100000"/>
              </a:lnSpc>
              <a:spcBef>
                <a:spcPts val="1000"/>
              </a:spcBef>
              <a:spcAft>
                <a:spcPts val="0"/>
              </a:spcAft>
              <a:buClr>
                <a:schemeClr val="dk1"/>
              </a:buClr>
              <a:buSzPts val="1100"/>
              <a:buFont typeface="Arial"/>
              <a:buNone/>
            </a:pPr>
            <a:r>
              <a:rPr lang="en-US"/>
              <a:t>   for(int i=0;i&lt;n;i++){</a:t>
            </a:r>
            <a:endParaRPr/>
          </a:p>
          <a:p>
            <a:pPr indent="0" lvl="0" marL="0" rtl="0" algn="l">
              <a:lnSpc>
                <a:spcPct val="100000"/>
              </a:lnSpc>
              <a:spcBef>
                <a:spcPts val="1000"/>
              </a:spcBef>
              <a:spcAft>
                <a:spcPts val="0"/>
              </a:spcAft>
              <a:buClr>
                <a:schemeClr val="dk1"/>
              </a:buClr>
              <a:buSzPts val="1100"/>
              <a:buFont typeface="Arial"/>
              <a:buNone/>
            </a:pPr>
            <a:r>
              <a:rPr lang="en-US"/>
              <a:t>    cin&gt;&gt;a[i];</a:t>
            </a:r>
            <a:endParaRPr/>
          </a:p>
          <a:p>
            <a:pPr indent="0" lvl="0" marL="0" rtl="0" algn="l">
              <a:lnSpc>
                <a:spcPct val="100000"/>
              </a:lnSpc>
              <a:spcBef>
                <a:spcPts val="1000"/>
              </a:spcBef>
              <a:spcAft>
                <a:spcPts val="0"/>
              </a:spcAft>
              <a:buClr>
                <a:schemeClr val="dk1"/>
              </a:buClr>
              <a:buSzPts val="1100"/>
              <a:buFont typeface="Arial"/>
              <a:buNone/>
            </a:pPr>
            <a:r>
              <a:rPr lang="en-US"/>
              <a:t>   }</a:t>
            </a:r>
            <a:endParaRPr/>
          </a:p>
          <a:p>
            <a:pPr indent="0" lvl="0" marL="0" rtl="0" algn="l">
              <a:lnSpc>
                <a:spcPct val="100000"/>
              </a:lnSpc>
              <a:spcBef>
                <a:spcPts val="1000"/>
              </a:spcBef>
              <a:spcAft>
                <a:spcPts val="0"/>
              </a:spcAft>
              <a:buClr>
                <a:schemeClr val="dk1"/>
              </a:buClr>
              <a:buSzPts val="1100"/>
              <a:buFont typeface="Arial"/>
              <a:buNone/>
            </a:pPr>
            <a:r>
              <a:rPr lang="en-US"/>
              <a:t>   selectionSort(a,n);</a:t>
            </a:r>
            <a:endParaRPr/>
          </a:p>
          <a:p>
            <a:pPr indent="0" lvl="0" marL="0" rtl="0" algn="l">
              <a:lnSpc>
                <a:spcPct val="100000"/>
              </a:lnSpc>
              <a:spcBef>
                <a:spcPts val="1000"/>
              </a:spcBef>
              <a:spcAft>
                <a:spcPts val="0"/>
              </a:spcAft>
              <a:buClr>
                <a:schemeClr val="dk1"/>
              </a:buClr>
              <a:buSzPts val="1100"/>
              <a:buFont typeface="Arial"/>
              <a:buNone/>
            </a:pPr>
            <a:r>
              <a:rPr lang="en-US"/>
              <a:t>   for(int i=0;i&lt;n;i++){</a:t>
            </a:r>
            <a:endParaRPr/>
          </a:p>
          <a:p>
            <a:pPr indent="0" lvl="0" marL="0" rtl="0" algn="l">
              <a:lnSpc>
                <a:spcPct val="100000"/>
              </a:lnSpc>
              <a:spcBef>
                <a:spcPts val="1000"/>
              </a:spcBef>
              <a:spcAft>
                <a:spcPts val="0"/>
              </a:spcAft>
              <a:buClr>
                <a:schemeClr val="dk1"/>
              </a:buClr>
              <a:buSzPts val="1100"/>
              <a:buFont typeface="Arial"/>
              <a:buNone/>
            </a:pPr>
            <a:r>
              <a:rPr lang="en-US"/>
              <a:t>    cout&lt;&lt;a[i]&lt;&lt;" ";</a:t>
            </a:r>
            <a:endParaRPr/>
          </a:p>
          <a:p>
            <a:pPr indent="0" lvl="0" marL="0" rtl="0" algn="l">
              <a:lnSpc>
                <a:spcPct val="100000"/>
              </a:lnSpc>
              <a:spcBef>
                <a:spcPts val="1000"/>
              </a:spcBef>
              <a:spcAft>
                <a:spcPts val="0"/>
              </a:spcAft>
              <a:buClr>
                <a:schemeClr val="dk1"/>
              </a:buClr>
              <a:buSzPts val="1100"/>
              <a:buFont typeface="Arial"/>
              <a:buNone/>
            </a:pPr>
            <a:r>
              <a:rPr lang="en-US"/>
              <a:t>   }</a:t>
            </a:r>
            <a:endParaRPr/>
          </a:p>
          <a:p>
            <a:pPr indent="0" lvl="0" marL="0" rtl="0" algn="l">
              <a:lnSpc>
                <a:spcPct val="100000"/>
              </a:lnSpc>
              <a:spcBef>
                <a:spcPts val="1000"/>
              </a:spcBef>
              <a:spcAft>
                <a:spcPts val="0"/>
              </a:spcAft>
              <a:buClr>
                <a:schemeClr val="dk1"/>
              </a:buClr>
              <a:buSzPts val="1100"/>
              <a:buFont typeface="Arial"/>
              <a:buNone/>
            </a:pPr>
            <a:r>
              <a:rPr lang="en-US"/>
              <a:t>    return 0;</a:t>
            </a:r>
            <a:endParaRPr/>
          </a:p>
          <a:p>
            <a:pPr indent="0" lvl="0" marL="0" rtl="0" algn="l">
              <a:lnSpc>
                <a:spcPct val="100000"/>
              </a:lnSpc>
              <a:spcBef>
                <a:spcPts val="1000"/>
              </a:spcBef>
              <a:spcAft>
                <a:spcPts val="0"/>
              </a:spcAft>
              <a:buSzPts val="1440"/>
              <a:buNone/>
            </a:pPr>
            <a:r>
              <a:rPr lang="en-US"/>
              <a:t>}</a:t>
            </a:r>
            <a:endParaRPr/>
          </a:p>
        </p:txBody>
      </p:sp>
      <p:sp>
        <p:nvSpPr>
          <p:cNvPr id="511" name="Google Shape;511;g18a262debf9_0_54"/>
          <p:cNvSpPr txBox="1"/>
          <p:nvPr/>
        </p:nvSpPr>
        <p:spPr>
          <a:xfrm>
            <a:off x="389500" y="1057225"/>
            <a:ext cx="5049600" cy="526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#include&lt;iostream&gt;</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using namespace std;</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void selectionSort(int a[],int n){</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for(int i=0;i&lt;n-1;i++){</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int t</a:t>
            </a:r>
            <a:r>
              <a:rPr lang="en-US" sz="2200"/>
              <a:t>a</a:t>
            </a:r>
            <a:r>
              <a:rPr b="0" i="0" lang="en-US" sz="2200" u="none" cap="none" strike="noStrike">
                <a:solidFill>
                  <a:srgbClr val="000000"/>
                </a:solidFill>
                <a:latin typeface="Arial"/>
                <a:ea typeface="Arial"/>
                <a:cs typeface="Arial"/>
                <a:sym typeface="Arial"/>
              </a:rPr>
              <a:t>rgetIndex= i;</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for(int j = i+1;j&lt;n;j++){</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if(a[j]&lt;a[</a:t>
            </a:r>
            <a:r>
              <a:rPr b="0" i="0" lang="en-US" sz="2200" u="none" cap="none" strike="noStrike">
                <a:solidFill>
                  <a:schemeClr val="dk1"/>
                </a:solidFill>
                <a:latin typeface="Arial"/>
                <a:ea typeface="Arial"/>
                <a:cs typeface="Arial"/>
                <a:sym typeface="Arial"/>
              </a:rPr>
              <a:t>targetIndex</a:t>
            </a:r>
            <a:r>
              <a:rPr b="0" i="0" lang="en-US" sz="2200" u="none" cap="none" strike="noStrike">
                <a:solidFill>
                  <a:srgbClr val="000000"/>
                </a:solidFill>
                <a:latin typeface="Arial"/>
                <a:ea typeface="Arial"/>
                <a:cs typeface="Arial"/>
                <a:sym typeface="Arial"/>
              </a:rPr>
              <a:t>]){</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a:t>
            </a:r>
            <a:r>
              <a:rPr b="0" i="0" lang="en-US" sz="2200" u="none" cap="none" strike="noStrike">
                <a:solidFill>
                  <a:schemeClr val="dk1"/>
                </a:solidFill>
                <a:latin typeface="Arial"/>
                <a:ea typeface="Arial"/>
                <a:cs typeface="Arial"/>
                <a:sym typeface="Arial"/>
              </a:rPr>
              <a:t>targetIndex</a:t>
            </a:r>
            <a:r>
              <a:rPr b="0" i="0" lang="en-US" sz="2200" u="none" cap="none" strike="noStrike">
                <a:solidFill>
                  <a:srgbClr val="000000"/>
                </a:solidFill>
                <a:latin typeface="Arial"/>
                <a:ea typeface="Arial"/>
                <a:cs typeface="Arial"/>
                <a:sym typeface="Arial"/>
              </a:rPr>
              <a:t> = j;</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swap(a[i],a[</a:t>
            </a:r>
            <a:r>
              <a:rPr b="0" i="0" lang="en-US" sz="2200" u="none" cap="none" strike="noStrike">
                <a:solidFill>
                  <a:schemeClr val="dk1"/>
                </a:solidFill>
                <a:latin typeface="Arial"/>
                <a:ea typeface="Arial"/>
                <a:cs typeface="Arial"/>
                <a:sym typeface="Arial"/>
              </a:rPr>
              <a:t>targetIndex</a:t>
            </a:r>
            <a:r>
              <a:rPr b="0" i="0" lang="en-US" sz="2200" u="none" cap="none" strike="noStrike">
                <a:solidFill>
                  <a:srgbClr val="000000"/>
                </a:solidFill>
                <a:latin typeface="Arial"/>
                <a:ea typeface="Arial"/>
                <a:cs typeface="Arial"/>
                <a:sym typeface="Arial"/>
              </a:rPr>
              <a:t>]);</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29daaaf69b5_12_10"/>
          <p:cNvSpPr txBox="1"/>
          <p:nvPr>
            <p:ph type="title"/>
          </p:nvPr>
        </p:nvSpPr>
        <p:spPr>
          <a:xfrm>
            <a:off x="646111" y="452718"/>
            <a:ext cx="94047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Selection</a:t>
            </a:r>
            <a:r>
              <a:rPr lang="en-US"/>
              <a:t> sort complexity</a:t>
            </a:r>
            <a:endParaRPr/>
          </a:p>
        </p:txBody>
      </p:sp>
      <p:sp>
        <p:nvSpPr>
          <p:cNvPr id="517" name="Google Shape;517;g29daaaf69b5_12_10"/>
          <p:cNvSpPr txBox="1"/>
          <p:nvPr>
            <p:ph idx="1" type="body"/>
          </p:nvPr>
        </p:nvSpPr>
        <p:spPr>
          <a:xfrm>
            <a:off x="1103300" y="1422826"/>
            <a:ext cx="8946600" cy="482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900"/>
              <a:t>The selection sort will take the time complexity of O(n</a:t>
            </a:r>
            <a:r>
              <a:rPr baseline="30000" lang="en-US" sz="3900"/>
              <a:t>2</a:t>
            </a:r>
            <a:r>
              <a:rPr lang="en-US" sz="3900"/>
              <a:t>). The outer loop is taking n-1 steps and inner loop n-2 steps.</a:t>
            </a:r>
            <a:endParaRPr sz="3900"/>
          </a:p>
          <a:p>
            <a:pPr indent="0" lvl="0" marL="0" rtl="0" algn="l">
              <a:spcBef>
                <a:spcPts val="1000"/>
              </a:spcBef>
              <a:spcAft>
                <a:spcPts val="0"/>
              </a:spcAft>
              <a:buNone/>
            </a:pPr>
            <a:r>
              <a:rPr lang="en-US" sz="3900"/>
              <a:t>(n-1)*(n-1)=n</a:t>
            </a:r>
            <a:r>
              <a:rPr baseline="30000" lang="en-US" sz="3900"/>
              <a:t>2</a:t>
            </a:r>
            <a:r>
              <a:rPr lang="en-US" sz="3900"/>
              <a:t>+kn+c</a:t>
            </a:r>
            <a:endParaRPr sz="3900"/>
          </a:p>
          <a:p>
            <a:pPr indent="0" lvl="0" marL="0" rtl="0" algn="l">
              <a:spcBef>
                <a:spcPts val="1000"/>
              </a:spcBef>
              <a:spcAft>
                <a:spcPts val="0"/>
              </a:spcAft>
              <a:buNone/>
            </a:pPr>
            <a:r>
              <a:rPr lang="en-US" sz="3900"/>
              <a:t>                 </a:t>
            </a:r>
            <a:r>
              <a:rPr lang="en-US" sz="2200"/>
              <a:t>⋍</a:t>
            </a:r>
            <a:r>
              <a:rPr lang="en-US" sz="3900"/>
              <a:t>n</a:t>
            </a:r>
            <a:r>
              <a:rPr baseline="30000" lang="en-US" sz="3900"/>
              <a:t>2</a:t>
            </a:r>
            <a:endParaRPr baseline="30000" sz="39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1a90e34fbfc_0_96"/>
          <p:cNvSpPr txBox="1"/>
          <p:nvPr>
            <p:ph type="title"/>
          </p:nvPr>
        </p:nvSpPr>
        <p:spPr>
          <a:xfrm>
            <a:off x="3043650" y="1265850"/>
            <a:ext cx="6916500" cy="1168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6000"/>
              <a:buNone/>
            </a:pPr>
            <a:r>
              <a:rPr lang="en-US" sz="8500"/>
              <a:t>Merge Sort</a:t>
            </a:r>
            <a:endParaRPr sz="8500"/>
          </a:p>
        </p:txBody>
      </p:sp>
      <p:sp>
        <p:nvSpPr>
          <p:cNvPr id="523" name="Google Shape;523;g1a90e34fbfc_0_96"/>
          <p:cNvSpPr txBox="1"/>
          <p:nvPr>
            <p:ph idx="1" type="body"/>
          </p:nvPr>
        </p:nvSpPr>
        <p:spPr>
          <a:xfrm>
            <a:off x="3361175" y="3434875"/>
            <a:ext cx="5748000" cy="1168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400"/>
              <a:buNone/>
            </a:pPr>
            <a:r>
              <a:rPr lang="en-US" sz="4400"/>
              <a:t>Recursive Algorithm</a:t>
            </a:r>
            <a:endParaRPr sz="44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1a90e34fbfc_0_101"/>
          <p:cNvSpPr txBox="1"/>
          <p:nvPr>
            <p:ph type="title"/>
          </p:nvPr>
        </p:nvSpPr>
        <p:spPr>
          <a:xfrm>
            <a:off x="533400" y="-168275"/>
            <a:ext cx="10515600" cy="73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200"/>
              <a:t>Merge Sort</a:t>
            </a:r>
            <a:endParaRPr b="1" sz="4200"/>
          </a:p>
        </p:txBody>
      </p:sp>
      <p:sp>
        <p:nvSpPr>
          <p:cNvPr id="529" name="Google Shape;529;g1a90e34fbfc_0_101"/>
          <p:cNvSpPr txBox="1"/>
          <p:nvPr>
            <p:ph idx="1" type="body"/>
          </p:nvPr>
        </p:nvSpPr>
        <p:spPr>
          <a:xfrm>
            <a:off x="208650" y="563700"/>
            <a:ext cx="7676400" cy="62736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1000"/>
              </a:spcBef>
              <a:spcAft>
                <a:spcPts val="0"/>
              </a:spcAft>
              <a:buSzPts val="1018"/>
              <a:buNone/>
            </a:pPr>
            <a:r>
              <a:rPr lang="en-US" sz="1927">
                <a:solidFill>
                  <a:srgbClr val="4A4A4A"/>
                </a:solidFill>
                <a:highlight>
                  <a:srgbClr val="FFFFFF"/>
                </a:highlight>
                <a:latin typeface="Arial"/>
                <a:ea typeface="Arial"/>
                <a:cs typeface="Arial"/>
                <a:sym typeface="Arial"/>
              </a:rPr>
              <a:t>Merge sort  is one of the best examples of </a:t>
            </a:r>
            <a:r>
              <a:rPr b="1" lang="en-US" sz="1927">
                <a:solidFill>
                  <a:srgbClr val="4A4A4A"/>
                </a:solidFill>
                <a:highlight>
                  <a:srgbClr val="FFFFFF"/>
                </a:highlight>
                <a:latin typeface="Arial"/>
                <a:ea typeface="Arial"/>
                <a:cs typeface="Arial"/>
                <a:sym typeface="Arial"/>
              </a:rPr>
              <a:t>Divide &amp; Conquer algorithm.</a:t>
            </a:r>
            <a:r>
              <a:rPr lang="en-US" sz="1927">
                <a:solidFill>
                  <a:srgbClr val="4A4A4A"/>
                </a:solidFill>
                <a:highlight>
                  <a:srgbClr val="FFFFFF"/>
                </a:highlight>
                <a:latin typeface="Arial"/>
                <a:ea typeface="Arial"/>
                <a:cs typeface="Arial"/>
                <a:sym typeface="Arial"/>
              </a:rPr>
              <a:t> Before we discuss alot  about Merge sort algorithm, let us understand </a:t>
            </a:r>
            <a:r>
              <a:rPr b="1" lang="en-US" sz="1927">
                <a:solidFill>
                  <a:srgbClr val="4A4A4A"/>
                </a:solidFill>
                <a:highlight>
                  <a:srgbClr val="FFFFFF"/>
                </a:highlight>
                <a:latin typeface="Arial"/>
                <a:ea typeface="Arial"/>
                <a:cs typeface="Arial"/>
                <a:sym typeface="Arial"/>
              </a:rPr>
              <a:t>Divide &amp; Conquer</a:t>
            </a:r>
            <a:r>
              <a:rPr lang="en-US" sz="1927">
                <a:solidFill>
                  <a:srgbClr val="4A4A4A"/>
                </a:solidFill>
                <a:highlight>
                  <a:srgbClr val="FFFFFF"/>
                </a:highlight>
                <a:latin typeface="Arial"/>
                <a:ea typeface="Arial"/>
                <a:cs typeface="Arial"/>
                <a:sym typeface="Arial"/>
              </a:rPr>
              <a:t> technique. </a:t>
            </a:r>
            <a:endParaRPr sz="1927">
              <a:solidFill>
                <a:srgbClr val="4A4A4A"/>
              </a:solidFill>
              <a:highlight>
                <a:srgbClr val="FFFFFF"/>
              </a:highlight>
              <a:latin typeface="Arial"/>
              <a:ea typeface="Arial"/>
              <a:cs typeface="Arial"/>
              <a:sym typeface="Arial"/>
            </a:endParaRPr>
          </a:p>
          <a:p>
            <a:pPr indent="0" lvl="0" marL="0" rtl="0" algn="just">
              <a:lnSpc>
                <a:spcPct val="100000"/>
              </a:lnSpc>
              <a:spcBef>
                <a:spcPts val="1000"/>
              </a:spcBef>
              <a:spcAft>
                <a:spcPts val="0"/>
              </a:spcAft>
              <a:buSzPts val="1018"/>
              <a:buNone/>
            </a:pPr>
            <a:r>
              <a:rPr lang="en-US" sz="1927">
                <a:solidFill>
                  <a:srgbClr val="4A4A4A"/>
                </a:solidFill>
                <a:highlight>
                  <a:srgbClr val="FFFFFF"/>
                </a:highlight>
                <a:latin typeface="Arial"/>
                <a:ea typeface="Arial"/>
                <a:cs typeface="Arial"/>
                <a:sym typeface="Arial"/>
              </a:rPr>
              <a:t>In Divide &amp; Conquer algorithm design paradigm, we divide the problem in sub-problems recursively then solve the sub-problems, &amp; at last combine the solutions to find the final result.</a:t>
            </a:r>
            <a:endParaRPr sz="1927">
              <a:solidFill>
                <a:srgbClr val="4A4A4A"/>
              </a:solidFill>
              <a:highlight>
                <a:srgbClr val="FFFFFF"/>
              </a:highlight>
              <a:latin typeface="Arial"/>
              <a:ea typeface="Arial"/>
              <a:cs typeface="Arial"/>
              <a:sym typeface="Arial"/>
            </a:endParaRPr>
          </a:p>
          <a:p>
            <a:pPr indent="0" lvl="0" marL="0" rtl="0" algn="just">
              <a:lnSpc>
                <a:spcPct val="100000"/>
              </a:lnSpc>
              <a:spcBef>
                <a:spcPts val="1000"/>
              </a:spcBef>
              <a:spcAft>
                <a:spcPts val="0"/>
              </a:spcAft>
              <a:buSzPts val="1018"/>
              <a:buNone/>
            </a:pPr>
            <a:r>
              <a:rPr lang="en-US" sz="1927">
                <a:solidFill>
                  <a:srgbClr val="4A4A4A"/>
                </a:solidFill>
                <a:highlight>
                  <a:srgbClr val="FFFFFF"/>
                </a:highlight>
                <a:latin typeface="Arial"/>
                <a:ea typeface="Arial"/>
                <a:cs typeface="Arial"/>
                <a:sym typeface="Arial"/>
              </a:rPr>
              <a:t>One thing to keep in mind while dividing the problems into sub-problems is that, the structure of sub-problems should not change as of the original problem.</a:t>
            </a:r>
            <a:endParaRPr sz="1927">
              <a:solidFill>
                <a:srgbClr val="4A4A4A"/>
              </a:solidFill>
              <a:highlight>
                <a:srgbClr val="FFFFFF"/>
              </a:highlight>
              <a:latin typeface="Arial"/>
              <a:ea typeface="Arial"/>
              <a:cs typeface="Arial"/>
              <a:sym typeface="Arial"/>
            </a:endParaRPr>
          </a:p>
          <a:p>
            <a:pPr indent="0" lvl="0" marL="0" rtl="0" algn="just">
              <a:lnSpc>
                <a:spcPct val="100000"/>
              </a:lnSpc>
              <a:spcBef>
                <a:spcPts val="1000"/>
              </a:spcBef>
              <a:spcAft>
                <a:spcPts val="0"/>
              </a:spcAft>
              <a:buSzPts val="1018"/>
              <a:buNone/>
            </a:pPr>
            <a:r>
              <a:rPr b="1" lang="en-US" sz="1927">
                <a:solidFill>
                  <a:srgbClr val="4A4A4A"/>
                </a:solidFill>
                <a:highlight>
                  <a:srgbClr val="FFFFFF"/>
                </a:highlight>
                <a:latin typeface="Arial"/>
                <a:ea typeface="Arial"/>
                <a:cs typeface="Arial"/>
                <a:sym typeface="Arial"/>
              </a:rPr>
              <a:t>Divide &amp; Conquer algorithm has 3 steps:</a:t>
            </a:r>
            <a:endParaRPr b="1" sz="1927">
              <a:solidFill>
                <a:srgbClr val="4A4A4A"/>
              </a:solidFill>
              <a:highlight>
                <a:srgbClr val="FFFFFF"/>
              </a:highlight>
              <a:latin typeface="Arial"/>
              <a:ea typeface="Arial"/>
              <a:cs typeface="Arial"/>
              <a:sym typeface="Arial"/>
            </a:endParaRPr>
          </a:p>
          <a:p>
            <a:pPr indent="0" lvl="0" marL="0" rtl="0" algn="just">
              <a:lnSpc>
                <a:spcPct val="100000"/>
              </a:lnSpc>
              <a:spcBef>
                <a:spcPts val="1000"/>
              </a:spcBef>
              <a:spcAft>
                <a:spcPts val="0"/>
              </a:spcAft>
              <a:buSzPts val="1018"/>
              <a:buNone/>
            </a:pPr>
            <a:r>
              <a:rPr lang="en-US" sz="1500">
                <a:solidFill>
                  <a:srgbClr val="4A4A4A"/>
                </a:solidFill>
                <a:highlight>
                  <a:srgbClr val="FFFFFF"/>
                </a:highlight>
                <a:latin typeface="Arial"/>
                <a:ea typeface="Arial"/>
                <a:cs typeface="Arial"/>
                <a:sym typeface="Arial"/>
              </a:rPr>
              <a:t>1. </a:t>
            </a:r>
            <a:r>
              <a:rPr b="1" lang="en-US" sz="1500">
                <a:solidFill>
                  <a:srgbClr val="4A4A4A"/>
                </a:solidFill>
                <a:highlight>
                  <a:srgbClr val="FFFFFF"/>
                </a:highlight>
                <a:latin typeface="Arial"/>
                <a:ea typeface="Arial"/>
                <a:cs typeface="Arial"/>
                <a:sym typeface="Arial"/>
              </a:rPr>
              <a:t>Divide</a:t>
            </a:r>
            <a:r>
              <a:rPr lang="en-US" sz="1500">
                <a:solidFill>
                  <a:srgbClr val="4A4A4A"/>
                </a:solidFill>
                <a:highlight>
                  <a:srgbClr val="FFFFFF"/>
                </a:highlight>
                <a:latin typeface="Arial"/>
                <a:ea typeface="Arial"/>
                <a:cs typeface="Arial"/>
                <a:sym typeface="Arial"/>
              </a:rPr>
              <a:t>: Breaking the problem into subproblems</a:t>
            </a:r>
            <a:endParaRPr sz="1500">
              <a:solidFill>
                <a:srgbClr val="4A4A4A"/>
              </a:solidFill>
              <a:highlight>
                <a:srgbClr val="FFFFFF"/>
              </a:highlight>
              <a:latin typeface="Arial"/>
              <a:ea typeface="Arial"/>
              <a:cs typeface="Arial"/>
              <a:sym typeface="Arial"/>
            </a:endParaRPr>
          </a:p>
          <a:p>
            <a:pPr indent="-323850" lvl="0" marL="457200" rtl="0" algn="l">
              <a:lnSpc>
                <a:spcPct val="100000"/>
              </a:lnSpc>
              <a:spcBef>
                <a:spcPts val="0"/>
              </a:spcBef>
              <a:spcAft>
                <a:spcPts val="0"/>
              </a:spcAft>
              <a:buClr>
                <a:srgbClr val="212529"/>
              </a:buClr>
              <a:buSzPts val="1500"/>
              <a:buFont typeface="Proxima Nova"/>
              <a:buChar char="•"/>
            </a:pPr>
            <a:r>
              <a:rPr lang="en-US" sz="1500">
                <a:solidFill>
                  <a:srgbClr val="212529"/>
                </a:solidFill>
                <a:latin typeface="Proxima Nova"/>
                <a:ea typeface="Proxima Nova"/>
                <a:cs typeface="Proxima Nova"/>
                <a:sym typeface="Proxima Nova"/>
              </a:rPr>
              <a:t>Compute Midpoint/mid index  (m) = (left + right)/ 2</a:t>
            </a:r>
            <a:endParaRPr sz="1500">
              <a:solidFill>
                <a:srgbClr val="212529"/>
              </a:solidFill>
              <a:latin typeface="Proxima Nova"/>
              <a:ea typeface="Proxima Nova"/>
              <a:cs typeface="Proxima Nova"/>
              <a:sym typeface="Proxima Nova"/>
            </a:endParaRPr>
          </a:p>
          <a:p>
            <a:pPr indent="-323850" lvl="0" marL="457200" rtl="0" algn="l">
              <a:lnSpc>
                <a:spcPct val="100000"/>
              </a:lnSpc>
              <a:spcBef>
                <a:spcPts val="0"/>
              </a:spcBef>
              <a:spcAft>
                <a:spcPts val="0"/>
              </a:spcAft>
              <a:buClr>
                <a:srgbClr val="212529"/>
              </a:buClr>
              <a:buSzPts val="1500"/>
              <a:buFont typeface="Proxima Nova"/>
              <a:buChar char="•"/>
            </a:pPr>
            <a:r>
              <a:rPr lang="en-US" sz="1500">
                <a:solidFill>
                  <a:srgbClr val="212529"/>
                </a:solidFill>
                <a:latin typeface="Proxima Nova"/>
                <a:ea typeface="Proxima Nova"/>
                <a:cs typeface="Proxima Nova"/>
                <a:sym typeface="Proxima Nova"/>
              </a:rPr>
              <a:t>Here left is the starting(low) index &amp; right is the last(high) index of the array(list)</a:t>
            </a:r>
            <a:endParaRPr sz="1500">
              <a:solidFill>
                <a:srgbClr val="4A4A4A"/>
              </a:solidFill>
              <a:latin typeface="Arial"/>
              <a:ea typeface="Arial"/>
              <a:cs typeface="Arial"/>
              <a:sym typeface="Arial"/>
            </a:endParaRPr>
          </a:p>
          <a:p>
            <a:pPr indent="0" lvl="0" marL="0" rtl="0" algn="just">
              <a:lnSpc>
                <a:spcPct val="100000"/>
              </a:lnSpc>
              <a:spcBef>
                <a:spcPts val="1000"/>
              </a:spcBef>
              <a:spcAft>
                <a:spcPts val="0"/>
              </a:spcAft>
              <a:buSzPts val="1018"/>
              <a:buNone/>
            </a:pPr>
            <a:r>
              <a:rPr lang="en-US" sz="1500">
                <a:solidFill>
                  <a:srgbClr val="4A4A4A"/>
                </a:solidFill>
                <a:highlight>
                  <a:srgbClr val="FFFFFF"/>
                </a:highlight>
                <a:latin typeface="Arial"/>
                <a:ea typeface="Arial"/>
                <a:cs typeface="Arial"/>
                <a:sym typeface="Arial"/>
              </a:rPr>
              <a:t>2. </a:t>
            </a:r>
            <a:r>
              <a:rPr b="1" lang="en-US" sz="1500">
                <a:solidFill>
                  <a:srgbClr val="4A4A4A"/>
                </a:solidFill>
                <a:highlight>
                  <a:srgbClr val="FFFFFF"/>
                </a:highlight>
                <a:latin typeface="Arial"/>
                <a:ea typeface="Arial"/>
                <a:cs typeface="Arial"/>
                <a:sym typeface="Arial"/>
              </a:rPr>
              <a:t>Conquer</a:t>
            </a:r>
            <a:r>
              <a:rPr lang="en-US" sz="1500">
                <a:solidFill>
                  <a:srgbClr val="4A4A4A"/>
                </a:solidFill>
                <a:highlight>
                  <a:srgbClr val="FFFFFF"/>
                </a:highlight>
                <a:latin typeface="Arial"/>
                <a:ea typeface="Arial"/>
                <a:cs typeface="Arial"/>
                <a:sym typeface="Arial"/>
              </a:rPr>
              <a:t>: Recursively solving the subproblems</a:t>
            </a:r>
            <a:endParaRPr sz="1500">
              <a:solidFill>
                <a:srgbClr val="4A4A4A"/>
              </a:solidFill>
              <a:highlight>
                <a:srgbClr val="FFFFFF"/>
              </a:highlight>
              <a:latin typeface="Arial"/>
              <a:ea typeface="Arial"/>
              <a:cs typeface="Arial"/>
              <a:sym typeface="Arial"/>
            </a:endParaRPr>
          </a:p>
          <a:p>
            <a:pPr indent="-323850" lvl="0" marL="457200" rtl="0" algn="l">
              <a:lnSpc>
                <a:spcPct val="100000"/>
              </a:lnSpc>
              <a:spcBef>
                <a:spcPts val="0"/>
              </a:spcBef>
              <a:spcAft>
                <a:spcPts val="0"/>
              </a:spcAft>
              <a:buClr>
                <a:srgbClr val="212529"/>
              </a:buClr>
              <a:buSzPts val="1500"/>
              <a:buFont typeface="Proxima Nova"/>
              <a:buChar char="•"/>
            </a:pPr>
            <a:r>
              <a:rPr lang="en-US" sz="1500">
                <a:solidFill>
                  <a:srgbClr val="212529"/>
                </a:solidFill>
                <a:latin typeface="Proxima Nova"/>
                <a:ea typeface="Proxima Nova"/>
                <a:cs typeface="Proxima Nova"/>
                <a:sym typeface="Proxima Nova"/>
              </a:rPr>
              <a:t>Call Merge Sort on the left sub-array (sub-list) starting from left to midpoint</a:t>
            </a:r>
            <a:endParaRPr sz="1500">
              <a:solidFill>
                <a:srgbClr val="212529"/>
              </a:solidFill>
              <a:latin typeface="Proxima Nova"/>
              <a:ea typeface="Proxima Nova"/>
              <a:cs typeface="Proxima Nova"/>
              <a:sym typeface="Proxima Nova"/>
            </a:endParaRPr>
          </a:p>
          <a:p>
            <a:pPr indent="-323850" lvl="0" marL="457200" rtl="0" algn="l">
              <a:lnSpc>
                <a:spcPct val="100000"/>
              </a:lnSpc>
              <a:spcBef>
                <a:spcPts val="0"/>
              </a:spcBef>
              <a:spcAft>
                <a:spcPts val="0"/>
              </a:spcAft>
              <a:buClr>
                <a:srgbClr val="212529"/>
              </a:buClr>
              <a:buSzPts val="1500"/>
              <a:buFont typeface="Proxima Nova"/>
              <a:buChar char="•"/>
            </a:pPr>
            <a:r>
              <a:rPr lang="en-US" sz="1500">
                <a:solidFill>
                  <a:srgbClr val="212529"/>
                </a:solidFill>
                <a:latin typeface="Proxima Nova"/>
                <a:ea typeface="Proxima Nova"/>
                <a:cs typeface="Proxima Nova"/>
                <a:sym typeface="Proxima Nova"/>
              </a:rPr>
              <a:t>Call Merge Sort on the right sub-array (sub-list) starting from midpoint+1 to high index</a:t>
            </a:r>
            <a:endParaRPr sz="1500">
              <a:solidFill>
                <a:srgbClr val="4A4A4A"/>
              </a:solidFill>
              <a:latin typeface="Arial"/>
              <a:ea typeface="Arial"/>
              <a:cs typeface="Arial"/>
              <a:sym typeface="Arial"/>
            </a:endParaRPr>
          </a:p>
          <a:p>
            <a:pPr indent="0" lvl="0" marL="0" rtl="0" algn="just">
              <a:lnSpc>
                <a:spcPct val="100000"/>
              </a:lnSpc>
              <a:spcBef>
                <a:spcPts val="1000"/>
              </a:spcBef>
              <a:spcAft>
                <a:spcPts val="0"/>
              </a:spcAft>
              <a:buSzPts val="1018"/>
              <a:buNone/>
            </a:pPr>
            <a:r>
              <a:rPr lang="en-US" sz="1500">
                <a:solidFill>
                  <a:srgbClr val="4A4A4A"/>
                </a:solidFill>
                <a:highlight>
                  <a:srgbClr val="FFFFFF"/>
                </a:highlight>
                <a:latin typeface="Arial"/>
                <a:ea typeface="Arial"/>
                <a:cs typeface="Arial"/>
                <a:sym typeface="Arial"/>
              </a:rPr>
              <a:t>3. </a:t>
            </a:r>
            <a:r>
              <a:rPr b="1" lang="en-US" sz="1500">
                <a:solidFill>
                  <a:srgbClr val="4A4A4A"/>
                </a:solidFill>
                <a:highlight>
                  <a:srgbClr val="FFFFFF"/>
                </a:highlight>
                <a:latin typeface="Arial"/>
                <a:ea typeface="Arial"/>
                <a:cs typeface="Arial"/>
                <a:sym typeface="Arial"/>
              </a:rPr>
              <a:t>Combine</a:t>
            </a:r>
            <a:r>
              <a:rPr lang="en-US" sz="1500">
                <a:solidFill>
                  <a:srgbClr val="4A4A4A"/>
                </a:solidFill>
                <a:highlight>
                  <a:srgbClr val="FFFFFF"/>
                </a:highlight>
                <a:latin typeface="Arial"/>
                <a:ea typeface="Arial"/>
                <a:cs typeface="Arial"/>
                <a:sym typeface="Arial"/>
              </a:rPr>
              <a:t>: Combining the solutions to get the final result. </a:t>
            </a:r>
            <a:endParaRPr sz="1500">
              <a:solidFill>
                <a:srgbClr val="4A4A4A"/>
              </a:solidFill>
              <a:highlight>
                <a:srgbClr val="FFFFFF"/>
              </a:highlight>
              <a:latin typeface="Arial"/>
              <a:ea typeface="Arial"/>
              <a:cs typeface="Arial"/>
              <a:sym typeface="Arial"/>
            </a:endParaRPr>
          </a:p>
          <a:p>
            <a:pPr indent="-323850" lvl="0" marL="457200" rtl="0" algn="just">
              <a:lnSpc>
                <a:spcPct val="100000"/>
              </a:lnSpc>
              <a:spcBef>
                <a:spcPts val="1000"/>
              </a:spcBef>
              <a:spcAft>
                <a:spcPts val="0"/>
              </a:spcAft>
              <a:buClr>
                <a:srgbClr val="212529"/>
              </a:buClr>
              <a:buSzPts val="1500"/>
              <a:buFont typeface="Proxima Nova"/>
              <a:buChar char="•"/>
            </a:pPr>
            <a:r>
              <a:rPr lang="en-US" sz="1500">
                <a:solidFill>
                  <a:srgbClr val="212529"/>
                </a:solidFill>
                <a:latin typeface="Proxima Nova"/>
                <a:ea typeface="Proxima Nova"/>
                <a:cs typeface="Proxima Nova"/>
                <a:sym typeface="Proxima Nova"/>
              </a:rPr>
              <a:t>Call merge function to merge the divided sub-arrays back to the original array.</a:t>
            </a:r>
            <a:endParaRPr sz="1500">
              <a:solidFill>
                <a:srgbClr val="212529"/>
              </a:solidFill>
              <a:latin typeface="Proxima Nova"/>
              <a:ea typeface="Proxima Nova"/>
              <a:cs typeface="Proxima Nova"/>
              <a:sym typeface="Proxima Nova"/>
            </a:endParaRPr>
          </a:p>
          <a:p>
            <a:pPr indent="-323850" lvl="0" marL="457200" rtl="0" algn="l">
              <a:lnSpc>
                <a:spcPct val="100000"/>
              </a:lnSpc>
              <a:spcBef>
                <a:spcPts val="0"/>
              </a:spcBef>
              <a:spcAft>
                <a:spcPts val="0"/>
              </a:spcAft>
              <a:buClr>
                <a:srgbClr val="212529"/>
              </a:buClr>
              <a:buSzPts val="1500"/>
              <a:buFont typeface="Proxima Nova"/>
              <a:buChar char="•"/>
            </a:pPr>
            <a:r>
              <a:rPr lang="en-US" sz="1500">
                <a:solidFill>
                  <a:srgbClr val="212529"/>
                </a:solidFill>
                <a:latin typeface="Proxima Nova"/>
                <a:ea typeface="Proxima Nova"/>
                <a:cs typeface="Proxima Nova"/>
                <a:sym typeface="Proxima Nova"/>
              </a:rPr>
              <a:t>Perform sorting of these smaller sub arrays before merging them back.</a:t>
            </a:r>
            <a:endParaRPr sz="1500">
              <a:solidFill>
                <a:srgbClr val="212529"/>
              </a:solidFill>
              <a:latin typeface="Proxima Nova"/>
              <a:ea typeface="Proxima Nova"/>
              <a:cs typeface="Proxima Nova"/>
              <a:sym typeface="Proxima Nova"/>
            </a:endParaRPr>
          </a:p>
        </p:txBody>
      </p:sp>
      <p:pic>
        <p:nvPicPr>
          <p:cNvPr id="530" name="Google Shape;530;g1a90e34fbfc_0_101"/>
          <p:cNvPicPr preferRelativeResize="0"/>
          <p:nvPr/>
        </p:nvPicPr>
        <p:blipFill rotWithShape="1">
          <a:blip r:embed="rId3">
            <a:alphaModFix/>
          </a:blip>
          <a:srcRect b="0" l="0" r="0" t="0"/>
          <a:stretch/>
        </p:blipFill>
        <p:spPr>
          <a:xfrm>
            <a:off x="7885050" y="723325"/>
            <a:ext cx="4215775" cy="31383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1a90e34fbfc_0_107"/>
          <p:cNvSpPr txBox="1"/>
          <p:nvPr>
            <p:ph type="title"/>
          </p:nvPr>
        </p:nvSpPr>
        <p:spPr>
          <a:xfrm>
            <a:off x="838200" y="-15875"/>
            <a:ext cx="10515600" cy="72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a:t>Merge Sort (next…)</a:t>
            </a:r>
            <a:endParaRPr b="1"/>
          </a:p>
        </p:txBody>
      </p:sp>
      <p:sp>
        <p:nvSpPr>
          <p:cNvPr id="536" name="Google Shape;536;g1a90e34fbfc_0_107"/>
          <p:cNvSpPr txBox="1"/>
          <p:nvPr>
            <p:ph idx="1" type="body"/>
          </p:nvPr>
        </p:nvSpPr>
        <p:spPr>
          <a:xfrm>
            <a:off x="222575" y="709525"/>
            <a:ext cx="11768400" cy="5981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SzPts val="1800"/>
              <a:buNone/>
            </a:pPr>
            <a:r>
              <a:rPr lang="en-US" sz="3900">
                <a:solidFill>
                  <a:srgbClr val="4A4A4A"/>
                </a:solidFill>
                <a:highlight>
                  <a:srgbClr val="FFFFFF"/>
                </a:highlight>
                <a:latin typeface="Arial"/>
                <a:ea typeface="Arial"/>
                <a:cs typeface="Arial"/>
                <a:sym typeface="Arial"/>
              </a:rPr>
              <a:t>In Merge sort, we divide the array recursively in two halves, until each sub-array contains a single element, and then we merge the sub-array in a way that it results into a sorted array. </a:t>
            </a:r>
            <a:endParaRPr sz="3900">
              <a:solidFill>
                <a:srgbClr val="4A4A4A"/>
              </a:solidFill>
              <a:highlight>
                <a:srgbClr val="FFFFFF"/>
              </a:highlight>
              <a:latin typeface="Arial"/>
              <a:ea typeface="Arial"/>
              <a:cs typeface="Arial"/>
              <a:sym typeface="Arial"/>
            </a:endParaRPr>
          </a:p>
          <a:p>
            <a:pPr indent="0" lvl="0" marL="0" rtl="0" algn="just">
              <a:lnSpc>
                <a:spcPct val="90000"/>
              </a:lnSpc>
              <a:spcBef>
                <a:spcPts val="1000"/>
              </a:spcBef>
              <a:spcAft>
                <a:spcPts val="0"/>
              </a:spcAft>
              <a:buSzPts val="1800"/>
              <a:buNone/>
            </a:pPr>
            <a:r>
              <a:t/>
            </a:r>
            <a:endParaRPr sz="3900">
              <a:solidFill>
                <a:srgbClr val="4A4A4A"/>
              </a:solidFill>
              <a:highlight>
                <a:srgbClr val="FFFFFF"/>
              </a:highlight>
              <a:latin typeface="Arial"/>
              <a:ea typeface="Arial"/>
              <a:cs typeface="Arial"/>
              <a:sym typeface="Arial"/>
            </a:endParaRPr>
          </a:p>
          <a:p>
            <a:pPr indent="0" lvl="0" marL="0" rtl="0" algn="just">
              <a:lnSpc>
                <a:spcPct val="90000"/>
              </a:lnSpc>
              <a:spcBef>
                <a:spcPts val="1000"/>
              </a:spcBef>
              <a:spcAft>
                <a:spcPts val="0"/>
              </a:spcAft>
              <a:buSzPts val="1800"/>
              <a:buNone/>
            </a:pPr>
            <a:r>
              <a:rPr lang="en-US" sz="3900">
                <a:solidFill>
                  <a:srgbClr val="4A4A4A"/>
                </a:solidFill>
                <a:highlight>
                  <a:srgbClr val="FFFFFF"/>
                </a:highlight>
                <a:latin typeface="Arial"/>
                <a:ea typeface="Arial"/>
                <a:cs typeface="Arial"/>
                <a:sym typeface="Arial"/>
              </a:rPr>
              <a:t>merge arrays function merges two sorted sub-arrays into one, wherein it assumes that array[l .. n] and arr[n+1 .. r] are sorted.</a:t>
            </a:r>
            <a:endParaRPr sz="55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1a90e34fbfc_0_203"/>
          <p:cNvSpPr txBox="1"/>
          <p:nvPr>
            <p:ph type="title"/>
          </p:nvPr>
        </p:nvSpPr>
        <p:spPr>
          <a:xfrm>
            <a:off x="157800" y="225400"/>
            <a:ext cx="10515600" cy="49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rPr b="1" lang="en-US"/>
              <a:t>Merge sort(next…)</a:t>
            </a:r>
            <a:endParaRPr b="1"/>
          </a:p>
        </p:txBody>
      </p:sp>
      <p:sp>
        <p:nvSpPr>
          <p:cNvPr id="542" name="Google Shape;542;g1a90e34fbfc_0_203"/>
          <p:cNvSpPr txBox="1"/>
          <p:nvPr>
            <p:ph idx="1" type="body"/>
          </p:nvPr>
        </p:nvSpPr>
        <p:spPr>
          <a:xfrm>
            <a:off x="222575" y="862475"/>
            <a:ext cx="11309400" cy="5939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Merge sort is  a very fast recursive sorting algorithm.  If we want to sort an empty array or with one element, the array is sorted. Then what about the recursive case. We must divide the array in two parts:</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lang="en-US"/>
              <a:t>Then call the merge sort on small arrays.</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lang="en-US"/>
              <a:t>After  recursive merge sort, the two arrays are sorted</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lang="en-US"/>
              <a:t>Then merge the two sorted arrays</a:t>
            </a:r>
            <a:endParaRPr/>
          </a:p>
        </p:txBody>
      </p:sp>
      <p:sp>
        <p:nvSpPr>
          <p:cNvPr id="543" name="Google Shape;543;g1a90e34fbfc_0_203"/>
          <p:cNvSpPr txBox="1"/>
          <p:nvPr/>
        </p:nvSpPr>
        <p:spPr>
          <a:xfrm>
            <a:off x="529225" y="2974250"/>
            <a:ext cx="83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start</a:t>
            </a:r>
            <a:r>
              <a:rPr b="1" i="0" lang="en-US" sz="1400" u="none" cap="none" strike="noStrike">
                <a:solidFill>
                  <a:srgbClr val="000000"/>
                </a:solidFill>
                <a:latin typeface="Calibri"/>
                <a:ea typeface="Calibri"/>
                <a:cs typeface="Calibri"/>
                <a:sym typeface="Calibri"/>
              </a:rPr>
              <a:t>(s)</a:t>
            </a:r>
            <a:endParaRPr b="1" i="0" sz="1400" u="none" cap="none" strike="noStrike">
              <a:solidFill>
                <a:srgbClr val="000000"/>
              </a:solidFill>
              <a:latin typeface="Calibri"/>
              <a:ea typeface="Calibri"/>
              <a:cs typeface="Calibri"/>
              <a:sym typeface="Calibri"/>
            </a:endParaRPr>
          </a:p>
        </p:txBody>
      </p:sp>
      <p:sp>
        <p:nvSpPr>
          <p:cNvPr id="544" name="Google Shape;544;g1a90e34fbfc_0_203"/>
          <p:cNvSpPr txBox="1"/>
          <p:nvPr/>
        </p:nvSpPr>
        <p:spPr>
          <a:xfrm>
            <a:off x="5253625" y="2974250"/>
            <a:ext cx="83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mid</a:t>
            </a:r>
            <a:r>
              <a:rPr b="1" i="0" lang="en-US" sz="1400" u="none" cap="none" strike="noStrike">
                <a:solidFill>
                  <a:srgbClr val="000000"/>
                </a:solidFill>
                <a:latin typeface="Calibri"/>
                <a:ea typeface="Calibri"/>
                <a:cs typeface="Calibri"/>
                <a:sym typeface="Calibri"/>
              </a:rPr>
              <a:t>(m)</a:t>
            </a:r>
            <a:endParaRPr b="1" i="0" sz="1400" u="none" cap="none" strike="noStrike">
              <a:solidFill>
                <a:srgbClr val="000000"/>
              </a:solidFill>
              <a:latin typeface="Calibri"/>
              <a:ea typeface="Calibri"/>
              <a:cs typeface="Calibri"/>
              <a:sym typeface="Calibri"/>
            </a:endParaRPr>
          </a:p>
        </p:txBody>
      </p:sp>
      <p:sp>
        <p:nvSpPr>
          <p:cNvPr id="545" name="Google Shape;545;g1a90e34fbfc_0_203"/>
          <p:cNvSpPr txBox="1"/>
          <p:nvPr/>
        </p:nvSpPr>
        <p:spPr>
          <a:xfrm>
            <a:off x="10206625" y="2974250"/>
            <a:ext cx="83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end</a:t>
            </a:r>
            <a:r>
              <a:rPr b="1" i="0" lang="en-US" sz="1400" u="none" cap="none" strike="noStrike">
                <a:solidFill>
                  <a:srgbClr val="000000"/>
                </a:solidFill>
                <a:latin typeface="Calibri"/>
                <a:ea typeface="Calibri"/>
                <a:cs typeface="Calibri"/>
                <a:sym typeface="Calibri"/>
              </a:rPr>
              <a:t>(s)</a:t>
            </a:r>
            <a:endParaRPr b="1" i="0" sz="1400" u="none" cap="none" strike="noStrike">
              <a:solidFill>
                <a:srgbClr val="000000"/>
              </a:solidFill>
              <a:latin typeface="Calibri"/>
              <a:ea typeface="Calibri"/>
              <a:cs typeface="Calibri"/>
              <a:sym typeface="Calibri"/>
            </a:endParaRPr>
          </a:p>
        </p:txBody>
      </p:sp>
      <p:sp>
        <p:nvSpPr>
          <p:cNvPr id="546" name="Google Shape;546;g1a90e34fbfc_0_203"/>
          <p:cNvSpPr txBox="1"/>
          <p:nvPr/>
        </p:nvSpPr>
        <p:spPr>
          <a:xfrm>
            <a:off x="4644025" y="2288450"/>
            <a:ext cx="83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arr</a:t>
            </a:r>
            <a:endParaRPr b="1" i="0" sz="1400" u="none" cap="none" strike="noStrike">
              <a:solidFill>
                <a:srgbClr val="000000"/>
              </a:solidFill>
              <a:latin typeface="Calibri"/>
              <a:ea typeface="Calibri"/>
              <a:cs typeface="Calibri"/>
              <a:sym typeface="Calibri"/>
            </a:endParaRPr>
          </a:p>
        </p:txBody>
      </p:sp>
      <p:graphicFrame>
        <p:nvGraphicFramePr>
          <p:cNvPr id="547" name="Google Shape;547;g1a90e34fbfc_0_203"/>
          <p:cNvGraphicFramePr/>
          <p:nvPr/>
        </p:nvGraphicFramePr>
        <p:xfrm>
          <a:off x="571500" y="4000500"/>
          <a:ext cx="3000000" cy="3000000"/>
        </p:xfrm>
        <a:graphic>
          <a:graphicData uri="http://schemas.openxmlformats.org/drawingml/2006/table">
            <a:tbl>
              <a:tblPr>
                <a:noFill/>
                <a:tableStyleId>{50B76520-13DC-4B26-A941-1D5C00A8A130}</a:tableStyleId>
              </a:tblPr>
              <a:tblGrid>
                <a:gridCol w="1714500"/>
                <a:gridCol w="1714500"/>
                <a:gridCol w="1714500"/>
              </a:tblGrid>
              <a:tr h="27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5</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4</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2</a:t>
                      </a:r>
                      <a:endParaRPr b="1" sz="1400" u="none" cap="none" strike="noStrike">
                        <a:solidFill>
                          <a:srgbClr val="FFFFFF"/>
                        </a:solidFill>
                      </a:endParaRPr>
                    </a:p>
                  </a:txBody>
                  <a:tcPr marT="91425" marB="91425" marR="91425" marL="91425">
                    <a:solidFill>
                      <a:srgbClr val="0000FF"/>
                    </a:solidFill>
                  </a:tcPr>
                </a:tc>
              </a:tr>
            </a:tbl>
          </a:graphicData>
        </a:graphic>
      </p:graphicFrame>
      <p:graphicFrame>
        <p:nvGraphicFramePr>
          <p:cNvPr id="548" name="Google Shape;548;g1a90e34fbfc_0_203"/>
          <p:cNvGraphicFramePr/>
          <p:nvPr/>
        </p:nvGraphicFramePr>
        <p:xfrm>
          <a:off x="571500" y="2628900"/>
          <a:ext cx="3000000" cy="3000000"/>
        </p:xfrm>
        <a:graphic>
          <a:graphicData uri="http://schemas.openxmlformats.org/drawingml/2006/table">
            <a:tbl>
              <a:tblPr>
                <a:noFill/>
                <a:tableStyleId>{50B76520-13DC-4B26-A941-1D5C00A8A130}</a:tableStyleId>
              </a:tblPr>
              <a:tblGrid>
                <a:gridCol w="1739900"/>
                <a:gridCol w="1739900"/>
                <a:gridCol w="1739900"/>
                <a:gridCol w="1739900"/>
                <a:gridCol w="1739900"/>
                <a:gridCol w="1739900"/>
              </a:tblGrid>
              <a:tr h="3962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5</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4</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2</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3</a:t>
                      </a:r>
                      <a:endParaRPr b="1" sz="1400" u="none" cap="none" strike="noStrike">
                        <a:solidFill>
                          <a:schemeClr val="dk1"/>
                        </a:solidFill>
                      </a:endParaRPr>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7</a:t>
                      </a:r>
                      <a:endParaRPr b="1" sz="1400" u="none" cap="none" strike="noStrike">
                        <a:solidFill>
                          <a:schemeClr val="dk1"/>
                        </a:solidFill>
                      </a:endParaRPr>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1</a:t>
                      </a:r>
                      <a:endParaRPr b="1" sz="1400" u="none" cap="none" strike="noStrike">
                        <a:solidFill>
                          <a:schemeClr val="dk1"/>
                        </a:solidFill>
                      </a:endParaRPr>
                    </a:p>
                  </a:txBody>
                  <a:tcPr marT="91425" marB="91425" marR="91425" marL="91425">
                    <a:solidFill>
                      <a:srgbClr val="D9EAD3"/>
                    </a:solidFill>
                  </a:tcPr>
                </a:tc>
              </a:tr>
            </a:tbl>
          </a:graphicData>
        </a:graphic>
      </p:graphicFrame>
      <p:graphicFrame>
        <p:nvGraphicFramePr>
          <p:cNvPr id="549" name="Google Shape;549;g1a90e34fbfc_0_203"/>
          <p:cNvGraphicFramePr/>
          <p:nvPr/>
        </p:nvGraphicFramePr>
        <p:xfrm>
          <a:off x="6088225" y="3965400"/>
          <a:ext cx="3000000" cy="3000000"/>
        </p:xfrm>
        <a:graphic>
          <a:graphicData uri="http://schemas.openxmlformats.org/drawingml/2006/table">
            <a:tbl>
              <a:tblPr>
                <a:noFill/>
                <a:tableStyleId>{50B76520-13DC-4B26-A941-1D5C00A8A130}</a:tableStyleId>
              </a:tblPr>
              <a:tblGrid>
                <a:gridCol w="1714500"/>
                <a:gridCol w="1714500"/>
                <a:gridCol w="1714500"/>
              </a:tblGrid>
              <a:tr h="27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3</a:t>
                      </a:r>
                      <a:endParaRPr b="1" sz="1400" u="none" cap="none" strike="noStrike">
                        <a:solidFill>
                          <a:schemeClr val="dk1"/>
                        </a:solidFill>
                      </a:endParaRPr>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7</a:t>
                      </a:r>
                      <a:endParaRPr b="1" sz="1400" u="none" cap="none" strike="noStrike">
                        <a:solidFill>
                          <a:schemeClr val="dk1"/>
                        </a:solidFill>
                      </a:endParaRPr>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1</a:t>
                      </a:r>
                      <a:endParaRPr b="1" sz="1400" u="none" cap="none" strike="noStrike">
                        <a:solidFill>
                          <a:schemeClr val="dk1"/>
                        </a:solidFill>
                      </a:endParaRPr>
                    </a:p>
                  </a:txBody>
                  <a:tcPr marT="91425" marB="91425" marR="91425" marL="91425">
                    <a:solidFill>
                      <a:srgbClr val="D9EAD3"/>
                    </a:solidFill>
                  </a:tcPr>
                </a:tc>
              </a:tr>
            </a:tbl>
          </a:graphicData>
        </a:graphic>
      </p:graphicFrame>
      <p:graphicFrame>
        <p:nvGraphicFramePr>
          <p:cNvPr id="550" name="Google Shape;550;g1a90e34fbfc_0_203"/>
          <p:cNvGraphicFramePr/>
          <p:nvPr/>
        </p:nvGraphicFramePr>
        <p:xfrm>
          <a:off x="495300" y="5295900"/>
          <a:ext cx="3000000" cy="3000000"/>
        </p:xfrm>
        <a:graphic>
          <a:graphicData uri="http://schemas.openxmlformats.org/drawingml/2006/table">
            <a:tbl>
              <a:tblPr>
                <a:noFill/>
                <a:tableStyleId>{50B76520-13DC-4B26-A941-1D5C00A8A130}</a:tableStyleId>
              </a:tblPr>
              <a:tblGrid>
                <a:gridCol w="1714500"/>
                <a:gridCol w="1714500"/>
                <a:gridCol w="1714500"/>
              </a:tblGrid>
              <a:tr h="27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2</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4</a:t>
                      </a:r>
                      <a:endParaRPr b="1" sz="1400" u="none" cap="none" strike="noStrike">
                        <a:solidFill>
                          <a:srgbClr val="FFFFFF"/>
                        </a:solidFill>
                      </a:endParaRPr>
                    </a:p>
                  </a:txBody>
                  <a:tcPr marT="91425" marB="91425" marR="91425" marL="91425">
                    <a:solidFill>
                      <a:srgbClr val="0000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rPr>
                        <a:t>5</a:t>
                      </a:r>
                      <a:endParaRPr b="1" sz="1400" u="none" cap="none" strike="noStrike">
                        <a:solidFill>
                          <a:srgbClr val="FFFFFF"/>
                        </a:solidFill>
                      </a:endParaRPr>
                    </a:p>
                  </a:txBody>
                  <a:tcPr marT="91425" marB="91425" marR="91425" marL="91425">
                    <a:solidFill>
                      <a:srgbClr val="0000FF"/>
                    </a:solidFill>
                  </a:tcPr>
                </a:tc>
              </a:tr>
            </a:tbl>
          </a:graphicData>
        </a:graphic>
      </p:graphicFrame>
      <p:graphicFrame>
        <p:nvGraphicFramePr>
          <p:cNvPr id="551" name="Google Shape;551;g1a90e34fbfc_0_203"/>
          <p:cNvGraphicFramePr/>
          <p:nvPr/>
        </p:nvGraphicFramePr>
        <p:xfrm>
          <a:off x="6012025" y="5260800"/>
          <a:ext cx="3000000" cy="3000000"/>
        </p:xfrm>
        <a:graphic>
          <a:graphicData uri="http://schemas.openxmlformats.org/drawingml/2006/table">
            <a:tbl>
              <a:tblPr>
                <a:noFill/>
                <a:tableStyleId>{50B76520-13DC-4B26-A941-1D5C00A8A130}</a:tableStyleId>
              </a:tblPr>
              <a:tblGrid>
                <a:gridCol w="1714500"/>
                <a:gridCol w="1714500"/>
                <a:gridCol w="1714500"/>
              </a:tblGrid>
              <a:tr h="27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1</a:t>
                      </a:r>
                      <a:endParaRPr b="1" sz="1400" u="none" cap="none" strike="noStrike">
                        <a:solidFill>
                          <a:schemeClr val="dk1"/>
                        </a:solidFill>
                      </a:endParaRPr>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3</a:t>
                      </a:r>
                      <a:endParaRPr b="1" sz="1400" u="none" cap="none" strike="noStrike">
                        <a:solidFill>
                          <a:schemeClr val="dk1"/>
                        </a:solidFill>
                      </a:endParaRPr>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7</a:t>
                      </a:r>
                      <a:endParaRPr b="1" sz="1400" u="none" cap="none" strike="noStrike">
                        <a:solidFill>
                          <a:schemeClr val="dk1"/>
                        </a:solidFill>
                      </a:endParaRPr>
                    </a:p>
                  </a:txBody>
                  <a:tcPr marT="91425" marB="91425" marR="91425" marL="91425">
                    <a:solidFill>
                      <a:srgbClr val="D9EAD3"/>
                    </a:solidFill>
                  </a:tcPr>
                </a:tc>
              </a:tr>
            </a:tbl>
          </a:graphicData>
        </a:graphic>
      </p:graphicFrame>
      <p:graphicFrame>
        <p:nvGraphicFramePr>
          <p:cNvPr id="552" name="Google Shape;552;g1a90e34fbfc_0_203"/>
          <p:cNvGraphicFramePr/>
          <p:nvPr/>
        </p:nvGraphicFramePr>
        <p:xfrm>
          <a:off x="723900" y="6286500"/>
          <a:ext cx="3000000" cy="3000000"/>
        </p:xfrm>
        <a:graphic>
          <a:graphicData uri="http://schemas.openxmlformats.org/drawingml/2006/table">
            <a:tbl>
              <a:tblPr>
                <a:noFill/>
                <a:tableStyleId>{50B76520-13DC-4B26-A941-1D5C00A8A130}</a:tableStyleId>
              </a:tblPr>
              <a:tblGrid>
                <a:gridCol w="1739900"/>
                <a:gridCol w="1739900"/>
                <a:gridCol w="1739900"/>
                <a:gridCol w="1739900"/>
                <a:gridCol w="1739900"/>
                <a:gridCol w="1739900"/>
              </a:tblGrid>
              <a:tr h="3962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1</a:t>
                      </a:r>
                      <a:endParaRPr b="1" sz="1400" u="none" cap="none" strike="noStrike">
                        <a:solidFill>
                          <a:schemeClr val="dk1"/>
                        </a:solidFill>
                      </a:endParaRPr>
                    </a:p>
                  </a:txBody>
                  <a:tcPr marT="91425" marB="91425" marR="91425" marL="91425">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2</a:t>
                      </a:r>
                      <a:endParaRPr b="1" sz="1400" u="none" cap="none" strike="noStrike">
                        <a:solidFill>
                          <a:schemeClr val="dk1"/>
                        </a:solidFill>
                      </a:endParaRPr>
                    </a:p>
                  </a:txBody>
                  <a:tcPr marT="91425" marB="91425" marR="91425" marL="91425">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3</a:t>
                      </a:r>
                      <a:endParaRPr b="1" sz="1400" u="none" cap="none" strike="noStrike">
                        <a:solidFill>
                          <a:schemeClr val="dk1"/>
                        </a:solidFill>
                      </a:endParaRPr>
                    </a:p>
                  </a:txBody>
                  <a:tcPr marT="91425" marB="91425" marR="91425" marL="91425">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4</a:t>
                      </a:r>
                      <a:endParaRPr b="1" sz="1400" u="none" cap="none" strike="noStrike">
                        <a:solidFill>
                          <a:schemeClr val="dk1"/>
                        </a:solidFill>
                      </a:endParaRPr>
                    </a:p>
                  </a:txBody>
                  <a:tcPr marT="91425" marB="91425" marR="91425" marL="91425">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5</a:t>
                      </a:r>
                      <a:endParaRPr b="1" sz="1400" u="none" cap="none" strike="noStrike">
                        <a:solidFill>
                          <a:schemeClr val="dk1"/>
                        </a:solidFill>
                      </a:endParaRPr>
                    </a:p>
                  </a:txBody>
                  <a:tcPr marT="91425" marB="91425" marR="91425" marL="91425">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rPr>
                        <a:t>7</a:t>
                      </a:r>
                      <a:endParaRPr b="1" sz="1400" u="none" cap="none" strike="noStrike">
                        <a:solidFill>
                          <a:schemeClr val="dk1"/>
                        </a:solidFill>
                      </a:endParaRPr>
                    </a:p>
                  </a:txBody>
                  <a:tcPr marT="91425" marB="91425" marR="91425" marL="91425">
                    <a:solidFill>
                      <a:srgbClr val="B7B7B7"/>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id="557" name="Google Shape;557;g1a90e34fbfc_0_187"/>
          <p:cNvPicPr preferRelativeResize="0"/>
          <p:nvPr/>
        </p:nvPicPr>
        <p:blipFill rotWithShape="1">
          <a:blip r:embed="rId3">
            <a:alphaModFix/>
          </a:blip>
          <a:srcRect b="0" l="0" r="0" t="0"/>
          <a:stretch/>
        </p:blipFill>
        <p:spPr>
          <a:xfrm>
            <a:off x="304800" y="152400"/>
            <a:ext cx="11532624" cy="65673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2a0255b3bb1_18_17"/>
          <p:cNvSpPr txBox="1"/>
          <p:nvPr>
            <p:ph type="title"/>
          </p:nvPr>
        </p:nvSpPr>
        <p:spPr>
          <a:xfrm>
            <a:off x="0" y="0"/>
            <a:ext cx="3041400" cy="730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t>Example 3</a:t>
            </a:r>
            <a:endParaRPr b="1"/>
          </a:p>
        </p:txBody>
      </p:sp>
      <p:pic>
        <p:nvPicPr>
          <p:cNvPr id="563" name="Google Shape;563;g2a0255b3bb1_18_17"/>
          <p:cNvPicPr preferRelativeResize="0"/>
          <p:nvPr/>
        </p:nvPicPr>
        <p:blipFill>
          <a:blip r:embed="rId3">
            <a:alphaModFix/>
          </a:blip>
          <a:stretch>
            <a:fillRect/>
          </a:stretch>
        </p:blipFill>
        <p:spPr>
          <a:xfrm>
            <a:off x="4256175" y="152400"/>
            <a:ext cx="7268675" cy="6553199"/>
          </a:xfrm>
          <a:prstGeom prst="rect">
            <a:avLst/>
          </a:prstGeom>
          <a:noFill/>
          <a:ln>
            <a:noFill/>
          </a:ln>
        </p:spPr>
      </p:pic>
      <p:sp>
        <p:nvSpPr>
          <p:cNvPr id="564" name="Google Shape;564;g2a0255b3bb1_18_17"/>
          <p:cNvSpPr txBox="1"/>
          <p:nvPr/>
        </p:nvSpPr>
        <p:spPr>
          <a:xfrm>
            <a:off x="189750" y="1745350"/>
            <a:ext cx="4135500" cy="253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rgbClr val="212529"/>
                </a:solidFill>
                <a:highlight>
                  <a:srgbClr val="FFFFFF"/>
                </a:highlight>
                <a:latin typeface="Roboto"/>
                <a:ea typeface="Roboto"/>
                <a:cs typeface="Roboto"/>
                <a:sym typeface="Roboto"/>
              </a:rPr>
              <a:t>Assume we have </a:t>
            </a:r>
            <a:r>
              <a:rPr lang="en-US" sz="2000">
                <a:solidFill>
                  <a:srgbClr val="212529"/>
                </a:solidFill>
                <a:highlight>
                  <a:srgbClr val="FFFFFF"/>
                </a:highlight>
                <a:latin typeface="Roboto"/>
                <a:ea typeface="Roboto"/>
                <a:cs typeface="Roboto"/>
                <a:sym typeface="Roboto"/>
              </a:rPr>
              <a:t> an array with values </a:t>
            </a:r>
            <a:endParaRPr sz="20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US" sz="1800">
                <a:solidFill>
                  <a:srgbClr val="D63384"/>
                </a:solidFill>
                <a:highlight>
                  <a:srgbClr val="FFFFFF"/>
                </a:highlight>
                <a:latin typeface="Roboto Mono"/>
                <a:ea typeface="Roboto Mono"/>
                <a:cs typeface="Roboto Mono"/>
                <a:sym typeface="Roboto Mono"/>
              </a:rPr>
              <a:t>{14, 7, 3, 12, 9, 11, 6, 12}</a:t>
            </a:r>
            <a:endParaRPr sz="1800">
              <a:solidFill>
                <a:srgbClr val="D63384"/>
              </a:solidFill>
              <a:highlight>
                <a:srgbClr val="FFFFFF"/>
              </a:highlight>
              <a:latin typeface="Roboto Mono"/>
              <a:ea typeface="Roboto Mono"/>
              <a:cs typeface="Roboto Mono"/>
              <a:sym typeface="Roboto Mono"/>
            </a:endParaRPr>
          </a:p>
          <a:p>
            <a:pPr indent="0" lvl="0" marL="0" rtl="0" algn="l">
              <a:lnSpc>
                <a:spcPct val="115000"/>
              </a:lnSpc>
              <a:spcBef>
                <a:spcPts val="1200"/>
              </a:spcBef>
              <a:spcAft>
                <a:spcPts val="1200"/>
              </a:spcAft>
              <a:buNone/>
            </a:pPr>
            <a:r>
              <a:rPr lang="en-US" sz="2000">
                <a:solidFill>
                  <a:srgbClr val="212529"/>
                </a:solidFill>
                <a:highlight>
                  <a:srgbClr val="FFFFFF"/>
                </a:highlight>
                <a:latin typeface="Roboto"/>
                <a:ea typeface="Roboto"/>
                <a:cs typeface="Roboto"/>
                <a:sym typeface="Roboto"/>
              </a:rPr>
              <a:t> Observe the visual representation of how merge sort will sort the given array.</a:t>
            </a:r>
            <a:endParaRPr sz="2000">
              <a:solidFill>
                <a:srgbClr val="212529"/>
              </a:solidFill>
              <a:highlight>
                <a:srgbClr val="FFFFFF"/>
              </a:highlight>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1a90e34fbfc_0_293"/>
          <p:cNvSpPr txBox="1"/>
          <p:nvPr>
            <p:ph type="title"/>
          </p:nvPr>
        </p:nvSpPr>
        <p:spPr>
          <a:xfrm>
            <a:off x="393050" y="0"/>
            <a:ext cx="3688200" cy="552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rPr lang="en-US"/>
              <a:t>Merge Arrays</a:t>
            </a:r>
            <a:endParaRPr/>
          </a:p>
        </p:txBody>
      </p:sp>
      <p:sp>
        <p:nvSpPr>
          <p:cNvPr id="570" name="Google Shape;570;g1a90e34fbfc_0_293"/>
          <p:cNvSpPr txBox="1"/>
          <p:nvPr>
            <p:ph idx="1" type="body"/>
          </p:nvPr>
        </p:nvSpPr>
        <p:spPr>
          <a:xfrm>
            <a:off x="198300" y="591600"/>
            <a:ext cx="5282400" cy="6044400"/>
          </a:xfrm>
          <a:prstGeom prst="rect">
            <a:avLst/>
          </a:prstGeom>
          <a:solidFill>
            <a:srgbClr val="B6D7A8"/>
          </a:solidFill>
          <a:ln cap="flat" cmpd="sng" w="9525">
            <a:solidFill>
              <a:srgbClr val="000000"/>
            </a:solidFill>
            <a:prstDash val="dashDot"/>
            <a:round/>
            <a:headEnd len="sm" w="sm" type="none"/>
            <a:tailEnd len="sm" w="sm" type="none"/>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SzPct val="102857"/>
              <a:buNone/>
            </a:pPr>
            <a:r>
              <a:rPr lang="en-US"/>
              <a:t>void mergeArrays(int x[],int y[],int a[],int s,int e){</a:t>
            </a:r>
            <a:endParaRPr/>
          </a:p>
          <a:p>
            <a:pPr indent="0" lvl="0" marL="0" rtl="0" algn="l">
              <a:lnSpc>
                <a:spcPct val="90000"/>
              </a:lnSpc>
              <a:spcBef>
                <a:spcPts val="0"/>
              </a:spcBef>
              <a:spcAft>
                <a:spcPts val="0"/>
              </a:spcAft>
              <a:buSzPct val="102857"/>
              <a:buNone/>
            </a:pPr>
            <a:r>
              <a:rPr lang="en-US"/>
              <a:t>       int mid = (s+e)/2;</a:t>
            </a:r>
            <a:endParaRPr/>
          </a:p>
          <a:p>
            <a:pPr indent="0" lvl="0" marL="0" rtl="0" algn="l">
              <a:lnSpc>
                <a:spcPct val="90000"/>
              </a:lnSpc>
              <a:spcBef>
                <a:spcPts val="0"/>
              </a:spcBef>
              <a:spcAft>
                <a:spcPts val="0"/>
              </a:spcAft>
              <a:buSzPct val="102857"/>
              <a:buNone/>
            </a:pPr>
            <a:r>
              <a:rPr lang="en-US"/>
              <a:t>       int i=s;</a:t>
            </a:r>
            <a:endParaRPr/>
          </a:p>
          <a:p>
            <a:pPr indent="0" lvl="0" marL="0" rtl="0" algn="l">
              <a:lnSpc>
                <a:spcPct val="90000"/>
              </a:lnSpc>
              <a:spcBef>
                <a:spcPts val="0"/>
              </a:spcBef>
              <a:spcAft>
                <a:spcPts val="0"/>
              </a:spcAft>
              <a:buSzPct val="102857"/>
              <a:buNone/>
            </a:pPr>
            <a:r>
              <a:rPr lang="en-US"/>
              <a:t>       int j = mid+1;</a:t>
            </a:r>
            <a:endParaRPr/>
          </a:p>
          <a:p>
            <a:pPr indent="0" lvl="0" marL="0" rtl="0" algn="l">
              <a:lnSpc>
                <a:spcPct val="90000"/>
              </a:lnSpc>
              <a:spcBef>
                <a:spcPts val="0"/>
              </a:spcBef>
              <a:spcAft>
                <a:spcPts val="0"/>
              </a:spcAft>
              <a:buSzPct val="102857"/>
              <a:buNone/>
            </a:pPr>
            <a:r>
              <a:rPr lang="en-US"/>
              <a:t>       int k = s;</a:t>
            </a:r>
            <a:endParaRPr/>
          </a:p>
          <a:p>
            <a:pPr indent="0" lvl="0" marL="0" rtl="0" algn="l">
              <a:lnSpc>
                <a:spcPct val="90000"/>
              </a:lnSpc>
              <a:spcBef>
                <a:spcPts val="0"/>
              </a:spcBef>
              <a:spcAft>
                <a:spcPts val="0"/>
              </a:spcAft>
              <a:buSzPct val="102857"/>
              <a:buNone/>
            </a:pPr>
            <a:r>
              <a:rPr lang="en-US"/>
              <a:t>       while(i&lt;=mid &amp;&amp; j&lt;=e){</a:t>
            </a:r>
            <a:endParaRPr/>
          </a:p>
          <a:p>
            <a:pPr indent="0" lvl="0" marL="0" rtl="0" algn="l">
              <a:lnSpc>
                <a:spcPct val="90000"/>
              </a:lnSpc>
              <a:spcBef>
                <a:spcPts val="0"/>
              </a:spcBef>
              <a:spcAft>
                <a:spcPts val="0"/>
              </a:spcAft>
              <a:buSzPct val="102857"/>
              <a:buNone/>
            </a:pPr>
            <a:r>
              <a:rPr b="1" i="1" lang="en-US"/>
              <a:t>//We need to do the  Comparison</a:t>
            </a:r>
            <a:endParaRPr b="1" i="1"/>
          </a:p>
          <a:p>
            <a:pPr indent="0" lvl="0" marL="0" rtl="0" algn="l">
              <a:lnSpc>
                <a:spcPct val="90000"/>
              </a:lnSpc>
              <a:spcBef>
                <a:spcPts val="0"/>
              </a:spcBef>
              <a:spcAft>
                <a:spcPts val="0"/>
              </a:spcAft>
              <a:buSzPct val="102857"/>
              <a:buNone/>
            </a:pPr>
            <a:r>
              <a:rPr lang="en-US"/>
              <a:t>           if(x[i] &lt; y[j]){</a:t>
            </a:r>
            <a:endParaRPr/>
          </a:p>
          <a:p>
            <a:pPr indent="0" lvl="0" marL="0" rtl="0" algn="l">
              <a:lnSpc>
                <a:spcPct val="90000"/>
              </a:lnSpc>
              <a:spcBef>
                <a:spcPts val="0"/>
              </a:spcBef>
              <a:spcAft>
                <a:spcPts val="0"/>
              </a:spcAft>
              <a:buSzPct val="102857"/>
              <a:buNone/>
            </a:pPr>
            <a:r>
              <a:rPr lang="en-US"/>
              <a:t>            a[k] = x[i];</a:t>
            </a:r>
            <a:endParaRPr/>
          </a:p>
          <a:p>
            <a:pPr indent="0" lvl="0" marL="0" rtl="0" algn="l">
              <a:lnSpc>
                <a:spcPct val="90000"/>
              </a:lnSpc>
              <a:spcBef>
                <a:spcPts val="0"/>
              </a:spcBef>
              <a:spcAft>
                <a:spcPts val="0"/>
              </a:spcAft>
              <a:buSzPct val="102857"/>
              <a:buNone/>
            </a:pPr>
            <a:r>
              <a:rPr lang="en-US"/>
              <a:t>            i++;</a:t>
            </a:r>
            <a:endParaRPr/>
          </a:p>
          <a:p>
            <a:pPr indent="0" lvl="0" marL="0" rtl="0" algn="l">
              <a:lnSpc>
                <a:spcPct val="90000"/>
              </a:lnSpc>
              <a:spcBef>
                <a:spcPts val="0"/>
              </a:spcBef>
              <a:spcAft>
                <a:spcPts val="0"/>
              </a:spcAft>
              <a:buSzPct val="102857"/>
              <a:buNone/>
            </a:pPr>
            <a:r>
              <a:rPr lang="en-US"/>
              <a:t>            k++;</a:t>
            </a:r>
            <a:endParaRPr/>
          </a:p>
          <a:p>
            <a:pPr indent="0" lvl="0" marL="0" rtl="0" algn="l">
              <a:lnSpc>
                <a:spcPct val="90000"/>
              </a:lnSpc>
              <a:spcBef>
                <a:spcPts val="0"/>
              </a:spcBef>
              <a:spcAft>
                <a:spcPts val="0"/>
              </a:spcAft>
              <a:buSzPct val="102857"/>
              <a:buNone/>
            </a:pPr>
            <a:r>
              <a:rPr lang="en-US"/>
              <a:t>           }else{</a:t>
            </a:r>
            <a:endParaRPr/>
          </a:p>
          <a:p>
            <a:pPr indent="0" lvl="0" marL="0" rtl="0" algn="l">
              <a:lnSpc>
                <a:spcPct val="90000"/>
              </a:lnSpc>
              <a:spcBef>
                <a:spcPts val="0"/>
              </a:spcBef>
              <a:spcAft>
                <a:spcPts val="0"/>
              </a:spcAft>
              <a:buSzPct val="102857"/>
              <a:buNone/>
            </a:pPr>
            <a:r>
              <a:rPr lang="en-US"/>
              <a:t>             a[k] = y[j];</a:t>
            </a:r>
            <a:endParaRPr/>
          </a:p>
          <a:p>
            <a:pPr indent="0" lvl="0" marL="0" rtl="0" algn="l">
              <a:lnSpc>
                <a:spcPct val="90000"/>
              </a:lnSpc>
              <a:spcBef>
                <a:spcPts val="0"/>
              </a:spcBef>
              <a:spcAft>
                <a:spcPts val="0"/>
              </a:spcAft>
              <a:buSzPct val="102857"/>
              <a:buNone/>
            </a:pPr>
            <a:r>
              <a:rPr lang="en-US"/>
              <a:t>             j++;</a:t>
            </a:r>
            <a:endParaRPr/>
          </a:p>
          <a:p>
            <a:pPr indent="0" lvl="0" marL="0" rtl="0" algn="l">
              <a:lnSpc>
                <a:spcPct val="90000"/>
              </a:lnSpc>
              <a:spcBef>
                <a:spcPts val="0"/>
              </a:spcBef>
              <a:spcAft>
                <a:spcPts val="0"/>
              </a:spcAft>
              <a:buSzPct val="102857"/>
              <a:buNone/>
            </a:pPr>
            <a:r>
              <a:rPr lang="en-US"/>
              <a:t>             k++;</a:t>
            </a:r>
            <a:endParaRPr/>
          </a:p>
          <a:p>
            <a:pPr indent="0" lvl="0" marL="0" rtl="0" algn="l">
              <a:lnSpc>
                <a:spcPct val="90000"/>
              </a:lnSpc>
              <a:spcBef>
                <a:spcPts val="0"/>
              </a:spcBef>
              <a:spcAft>
                <a:spcPts val="0"/>
              </a:spcAft>
              <a:buSzPct val="102857"/>
              <a:buNone/>
            </a:pPr>
            <a:r>
              <a:rPr lang="en-US"/>
              <a:t>           }</a:t>
            </a:r>
            <a:endParaRPr/>
          </a:p>
          <a:p>
            <a:pPr indent="0" lvl="0" marL="0" rtl="0" algn="l">
              <a:lnSpc>
                <a:spcPct val="90000"/>
              </a:lnSpc>
              <a:spcBef>
                <a:spcPts val="0"/>
              </a:spcBef>
              <a:spcAft>
                <a:spcPts val="0"/>
              </a:spcAft>
              <a:buSzPct val="102857"/>
              <a:buNone/>
            </a:pPr>
            <a:r>
              <a:rPr lang="en-US"/>
              <a:t>       }</a:t>
            </a:r>
            <a:endParaRPr/>
          </a:p>
          <a:p>
            <a:pPr indent="0" lvl="0" marL="0" rtl="0" algn="l">
              <a:lnSpc>
                <a:spcPct val="90000"/>
              </a:lnSpc>
              <a:spcBef>
                <a:spcPts val="0"/>
              </a:spcBef>
              <a:spcAft>
                <a:spcPts val="0"/>
              </a:spcAft>
              <a:buSzPct val="102857"/>
              <a:buNone/>
            </a:pPr>
            <a:r>
              <a:rPr lang="en-US"/>
              <a:t>//Copy Rest of Elements</a:t>
            </a:r>
            <a:endParaRPr/>
          </a:p>
          <a:p>
            <a:pPr indent="0" lvl="0" marL="0" rtl="0" algn="l">
              <a:lnSpc>
                <a:spcPct val="90000"/>
              </a:lnSpc>
              <a:spcBef>
                <a:spcPts val="0"/>
              </a:spcBef>
              <a:spcAft>
                <a:spcPts val="0"/>
              </a:spcAft>
              <a:buSzPct val="102857"/>
              <a:buNone/>
            </a:pPr>
            <a:r>
              <a:rPr lang="en-US"/>
              <a:t>       while(i&lt;=mid){</a:t>
            </a:r>
            <a:endParaRPr/>
          </a:p>
          <a:p>
            <a:pPr indent="0" lvl="0" marL="0" rtl="0" algn="l">
              <a:lnSpc>
                <a:spcPct val="90000"/>
              </a:lnSpc>
              <a:spcBef>
                <a:spcPts val="0"/>
              </a:spcBef>
              <a:spcAft>
                <a:spcPts val="0"/>
              </a:spcAft>
              <a:buSzPct val="102857"/>
              <a:buNone/>
            </a:pPr>
            <a:r>
              <a:rPr lang="en-US"/>
              <a:t>        a[k] = x[i];</a:t>
            </a:r>
            <a:endParaRPr/>
          </a:p>
          <a:p>
            <a:pPr indent="0" lvl="0" marL="0" rtl="0" algn="l">
              <a:lnSpc>
                <a:spcPct val="90000"/>
              </a:lnSpc>
              <a:spcBef>
                <a:spcPts val="0"/>
              </a:spcBef>
              <a:spcAft>
                <a:spcPts val="0"/>
              </a:spcAft>
              <a:buSzPct val="102857"/>
              <a:buNone/>
            </a:pPr>
            <a:r>
              <a:rPr lang="en-US"/>
              <a:t>        k++;</a:t>
            </a:r>
            <a:endParaRPr/>
          </a:p>
          <a:p>
            <a:pPr indent="0" lvl="0" marL="0" rtl="0" algn="l">
              <a:lnSpc>
                <a:spcPct val="90000"/>
              </a:lnSpc>
              <a:spcBef>
                <a:spcPts val="0"/>
              </a:spcBef>
              <a:spcAft>
                <a:spcPts val="0"/>
              </a:spcAft>
              <a:buSzPct val="102857"/>
              <a:buNone/>
            </a:pPr>
            <a:r>
              <a:rPr lang="en-US"/>
              <a:t>        i++;</a:t>
            </a:r>
            <a:endParaRPr/>
          </a:p>
          <a:p>
            <a:pPr indent="0" lvl="0" marL="0" rtl="0" algn="l">
              <a:lnSpc>
                <a:spcPct val="90000"/>
              </a:lnSpc>
              <a:spcBef>
                <a:spcPts val="0"/>
              </a:spcBef>
              <a:spcAft>
                <a:spcPts val="0"/>
              </a:spcAft>
              <a:buSzPct val="102857"/>
              <a:buNone/>
            </a:pPr>
            <a:r>
              <a:rPr lang="en-US"/>
              <a:t>       }</a:t>
            </a:r>
            <a:endParaRPr/>
          </a:p>
          <a:p>
            <a:pPr indent="0" lvl="0" marL="0" rtl="0" algn="l">
              <a:lnSpc>
                <a:spcPct val="90000"/>
              </a:lnSpc>
              <a:spcBef>
                <a:spcPts val="0"/>
              </a:spcBef>
              <a:spcAft>
                <a:spcPts val="0"/>
              </a:spcAft>
              <a:buSzPct val="102857"/>
              <a:buNone/>
            </a:pPr>
            <a:r>
              <a:rPr lang="en-US"/>
              <a:t>       while(j&lt;=e){</a:t>
            </a:r>
            <a:endParaRPr/>
          </a:p>
          <a:p>
            <a:pPr indent="0" lvl="0" marL="0" rtl="0" algn="l">
              <a:lnSpc>
                <a:spcPct val="90000"/>
              </a:lnSpc>
              <a:spcBef>
                <a:spcPts val="0"/>
              </a:spcBef>
              <a:spcAft>
                <a:spcPts val="0"/>
              </a:spcAft>
              <a:buSzPct val="102857"/>
              <a:buNone/>
            </a:pPr>
            <a:r>
              <a:rPr lang="en-US"/>
              <a:t>        a[k] = y[j];</a:t>
            </a:r>
            <a:endParaRPr/>
          </a:p>
          <a:p>
            <a:pPr indent="0" lvl="0" marL="0" rtl="0" algn="l">
              <a:lnSpc>
                <a:spcPct val="90000"/>
              </a:lnSpc>
              <a:spcBef>
                <a:spcPts val="0"/>
              </a:spcBef>
              <a:spcAft>
                <a:spcPts val="0"/>
              </a:spcAft>
              <a:buSzPct val="102857"/>
              <a:buNone/>
            </a:pPr>
            <a:r>
              <a:rPr lang="en-US"/>
              <a:t>        k++;</a:t>
            </a:r>
            <a:endParaRPr/>
          </a:p>
          <a:p>
            <a:pPr indent="0" lvl="0" marL="0" rtl="0" algn="l">
              <a:lnSpc>
                <a:spcPct val="90000"/>
              </a:lnSpc>
              <a:spcBef>
                <a:spcPts val="0"/>
              </a:spcBef>
              <a:spcAft>
                <a:spcPts val="0"/>
              </a:spcAft>
              <a:buSzPct val="102857"/>
              <a:buNone/>
            </a:pPr>
            <a:r>
              <a:rPr lang="en-US"/>
              <a:t>        j++;</a:t>
            </a:r>
            <a:endParaRPr/>
          </a:p>
          <a:p>
            <a:pPr indent="0" lvl="0" marL="0" rtl="0" algn="l">
              <a:lnSpc>
                <a:spcPct val="90000"/>
              </a:lnSpc>
              <a:spcBef>
                <a:spcPts val="0"/>
              </a:spcBef>
              <a:spcAft>
                <a:spcPts val="0"/>
              </a:spcAft>
              <a:buSzPct val="102857"/>
              <a:buNone/>
            </a:pPr>
            <a:r>
              <a:rPr lang="en-US"/>
              <a:t>       }</a:t>
            </a:r>
            <a:endParaRPr/>
          </a:p>
          <a:p>
            <a:pPr indent="0" lvl="0" marL="0" rtl="0" algn="l">
              <a:lnSpc>
                <a:spcPct val="90000"/>
              </a:lnSpc>
              <a:spcBef>
                <a:spcPts val="0"/>
              </a:spcBef>
              <a:spcAft>
                <a:spcPts val="0"/>
              </a:spcAft>
              <a:buSzPct val="102857"/>
              <a:buNone/>
            </a:pPr>
            <a:r>
              <a:rPr lang="en-US"/>
              <a:t>}</a:t>
            </a:r>
            <a:endParaRPr/>
          </a:p>
        </p:txBody>
      </p:sp>
      <p:sp>
        <p:nvSpPr>
          <p:cNvPr id="571" name="Google Shape;571;g1a90e34fbfc_0_293"/>
          <p:cNvSpPr txBox="1"/>
          <p:nvPr/>
        </p:nvSpPr>
        <p:spPr>
          <a:xfrm>
            <a:off x="5578200" y="304800"/>
            <a:ext cx="3909000" cy="4863900"/>
          </a:xfrm>
          <a:prstGeom prst="rect">
            <a:avLst/>
          </a:prstGeom>
          <a:solidFill>
            <a:srgbClr val="B6D7A8"/>
          </a:solid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void mergeSort(int a[],int s,int e){</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if(s&gt;=e){</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return;</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int mid = (s+e)/2;</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int x[100],y[100];</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for(int i=s;i&lt;=mid;i++){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x[i] = a[i];</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for(int i=mid+1;i&lt;=e;i++){</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y[i] = a[i];</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mergeSort(x,s,mid);</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mergeSort(y,mid+1,e);</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mergeArrays(x,y,a,s,e);</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a:t>
            </a:r>
            <a:endParaRPr b="0" i="0" sz="1900" u="none" cap="none" strike="noStrike">
              <a:solidFill>
                <a:srgbClr val="000000"/>
              </a:solidFill>
              <a:latin typeface="Arial"/>
              <a:ea typeface="Arial"/>
              <a:cs typeface="Arial"/>
              <a:sym typeface="Arial"/>
            </a:endParaRPr>
          </a:p>
        </p:txBody>
      </p:sp>
      <p:sp>
        <p:nvSpPr>
          <p:cNvPr id="572" name="Google Shape;572;g1a90e34fbfc_0_293"/>
          <p:cNvSpPr txBox="1"/>
          <p:nvPr/>
        </p:nvSpPr>
        <p:spPr>
          <a:xfrm>
            <a:off x="2739175" y="2142250"/>
            <a:ext cx="2726400" cy="2077800"/>
          </a:xfrm>
          <a:prstGeom prst="rect">
            <a:avLst/>
          </a:prstGeom>
          <a:solidFill>
            <a:srgbClr val="0000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1" lang="en-US" sz="2700" u="none" cap="none" strike="noStrike">
                <a:solidFill>
                  <a:srgbClr val="FF9900"/>
                </a:solidFill>
                <a:latin typeface="Calibri"/>
                <a:ea typeface="Calibri"/>
                <a:cs typeface="Calibri"/>
                <a:sym typeface="Calibri"/>
              </a:rPr>
              <a:t>Note:</a:t>
            </a:r>
            <a:endParaRPr b="1" i="1" sz="2700" u="none" cap="none" strike="noStrike">
              <a:solidFill>
                <a:srgbClr val="FF99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x: Sorted Array</a:t>
            </a:r>
            <a:endParaRPr b="1" i="0" sz="16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y: Sorted Array</a:t>
            </a:r>
            <a:endParaRPr b="1" i="0" sz="16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a: Array to be sorted</a:t>
            </a:r>
            <a:endParaRPr b="1" i="0" sz="16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s: Starting index</a:t>
            </a:r>
            <a:endParaRPr b="1" i="0" sz="16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mid: Middle Index</a:t>
            </a:r>
            <a:endParaRPr b="1" i="0" sz="16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e: End Index</a:t>
            </a:r>
            <a:endParaRPr b="1" i="0" sz="1600" u="none" cap="none" strike="noStrike">
              <a:solidFill>
                <a:srgbClr val="FFFFFF"/>
              </a:solidFill>
              <a:latin typeface="Calibri"/>
              <a:ea typeface="Calibri"/>
              <a:cs typeface="Calibri"/>
              <a:sym typeface="Calibri"/>
            </a:endParaRPr>
          </a:p>
        </p:txBody>
      </p:sp>
      <p:sp>
        <p:nvSpPr>
          <p:cNvPr id="573" name="Google Shape;573;g1a90e34fbfc_0_293"/>
          <p:cNvSpPr txBox="1"/>
          <p:nvPr/>
        </p:nvSpPr>
        <p:spPr>
          <a:xfrm>
            <a:off x="8868875" y="4548200"/>
            <a:ext cx="3366300" cy="22779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int main(){</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int a[] = {7,3,10,5,6,2,-5};</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mergeSort(a,0,6);</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for(int i=0;i&lt;7;i++){</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cout&lt;&lt;a[i]&lt;&lt;"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return 0;</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574" name="Google Shape;574;g1a90e34fbfc_0_293"/>
          <p:cNvSpPr txBox="1"/>
          <p:nvPr>
            <p:ph type="title"/>
          </p:nvPr>
        </p:nvSpPr>
        <p:spPr>
          <a:xfrm>
            <a:off x="9659725" y="266225"/>
            <a:ext cx="1447800" cy="919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3559"/>
              <a:t>Sort</a:t>
            </a:r>
            <a:endParaRPr sz="3559"/>
          </a:p>
          <a:p>
            <a:pPr indent="0" lvl="0" marL="0" rtl="0" algn="l">
              <a:lnSpc>
                <a:spcPct val="90000"/>
              </a:lnSpc>
              <a:spcBef>
                <a:spcPts val="0"/>
              </a:spcBef>
              <a:spcAft>
                <a:spcPts val="0"/>
              </a:spcAft>
              <a:buSzPts val="1800"/>
              <a:buNone/>
            </a:pPr>
            <a:r>
              <a:rPr lang="en-US" sz="3559"/>
              <a:t> Array</a:t>
            </a:r>
            <a:endParaRPr sz="3559"/>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g1a90e34fbfc_0_193"/>
          <p:cNvPicPr preferRelativeResize="0"/>
          <p:nvPr/>
        </p:nvPicPr>
        <p:blipFill rotWithShape="1">
          <a:blip r:embed="rId3">
            <a:alphaModFix/>
          </a:blip>
          <a:srcRect b="0" l="0" r="0" t="0"/>
          <a:stretch/>
        </p:blipFill>
        <p:spPr>
          <a:xfrm>
            <a:off x="486250" y="266350"/>
            <a:ext cx="11262976" cy="647974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1a90e34fbfc_0_382"/>
          <p:cNvSpPr txBox="1"/>
          <p:nvPr>
            <p:ph type="title"/>
          </p:nvPr>
        </p:nvSpPr>
        <p:spPr>
          <a:xfrm>
            <a:off x="194750" y="170375"/>
            <a:ext cx="6301500" cy="636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990"/>
              <a:buNone/>
            </a:pPr>
            <a:r>
              <a:rPr b="1" lang="en-US" sz="3160">
                <a:solidFill>
                  <a:srgbClr val="FF9900"/>
                </a:solidFill>
              </a:rPr>
              <a:t>Another option with pointers</a:t>
            </a:r>
            <a:endParaRPr b="1" sz="3160">
              <a:solidFill>
                <a:srgbClr val="FF9900"/>
              </a:solidFill>
            </a:endParaRPr>
          </a:p>
        </p:txBody>
      </p:sp>
      <p:sp>
        <p:nvSpPr>
          <p:cNvPr id="585" name="Google Shape;585;g1a90e34fbfc_0_382"/>
          <p:cNvSpPr txBox="1"/>
          <p:nvPr>
            <p:ph idx="1" type="body"/>
          </p:nvPr>
        </p:nvSpPr>
        <p:spPr>
          <a:xfrm>
            <a:off x="194750" y="1029400"/>
            <a:ext cx="4841100" cy="5522700"/>
          </a:xfrm>
          <a:prstGeom prst="rect">
            <a:avLst/>
          </a:prstGeom>
          <a:solidFill>
            <a:srgbClr val="D9EAD3"/>
          </a:solid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SzPct val="116883"/>
              <a:buNone/>
            </a:pPr>
            <a:r>
              <a:rPr b="1" lang="en-US"/>
              <a:t>void merge(int *a,int s,int e){</a:t>
            </a:r>
            <a:endParaRPr b="1"/>
          </a:p>
          <a:p>
            <a:pPr indent="0" lvl="0" marL="0" rtl="0" algn="l">
              <a:lnSpc>
                <a:spcPct val="90000"/>
              </a:lnSpc>
              <a:spcBef>
                <a:spcPts val="0"/>
              </a:spcBef>
              <a:spcAft>
                <a:spcPts val="0"/>
              </a:spcAft>
              <a:buSzPct val="116883"/>
              <a:buNone/>
            </a:pPr>
            <a:r>
              <a:rPr b="1" lang="en-US"/>
              <a:t>    int mid = (s+e)/2;</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int i = s;</a:t>
            </a:r>
            <a:endParaRPr b="1"/>
          </a:p>
          <a:p>
            <a:pPr indent="0" lvl="0" marL="0" rtl="0" algn="l">
              <a:lnSpc>
                <a:spcPct val="90000"/>
              </a:lnSpc>
              <a:spcBef>
                <a:spcPts val="0"/>
              </a:spcBef>
              <a:spcAft>
                <a:spcPts val="0"/>
              </a:spcAft>
              <a:buSzPct val="116883"/>
              <a:buNone/>
            </a:pPr>
            <a:r>
              <a:rPr b="1" lang="en-US"/>
              <a:t>    int j = mid+1;</a:t>
            </a:r>
            <a:endParaRPr b="1"/>
          </a:p>
          <a:p>
            <a:pPr indent="0" lvl="0" marL="0" rtl="0" algn="l">
              <a:lnSpc>
                <a:spcPct val="90000"/>
              </a:lnSpc>
              <a:spcBef>
                <a:spcPts val="0"/>
              </a:spcBef>
              <a:spcAft>
                <a:spcPts val="0"/>
              </a:spcAft>
              <a:buSzPct val="116883"/>
              <a:buNone/>
            </a:pPr>
            <a:r>
              <a:rPr b="1" lang="en-US"/>
              <a:t>    int k = s;</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int temp[100];</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while(i&lt;=mid &amp;&amp; j&lt;=e){</a:t>
            </a:r>
            <a:endParaRPr b="1"/>
          </a:p>
          <a:p>
            <a:pPr indent="0" lvl="0" marL="0" rtl="0" algn="l">
              <a:lnSpc>
                <a:spcPct val="90000"/>
              </a:lnSpc>
              <a:spcBef>
                <a:spcPts val="0"/>
              </a:spcBef>
              <a:spcAft>
                <a:spcPts val="0"/>
              </a:spcAft>
              <a:buSzPct val="116883"/>
              <a:buNone/>
            </a:pPr>
            <a:r>
              <a:rPr b="1" lang="en-US"/>
              <a:t>        if(a[i] &lt; a[j]){</a:t>
            </a:r>
            <a:endParaRPr b="1"/>
          </a:p>
          <a:p>
            <a:pPr indent="0" lvl="0" marL="0" rtl="0" algn="l">
              <a:lnSpc>
                <a:spcPct val="90000"/>
              </a:lnSpc>
              <a:spcBef>
                <a:spcPts val="0"/>
              </a:spcBef>
              <a:spcAft>
                <a:spcPts val="0"/>
              </a:spcAft>
              <a:buSzPct val="116883"/>
              <a:buNone/>
            </a:pPr>
            <a:r>
              <a:rPr b="1" lang="en-US"/>
              <a:t>            temp[k++] = a[i++];</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else{</a:t>
            </a:r>
            <a:endParaRPr b="1"/>
          </a:p>
          <a:p>
            <a:pPr indent="0" lvl="0" marL="0" rtl="0" algn="l">
              <a:lnSpc>
                <a:spcPct val="90000"/>
              </a:lnSpc>
              <a:spcBef>
                <a:spcPts val="0"/>
              </a:spcBef>
              <a:spcAft>
                <a:spcPts val="0"/>
              </a:spcAft>
              <a:buSzPct val="116883"/>
              <a:buNone/>
            </a:pPr>
            <a:r>
              <a:rPr b="1" lang="en-US"/>
              <a:t>            temp[k++] = a[j++];</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while(i&lt;=mid){</a:t>
            </a:r>
            <a:endParaRPr b="1"/>
          </a:p>
          <a:p>
            <a:pPr indent="0" lvl="0" marL="0" rtl="0" algn="l">
              <a:lnSpc>
                <a:spcPct val="90000"/>
              </a:lnSpc>
              <a:spcBef>
                <a:spcPts val="0"/>
              </a:spcBef>
              <a:spcAft>
                <a:spcPts val="0"/>
              </a:spcAft>
              <a:buSzPct val="116883"/>
              <a:buNone/>
            </a:pPr>
            <a:r>
              <a:rPr b="1" lang="en-US"/>
              <a:t>        temp[k++] = a[i++];</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while(j&lt;=e){</a:t>
            </a:r>
            <a:endParaRPr b="1"/>
          </a:p>
          <a:p>
            <a:pPr indent="0" lvl="0" marL="0" rtl="0" algn="l">
              <a:lnSpc>
                <a:spcPct val="90000"/>
              </a:lnSpc>
              <a:spcBef>
                <a:spcPts val="0"/>
              </a:spcBef>
              <a:spcAft>
                <a:spcPts val="0"/>
              </a:spcAft>
              <a:buSzPct val="116883"/>
              <a:buNone/>
            </a:pPr>
            <a:r>
              <a:rPr b="1" lang="en-US"/>
              <a:t>        temp[k++]  = a[j++];</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//We need to copy all element to original arrays</a:t>
            </a:r>
            <a:endParaRPr b="1"/>
          </a:p>
          <a:p>
            <a:pPr indent="0" lvl="0" marL="0" rtl="0" algn="l">
              <a:lnSpc>
                <a:spcPct val="90000"/>
              </a:lnSpc>
              <a:spcBef>
                <a:spcPts val="0"/>
              </a:spcBef>
              <a:spcAft>
                <a:spcPts val="0"/>
              </a:spcAft>
              <a:buSzPct val="116883"/>
              <a:buNone/>
            </a:pPr>
            <a:r>
              <a:rPr b="1" lang="en-US"/>
              <a:t>    for(int i=s;i&lt;=e;i++){</a:t>
            </a:r>
            <a:endParaRPr b="1"/>
          </a:p>
          <a:p>
            <a:pPr indent="0" lvl="0" marL="0" rtl="0" algn="l">
              <a:lnSpc>
                <a:spcPct val="90000"/>
              </a:lnSpc>
              <a:spcBef>
                <a:spcPts val="0"/>
              </a:spcBef>
              <a:spcAft>
                <a:spcPts val="0"/>
              </a:spcAft>
              <a:buSzPct val="116883"/>
              <a:buNone/>
            </a:pPr>
            <a:r>
              <a:rPr b="1" lang="en-US"/>
              <a:t>        a[i] = temp[i];</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    </a:t>
            </a:r>
            <a:endParaRPr b="1"/>
          </a:p>
          <a:p>
            <a:pPr indent="0" lvl="0" marL="0" rtl="0" algn="l">
              <a:lnSpc>
                <a:spcPct val="90000"/>
              </a:lnSpc>
              <a:spcBef>
                <a:spcPts val="0"/>
              </a:spcBef>
              <a:spcAft>
                <a:spcPts val="0"/>
              </a:spcAft>
              <a:buSzPct val="116883"/>
              <a:buNone/>
            </a:pPr>
            <a:r>
              <a:rPr b="1" lang="en-US"/>
              <a:t>}</a:t>
            </a:r>
            <a:endParaRPr b="1"/>
          </a:p>
          <a:p>
            <a:pPr indent="0" lvl="0" marL="0" rtl="0" algn="l">
              <a:lnSpc>
                <a:spcPct val="90000"/>
              </a:lnSpc>
              <a:spcBef>
                <a:spcPts val="0"/>
              </a:spcBef>
              <a:spcAft>
                <a:spcPts val="0"/>
              </a:spcAft>
              <a:buSzPct val="116883"/>
              <a:buNone/>
            </a:pPr>
            <a:r>
              <a:t/>
            </a:r>
            <a:endParaRPr b="1"/>
          </a:p>
        </p:txBody>
      </p:sp>
      <p:sp>
        <p:nvSpPr>
          <p:cNvPr id="586" name="Google Shape;586;g1a90e34fbfc_0_382"/>
          <p:cNvSpPr txBox="1"/>
          <p:nvPr>
            <p:ph idx="1" type="body"/>
          </p:nvPr>
        </p:nvSpPr>
        <p:spPr>
          <a:xfrm>
            <a:off x="5494750" y="343600"/>
            <a:ext cx="5103600" cy="5522700"/>
          </a:xfrm>
          <a:prstGeom prst="rect">
            <a:avLst/>
          </a:prstGeom>
          <a:solidFill>
            <a:srgbClr val="D0E0E3"/>
          </a:solid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SzPct val="69498"/>
              <a:buNone/>
            </a:pPr>
            <a:r>
              <a:rPr b="1" lang="en-US"/>
              <a:t>void mergeSort(int a[],int s,int e){</a:t>
            </a:r>
            <a:endParaRPr b="1"/>
          </a:p>
          <a:p>
            <a:pPr indent="0" lvl="0" marL="0" rtl="0" algn="l">
              <a:lnSpc>
                <a:spcPct val="90000"/>
              </a:lnSpc>
              <a:spcBef>
                <a:spcPts val="0"/>
              </a:spcBef>
              <a:spcAft>
                <a:spcPts val="0"/>
              </a:spcAft>
              <a:buSzPct val="69498"/>
              <a:buNone/>
            </a:pPr>
            <a:r>
              <a:rPr b="1" lang="en-US"/>
              <a:t>    //Base case - 1 or 0 elements</a:t>
            </a:r>
            <a:endParaRPr b="1"/>
          </a:p>
          <a:p>
            <a:pPr indent="0" lvl="0" marL="0" rtl="0" algn="l">
              <a:lnSpc>
                <a:spcPct val="90000"/>
              </a:lnSpc>
              <a:spcBef>
                <a:spcPts val="0"/>
              </a:spcBef>
              <a:spcAft>
                <a:spcPts val="0"/>
              </a:spcAft>
              <a:buSzPct val="69498"/>
              <a:buNone/>
            </a:pPr>
            <a:r>
              <a:rPr b="1" lang="en-US"/>
              <a:t>    if(s&gt;=e){</a:t>
            </a:r>
            <a:endParaRPr b="1"/>
          </a:p>
          <a:p>
            <a:pPr indent="0" lvl="0" marL="0" rtl="0" algn="l">
              <a:lnSpc>
                <a:spcPct val="90000"/>
              </a:lnSpc>
              <a:spcBef>
                <a:spcPts val="0"/>
              </a:spcBef>
              <a:spcAft>
                <a:spcPts val="0"/>
              </a:spcAft>
              <a:buSzPct val="69498"/>
              <a:buNone/>
            </a:pPr>
            <a:r>
              <a:rPr b="1" lang="en-US"/>
              <a:t>        return;</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t>    //Follow 3 steps</a:t>
            </a:r>
            <a:endParaRPr b="1"/>
          </a:p>
          <a:p>
            <a:pPr indent="0" lvl="0" marL="0" rtl="0" algn="l">
              <a:lnSpc>
                <a:spcPct val="90000"/>
              </a:lnSpc>
              <a:spcBef>
                <a:spcPts val="0"/>
              </a:spcBef>
              <a:spcAft>
                <a:spcPts val="0"/>
              </a:spcAft>
              <a:buSzPct val="69498"/>
              <a:buNone/>
            </a:pPr>
            <a:r>
              <a:rPr b="1" lang="en-US"/>
              <a:t>    //1. Divide</a:t>
            </a:r>
            <a:endParaRPr b="1"/>
          </a:p>
          <a:p>
            <a:pPr indent="0" lvl="0" marL="0" rtl="0" algn="l">
              <a:lnSpc>
                <a:spcPct val="90000"/>
              </a:lnSpc>
              <a:spcBef>
                <a:spcPts val="0"/>
              </a:spcBef>
              <a:spcAft>
                <a:spcPts val="0"/>
              </a:spcAft>
              <a:buSzPct val="69498"/>
              <a:buNone/>
            </a:pPr>
            <a:r>
              <a:rPr b="1" lang="en-US"/>
              <a:t>    int mid = (s+e)/2;</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t>    //Recursively the arrays - s,mid and mid+1,e</a:t>
            </a:r>
            <a:endParaRPr b="1"/>
          </a:p>
          <a:p>
            <a:pPr indent="0" lvl="0" marL="0" rtl="0" algn="l">
              <a:lnSpc>
                <a:spcPct val="90000"/>
              </a:lnSpc>
              <a:spcBef>
                <a:spcPts val="0"/>
              </a:spcBef>
              <a:spcAft>
                <a:spcPts val="0"/>
              </a:spcAft>
              <a:buSzPct val="69498"/>
              <a:buNone/>
            </a:pPr>
            <a:r>
              <a:rPr b="1" lang="en-US"/>
              <a:t>    mergeSort(a,s,mid);</a:t>
            </a:r>
            <a:endParaRPr b="1"/>
          </a:p>
          <a:p>
            <a:pPr indent="0" lvl="0" marL="0" rtl="0" algn="l">
              <a:lnSpc>
                <a:spcPct val="90000"/>
              </a:lnSpc>
              <a:spcBef>
                <a:spcPts val="0"/>
              </a:spcBef>
              <a:spcAft>
                <a:spcPts val="0"/>
              </a:spcAft>
              <a:buSzPct val="69498"/>
              <a:buNone/>
            </a:pPr>
            <a:r>
              <a:rPr b="1" lang="en-US"/>
              <a:t>    mergeSort(a,mid+1,e);</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t>    //Merge the two parts</a:t>
            </a:r>
            <a:endParaRPr b="1"/>
          </a:p>
          <a:p>
            <a:pPr indent="0" lvl="0" marL="0" rtl="0" algn="l">
              <a:lnSpc>
                <a:spcPct val="90000"/>
              </a:lnSpc>
              <a:spcBef>
                <a:spcPts val="0"/>
              </a:spcBef>
              <a:spcAft>
                <a:spcPts val="0"/>
              </a:spcAft>
              <a:buSzPct val="69498"/>
              <a:buNone/>
            </a:pPr>
            <a:r>
              <a:rPr b="1" lang="en-US"/>
              <a:t>    merge(a,s,e);</a:t>
            </a:r>
            <a:endParaRPr b="1"/>
          </a:p>
          <a:p>
            <a:pPr indent="0" lvl="0" marL="0" rtl="0" algn="l">
              <a:lnSpc>
                <a:spcPct val="90000"/>
              </a:lnSpc>
              <a:spcBef>
                <a:spcPts val="0"/>
              </a:spcBef>
              <a:spcAft>
                <a:spcPts val="0"/>
              </a:spcAft>
              <a:buSzPct val="69498"/>
              <a:buNone/>
            </a:pPr>
            <a:r>
              <a:t/>
            </a:r>
            <a:endParaRPr b="1"/>
          </a:p>
          <a:p>
            <a:pPr indent="0" lvl="0" marL="0" rtl="0" algn="l">
              <a:lnSpc>
                <a:spcPct val="90000"/>
              </a:lnSpc>
              <a:spcBef>
                <a:spcPts val="0"/>
              </a:spcBef>
              <a:spcAft>
                <a:spcPts val="0"/>
              </a:spcAft>
              <a:buSzPct val="69498"/>
              <a:buNone/>
            </a:pPr>
            <a:r>
              <a:rPr b="1" lang="en-US"/>
              <a:t>}</a:t>
            </a:r>
            <a:endParaRPr b="1"/>
          </a:p>
        </p:txBody>
      </p:sp>
      <p:sp>
        <p:nvSpPr>
          <p:cNvPr id="587" name="Google Shape;587;g1a90e34fbfc_0_382"/>
          <p:cNvSpPr txBox="1"/>
          <p:nvPr/>
        </p:nvSpPr>
        <p:spPr>
          <a:xfrm>
            <a:off x="9192000" y="4962600"/>
            <a:ext cx="3000000" cy="1908600"/>
          </a:xfrm>
          <a:prstGeom prst="rect">
            <a:avLst/>
          </a:prstGeom>
          <a:solidFill>
            <a:srgbClr val="FCE5CD"/>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int a[] = {7,3,10,5,6,2,-5};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mergeSort(a,0,6);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for(int i=0;i&lt;7;i++){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cout&lt;&lt;a[i]&lt;&lt;"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return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2a0255b3bb1_18_11"/>
          <p:cNvSpPr txBox="1"/>
          <p:nvPr>
            <p:ph type="title"/>
          </p:nvPr>
        </p:nvSpPr>
        <p:spPr>
          <a:xfrm>
            <a:off x="572625" y="127975"/>
            <a:ext cx="10515600" cy="7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t>Merge sort complexity</a:t>
            </a:r>
            <a:endParaRPr b="1"/>
          </a:p>
        </p:txBody>
      </p:sp>
      <p:sp>
        <p:nvSpPr>
          <p:cNvPr id="593" name="Google Shape;593;g2a0255b3bb1_18_11"/>
          <p:cNvSpPr txBox="1"/>
          <p:nvPr>
            <p:ph idx="1" type="body"/>
          </p:nvPr>
        </p:nvSpPr>
        <p:spPr>
          <a:xfrm>
            <a:off x="838200" y="1043400"/>
            <a:ext cx="4606500" cy="5133300"/>
          </a:xfrm>
          <a:prstGeom prst="rect">
            <a:avLst/>
          </a:prstGeom>
        </p:spPr>
        <p:txBody>
          <a:bodyPr anchorCtr="0" anchor="t" bIns="45700" lIns="91425" spcFirstLastPara="1" rIns="91425" wrap="square" tIns="45700">
            <a:normAutofit lnSpcReduction="10000"/>
          </a:bodyPr>
          <a:lstStyle/>
          <a:p>
            <a:pPr indent="0" lvl="0" marL="0" rtl="0" algn="l">
              <a:lnSpc>
                <a:spcPct val="80000"/>
              </a:lnSpc>
              <a:spcBef>
                <a:spcPts val="1000"/>
              </a:spcBef>
              <a:spcAft>
                <a:spcPts val="0"/>
              </a:spcAft>
              <a:buSzPts val="1018"/>
              <a:buNone/>
            </a:pPr>
            <a:r>
              <a:rPr lang="en-US" sz="2915"/>
              <a:t>To analyse the merge sort complexity add the print statement in mergesort() function right at the beginning</a:t>
            </a:r>
            <a:endParaRPr sz="2915"/>
          </a:p>
          <a:p>
            <a:pPr indent="0" lvl="0" marL="0" rtl="0" algn="l">
              <a:lnSpc>
                <a:spcPct val="80000"/>
              </a:lnSpc>
              <a:spcBef>
                <a:spcPts val="1000"/>
              </a:spcBef>
              <a:spcAft>
                <a:spcPts val="0"/>
              </a:spcAft>
              <a:buSzPts val="1018"/>
              <a:buNone/>
            </a:pPr>
            <a:r>
              <a:rPr lang="en-US" sz="2915"/>
              <a:t>As we have 7 elements in the array, the program will print </a:t>
            </a:r>
            <a:r>
              <a:rPr b="1" lang="en-US" sz="2915"/>
              <a:t>6 </a:t>
            </a:r>
            <a:r>
              <a:rPr lang="en-US" sz="2915"/>
              <a:t>one’s.</a:t>
            </a:r>
            <a:endParaRPr sz="2915"/>
          </a:p>
          <a:p>
            <a:pPr indent="0" lvl="0" marL="0" rtl="0" algn="l">
              <a:lnSpc>
                <a:spcPct val="80000"/>
              </a:lnSpc>
              <a:spcBef>
                <a:spcPts val="1000"/>
              </a:spcBef>
              <a:spcAft>
                <a:spcPts val="0"/>
              </a:spcAft>
              <a:buSzPts val="1018"/>
              <a:buNone/>
            </a:pPr>
            <a:r>
              <a:rPr lang="en-US" sz="2915"/>
              <a:t>Comparing to 7 elements we have, the log(7)=0.845</a:t>
            </a:r>
            <a:endParaRPr sz="2915"/>
          </a:p>
          <a:p>
            <a:pPr indent="0" lvl="0" marL="0" rtl="0" algn="l">
              <a:lnSpc>
                <a:spcPct val="80000"/>
              </a:lnSpc>
              <a:spcBef>
                <a:spcPts val="1000"/>
              </a:spcBef>
              <a:spcAft>
                <a:spcPts val="0"/>
              </a:spcAft>
              <a:buSzPts val="1018"/>
              <a:buNone/>
            </a:pPr>
            <a:r>
              <a:rPr lang="en-US" sz="2915"/>
              <a:t>n*log(n)=7*0.845=5.91</a:t>
            </a:r>
            <a:endParaRPr sz="2915"/>
          </a:p>
          <a:p>
            <a:pPr indent="0" lvl="0" marL="0" rtl="0" algn="l">
              <a:lnSpc>
                <a:spcPct val="80000"/>
              </a:lnSpc>
              <a:spcBef>
                <a:spcPts val="1000"/>
              </a:spcBef>
              <a:spcAft>
                <a:spcPts val="0"/>
              </a:spcAft>
              <a:buSzPts val="1018"/>
              <a:buNone/>
            </a:pPr>
            <a:r>
              <a:rPr lang="en-US" sz="2915"/>
              <a:t>                  </a:t>
            </a:r>
            <a:r>
              <a:rPr lang="en-US" sz="2200">
                <a:latin typeface="Century Gothic"/>
                <a:ea typeface="Century Gothic"/>
                <a:cs typeface="Century Gothic"/>
                <a:sym typeface="Century Gothic"/>
              </a:rPr>
              <a:t>⋍6</a:t>
            </a:r>
            <a:endParaRPr sz="2915"/>
          </a:p>
          <a:p>
            <a:pPr indent="0" lvl="0" marL="0" rtl="0" algn="l">
              <a:lnSpc>
                <a:spcPct val="80000"/>
              </a:lnSpc>
              <a:spcBef>
                <a:spcPts val="1000"/>
              </a:spcBef>
              <a:spcAft>
                <a:spcPts val="0"/>
              </a:spcAft>
              <a:buSzPts val="1018"/>
              <a:buNone/>
            </a:pPr>
            <a:r>
              <a:rPr lang="en-US" sz="2915"/>
              <a:t>                                   </a:t>
            </a:r>
            <a:endParaRPr sz="2915"/>
          </a:p>
        </p:txBody>
      </p:sp>
      <p:sp>
        <p:nvSpPr>
          <p:cNvPr id="594" name="Google Shape;594;g2a0255b3bb1_18_11"/>
          <p:cNvSpPr txBox="1"/>
          <p:nvPr>
            <p:ph idx="1" type="body"/>
          </p:nvPr>
        </p:nvSpPr>
        <p:spPr>
          <a:xfrm>
            <a:off x="5845700" y="1043400"/>
            <a:ext cx="5103600" cy="5522700"/>
          </a:xfrm>
          <a:prstGeom prst="rect">
            <a:avLst/>
          </a:prstGeom>
          <a:solidFill>
            <a:srgbClr val="D0E0E3"/>
          </a:solid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SzPct val="69498"/>
              <a:buNone/>
            </a:pPr>
            <a:r>
              <a:rPr b="1" lang="en-US"/>
              <a:t>void mergeSort(int a[],int s,int e){</a:t>
            </a:r>
            <a:endParaRPr b="1"/>
          </a:p>
          <a:p>
            <a:pPr indent="0" lvl="0" marL="0" rtl="0" algn="l">
              <a:lnSpc>
                <a:spcPct val="90000"/>
              </a:lnSpc>
              <a:spcBef>
                <a:spcPts val="0"/>
              </a:spcBef>
              <a:spcAft>
                <a:spcPts val="0"/>
              </a:spcAft>
              <a:buSzPct val="69498"/>
              <a:buNone/>
            </a:pPr>
            <a:r>
              <a:rPr b="1" lang="en-US"/>
              <a:t>    //Base case - 1 or 0 elements</a:t>
            </a:r>
            <a:endParaRPr b="1"/>
          </a:p>
          <a:p>
            <a:pPr indent="0" lvl="0" marL="0" rtl="0" algn="l">
              <a:lnSpc>
                <a:spcPct val="90000"/>
              </a:lnSpc>
              <a:spcBef>
                <a:spcPts val="0"/>
              </a:spcBef>
              <a:spcAft>
                <a:spcPts val="0"/>
              </a:spcAft>
              <a:buSzPct val="69498"/>
              <a:buNone/>
            </a:pPr>
            <a:r>
              <a:rPr b="1" lang="en-US"/>
              <a:t>    if(s&gt;=e){</a:t>
            </a:r>
            <a:endParaRPr b="1"/>
          </a:p>
          <a:p>
            <a:pPr indent="0" lvl="0" marL="0" rtl="0" algn="l">
              <a:lnSpc>
                <a:spcPct val="90000"/>
              </a:lnSpc>
              <a:spcBef>
                <a:spcPts val="0"/>
              </a:spcBef>
              <a:spcAft>
                <a:spcPts val="0"/>
              </a:spcAft>
              <a:buSzPct val="69498"/>
              <a:buNone/>
            </a:pPr>
            <a:r>
              <a:rPr b="1" lang="en-US"/>
              <a:t>        return;</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solidFill>
                  <a:srgbClr val="4535AA"/>
                </a:solidFill>
              </a:rPr>
              <a:t>    cout&lt;&lt;1&lt;&lt;endl;</a:t>
            </a:r>
            <a:endParaRPr b="1">
              <a:solidFill>
                <a:srgbClr val="4535AA"/>
              </a:solidFill>
            </a:endParaRPr>
          </a:p>
          <a:p>
            <a:pPr indent="0" lvl="0" marL="0" rtl="0" algn="l">
              <a:lnSpc>
                <a:spcPct val="90000"/>
              </a:lnSpc>
              <a:spcBef>
                <a:spcPts val="0"/>
              </a:spcBef>
              <a:spcAft>
                <a:spcPts val="0"/>
              </a:spcAft>
              <a:buSzPct val="69498"/>
              <a:buNone/>
            </a:pPr>
            <a:r>
              <a:rPr b="1" lang="en-US"/>
              <a:t>    //Follow 3 steps</a:t>
            </a:r>
            <a:endParaRPr b="1"/>
          </a:p>
          <a:p>
            <a:pPr indent="0" lvl="0" marL="0" rtl="0" algn="l">
              <a:lnSpc>
                <a:spcPct val="90000"/>
              </a:lnSpc>
              <a:spcBef>
                <a:spcPts val="0"/>
              </a:spcBef>
              <a:spcAft>
                <a:spcPts val="0"/>
              </a:spcAft>
              <a:buSzPct val="69498"/>
              <a:buNone/>
            </a:pPr>
            <a:r>
              <a:rPr b="1" lang="en-US"/>
              <a:t>    //1. Divide</a:t>
            </a:r>
            <a:endParaRPr b="1"/>
          </a:p>
          <a:p>
            <a:pPr indent="0" lvl="0" marL="0" rtl="0" algn="l">
              <a:lnSpc>
                <a:spcPct val="90000"/>
              </a:lnSpc>
              <a:spcBef>
                <a:spcPts val="0"/>
              </a:spcBef>
              <a:spcAft>
                <a:spcPts val="0"/>
              </a:spcAft>
              <a:buSzPct val="69498"/>
              <a:buNone/>
            </a:pPr>
            <a:r>
              <a:rPr b="1" lang="en-US"/>
              <a:t>    int mid = (s+e)/2;</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t>    //Recursively the arrays - s,mid and mid+1,e</a:t>
            </a:r>
            <a:endParaRPr b="1"/>
          </a:p>
          <a:p>
            <a:pPr indent="0" lvl="0" marL="0" rtl="0" algn="l">
              <a:lnSpc>
                <a:spcPct val="90000"/>
              </a:lnSpc>
              <a:spcBef>
                <a:spcPts val="0"/>
              </a:spcBef>
              <a:spcAft>
                <a:spcPts val="0"/>
              </a:spcAft>
              <a:buSzPct val="69498"/>
              <a:buNone/>
            </a:pPr>
            <a:r>
              <a:rPr b="1" lang="en-US"/>
              <a:t>    mergeSort(a,s,mid);</a:t>
            </a:r>
            <a:endParaRPr b="1"/>
          </a:p>
          <a:p>
            <a:pPr indent="0" lvl="0" marL="0" rtl="0" algn="l">
              <a:lnSpc>
                <a:spcPct val="90000"/>
              </a:lnSpc>
              <a:spcBef>
                <a:spcPts val="0"/>
              </a:spcBef>
              <a:spcAft>
                <a:spcPts val="0"/>
              </a:spcAft>
              <a:buSzPct val="69498"/>
              <a:buNone/>
            </a:pPr>
            <a:r>
              <a:rPr b="1" lang="en-US"/>
              <a:t>    mergeSort(a,mid+1,e);</a:t>
            </a:r>
            <a:endParaRPr b="1"/>
          </a:p>
          <a:p>
            <a:pPr indent="0" lvl="0" marL="0" rtl="0" algn="l">
              <a:lnSpc>
                <a:spcPct val="90000"/>
              </a:lnSpc>
              <a:spcBef>
                <a:spcPts val="0"/>
              </a:spcBef>
              <a:spcAft>
                <a:spcPts val="0"/>
              </a:spcAft>
              <a:buSzPct val="69498"/>
              <a:buNone/>
            </a:pPr>
            <a:r>
              <a:rPr b="1" lang="en-US"/>
              <a:t>    </a:t>
            </a:r>
            <a:endParaRPr b="1"/>
          </a:p>
          <a:p>
            <a:pPr indent="0" lvl="0" marL="0" rtl="0" algn="l">
              <a:lnSpc>
                <a:spcPct val="90000"/>
              </a:lnSpc>
              <a:spcBef>
                <a:spcPts val="0"/>
              </a:spcBef>
              <a:spcAft>
                <a:spcPts val="0"/>
              </a:spcAft>
              <a:buSzPct val="69498"/>
              <a:buNone/>
            </a:pPr>
            <a:r>
              <a:rPr b="1" lang="en-US"/>
              <a:t>    //Merge the two parts</a:t>
            </a:r>
            <a:endParaRPr b="1"/>
          </a:p>
          <a:p>
            <a:pPr indent="0" lvl="0" marL="0" rtl="0" algn="l">
              <a:lnSpc>
                <a:spcPct val="90000"/>
              </a:lnSpc>
              <a:spcBef>
                <a:spcPts val="0"/>
              </a:spcBef>
              <a:spcAft>
                <a:spcPts val="0"/>
              </a:spcAft>
              <a:buSzPct val="69498"/>
              <a:buNone/>
            </a:pPr>
            <a:r>
              <a:rPr b="1" lang="en-US"/>
              <a:t>    merge(a,s,e);</a:t>
            </a:r>
            <a:endParaRPr b="1"/>
          </a:p>
          <a:p>
            <a:pPr indent="0" lvl="0" marL="0" rtl="0" algn="l">
              <a:lnSpc>
                <a:spcPct val="90000"/>
              </a:lnSpc>
              <a:spcBef>
                <a:spcPts val="0"/>
              </a:spcBef>
              <a:spcAft>
                <a:spcPts val="0"/>
              </a:spcAft>
              <a:buSzPct val="69498"/>
              <a:buNone/>
            </a:pPr>
            <a:r>
              <a:t/>
            </a:r>
            <a:endParaRPr b="1"/>
          </a:p>
          <a:p>
            <a:pPr indent="0" lvl="0" marL="0" rtl="0" algn="l">
              <a:lnSpc>
                <a:spcPct val="90000"/>
              </a:lnSpc>
              <a:spcBef>
                <a:spcPts val="0"/>
              </a:spcBef>
              <a:spcAft>
                <a:spcPts val="0"/>
              </a:spcAft>
              <a:buSzPct val="69498"/>
              <a:buNone/>
            </a:pPr>
            <a:r>
              <a:rPr b="1" lang="en-US"/>
              <a:t>}</a:t>
            </a:r>
            <a:endParaRPr b="1"/>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2a0255b3bb1_18_0"/>
          <p:cNvSpPr txBox="1"/>
          <p:nvPr>
            <p:ph type="title"/>
          </p:nvPr>
        </p:nvSpPr>
        <p:spPr>
          <a:xfrm>
            <a:off x="838200" y="136525"/>
            <a:ext cx="10515600" cy="469500"/>
          </a:xfrm>
          <a:prstGeom prst="rect">
            <a:avLst/>
          </a:prstGeom>
        </p:spPr>
        <p:txBody>
          <a:bodyPr anchorCtr="0" anchor="ctr" bIns="45700" lIns="91425" spcFirstLastPara="1" rIns="91425" wrap="square" tIns="45700">
            <a:normAutofit/>
          </a:bodyPr>
          <a:lstStyle/>
          <a:p>
            <a:pPr indent="0" lvl="0" marL="0" rtl="0" algn="l">
              <a:lnSpc>
                <a:spcPct val="120000"/>
              </a:lnSpc>
              <a:spcBef>
                <a:spcPts val="1900"/>
              </a:spcBef>
              <a:spcAft>
                <a:spcPts val="1900"/>
              </a:spcAft>
              <a:buClr>
                <a:schemeClr val="dk1"/>
              </a:buClr>
              <a:buSzPts val="1100"/>
              <a:buFont typeface="Arial"/>
              <a:buNone/>
            </a:pPr>
            <a:r>
              <a:rPr b="1" lang="en-US" sz="2000">
                <a:solidFill>
                  <a:srgbClr val="212529"/>
                </a:solidFill>
                <a:highlight>
                  <a:srgbClr val="FFFFFF"/>
                </a:highlight>
                <a:latin typeface="Roboto"/>
                <a:ea typeface="Roboto"/>
                <a:cs typeface="Roboto"/>
                <a:sym typeface="Roboto"/>
              </a:rPr>
              <a:t>Complexity Analysis of Merge Sort</a:t>
            </a:r>
            <a:endParaRPr b="1" sz="5100"/>
          </a:p>
        </p:txBody>
      </p:sp>
      <p:sp>
        <p:nvSpPr>
          <p:cNvPr id="600" name="Google Shape;600;g2a0255b3bb1_18_0"/>
          <p:cNvSpPr txBox="1"/>
          <p:nvPr>
            <p:ph idx="1" type="body"/>
          </p:nvPr>
        </p:nvSpPr>
        <p:spPr>
          <a:xfrm>
            <a:off x="303525" y="834625"/>
            <a:ext cx="11667000" cy="57861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Merge Sort is quite fast, and has a time complexity of </a:t>
            </a:r>
            <a:r>
              <a:rPr lang="en-US" sz="1400">
                <a:solidFill>
                  <a:srgbClr val="D63384"/>
                </a:solidFill>
                <a:highlight>
                  <a:srgbClr val="FFFFFF"/>
                </a:highlight>
                <a:latin typeface="Roboto Mono"/>
                <a:ea typeface="Roboto Mono"/>
                <a:cs typeface="Roboto Mono"/>
                <a:sym typeface="Roboto Mono"/>
              </a:rPr>
              <a:t>O(n*log n)</a:t>
            </a:r>
            <a:r>
              <a:rPr lang="en-US" sz="1600">
                <a:solidFill>
                  <a:srgbClr val="212529"/>
                </a:solidFill>
                <a:highlight>
                  <a:srgbClr val="FFFFFF"/>
                </a:highlight>
                <a:latin typeface="Roboto"/>
                <a:ea typeface="Roboto"/>
                <a:cs typeface="Roboto"/>
                <a:sym typeface="Roboto"/>
              </a:rPr>
              <a:t>. It is also a stable sort, which means the "equal" elements are ordered in the same order in the sorted list.</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In this section we will understand why the running time for merge sort is </a:t>
            </a:r>
            <a:r>
              <a:rPr lang="en-US" sz="1400">
                <a:solidFill>
                  <a:srgbClr val="D63384"/>
                </a:solidFill>
                <a:highlight>
                  <a:srgbClr val="FFFFFF"/>
                </a:highlight>
                <a:latin typeface="Roboto Mono"/>
                <a:ea typeface="Roboto Mono"/>
                <a:cs typeface="Roboto Mono"/>
                <a:sym typeface="Roboto Mono"/>
              </a:rPr>
              <a:t>O(n*log n)</a:t>
            </a:r>
            <a:r>
              <a:rPr lang="en-US" sz="1600">
                <a:solidFill>
                  <a:srgbClr val="212529"/>
                </a:solidFill>
                <a:highlight>
                  <a:srgbClr val="FFFFFF"/>
                </a:highlight>
                <a:latin typeface="Roboto"/>
                <a:ea typeface="Roboto"/>
                <a:cs typeface="Roboto"/>
                <a:sym typeface="Roboto"/>
              </a:rPr>
              <a:t>.</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Whenever we divide a number into half in every step, it can be represented using a logarithmic function, which is </a:t>
            </a:r>
            <a:r>
              <a:rPr lang="en-US" sz="1400">
                <a:solidFill>
                  <a:srgbClr val="D63384"/>
                </a:solidFill>
                <a:highlight>
                  <a:srgbClr val="FFFFFF"/>
                </a:highlight>
                <a:latin typeface="Roboto Mono"/>
                <a:ea typeface="Roboto Mono"/>
                <a:cs typeface="Roboto Mono"/>
                <a:sym typeface="Roboto Mono"/>
              </a:rPr>
              <a:t>log n</a:t>
            </a:r>
            <a:r>
              <a:rPr lang="en-US" sz="1600">
                <a:solidFill>
                  <a:srgbClr val="212529"/>
                </a:solidFill>
                <a:highlight>
                  <a:srgbClr val="FFFFFF"/>
                </a:highlight>
                <a:latin typeface="Roboto"/>
                <a:ea typeface="Roboto"/>
                <a:cs typeface="Roboto"/>
                <a:sym typeface="Roboto"/>
              </a:rPr>
              <a:t> and the number of steps can be represented by </a:t>
            </a:r>
            <a:r>
              <a:rPr lang="en-US" sz="1400">
                <a:solidFill>
                  <a:srgbClr val="D63384"/>
                </a:solidFill>
                <a:highlight>
                  <a:srgbClr val="FFFFFF"/>
                </a:highlight>
                <a:latin typeface="Roboto Mono"/>
                <a:ea typeface="Roboto Mono"/>
                <a:cs typeface="Roboto Mono"/>
                <a:sym typeface="Roboto Mono"/>
              </a:rPr>
              <a:t>log n + 1</a:t>
            </a:r>
            <a:r>
              <a:rPr lang="en-US" sz="1600">
                <a:solidFill>
                  <a:srgbClr val="212529"/>
                </a:solidFill>
                <a:highlight>
                  <a:srgbClr val="FFFFFF"/>
                </a:highlight>
                <a:latin typeface="Roboto"/>
                <a:ea typeface="Roboto"/>
                <a:cs typeface="Roboto"/>
                <a:sym typeface="Roboto"/>
              </a:rPr>
              <a:t>(at most)</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Also, we perform a single step operation to find out the middle of any subarray, i.e. </a:t>
            </a:r>
            <a:r>
              <a:rPr lang="en-US" sz="1400">
                <a:solidFill>
                  <a:srgbClr val="D63384"/>
                </a:solidFill>
                <a:highlight>
                  <a:srgbClr val="FFFFFF"/>
                </a:highlight>
                <a:latin typeface="Roboto Mono"/>
                <a:ea typeface="Roboto Mono"/>
                <a:cs typeface="Roboto Mono"/>
                <a:sym typeface="Roboto Mono"/>
              </a:rPr>
              <a:t>O(1)</a:t>
            </a:r>
            <a:r>
              <a:rPr lang="en-US" sz="1600">
                <a:solidFill>
                  <a:srgbClr val="212529"/>
                </a:solidFill>
                <a:highlight>
                  <a:srgbClr val="FFFFFF"/>
                </a:highlight>
                <a:latin typeface="Roboto"/>
                <a:ea typeface="Roboto"/>
                <a:cs typeface="Roboto"/>
                <a:sym typeface="Roboto"/>
              </a:rPr>
              <a:t>.</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And to merge the subarrays, made by dividing the original array of </a:t>
            </a:r>
            <a:r>
              <a:rPr lang="en-US" sz="1400">
                <a:solidFill>
                  <a:srgbClr val="D63384"/>
                </a:solidFill>
                <a:highlight>
                  <a:srgbClr val="FFFFFF"/>
                </a:highlight>
                <a:latin typeface="Roboto Mono"/>
                <a:ea typeface="Roboto Mono"/>
                <a:cs typeface="Roboto Mono"/>
                <a:sym typeface="Roboto Mono"/>
              </a:rPr>
              <a:t>n</a:t>
            </a:r>
            <a:r>
              <a:rPr lang="en-US" sz="1600">
                <a:solidFill>
                  <a:srgbClr val="212529"/>
                </a:solidFill>
                <a:highlight>
                  <a:srgbClr val="FFFFFF"/>
                </a:highlight>
                <a:latin typeface="Roboto"/>
                <a:ea typeface="Roboto"/>
                <a:cs typeface="Roboto"/>
                <a:sym typeface="Roboto"/>
              </a:rPr>
              <a:t> elements, a running time of </a:t>
            </a:r>
            <a:r>
              <a:rPr lang="en-US" sz="1400">
                <a:solidFill>
                  <a:srgbClr val="D63384"/>
                </a:solidFill>
                <a:highlight>
                  <a:srgbClr val="FFFFFF"/>
                </a:highlight>
                <a:latin typeface="Roboto Mono"/>
                <a:ea typeface="Roboto Mono"/>
                <a:cs typeface="Roboto Mono"/>
                <a:sym typeface="Roboto Mono"/>
              </a:rPr>
              <a:t>O(n)</a:t>
            </a:r>
            <a:r>
              <a:rPr lang="en-US" sz="1600">
                <a:solidFill>
                  <a:srgbClr val="212529"/>
                </a:solidFill>
                <a:highlight>
                  <a:srgbClr val="FFFFFF"/>
                </a:highlight>
                <a:latin typeface="Roboto"/>
                <a:ea typeface="Roboto"/>
                <a:cs typeface="Roboto"/>
                <a:sym typeface="Roboto"/>
              </a:rPr>
              <a:t> will be required.</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Hence the total time for </a:t>
            </a:r>
            <a:r>
              <a:rPr lang="en-US" sz="1400">
                <a:solidFill>
                  <a:srgbClr val="D63384"/>
                </a:solidFill>
                <a:highlight>
                  <a:srgbClr val="FFFFFF"/>
                </a:highlight>
                <a:latin typeface="Roboto Mono"/>
                <a:ea typeface="Roboto Mono"/>
                <a:cs typeface="Roboto Mono"/>
                <a:sym typeface="Roboto Mono"/>
              </a:rPr>
              <a:t>mergeSort</a:t>
            </a:r>
            <a:r>
              <a:rPr lang="en-US" sz="1600">
                <a:solidFill>
                  <a:srgbClr val="212529"/>
                </a:solidFill>
                <a:highlight>
                  <a:srgbClr val="FFFFFF"/>
                </a:highlight>
                <a:latin typeface="Roboto"/>
                <a:ea typeface="Roboto"/>
                <a:cs typeface="Roboto"/>
                <a:sym typeface="Roboto"/>
              </a:rPr>
              <a:t> function will become </a:t>
            </a:r>
            <a:r>
              <a:rPr lang="en-US" sz="1400">
                <a:solidFill>
                  <a:srgbClr val="D63384"/>
                </a:solidFill>
                <a:highlight>
                  <a:srgbClr val="FFFFFF"/>
                </a:highlight>
                <a:latin typeface="Roboto Mono"/>
                <a:ea typeface="Roboto Mono"/>
                <a:cs typeface="Roboto Mono"/>
                <a:sym typeface="Roboto Mono"/>
              </a:rPr>
              <a:t>n(log n + 1)</a:t>
            </a:r>
            <a:r>
              <a:rPr lang="en-US" sz="1600">
                <a:solidFill>
                  <a:srgbClr val="212529"/>
                </a:solidFill>
                <a:highlight>
                  <a:srgbClr val="FFFFFF"/>
                </a:highlight>
                <a:latin typeface="Roboto"/>
                <a:ea typeface="Roboto"/>
                <a:cs typeface="Roboto"/>
                <a:sym typeface="Roboto"/>
              </a:rPr>
              <a:t>, which gives us a time complexity of </a:t>
            </a:r>
            <a:r>
              <a:rPr lang="en-US" sz="1400">
                <a:solidFill>
                  <a:srgbClr val="D63384"/>
                </a:solidFill>
                <a:highlight>
                  <a:srgbClr val="FFFFFF"/>
                </a:highlight>
                <a:latin typeface="Roboto Mono"/>
                <a:ea typeface="Roboto Mono"/>
                <a:cs typeface="Roboto Mono"/>
                <a:sym typeface="Roboto Mono"/>
              </a:rPr>
              <a:t>O(n*log n)</a:t>
            </a:r>
            <a:r>
              <a:rPr lang="en-US" sz="1600">
                <a:solidFill>
                  <a:srgbClr val="212529"/>
                </a:solidFill>
                <a:highlight>
                  <a:srgbClr val="FFFFFF"/>
                </a:highlight>
                <a:latin typeface="Roboto"/>
                <a:ea typeface="Roboto"/>
                <a:cs typeface="Roboto"/>
                <a:sym typeface="Roboto"/>
              </a:rPr>
              <a:t>.</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Worst Case Time Complexity [ Big-O ]: O(n*log n)</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Best Case Time Complexity [Big-omega]: O(n*log n)</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Average Time Complexity [Big-theta]: O(n*log n)</a:t>
            </a:r>
            <a:endParaRPr sz="1600">
              <a:solidFill>
                <a:srgbClr val="212529"/>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600">
                <a:solidFill>
                  <a:srgbClr val="212529"/>
                </a:solidFill>
                <a:highlight>
                  <a:srgbClr val="FFFFFF"/>
                </a:highlight>
                <a:latin typeface="Roboto"/>
                <a:ea typeface="Roboto"/>
                <a:cs typeface="Roboto"/>
                <a:sym typeface="Roboto"/>
              </a:rPr>
              <a:t>Space Complexity: O(n)</a:t>
            </a:r>
            <a:endParaRPr sz="1600">
              <a:solidFill>
                <a:srgbClr val="212529"/>
              </a:solidFill>
              <a:highlight>
                <a:srgbClr val="FFFFFF"/>
              </a:highlight>
              <a:latin typeface="Roboto"/>
              <a:ea typeface="Roboto"/>
              <a:cs typeface="Roboto"/>
              <a:sym typeface="Roboto"/>
            </a:endParaRPr>
          </a:p>
          <a:p>
            <a:pPr indent="-323850" lvl="0" marL="457200" rtl="0" algn="l">
              <a:lnSpc>
                <a:spcPct val="115000"/>
              </a:lnSpc>
              <a:spcBef>
                <a:spcPts val="1200"/>
              </a:spcBef>
              <a:spcAft>
                <a:spcPts val="0"/>
              </a:spcAft>
              <a:buClr>
                <a:srgbClr val="212529"/>
              </a:buClr>
              <a:buSzPts val="1500"/>
              <a:buFont typeface="Roboto"/>
              <a:buChar char="●"/>
            </a:pPr>
            <a:r>
              <a:rPr lang="en-US" sz="1600">
                <a:solidFill>
                  <a:srgbClr val="212529"/>
                </a:solidFill>
                <a:highlight>
                  <a:srgbClr val="FFFFFF"/>
                </a:highlight>
                <a:latin typeface="Roboto"/>
                <a:ea typeface="Roboto"/>
                <a:cs typeface="Roboto"/>
                <a:sym typeface="Roboto"/>
              </a:rPr>
              <a:t>Time complexity of Merge Sort is </a:t>
            </a:r>
            <a:r>
              <a:rPr lang="en-US" sz="1400">
                <a:solidFill>
                  <a:srgbClr val="D63384"/>
                </a:solidFill>
                <a:highlight>
                  <a:srgbClr val="FFFFFF"/>
                </a:highlight>
                <a:latin typeface="Roboto Mono"/>
                <a:ea typeface="Roboto Mono"/>
                <a:cs typeface="Roboto Mono"/>
                <a:sym typeface="Roboto Mono"/>
              </a:rPr>
              <a:t>O(n*Log n)</a:t>
            </a:r>
            <a:r>
              <a:rPr lang="en-US" sz="1600">
                <a:solidFill>
                  <a:srgbClr val="212529"/>
                </a:solidFill>
                <a:highlight>
                  <a:srgbClr val="FFFFFF"/>
                </a:highlight>
                <a:latin typeface="Roboto"/>
                <a:ea typeface="Roboto"/>
                <a:cs typeface="Roboto"/>
                <a:sym typeface="Roboto"/>
              </a:rPr>
              <a:t> in all the 3 cases (worst, average and best) as merge sort always divides the array in two halves and takes linear time to merge two halves.</a:t>
            </a:r>
            <a:endParaRPr sz="1600">
              <a:solidFill>
                <a:srgbClr val="212529"/>
              </a:solidFill>
              <a:highlight>
                <a:srgbClr val="FFFFFF"/>
              </a:highlight>
              <a:latin typeface="Roboto"/>
              <a:ea typeface="Roboto"/>
              <a:cs typeface="Roboto"/>
              <a:sym typeface="Roboto"/>
            </a:endParaRPr>
          </a:p>
          <a:p>
            <a:pPr indent="-330200" lvl="0" marL="457200" rtl="0" algn="l">
              <a:lnSpc>
                <a:spcPct val="115000"/>
              </a:lnSpc>
              <a:spcBef>
                <a:spcPts val="0"/>
              </a:spcBef>
              <a:spcAft>
                <a:spcPts val="0"/>
              </a:spcAft>
              <a:buClr>
                <a:srgbClr val="212529"/>
              </a:buClr>
              <a:buSzPts val="1600"/>
              <a:buFont typeface="Roboto"/>
              <a:buChar char="●"/>
            </a:pPr>
            <a:r>
              <a:rPr lang="en-US" sz="1600">
                <a:solidFill>
                  <a:srgbClr val="212529"/>
                </a:solidFill>
                <a:highlight>
                  <a:srgbClr val="FFFFFF"/>
                </a:highlight>
                <a:latin typeface="Roboto"/>
                <a:ea typeface="Roboto"/>
                <a:cs typeface="Roboto"/>
                <a:sym typeface="Roboto"/>
              </a:rPr>
              <a:t>It requires equal amount of additional space as the unsorted array. Hence its not at all recommended for searching large unsorted arrays.</a:t>
            </a:r>
            <a:endParaRPr sz="1600">
              <a:solidFill>
                <a:srgbClr val="212529"/>
              </a:solidFill>
              <a:highlight>
                <a:srgbClr val="FFFFFF"/>
              </a:highlight>
              <a:latin typeface="Roboto"/>
              <a:ea typeface="Roboto"/>
              <a:cs typeface="Roboto"/>
              <a:sym typeface="Roboto"/>
            </a:endParaRPr>
          </a:p>
          <a:p>
            <a:pPr indent="-330200" lvl="0" marL="457200" rtl="0" algn="l">
              <a:lnSpc>
                <a:spcPct val="115000"/>
              </a:lnSpc>
              <a:spcBef>
                <a:spcPts val="0"/>
              </a:spcBef>
              <a:spcAft>
                <a:spcPts val="0"/>
              </a:spcAft>
              <a:buClr>
                <a:srgbClr val="212529"/>
              </a:buClr>
              <a:buSzPts val="1600"/>
              <a:buFont typeface="Roboto"/>
              <a:buChar char="●"/>
            </a:pPr>
            <a:r>
              <a:rPr lang="en-US" sz="1600">
                <a:solidFill>
                  <a:srgbClr val="212529"/>
                </a:solidFill>
                <a:highlight>
                  <a:srgbClr val="FFFFFF"/>
                </a:highlight>
                <a:latin typeface="Roboto"/>
                <a:ea typeface="Roboto"/>
                <a:cs typeface="Roboto"/>
                <a:sym typeface="Roboto"/>
              </a:rPr>
              <a:t>It is the best Sorting technique used for sorting </a:t>
            </a:r>
            <a:r>
              <a:rPr b="1" lang="en-US" sz="1600">
                <a:solidFill>
                  <a:srgbClr val="212529"/>
                </a:solidFill>
                <a:highlight>
                  <a:srgbClr val="FFFFFF"/>
                </a:highlight>
                <a:latin typeface="Roboto"/>
                <a:ea typeface="Roboto"/>
                <a:cs typeface="Roboto"/>
                <a:sym typeface="Roboto"/>
              </a:rPr>
              <a:t>Linked list.</a:t>
            </a:r>
            <a:endParaRPr b="1" sz="2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180549c7138_0_5"/>
          <p:cNvSpPr txBox="1"/>
          <p:nvPr>
            <p:ph type="title"/>
          </p:nvPr>
        </p:nvSpPr>
        <p:spPr>
          <a:xfrm>
            <a:off x="2292475" y="1570650"/>
            <a:ext cx="6791400" cy="9195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6000"/>
              <a:buNone/>
            </a:pPr>
            <a:r>
              <a:rPr lang="en-US"/>
              <a:t>Quick Sort Algorithm</a:t>
            </a:r>
            <a:endParaRPr/>
          </a:p>
        </p:txBody>
      </p:sp>
      <p:sp>
        <p:nvSpPr>
          <p:cNvPr id="606" name="Google Shape;606;g180549c7138_0_5"/>
          <p:cNvSpPr txBox="1"/>
          <p:nvPr>
            <p:ph idx="1" type="body"/>
          </p:nvPr>
        </p:nvSpPr>
        <p:spPr>
          <a:xfrm>
            <a:off x="4073125" y="2850625"/>
            <a:ext cx="3230100" cy="543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400"/>
              <a:buNone/>
            </a:pPr>
            <a:r>
              <a:rPr lang="en-US"/>
              <a:t>Recursive Algorithm</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180549c7138_0_10"/>
          <p:cNvSpPr txBox="1"/>
          <p:nvPr>
            <p:ph type="title"/>
          </p:nvPr>
        </p:nvSpPr>
        <p:spPr>
          <a:xfrm>
            <a:off x="240050" y="86900"/>
            <a:ext cx="10515600" cy="622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rPr b="1" lang="en-US"/>
              <a:t>Quick Sort </a:t>
            </a:r>
            <a:endParaRPr b="1"/>
          </a:p>
        </p:txBody>
      </p:sp>
      <p:sp>
        <p:nvSpPr>
          <p:cNvPr id="612" name="Google Shape;612;g180549c7138_0_10"/>
          <p:cNvSpPr txBox="1"/>
          <p:nvPr>
            <p:ph idx="1" type="body"/>
          </p:nvPr>
        </p:nvSpPr>
        <p:spPr>
          <a:xfrm>
            <a:off x="361675" y="647775"/>
            <a:ext cx="11381700" cy="5994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500"/>
              <a:t>Quick Sort is also a recursive algorithm  which is very fast sorting algorithm. The key process in quickSort is a partition().</a:t>
            </a:r>
            <a:endParaRPr sz="2500"/>
          </a:p>
          <a:p>
            <a:pPr indent="0" lvl="0" marL="0" rtl="0" algn="l">
              <a:lnSpc>
                <a:spcPct val="90000"/>
              </a:lnSpc>
              <a:spcBef>
                <a:spcPts val="1000"/>
              </a:spcBef>
              <a:spcAft>
                <a:spcPts val="0"/>
              </a:spcAft>
              <a:buSzPts val="1800"/>
              <a:buNone/>
            </a:pPr>
            <a:r>
              <a:rPr b="1" lang="en-US" sz="2500"/>
              <a:t>What is the Quick Sort?</a:t>
            </a:r>
            <a:endParaRPr b="1" sz="2500"/>
          </a:p>
          <a:p>
            <a:pPr indent="0" lvl="0" marL="0" rtl="0" algn="l">
              <a:lnSpc>
                <a:spcPct val="90000"/>
              </a:lnSpc>
              <a:spcBef>
                <a:spcPts val="1000"/>
              </a:spcBef>
              <a:spcAft>
                <a:spcPts val="0"/>
              </a:spcAft>
              <a:buSzPts val="1800"/>
              <a:buNone/>
            </a:pPr>
            <a:r>
              <a:rPr lang="en-US" sz="2500"/>
              <a:t>Consider an array a={8,5,2,1,7,3,4}</a:t>
            </a:r>
            <a:endParaRPr sz="2500"/>
          </a:p>
          <a:p>
            <a:pPr indent="0" lvl="0" marL="0" rtl="0" algn="l">
              <a:lnSpc>
                <a:spcPct val="90000"/>
              </a:lnSpc>
              <a:spcBef>
                <a:spcPts val="1000"/>
              </a:spcBef>
              <a:spcAft>
                <a:spcPts val="0"/>
              </a:spcAft>
              <a:buSzPts val="1800"/>
              <a:buNone/>
            </a:pPr>
            <a:r>
              <a:rPr lang="en-US" sz="2500"/>
              <a:t> The target of partitions is, given an array and an element x of an array as the </a:t>
            </a:r>
            <a:r>
              <a:rPr b="1" lang="en-US" sz="2500"/>
              <a:t>P</a:t>
            </a:r>
            <a:r>
              <a:rPr lang="en-US" sz="2500"/>
              <a:t>ivot and  put x at its correct position in a sorted array</a:t>
            </a:r>
            <a:r>
              <a:rPr lang="en-US" sz="1300">
                <a:solidFill>
                  <a:srgbClr val="273239"/>
                </a:solidFill>
                <a:highlight>
                  <a:srgbClr val="FFFFFF"/>
                </a:highlight>
                <a:latin typeface="Arial"/>
                <a:ea typeface="Arial"/>
                <a:cs typeface="Arial"/>
                <a:sym typeface="Arial"/>
              </a:rPr>
              <a:t> .</a:t>
            </a:r>
            <a:r>
              <a:rPr lang="en-US" sz="2500"/>
              <a:t>All the elements  greater than the </a:t>
            </a:r>
            <a:r>
              <a:rPr b="1" lang="en-US" sz="2500"/>
              <a:t>Pivot</a:t>
            </a:r>
            <a:r>
              <a:rPr lang="en-US" sz="2500"/>
              <a:t> will be present at the right and all elements less than the </a:t>
            </a:r>
            <a:r>
              <a:rPr b="1" lang="en-US" sz="2500"/>
              <a:t>Pivot</a:t>
            </a:r>
            <a:r>
              <a:rPr lang="en-US" sz="2500"/>
              <a:t> will be present at the left.</a:t>
            </a:r>
            <a:endParaRPr sz="2500"/>
          </a:p>
          <a:p>
            <a:pPr indent="0" lvl="0" marL="0" rtl="0" algn="l">
              <a:lnSpc>
                <a:spcPct val="90000"/>
              </a:lnSpc>
              <a:spcBef>
                <a:spcPts val="1000"/>
              </a:spcBef>
              <a:spcAft>
                <a:spcPts val="0"/>
              </a:spcAft>
              <a:buSzPts val="1800"/>
              <a:buNone/>
            </a:pPr>
            <a:r>
              <a:rPr lang="en-US" sz="2500"/>
              <a:t>In our example of array a, the Pivot is 4;</a:t>
            </a:r>
            <a:endParaRPr sz="2500"/>
          </a:p>
          <a:p>
            <a:pPr indent="0" lvl="0" marL="0" rtl="0" algn="l">
              <a:lnSpc>
                <a:spcPct val="90000"/>
              </a:lnSpc>
              <a:spcBef>
                <a:spcPts val="1000"/>
              </a:spcBef>
              <a:spcAft>
                <a:spcPts val="0"/>
              </a:spcAft>
              <a:buSzPts val="1800"/>
              <a:buNone/>
            </a:pPr>
            <a:r>
              <a:rPr lang="en-US" sz="2500"/>
              <a:t> The </a:t>
            </a:r>
            <a:r>
              <a:rPr b="1" lang="en-US" sz="2500"/>
              <a:t>Pivot</a:t>
            </a:r>
            <a:r>
              <a:rPr lang="en-US" sz="2500"/>
              <a:t> is 4.  Now we </a:t>
            </a:r>
            <a:r>
              <a:rPr b="1" lang="en-US" sz="2500"/>
              <a:t>put 4(Pivot) in its correct position</a:t>
            </a:r>
            <a:r>
              <a:rPr lang="en-US" sz="2500"/>
              <a:t> and  next we rearrange all elements based on the Pivot. All the elements  greater than the 4 will be present at the right and all elements less than 4 will be present at the left even if they are not sorted.</a:t>
            </a:r>
            <a:endParaRPr sz="2500"/>
          </a:p>
          <a:p>
            <a:pPr indent="0" lvl="0" marL="0" rtl="0" algn="l">
              <a:lnSpc>
                <a:spcPct val="90000"/>
              </a:lnSpc>
              <a:spcBef>
                <a:spcPts val="1000"/>
              </a:spcBef>
              <a:spcAft>
                <a:spcPts val="0"/>
              </a:spcAft>
              <a:buSzPts val="1800"/>
              <a:buNone/>
            </a:pPr>
            <a:r>
              <a:t/>
            </a:r>
            <a:endParaRPr sz="2500"/>
          </a:p>
        </p:txBody>
      </p:sp>
      <p:graphicFrame>
        <p:nvGraphicFramePr>
          <p:cNvPr id="613" name="Google Shape;613;g180549c7138_0_10"/>
          <p:cNvGraphicFramePr/>
          <p:nvPr/>
        </p:nvGraphicFramePr>
        <p:xfrm>
          <a:off x="5993125" y="5449075"/>
          <a:ext cx="3000000" cy="3000000"/>
        </p:xfrm>
        <a:graphic>
          <a:graphicData uri="http://schemas.openxmlformats.org/drawingml/2006/table">
            <a:tbl>
              <a:tblPr>
                <a:noFill/>
                <a:tableStyleId>{50B76520-13DC-4B26-A941-1D5C00A8A130}</a:tableStyleId>
              </a:tblPr>
              <a:tblGrid>
                <a:gridCol w="612075"/>
                <a:gridCol w="612075"/>
                <a:gridCol w="612075"/>
                <a:gridCol w="612075"/>
                <a:gridCol w="612075"/>
                <a:gridCol w="612075"/>
                <a:gridCol w="612075"/>
              </a:tblGrid>
              <a:tr h="507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7</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solidFill>
                      <a:srgbClr val="F4CCCC"/>
                    </a:solidFill>
                  </a:tcPr>
                </a:tc>
              </a:tr>
            </a:tbl>
          </a:graphicData>
        </a:graphic>
      </p:graphicFrame>
      <p:graphicFrame>
        <p:nvGraphicFramePr>
          <p:cNvPr id="614" name="Google Shape;614;g180549c7138_0_10"/>
          <p:cNvGraphicFramePr/>
          <p:nvPr/>
        </p:nvGraphicFramePr>
        <p:xfrm>
          <a:off x="5993125" y="6322350"/>
          <a:ext cx="3000000" cy="3000000"/>
        </p:xfrm>
        <a:graphic>
          <a:graphicData uri="http://schemas.openxmlformats.org/drawingml/2006/table">
            <a:tbl>
              <a:tblPr>
                <a:noFill/>
                <a:tableStyleId>{50B76520-13DC-4B26-A941-1D5C00A8A130}</a:tableStyleId>
              </a:tblPr>
              <a:tblGrid>
                <a:gridCol w="612075"/>
                <a:gridCol w="612075"/>
                <a:gridCol w="612075"/>
                <a:gridCol w="612075"/>
                <a:gridCol w="612075"/>
                <a:gridCol w="612075"/>
                <a:gridCol w="612075"/>
              </a:tblGrid>
              <a:tr h="396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solidFill>
                      <a:srgbClr val="6AA84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7</a:t>
                      </a:r>
                      <a:endParaRPr sz="1400" u="none" cap="none" strike="noStrike"/>
                    </a:p>
                  </a:txBody>
                  <a:tcPr marT="91425" marB="91425" marR="91425" marL="91425">
                    <a:solidFill>
                      <a:srgbClr val="3C7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solidFill>
                      <a:srgbClr val="3C7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solidFill>
                      <a:srgbClr val="3C78D8"/>
                    </a:solidFill>
                  </a:tcPr>
                </a:tc>
              </a:tr>
            </a:tbl>
          </a:graphicData>
        </a:graphic>
      </p:graphicFrame>
      <p:cxnSp>
        <p:nvCxnSpPr>
          <p:cNvPr id="615" name="Google Shape;615;g180549c7138_0_10"/>
          <p:cNvCxnSpPr/>
          <p:nvPr/>
        </p:nvCxnSpPr>
        <p:spPr>
          <a:xfrm flipH="1">
            <a:off x="7990800" y="5918725"/>
            <a:ext cx="1940700" cy="403200"/>
          </a:xfrm>
          <a:prstGeom prst="straightConnector1">
            <a:avLst/>
          </a:prstGeom>
          <a:noFill/>
          <a:ln cap="flat" cmpd="sng" w="38100">
            <a:solidFill>
              <a:schemeClr val="dk2"/>
            </a:solidFill>
            <a:prstDash val="solid"/>
            <a:round/>
            <a:headEnd len="sm" w="sm" type="none"/>
            <a:tailEnd len="med" w="med" type="triangle"/>
          </a:ln>
        </p:spPr>
      </p:cxnSp>
      <p:sp>
        <p:nvSpPr>
          <p:cNvPr id="616" name="Google Shape;616;g180549c7138_0_10"/>
          <p:cNvSpPr txBox="1"/>
          <p:nvPr/>
        </p:nvSpPr>
        <p:spPr>
          <a:xfrm>
            <a:off x="1312400" y="5959800"/>
            <a:ext cx="4660200" cy="788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2800"/>
              <a:buFont typeface="Arial"/>
              <a:buNone/>
            </a:pPr>
            <a:r>
              <a:rPr b="0" i="0" lang="en-US" sz="2800" u="none" cap="none" strike="noStrike">
                <a:solidFill>
                  <a:srgbClr val="E69138"/>
                </a:solidFill>
                <a:latin typeface="Calibri"/>
                <a:ea typeface="Calibri"/>
                <a:cs typeface="Calibri"/>
                <a:sym typeface="Calibri"/>
              </a:rPr>
              <a:t>This process is Partition=&gt;</a:t>
            </a:r>
            <a:endParaRPr b="0" i="0" sz="2800" u="none" cap="none" strike="noStrike">
              <a:solidFill>
                <a:srgbClr val="E6913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E69138"/>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180549c7138_0_19"/>
          <p:cNvSpPr txBox="1"/>
          <p:nvPr>
            <p:ph type="title"/>
          </p:nvPr>
        </p:nvSpPr>
        <p:spPr>
          <a:xfrm>
            <a:off x="-1596175" y="-801525"/>
            <a:ext cx="10515600" cy="705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Quick Sort(next…)</a:t>
            </a:r>
            <a:endParaRPr/>
          </a:p>
        </p:txBody>
      </p:sp>
      <p:sp>
        <p:nvSpPr>
          <p:cNvPr id="622" name="Google Shape;622;g180549c7138_0_19"/>
          <p:cNvSpPr txBox="1"/>
          <p:nvPr>
            <p:ph idx="1" type="body"/>
          </p:nvPr>
        </p:nvSpPr>
        <p:spPr>
          <a:xfrm>
            <a:off x="321650" y="2448275"/>
            <a:ext cx="11715300" cy="11424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1800"/>
              <a:buNone/>
            </a:pPr>
            <a:r>
              <a:rPr lang="en-US" sz="2370"/>
              <a:t>After partitioning, we will apply Quick Sort on the left array and Quick Sort on the right array. After applying Quick Sort on the left array it will be sorted(1,2,3). Then after applying Quick Sort on the right array, it will be Sorted(5,7,8).</a:t>
            </a:r>
            <a:endParaRPr sz="2370"/>
          </a:p>
        </p:txBody>
      </p:sp>
      <p:graphicFrame>
        <p:nvGraphicFramePr>
          <p:cNvPr id="623" name="Google Shape;623;g180549c7138_0_19"/>
          <p:cNvGraphicFramePr/>
          <p:nvPr/>
        </p:nvGraphicFramePr>
        <p:xfrm>
          <a:off x="3753500" y="299950"/>
          <a:ext cx="3000000" cy="3000000"/>
        </p:xfrm>
        <a:graphic>
          <a:graphicData uri="http://schemas.openxmlformats.org/drawingml/2006/table">
            <a:tbl>
              <a:tblPr>
                <a:noFill/>
                <a:tableStyleId>{50B76520-13DC-4B26-A941-1D5C00A8A130}</a:tableStyleId>
              </a:tblPr>
              <a:tblGrid>
                <a:gridCol w="612075"/>
                <a:gridCol w="612075"/>
                <a:gridCol w="612075"/>
                <a:gridCol w="612075"/>
                <a:gridCol w="612075"/>
                <a:gridCol w="612075"/>
                <a:gridCol w="612075"/>
              </a:tblGrid>
              <a:tr h="507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7</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solidFill>
                      <a:srgbClr val="F4CCCC"/>
                    </a:solidFill>
                  </a:tcPr>
                </a:tc>
              </a:tr>
            </a:tbl>
          </a:graphicData>
        </a:graphic>
      </p:graphicFrame>
      <p:graphicFrame>
        <p:nvGraphicFramePr>
          <p:cNvPr id="624" name="Google Shape;624;g180549c7138_0_19"/>
          <p:cNvGraphicFramePr/>
          <p:nvPr/>
        </p:nvGraphicFramePr>
        <p:xfrm>
          <a:off x="3753500" y="1298435"/>
          <a:ext cx="3000000" cy="3000000"/>
        </p:xfrm>
        <a:graphic>
          <a:graphicData uri="http://schemas.openxmlformats.org/drawingml/2006/table">
            <a:tbl>
              <a:tblPr>
                <a:noFill/>
                <a:tableStyleId>{50B76520-13DC-4B26-A941-1D5C00A8A130}</a:tableStyleId>
              </a:tblPr>
              <a:tblGrid>
                <a:gridCol w="612075"/>
                <a:gridCol w="612075"/>
                <a:gridCol w="612075"/>
                <a:gridCol w="612075"/>
                <a:gridCol w="612075"/>
                <a:gridCol w="612075"/>
                <a:gridCol w="612075"/>
              </a:tblGrid>
              <a:tr h="507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solidFill>
                      <a:srgbClr val="6AA84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7</a:t>
                      </a:r>
                      <a:endParaRPr sz="1400" u="none" cap="none" strike="noStrike"/>
                    </a:p>
                  </a:txBody>
                  <a:tcPr marT="91425" marB="91425" marR="91425" marL="91425">
                    <a:solidFill>
                      <a:srgbClr val="3C7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solidFill>
                      <a:srgbClr val="3C7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solidFill>
                      <a:srgbClr val="3C78D8"/>
                    </a:solidFill>
                  </a:tcPr>
                </a:tc>
              </a:tr>
            </a:tbl>
          </a:graphicData>
        </a:graphic>
      </p:graphicFrame>
      <p:cxnSp>
        <p:nvCxnSpPr>
          <p:cNvPr id="625" name="Google Shape;625;g180549c7138_0_19"/>
          <p:cNvCxnSpPr/>
          <p:nvPr/>
        </p:nvCxnSpPr>
        <p:spPr>
          <a:xfrm flipH="1">
            <a:off x="5842700" y="756750"/>
            <a:ext cx="1905600" cy="501000"/>
          </a:xfrm>
          <a:prstGeom prst="straightConnector1">
            <a:avLst/>
          </a:prstGeom>
          <a:noFill/>
          <a:ln cap="flat" cmpd="sng" w="38100">
            <a:solidFill>
              <a:schemeClr val="dk2"/>
            </a:solidFill>
            <a:prstDash val="solid"/>
            <a:round/>
            <a:headEnd len="sm" w="sm" type="none"/>
            <a:tailEnd len="med" w="med" type="triangle"/>
          </a:ln>
        </p:spPr>
      </p:cxnSp>
      <p:sp>
        <p:nvSpPr>
          <p:cNvPr id="626" name="Google Shape;626;g180549c7138_0_19"/>
          <p:cNvSpPr txBox="1"/>
          <p:nvPr/>
        </p:nvSpPr>
        <p:spPr>
          <a:xfrm>
            <a:off x="5723975" y="1772850"/>
            <a:ext cx="30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8761D"/>
                </a:solidFill>
                <a:latin typeface="Calibri"/>
                <a:ea typeface="Calibri"/>
                <a:cs typeface="Calibri"/>
                <a:sym typeface="Calibri"/>
              </a:rPr>
              <a:t>p</a:t>
            </a:r>
            <a:endParaRPr b="1" i="0" sz="1400" u="none" cap="none" strike="noStrike">
              <a:solidFill>
                <a:srgbClr val="38761D"/>
              </a:solidFill>
              <a:latin typeface="Calibri"/>
              <a:ea typeface="Calibri"/>
              <a:cs typeface="Calibri"/>
              <a:sym typeface="Calibri"/>
            </a:endParaRPr>
          </a:p>
        </p:txBody>
      </p:sp>
      <p:sp>
        <p:nvSpPr>
          <p:cNvPr id="627" name="Google Shape;627;g180549c7138_0_19"/>
          <p:cNvSpPr txBox="1"/>
          <p:nvPr/>
        </p:nvSpPr>
        <p:spPr>
          <a:xfrm>
            <a:off x="4977650" y="1772850"/>
            <a:ext cx="671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9900"/>
                </a:solidFill>
                <a:latin typeface="Calibri"/>
                <a:ea typeface="Calibri"/>
                <a:cs typeface="Calibri"/>
                <a:sym typeface="Calibri"/>
              </a:rPr>
              <a:t>p-1</a:t>
            </a:r>
            <a:endParaRPr b="1" i="0" sz="2000" u="none" cap="none" strike="noStrike">
              <a:solidFill>
                <a:srgbClr val="FF9900"/>
              </a:solidFill>
              <a:latin typeface="Calibri"/>
              <a:ea typeface="Calibri"/>
              <a:cs typeface="Calibri"/>
              <a:sym typeface="Calibri"/>
            </a:endParaRPr>
          </a:p>
        </p:txBody>
      </p:sp>
      <p:sp>
        <p:nvSpPr>
          <p:cNvPr id="628" name="Google Shape;628;g180549c7138_0_19"/>
          <p:cNvSpPr txBox="1"/>
          <p:nvPr/>
        </p:nvSpPr>
        <p:spPr>
          <a:xfrm>
            <a:off x="3682250" y="1772850"/>
            <a:ext cx="5190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9900"/>
                </a:solidFill>
                <a:latin typeface="Calibri"/>
                <a:ea typeface="Calibri"/>
                <a:cs typeface="Calibri"/>
                <a:sym typeface="Calibri"/>
              </a:rPr>
              <a:t>s</a:t>
            </a:r>
            <a:endParaRPr b="1" i="0" sz="1900" u="none" cap="none" strike="noStrike">
              <a:solidFill>
                <a:srgbClr val="FF9900"/>
              </a:solidFill>
              <a:latin typeface="Calibri"/>
              <a:ea typeface="Calibri"/>
              <a:cs typeface="Calibri"/>
              <a:sym typeface="Calibri"/>
            </a:endParaRPr>
          </a:p>
        </p:txBody>
      </p:sp>
      <p:sp>
        <p:nvSpPr>
          <p:cNvPr id="629" name="Google Shape;629;g180549c7138_0_19"/>
          <p:cNvSpPr txBox="1"/>
          <p:nvPr/>
        </p:nvSpPr>
        <p:spPr>
          <a:xfrm>
            <a:off x="7492250" y="1772850"/>
            <a:ext cx="671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55CC"/>
                </a:solidFill>
                <a:latin typeface="Calibri"/>
                <a:ea typeface="Calibri"/>
                <a:cs typeface="Calibri"/>
                <a:sym typeface="Calibri"/>
              </a:rPr>
              <a:t>e</a:t>
            </a:r>
            <a:endParaRPr b="1" i="0" sz="2000" u="none" cap="none" strike="noStrike">
              <a:solidFill>
                <a:srgbClr val="1155CC"/>
              </a:solidFill>
              <a:latin typeface="Calibri"/>
              <a:ea typeface="Calibri"/>
              <a:cs typeface="Calibri"/>
              <a:sym typeface="Calibri"/>
            </a:endParaRPr>
          </a:p>
        </p:txBody>
      </p:sp>
      <p:sp>
        <p:nvSpPr>
          <p:cNvPr id="630" name="Google Shape;630;g180549c7138_0_19"/>
          <p:cNvSpPr txBox="1"/>
          <p:nvPr/>
        </p:nvSpPr>
        <p:spPr>
          <a:xfrm>
            <a:off x="6196850" y="1772850"/>
            <a:ext cx="6714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155CC"/>
                </a:solidFill>
                <a:latin typeface="Calibri"/>
                <a:ea typeface="Calibri"/>
                <a:cs typeface="Calibri"/>
                <a:sym typeface="Calibri"/>
              </a:rPr>
              <a:t>p+1</a:t>
            </a:r>
            <a:endParaRPr b="1" i="0" sz="1900" u="none" cap="none" strike="noStrike">
              <a:solidFill>
                <a:srgbClr val="1155CC"/>
              </a:solidFill>
              <a:latin typeface="Calibri"/>
              <a:ea typeface="Calibri"/>
              <a:cs typeface="Calibri"/>
              <a:sym typeface="Calibri"/>
            </a:endParaRPr>
          </a:p>
        </p:txBody>
      </p:sp>
      <p:graphicFrame>
        <p:nvGraphicFramePr>
          <p:cNvPr id="631" name="Google Shape;631;g180549c7138_0_19"/>
          <p:cNvGraphicFramePr/>
          <p:nvPr/>
        </p:nvGraphicFramePr>
        <p:xfrm>
          <a:off x="3601100" y="3813035"/>
          <a:ext cx="3000000" cy="3000000"/>
        </p:xfrm>
        <a:graphic>
          <a:graphicData uri="http://schemas.openxmlformats.org/drawingml/2006/table">
            <a:tbl>
              <a:tblPr>
                <a:noFill/>
                <a:tableStyleId>{50B76520-13DC-4B26-A941-1D5C00A8A130}</a:tableStyleId>
              </a:tblPr>
              <a:tblGrid>
                <a:gridCol w="612075"/>
                <a:gridCol w="612075"/>
                <a:gridCol w="612075"/>
                <a:gridCol w="612075"/>
                <a:gridCol w="612075"/>
                <a:gridCol w="612075"/>
                <a:gridCol w="612075"/>
              </a:tblGrid>
              <a:tr h="507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solidFill>
                      <a:srgbClr val="6AA84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solidFill>
                      <a:srgbClr val="3C7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7</a:t>
                      </a:r>
                      <a:endParaRPr sz="1400" u="none" cap="none" strike="noStrike"/>
                    </a:p>
                  </a:txBody>
                  <a:tcPr marT="91425" marB="91425" marR="91425" marL="91425">
                    <a:solidFill>
                      <a:srgbClr val="3C7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solidFill>
                      <a:srgbClr val="3C78D8"/>
                    </a:solidFill>
                  </a:tcPr>
                </a:tc>
              </a:tr>
            </a:tbl>
          </a:graphicData>
        </a:graphic>
      </p:graphicFrame>
      <p:sp>
        <p:nvSpPr>
          <p:cNvPr id="632" name="Google Shape;632;g180549c7138_0_19"/>
          <p:cNvSpPr txBox="1"/>
          <p:nvPr>
            <p:ph idx="1" type="body"/>
          </p:nvPr>
        </p:nvSpPr>
        <p:spPr>
          <a:xfrm>
            <a:off x="474050" y="4734275"/>
            <a:ext cx="11190300" cy="8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Then the array is Sorted.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180549c7138_0_34"/>
          <p:cNvSpPr txBox="1"/>
          <p:nvPr>
            <p:ph type="title"/>
          </p:nvPr>
        </p:nvSpPr>
        <p:spPr>
          <a:xfrm>
            <a:off x="381000" y="-15875"/>
            <a:ext cx="10515600" cy="831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990"/>
              <a:buNone/>
            </a:pPr>
            <a:r>
              <a:rPr b="1" lang="en-US" sz="3160"/>
              <a:t>How to calculate the Index of the Pivot for the Sorted Array ?</a:t>
            </a:r>
            <a:endParaRPr b="1" sz="3160"/>
          </a:p>
        </p:txBody>
      </p:sp>
      <p:sp>
        <p:nvSpPr>
          <p:cNvPr id="638" name="Google Shape;638;g180549c7138_0_34"/>
          <p:cNvSpPr txBox="1"/>
          <p:nvPr>
            <p:ph idx="1" type="body"/>
          </p:nvPr>
        </p:nvSpPr>
        <p:spPr>
          <a:xfrm>
            <a:off x="381000" y="945925"/>
            <a:ext cx="11415300" cy="2462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To know the index of the Pivot, we need to count the elements which are less that the Pivot. The resulting value is the correct index for the Pivot. Then swap the element there and the Pivot.</a:t>
            </a:r>
            <a:endParaRPr/>
          </a:p>
        </p:txBody>
      </p:sp>
      <p:sp>
        <p:nvSpPr>
          <p:cNvPr id="639" name="Google Shape;639;g180549c7138_0_34"/>
          <p:cNvSpPr txBox="1"/>
          <p:nvPr/>
        </p:nvSpPr>
        <p:spPr>
          <a:xfrm>
            <a:off x="1669300" y="2295275"/>
            <a:ext cx="9014100" cy="9543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Calibri"/>
                <a:ea typeface="Calibri"/>
                <a:cs typeface="Calibri"/>
                <a:sym typeface="Calibri"/>
              </a:rPr>
              <a:t>Note</a:t>
            </a:r>
            <a:r>
              <a:rPr b="0" i="0" lang="en-US" sz="2500" u="none" cap="none" strike="noStrike">
                <a:solidFill>
                  <a:srgbClr val="000000"/>
                </a:solidFill>
                <a:latin typeface="Calibri"/>
                <a:ea typeface="Calibri"/>
                <a:cs typeface="Calibri"/>
                <a:sym typeface="Calibri"/>
              </a:rPr>
              <a:t>: The Pivot can be any element that is selected by the user as the starting element.</a:t>
            </a:r>
            <a:endParaRPr b="0" i="0" sz="2500" u="none" cap="none" strike="noStrike">
              <a:solidFill>
                <a:srgbClr val="000000"/>
              </a:solidFill>
              <a:latin typeface="Calibri"/>
              <a:ea typeface="Calibri"/>
              <a:cs typeface="Calibri"/>
              <a:sym typeface="Calibri"/>
            </a:endParaRPr>
          </a:p>
        </p:txBody>
      </p:sp>
      <p:sp>
        <p:nvSpPr>
          <p:cNvPr id="640" name="Google Shape;640;g180549c7138_0_34"/>
          <p:cNvSpPr txBox="1"/>
          <p:nvPr/>
        </p:nvSpPr>
        <p:spPr>
          <a:xfrm>
            <a:off x="685800" y="3505200"/>
            <a:ext cx="11180100" cy="283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rgbClr val="273239"/>
                </a:solidFill>
                <a:highlight>
                  <a:srgbClr val="FFFFFF"/>
                </a:highlight>
                <a:latin typeface="Arial"/>
                <a:ea typeface="Arial"/>
                <a:cs typeface="Arial"/>
                <a:sym typeface="Arial"/>
              </a:rPr>
              <a:t>There are many different versions of quickSort that pick pivot in different ways. </a:t>
            </a:r>
            <a:endParaRPr b="0" i="0" sz="2400" u="none" cap="none" strike="noStrike">
              <a:solidFill>
                <a:srgbClr val="273239"/>
              </a:solidFill>
              <a:highlight>
                <a:srgbClr val="FFFFFF"/>
              </a:highlight>
              <a:latin typeface="Arial"/>
              <a:ea typeface="Arial"/>
              <a:cs typeface="Arial"/>
              <a:sym typeface="Arial"/>
            </a:endParaRPr>
          </a:p>
          <a:p>
            <a:pPr indent="-381000" lvl="0" marL="685800" marR="0" rtl="0" algn="l">
              <a:lnSpc>
                <a:spcPct val="158000"/>
              </a:lnSpc>
              <a:spcBef>
                <a:spcPts val="800"/>
              </a:spcBef>
              <a:spcAft>
                <a:spcPts val="0"/>
              </a:spcAft>
              <a:buClr>
                <a:srgbClr val="273239"/>
              </a:buClr>
              <a:buSzPts val="2400"/>
              <a:buFont typeface="Arial"/>
              <a:buChar char="●"/>
            </a:pPr>
            <a:r>
              <a:rPr b="0" i="0" lang="en-US" sz="2400" u="none" cap="none" strike="noStrike">
                <a:solidFill>
                  <a:srgbClr val="273239"/>
                </a:solidFill>
                <a:highlight>
                  <a:srgbClr val="FFFFFF"/>
                </a:highlight>
                <a:latin typeface="Arial"/>
                <a:ea typeface="Arial"/>
                <a:cs typeface="Arial"/>
                <a:sym typeface="Arial"/>
              </a:rPr>
              <a:t>Always pick the first element as a pivot.</a:t>
            </a:r>
            <a:endParaRPr b="0" i="0" sz="2400" u="none" cap="none" strike="noStrike">
              <a:solidFill>
                <a:srgbClr val="273239"/>
              </a:solidFill>
              <a:highlight>
                <a:srgbClr val="FFFFFF"/>
              </a:highlight>
              <a:latin typeface="Arial"/>
              <a:ea typeface="Arial"/>
              <a:cs typeface="Arial"/>
              <a:sym typeface="Arial"/>
            </a:endParaRPr>
          </a:p>
          <a:p>
            <a:pPr indent="-381000" lvl="0" marL="685800" marR="0" rtl="0" algn="l">
              <a:lnSpc>
                <a:spcPct val="158000"/>
              </a:lnSpc>
              <a:spcBef>
                <a:spcPts val="0"/>
              </a:spcBef>
              <a:spcAft>
                <a:spcPts val="0"/>
              </a:spcAft>
              <a:buClr>
                <a:srgbClr val="273239"/>
              </a:buClr>
              <a:buSzPts val="2400"/>
              <a:buFont typeface="Arial"/>
              <a:buChar char="●"/>
            </a:pPr>
            <a:r>
              <a:rPr b="0" i="0" lang="en-US" sz="2400" u="none" cap="none" strike="noStrike">
                <a:solidFill>
                  <a:srgbClr val="273239"/>
                </a:solidFill>
                <a:highlight>
                  <a:srgbClr val="FFFFFF"/>
                </a:highlight>
                <a:latin typeface="Arial"/>
                <a:ea typeface="Arial"/>
                <a:cs typeface="Arial"/>
                <a:sym typeface="Arial"/>
              </a:rPr>
              <a:t>Always pick the last element as a pivot.</a:t>
            </a:r>
            <a:endParaRPr b="0" i="0" sz="2400" u="none" cap="none" strike="noStrike">
              <a:solidFill>
                <a:srgbClr val="273239"/>
              </a:solidFill>
              <a:highlight>
                <a:srgbClr val="FFFFFF"/>
              </a:highlight>
              <a:latin typeface="Arial"/>
              <a:ea typeface="Arial"/>
              <a:cs typeface="Arial"/>
              <a:sym typeface="Arial"/>
            </a:endParaRPr>
          </a:p>
          <a:p>
            <a:pPr indent="-381000" lvl="0" marL="685800" marR="0" rtl="0" algn="l">
              <a:lnSpc>
                <a:spcPct val="158000"/>
              </a:lnSpc>
              <a:spcBef>
                <a:spcPts val="0"/>
              </a:spcBef>
              <a:spcAft>
                <a:spcPts val="0"/>
              </a:spcAft>
              <a:buClr>
                <a:srgbClr val="273239"/>
              </a:buClr>
              <a:buSzPts val="2400"/>
              <a:buFont typeface="Arial"/>
              <a:buChar char="●"/>
            </a:pPr>
            <a:r>
              <a:rPr b="0" i="0" lang="en-US" sz="2400" u="none" cap="none" strike="noStrike">
                <a:solidFill>
                  <a:srgbClr val="273239"/>
                </a:solidFill>
                <a:highlight>
                  <a:srgbClr val="FFFFFF"/>
                </a:highlight>
                <a:latin typeface="Arial"/>
                <a:ea typeface="Arial"/>
                <a:cs typeface="Arial"/>
                <a:sym typeface="Arial"/>
              </a:rPr>
              <a:t>Pick a random element as a pivot.</a:t>
            </a:r>
            <a:endParaRPr b="0" i="0" sz="2400" u="none" cap="none" strike="noStrike">
              <a:solidFill>
                <a:srgbClr val="273239"/>
              </a:solidFill>
              <a:highlight>
                <a:srgbClr val="FFFFFF"/>
              </a:highlight>
              <a:latin typeface="Arial"/>
              <a:ea typeface="Arial"/>
              <a:cs typeface="Arial"/>
              <a:sym typeface="Arial"/>
            </a:endParaRPr>
          </a:p>
          <a:p>
            <a:pPr indent="-381000" lvl="0" marL="685800" marR="0" rtl="0" algn="l">
              <a:lnSpc>
                <a:spcPct val="158000"/>
              </a:lnSpc>
              <a:spcBef>
                <a:spcPts val="0"/>
              </a:spcBef>
              <a:spcAft>
                <a:spcPts val="0"/>
              </a:spcAft>
              <a:buClr>
                <a:srgbClr val="273239"/>
              </a:buClr>
              <a:buSzPts val="2400"/>
              <a:buFont typeface="Arial"/>
              <a:buChar char="●"/>
            </a:pPr>
            <a:r>
              <a:rPr b="0" i="0" lang="en-US" sz="2400" u="none" cap="none" strike="noStrike">
                <a:solidFill>
                  <a:srgbClr val="273239"/>
                </a:solidFill>
                <a:highlight>
                  <a:srgbClr val="FFFFFF"/>
                </a:highlight>
                <a:latin typeface="Arial"/>
                <a:ea typeface="Arial"/>
                <a:cs typeface="Arial"/>
                <a:sym typeface="Arial"/>
              </a:rPr>
              <a:t>Pick median as the pivot.</a:t>
            </a:r>
            <a:endParaRPr b="0" i="0" sz="2400" u="none" cap="none" strike="noStrike">
              <a:solidFill>
                <a:srgbClr val="273239"/>
              </a:solidFill>
              <a:highlight>
                <a:srgbClr val="FFFFFF"/>
              </a:highlight>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g180549c7138_0_41"/>
          <p:cNvSpPr txBox="1"/>
          <p:nvPr/>
        </p:nvSpPr>
        <p:spPr>
          <a:xfrm>
            <a:off x="2362975" y="105250"/>
            <a:ext cx="54408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00000"/>
                </a:solidFill>
                <a:latin typeface="Calibri"/>
                <a:ea typeface="Calibri"/>
                <a:cs typeface="Calibri"/>
                <a:sym typeface="Calibri"/>
              </a:rPr>
              <a:t>Graphical Representation</a:t>
            </a:r>
            <a:endParaRPr b="1" i="0" sz="3500" u="none" cap="none" strike="noStrike">
              <a:solidFill>
                <a:srgbClr val="000000"/>
              </a:solidFill>
              <a:latin typeface="Calibri"/>
              <a:ea typeface="Calibri"/>
              <a:cs typeface="Calibri"/>
              <a:sym typeface="Calibri"/>
            </a:endParaRPr>
          </a:p>
        </p:txBody>
      </p:sp>
      <p:pic>
        <p:nvPicPr>
          <p:cNvPr id="646" name="Google Shape;646;g180549c7138_0_41"/>
          <p:cNvPicPr preferRelativeResize="0"/>
          <p:nvPr/>
        </p:nvPicPr>
        <p:blipFill>
          <a:blip r:embed="rId3">
            <a:alphaModFix/>
          </a:blip>
          <a:stretch>
            <a:fillRect/>
          </a:stretch>
        </p:blipFill>
        <p:spPr>
          <a:xfrm>
            <a:off x="2568775" y="1531850"/>
            <a:ext cx="5932925" cy="47868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180549c7138_0_46"/>
          <p:cNvSpPr txBox="1"/>
          <p:nvPr>
            <p:ph type="title"/>
          </p:nvPr>
        </p:nvSpPr>
        <p:spPr>
          <a:xfrm>
            <a:off x="914400" y="288925"/>
            <a:ext cx="4169700" cy="636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800"/>
              </a:spcAft>
              <a:buSzPts val="1800"/>
              <a:buNone/>
            </a:pPr>
            <a:r>
              <a:rPr b="1" lang="en-US" sz="3000">
                <a:solidFill>
                  <a:srgbClr val="273239"/>
                </a:solidFill>
                <a:highlight>
                  <a:srgbClr val="FFFFFF"/>
                </a:highlight>
                <a:latin typeface="Arial"/>
                <a:ea typeface="Arial"/>
                <a:cs typeface="Arial"/>
                <a:sym typeface="Arial"/>
              </a:rPr>
              <a:t>Pseudo Code</a:t>
            </a:r>
            <a:endParaRPr sz="6100"/>
          </a:p>
        </p:txBody>
      </p:sp>
      <p:sp>
        <p:nvSpPr>
          <p:cNvPr id="652" name="Google Shape;652;g180549c7138_0_46"/>
          <p:cNvSpPr txBox="1"/>
          <p:nvPr>
            <p:ph idx="1" type="body"/>
          </p:nvPr>
        </p:nvSpPr>
        <p:spPr>
          <a:xfrm>
            <a:off x="226125" y="1873175"/>
            <a:ext cx="5060100" cy="4910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1800"/>
              <a:buNone/>
            </a:pPr>
            <a:r>
              <a:t/>
            </a:r>
            <a:endParaRPr b="1" sz="1300">
              <a:solidFill>
                <a:srgbClr val="273239"/>
              </a:solidFill>
              <a:highlight>
                <a:srgbClr val="FFFFFF"/>
              </a:highlight>
              <a:latin typeface="Arial"/>
              <a:ea typeface="Arial"/>
              <a:cs typeface="Arial"/>
              <a:sym typeface="Arial"/>
            </a:endParaRPr>
          </a:p>
          <a:p>
            <a:pPr indent="0" lvl="0" marL="228600" marR="228600" rtl="0" algn="l">
              <a:lnSpc>
                <a:spcPct val="115000"/>
              </a:lnSpc>
              <a:spcBef>
                <a:spcPts val="800"/>
              </a:spcBef>
              <a:spcAft>
                <a:spcPts val="0"/>
              </a:spcAft>
              <a:buSzPts val="1800"/>
              <a:buNone/>
            </a:pPr>
            <a:r>
              <a:rPr i="1" lang="en-US" sz="1800">
                <a:solidFill>
                  <a:srgbClr val="273239"/>
                </a:solidFill>
                <a:latin typeface="Arial"/>
                <a:ea typeface="Arial"/>
                <a:cs typeface="Arial"/>
                <a:sym typeface="Arial"/>
              </a:rPr>
              <a:t>/* low  –&gt; Starting index,  high  –&gt; Ending index */</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quickSort(arr[], low, high) {</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    if (low &lt; high) {</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        /* pi is partitioning index, arr[pi] is now at right place */</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        pi = partition(arr, low, high);</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        quickSort(arr, low, pi – 1);  // Before pi</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        quickSort(arr, pi + 1, high); // After pi</a:t>
            </a:r>
            <a:endParaRPr i="1" sz="1800">
              <a:solidFill>
                <a:srgbClr val="273239"/>
              </a:solidFill>
              <a:latin typeface="Arial"/>
              <a:ea typeface="Arial"/>
              <a:cs typeface="Arial"/>
              <a:sym typeface="Arial"/>
            </a:endParaRPr>
          </a:p>
          <a:p>
            <a:pPr indent="0" lvl="0" marL="228600" marR="228600" rtl="0" algn="l">
              <a:lnSpc>
                <a:spcPct val="115000"/>
              </a:lnSpc>
              <a:spcBef>
                <a:spcPts val="0"/>
              </a:spcBef>
              <a:spcAft>
                <a:spcPts val="0"/>
              </a:spcAft>
              <a:buSzPts val="1800"/>
              <a:buNone/>
            </a:pPr>
            <a:r>
              <a:rPr i="1" lang="en-US" sz="1800">
                <a:solidFill>
                  <a:srgbClr val="273239"/>
                </a:solidFill>
                <a:latin typeface="Arial"/>
                <a:ea typeface="Arial"/>
                <a:cs typeface="Arial"/>
                <a:sym typeface="Arial"/>
              </a:rPr>
              <a:t>    }</a:t>
            </a:r>
            <a:endParaRPr sz="3300"/>
          </a:p>
        </p:txBody>
      </p:sp>
      <p:sp>
        <p:nvSpPr>
          <p:cNvPr id="653" name="Google Shape;653;g180549c7138_0_46"/>
          <p:cNvSpPr txBox="1"/>
          <p:nvPr/>
        </p:nvSpPr>
        <p:spPr>
          <a:xfrm>
            <a:off x="5912075" y="696925"/>
            <a:ext cx="6051000" cy="5306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partition (arr[], low, high)</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 pivot (Element to be placed at right position)</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pivot = arr[high];  </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i = (low – 1)  // Index of smaller element and indicates the </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 right position of pivot found so far</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for (j = low; j &lt;= high- 1; j++){</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 If current element is smaller than the pivot</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if (arr[j] &lt; pivot){</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i++;    // increment index of smaller element</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swap arr[i] and arr[j]</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    }</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swap arr[i + 1] and arr[high])</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0" i="1" lang="en-US" sz="1400" u="none" cap="none" strike="noStrike">
                <a:solidFill>
                  <a:srgbClr val="273239"/>
                </a:solidFill>
                <a:latin typeface="Arial"/>
                <a:ea typeface="Arial"/>
                <a:cs typeface="Arial"/>
                <a:sym typeface="Arial"/>
              </a:rPr>
              <a:t>    return (i + 1)</a:t>
            </a:r>
            <a:endParaRPr b="0" i="1" sz="1400" u="none" cap="none" strike="noStrike">
              <a:solidFill>
                <a:srgbClr val="273239"/>
              </a:solidFill>
              <a:latin typeface="Arial"/>
              <a:ea typeface="Arial"/>
              <a:cs typeface="Arial"/>
              <a:sym typeface="Arial"/>
            </a:endParaRPr>
          </a:p>
          <a:p>
            <a:pPr indent="0" lvl="0" marL="0" marR="0" rtl="0" algn="l">
              <a:lnSpc>
                <a:spcPct val="115000"/>
              </a:lnSpc>
              <a:spcBef>
                <a:spcPts val="800"/>
              </a:spcBef>
              <a:spcAft>
                <a:spcPts val="800"/>
              </a:spcAft>
              <a:buClr>
                <a:srgbClr val="000000"/>
              </a:buClr>
              <a:buSzPts val="1400"/>
              <a:buFont typeface="Arial"/>
              <a:buNone/>
            </a:pPr>
            <a:r>
              <a:rPr b="0" i="1" lang="en-US" sz="1400" u="none" cap="none" strike="noStrike">
                <a:solidFill>
                  <a:srgbClr val="273239"/>
                </a:solidFill>
                <a:latin typeface="Arial"/>
                <a:ea typeface="Arial"/>
                <a:cs typeface="Arial"/>
                <a:sym typeface="Arial"/>
              </a:rPr>
              <a:t>}</a:t>
            </a:r>
            <a:endParaRPr b="0" i="1" sz="1400" u="none" cap="none" strike="noStrike">
              <a:solidFill>
                <a:srgbClr val="273239"/>
              </a:solidFill>
              <a:latin typeface="Arial"/>
              <a:ea typeface="Arial"/>
              <a:cs typeface="Arial"/>
              <a:sym typeface="Arial"/>
            </a:endParaRPr>
          </a:p>
        </p:txBody>
      </p:sp>
      <p:sp>
        <p:nvSpPr>
          <p:cNvPr id="654" name="Google Shape;654;g180549c7138_0_46"/>
          <p:cNvSpPr txBox="1"/>
          <p:nvPr>
            <p:ph type="title"/>
          </p:nvPr>
        </p:nvSpPr>
        <p:spPr>
          <a:xfrm>
            <a:off x="6324600" y="60325"/>
            <a:ext cx="4169700" cy="636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800"/>
              </a:spcAft>
              <a:buSzPts val="1800"/>
              <a:buNone/>
            </a:pPr>
            <a:r>
              <a:rPr b="1" lang="en-US" sz="1800">
                <a:solidFill>
                  <a:srgbClr val="273239"/>
                </a:solidFill>
                <a:highlight>
                  <a:srgbClr val="FFFFFF"/>
                </a:highlight>
                <a:latin typeface="Arial"/>
                <a:ea typeface="Arial"/>
                <a:cs typeface="Arial"/>
                <a:sym typeface="Arial"/>
              </a:rPr>
              <a:t>Partition function:</a:t>
            </a:r>
            <a:endParaRPr sz="4900"/>
          </a:p>
        </p:txBody>
      </p:sp>
      <p:sp>
        <p:nvSpPr>
          <p:cNvPr id="655" name="Google Shape;655;g180549c7138_0_46"/>
          <p:cNvSpPr txBox="1"/>
          <p:nvPr>
            <p:ph type="title"/>
          </p:nvPr>
        </p:nvSpPr>
        <p:spPr>
          <a:xfrm>
            <a:off x="531550" y="1393900"/>
            <a:ext cx="2918400" cy="636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800"/>
              </a:spcAft>
              <a:buSzPts val="1800"/>
              <a:buNone/>
            </a:pPr>
            <a:r>
              <a:rPr b="1" lang="en-US" sz="1800">
                <a:solidFill>
                  <a:srgbClr val="273239"/>
                </a:solidFill>
                <a:highlight>
                  <a:srgbClr val="FFFFFF"/>
                </a:highlight>
                <a:latin typeface="Arial"/>
                <a:ea typeface="Arial"/>
                <a:cs typeface="Arial"/>
                <a:sym typeface="Arial"/>
              </a:rPr>
              <a:t>QuickSort function:</a:t>
            </a:r>
            <a:endParaRPr sz="4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on">
  <a:themeElements>
    <a:clrScheme name="Ion">
      <a:dk1>
        <a:srgbClr val="000000"/>
      </a:dk1>
      <a:lt1>
        <a:srgbClr val="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2022-11-03T04:40:40Z</dcterms:created>
  <dc:creator>Jean Damascene</dc:creator>
</cp:coreProperties>
</file>