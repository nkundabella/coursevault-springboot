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5143500" cx="9144000"/>
  <p:notesSz cx="6858000" cy="9144000"/>
  <p:embeddedFontLst>
    <p:embeddedFont>
      <p:font typeface="Proxima Nova"/>
      <p:regular r:id="rId23"/>
      <p:bold r:id="rId24"/>
      <p:italic r:id="rId25"/>
      <p:boldItalic r:id="rId26"/>
    </p:embeddedFont>
    <p:embeddedFont>
      <p:font typeface="Nunito"/>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148F640-CBB6-4A9C-AC96-E862B239324D}">
  <a:tblStyle styleId="{3148F640-CBB6-4A9C-AC96-E862B239324D}" styleName="Table_0">
    <a:wholeTbl>
      <a:tcTxStyle>
        <a:font>
          <a:latin typeface="Arial"/>
          <a:ea typeface="Arial"/>
          <a:cs typeface="Arial"/>
        </a:font>
        <a:srgbClr val="000000"/>
      </a:tcTxStyle>
      <a:tcStyle>
        <a:tcBdr>
          <a:left>
            <a:ln cap="flat" cmpd="sng">
              <a:solidFill>
                <a:srgbClr val="000000"/>
              </a:solidFill>
              <a:prstDash val="solid"/>
              <a:round/>
              <a:headEnd len="sm" w="sm" type="none"/>
              <a:tailEnd len="sm" w="sm" type="none"/>
            </a:ln>
          </a:left>
          <a:right>
            <a:ln cap="flat" cmpd="sng">
              <a:solidFill>
                <a:srgbClr val="000000"/>
              </a:solidFill>
              <a:prstDash val="solid"/>
              <a:round/>
              <a:headEnd len="sm" w="sm" type="none"/>
              <a:tailEnd len="sm" w="sm" type="none"/>
            </a:ln>
          </a:right>
          <a:top>
            <a:ln cap="flat" cmpd="sng">
              <a:solidFill>
                <a:srgbClr val="000000"/>
              </a:solidFill>
              <a:prstDash val="solid"/>
              <a:round/>
              <a:headEnd len="sm" w="sm" type="none"/>
              <a:tailEnd len="sm" w="sm" type="none"/>
            </a:ln>
          </a:top>
          <a:bottom>
            <a:ln cap="flat" cmpd="sng">
              <a:solidFill>
                <a:srgbClr val="000000"/>
              </a:solidFill>
              <a:prstDash val="solid"/>
              <a:round/>
              <a:headEnd len="sm" w="sm" type="none"/>
              <a:tailEnd len="sm" w="sm" type="none"/>
            </a:ln>
          </a:bottom>
          <a:insideH>
            <a:ln cap="flat" cmpd="sng">
              <a:solidFill>
                <a:srgbClr val="000000"/>
              </a:solidFill>
              <a:prstDash val="solid"/>
              <a:round/>
              <a:headEnd len="sm" w="sm" type="none"/>
              <a:tailEnd len="sm" w="sm" type="none"/>
            </a:ln>
          </a:insideH>
          <a:insideV>
            <a:ln cap="flat" cmpd="sng">
              <a:solidFill>
                <a:srgbClr val="000000"/>
              </a:solidFill>
              <a:prstDash val="solid"/>
              <a:round/>
              <a:headEnd len="sm" w="sm" type="none"/>
              <a:tailEnd len="sm" w="sm" type="none"/>
            </a:ln>
          </a:insideV>
        </a:tcBdr>
        <a:fill>
          <a:solidFill>
            <a:srgbClr val="FFFFFF"/>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ProximaNova-bold.fntdata"/><Relationship Id="rId23" Type="http://schemas.openxmlformats.org/officeDocument/2006/relationships/font" Target="fonts/ProximaNova-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ProximaNova-boldItalic.fntdata"/><Relationship Id="rId25" Type="http://schemas.openxmlformats.org/officeDocument/2006/relationships/font" Target="fonts/ProximaNova-italic.fntdata"/><Relationship Id="rId28" Type="http://schemas.openxmlformats.org/officeDocument/2006/relationships/font" Target="fonts/Nunito-bold.fntdata"/><Relationship Id="rId27" Type="http://schemas.openxmlformats.org/officeDocument/2006/relationships/font" Target="fonts/Nunito-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Nunito-italic.fntdata"/><Relationship Id="rId7" Type="http://schemas.openxmlformats.org/officeDocument/2006/relationships/slide" Target="slides/slide1.xml"/><Relationship Id="rId8" Type="http://schemas.openxmlformats.org/officeDocument/2006/relationships/slide" Target="slides/slide2.xml"/><Relationship Id="rId30" Type="http://schemas.openxmlformats.org/officeDocument/2006/relationships/font" Target="fonts/Nunito-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292d61fbee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292d61fbee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298232d26f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298232d26f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292d61fbee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292d61fbee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92d61fbee4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292d61fbee4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292d61fbee4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292d61fbee4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292d61fbee4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292d61fbee4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92d61fbee4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92d61fbee4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92d61fbee4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292d61fbee4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92d61fbee4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292d61fbee4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92d61fbee4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92d61fbee4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988e03ad3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2988e03ad3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92d61fbee4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92d61fbee4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92d61fbee4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292d61fbee4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98232d26ff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98232d26ff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988e03ad3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988e03ad3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pic>
        <p:nvPicPr>
          <p:cNvPr id="10" name="Google Shape;10;p2"/>
          <p:cNvPicPr preferRelativeResize="0"/>
          <p:nvPr/>
        </p:nvPicPr>
        <p:blipFill>
          <a:blip r:embed="rId2">
            <a:alphaModFix amt="10000"/>
          </a:blip>
          <a:stretch>
            <a:fillRect/>
          </a:stretch>
        </p:blipFill>
        <p:spPr>
          <a:xfrm>
            <a:off x="1754250" y="1176050"/>
            <a:ext cx="5551950" cy="2723925"/>
          </a:xfrm>
          <a:prstGeom prst="rect">
            <a:avLst/>
          </a:prstGeom>
          <a:noFill/>
          <a:ln>
            <a:noFill/>
          </a:ln>
          <a:effectLst>
            <a:outerShdw blurRad="200025" rotWithShape="0" algn="bl" dir="20700000" dist="19050">
              <a:srgbClr val="000000">
                <a:alpha val="80000"/>
              </a:srgbClr>
            </a:outerShdw>
          </a:effectLst>
        </p:spPr>
      </p:pic>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pic>
        <p:nvPicPr>
          <p:cNvPr id="14" name="Google Shape;14;p2"/>
          <p:cNvPicPr preferRelativeResize="0"/>
          <p:nvPr/>
        </p:nvPicPr>
        <p:blipFill>
          <a:blip r:embed="rId3">
            <a:alphaModFix/>
          </a:blip>
          <a:stretch>
            <a:fillRect/>
          </a:stretch>
        </p:blipFill>
        <p:spPr>
          <a:xfrm>
            <a:off x="0" y="4510525"/>
            <a:ext cx="601550" cy="601550"/>
          </a:xfrm>
          <a:prstGeom prst="rect">
            <a:avLst/>
          </a:prstGeom>
          <a:noFill/>
          <a:ln>
            <a:noFill/>
          </a:ln>
        </p:spPr>
      </p:pic>
      <p:sp>
        <p:nvSpPr>
          <p:cNvPr id="15" name="Google Shape;15;p2"/>
          <p:cNvSpPr txBox="1"/>
          <p:nvPr/>
        </p:nvSpPr>
        <p:spPr>
          <a:xfrm>
            <a:off x="4237800" y="4785275"/>
            <a:ext cx="12030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solidFill>
                  <a:srgbClr val="999999"/>
                </a:solidFill>
              </a:rPr>
              <a:t>DSA&amp;C++</a:t>
            </a:r>
            <a:endParaRPr b="1" sz="1600">
              <a:solidFill>
                <a:srgbClr val="999999"/>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pic>
        <p:nvPicPr>
          <p:cNvPr id="23" name="Google Shape;23;p4"/>
          <p:cNvPicPr preferRelativeResize="0"/>
          <p:nvPr/>
        </p:nvPicPr>
        <p:blipFill>
          <a:blip r:embed="rId2">
            <a:alphaModFix/>
          </a:blip>
          <a:stretch>
            <a:fillRect/>
          </a:stretch>
        </p:blipFill>
        <p:spPr>
          <a:xfrm>
            <a:off x="0" y="4585675"/>
            <a:ext cx="548700" cy="548700"/>
          </a:xfrm>
          <a:prstGeom prst="rect">
            <a:avLst/>
          </a:prstGeom>
          <a:noFill/>
          <a:ln>
            <a:noFill/>
          </a:ln>
        </p:spPr>
      </p:pic>
      <p:sp>
        <p:nvSpPr>
          <p:cNvPr id="24" name="Google Shape;24;p4"/>
          <p:cNvSpPr txBox="1"/>
          <p:nvPr/>
        </p:nvSpPr>
        <p:spPr>
          <a:xfrm>
            <a:off x="4237800" y="4785275"/>
            <a:ext cx="12030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600">
                <a:solidFill>
                  <a:srgbClr val="999999"/>
                </a:solidFill>
              </a:rPr>
              <a:t>DSA&amp;C++</a:t>
            </a:r>
            <a:endParaRPr b="1" sz="1600">
              <a:solidFill>
                <a:srgbClr val="999999"/>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5" name="Google Shape;35;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9" name="Google Shape;39;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0" name="Shape 40"/>
        <p:cNvGrpSpPr/>
        <p:nvPr/>
      </p:nvGrpSpPr>
      <p:grpSpPr>
        <a:xfrm>
          <a:off x="0" y="0"/>
          <a:ext cx="0" cy="0"/>
          <a:chOff x="0" y="0"/>
          <a:chExt cx="0" cy="0"/>
        </a:xfrm>
      </p:grpSpPr>
      <p:sp>
        <p:nvSpPr>
          <p:cNvPr id="41" name="Google Shape;41;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378700" y="863750"/>
            <a:ext cx="8520600" cy="1330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Vectors</a:t>
            </a:r>
            <a:endParaRPr/>
          </a:p>
        </p:txBody>
      </p:sp>
      <p:sp>
        <p:nvSpPr>
          <p:cNvPr id="60" name="Google Shape;60;p13"/>
          <p:cNvSpPr txBox="1"/>
          <p:nvPr>
            <p:ph idx="1" type="subTitle"/>
          </p:nvPr>
        </p:nvSpPr>
        <p:spPr>
          <a:xfrm>
            <a:off x="490425" y="337027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Dynamic Arrays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64025"/>
            <a:ext cx="8520600" cy="498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Vectors</a:t>
            </a:r>
            <a:endParaRPr b="1"/>
          </a:p>
        </p:txBody>
      </p:sp>
      <p:sp>
        <p:nvSpPr>
          <p:cNvPr id="66" name="Google Shape;66;p14"/>
          <p:cNvSpPr txBox="1"/>
          <p:nvPr>
            <p:ph idx="1" type="body"/>
          </p:nvPr>
        </p:nvSpPr>
        <p:spPr>
          <a:xfrm>
            <a:off x="536850" y="524150"/>
            <a:ext cx="8520600" cy="42816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a:solidFill>
                  <a:srgbClr val="212529"/>
                </a:solidFill>
                <a:latin typeface="Proxima Nova"/>
                <a:ea typeface="Proxima Nova"/>
                <a:cs typeface="Proxima Nova"/>
                <a:sym typeface="Proxima Nova"/>
              </a:rPr>
              <a:t>The simplest STL container is the vector, which is a data structure with contiguous blocks of memory just like an array. Because memory locations are contiguous, they can be randomly accessed so that the access time of any element of the vector is constant. </a:t>
            </a:r>
            <a:endParaRPr>
              <a:solidFill>
                <a:srgbClr val="212529"/>
              </a:solidFill>
              <a:latin typeface="Proxima Nova"/>
              <a:ea typeface="Proxima Nova"/>
              <a:cs typeface="Proxima Nova"/>
              <a:sym typeface="Proxima Nova"/>
            </a:endParaRPr>
          </a:p>
          <a:p>
            <a:pPr indent="0" lvl="0" marL="0" rtl="0" algn="l">
              <a:lnSpc>
                <a:spcPct val="115000"/>
              </a:lnSpc>
              <a:spcBef>
                <a:spcPts val="0"/>
              </a:spcBef>
              <a:spcAft>
                <a:spcPts val="0"/>
              </a:spcAft>
              <a:buNone/>
            </a:pPr>
            <a:r>
              <a:t/>
            </a:r>
            <a:endParaRPr>
              <a:solidFill>
                <a:srgbClr val="212529"/>
              </a:solidFill>
              <a:latin typeface="Proxima Nova"/>
              <a:ea typeface="Proxima Nova"/>
              <a:cs typeface="Proxima Nova"/>
              <a:sym typeface="Proxima Nova"/>
            </a:endParaRPr>
          </a:p>
          <a:p>
            <a:pPr indent="0" lvl="0" marL="0" rtl="0" algn="l">
              <a:lnSpc>
                <a:spcPct val="115000"/>
              </a:lnSpc>
              <a:spcBef>
                <a:spcPts val="0"/>
              </a:spcBef>
              <a:spcAft>
                <a:spcPts val="0"/>
              </a:spcAft>
              <a:buNone/>
            </a:pPr>
            <a:r>
              <a:rPr lang="en-GB">
                <a:solidFill>
                  <a:srgbClr val="212529"/>
                </a:solidFill>
                <a:latin typeface="Proxima Nova"/>
                <a:ea typeface="Proxima Nova"/>
                <a:cs typeface="Proxima Nova"/>
                <a:sym typeface="Proxima Nova"/>
              </a:rPr>
              <a:t>Storage is managed automatically so that in an attempt to insert an element into a full vector, a larger memory block is allocated for the vector, the vector elements are copied to the new block, and the old block is released. A vector is thus a flexible array; that is, an </a:t>
            </a:r>
            <a:r>
              <a:rPr b="1" lang="en-GB">
                <a:solidFill>
                  <a:srgbClr val="212529"/>
                </a:solidFill>
                <a:latin typeface="Proxima Nova"/>
                <a:ea typeface="Proxima Nova"/>
                <a:cs typeface="Proxima Nova"/>
                <a:sym typeface="Proxima Nova"/>
              </a:rPr>
              <a:t>array whose size can be dynamically changed ie.:</a:t>
            </a:r>
            <a:r>
              <a:rPr lang="en-GB">
                <a:solidFill>
                  <a:srgbClr val="212529"/>
                </a:solidFill>
                <a:latin typeface="Proxima Nova"/>
                <a:ea typeface="Proxima Nova"/>
                <a:cs typeface="Proxima Nova"/>
                <a:sym typeface="Proxima Nova"/>
              </a:rPr>
              <a:t> the size of a vector can grow dynamically.</a:t>
            </a:r>
            <a:endParaRPr>
              <a:solidFill>
                <a:srgbClr val="212529"/>
              </a:solidFill>
              <a:latin typeface="Proxima Nova"/>
              <a:ea typeface="Proxima Nova"/>
              <a:cs typeface="Proxima Nova"/>
              <a:sym typeface="Proxima Nova"/>
            </a:endParaRPr>
          </a:p>
          <a:p>
            <a:pPr indent="0" lvl="0" marL="0" rtl="0" algn="l">
              <a:lnSpc>
                <a:spcPct val="115000"/>
              </a:lnSpc>
              <a:spcBef>
                <a:spcPts val="0"/>
              </a:spcBef>
              <a:spcAft>
                <a:spcPts val="0"/>
              </a:spcAft>
              <a:buClr>
                <a:schemeClr val="dk1"/>
              </a:buClr>
              <a:buSzPts val="1100"/>
              <a:buFont typeface="Arial"/>
              <a:buNone/>
            </a:pPr>
            <a:r>
              <a:t/>
            </a:r>
            <a:endParaRPr>
              <a:solidFill>
                <a:srgbClr val="212529"/>
              </a:solidFill>
              <a:latin typeface="Proxima Nova"/>
              <a:ea typeface="Proxima Nova"/>
              <a:cs typeface="Proxima Nova"/>
              <a:sym typeface="Proxima Nova"/>
            </a:endParaRPr>
          </a:p>
          <a:p>
            <a:pPr indent="0" lvl="0" marL="0" rtl="0" algn="l">
              <a:lnSpc>
                <a:spcPct val="115000"/>
              </a:lnSpc>
              <a:spcBef>
                <a:spcPts val="0"/>
              </a:spcBef>
              <a:spcAft>
                <a:spcPts val="0"/>
              </a:spcAft>
              <a:buClr>
                <a:schemeClr val="dk1"/>
              </a:buClr>
              <a:buSzPts val="1100"/>
              <a:buFont typeface="Arial"/>
              <a:buNone/>
            </a:pPr>
            <a:r>
              <a:rPr lang="en-GB">
                <a:solidFill>
                  <a:srgbClr val="212529"/>
                </a:solidFill>
                <a:latin typeface="Proxima Nova"/>
                <a:ea typeface="Proxima Nova"/>
                <a:cs typeface="Proxima Nova"/>
                <a:sym typeface="Proxima Nova"/>
              </a:rPr>
              <a:t>To use vectors, we need to include the vector header file in our program.</a:t>
            </a:r>
            <a:endParaRPr>
              <a:solidFill>
                <a:srgbClr val="212529"/>
              </a:solidFill>
              <a:latin typeface="Proxima Nova"/>
              <a:ea typeface="Proxima Nova"/>
              <a:cs typeface="Proxima Nova"/>
              <a:sym typeface="Proxima Nova"/>
            </a:endParaRPr>
          </a:p>
          <a:p>
            <a:pPr indent="0" lvl="0" marL="0" rtl="0" algn="l">
              <a:lnSpc>
                <a:spcPct val="115000"/>
              </a:lnSpc>
              <a:spcBef>
                <a:spcPts val="0"/>
              </a:spcBef>
              <a:spcAft>
                <a:spcPts val="0"/>
              </a:spcAft>
              <a:buClr>
                <a:schemeClr val="dk1"/>
              </a:buClr>
              <a:buSzPts val="1100"/>
              <a:buFont typeface="Arial"/>
              <a:buNone/>
            </a:pPr>
            <a:r>
              <a:rPr b="1" lang="en-GB">
                <a:solidFill>
                  <a:srgbClr val="212529"/>
                </a:solidFill>
                <a:latin typeface="Proxima Nova"/>
                <a:ea typeface="Proxima Nova"/>
                <a:cs typeface="Proxima Nova"/>
                <a:sym typeface="Proxima Nova"/>
              </a:rPr>
              <a:t>#include &lt;vector&gt;</a:t>
            </a:r>
            <a:endParaRPr sz="1900">
              <a:solidFill>
                <a:srgbClr val="273239"/>
              </a:solidFill>
              <a:highlight>
                <a:srgbClr val="FFFFFF"/>
              </a:highlight>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64025"/>
            <a:ext cx="8520600" cy="498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C++ </a:t>
            </a:r>
            <a:r>
              <a:rPr b="1" lang="en-GB"/>
              <a:t>Vector declaration</a:t>
            </a:r>
            <a:endParaRPr b="1"/>
          </a:p>
        </p:txBody>
      </p:sp>
      <p:sp>
        <p:nvSpPr>
          <p:cNvPr id="72" name="Google Shape;72;p15"/>
          <p:cNvSpPr txBox="1"/>
          <p:nvPr>
            <p:ph idx="1" type="body"/>
          </p:nvPr>
        </p:nvSpPr>
        <p:spPr>
          <a:xfrm>
            <a:off x="536850" y="524150"/>
            <a:ext cx="8520600" cy="4281600"/>
          </a:xfrm>
          <a:prstGeom prst="rect">
            <a:avLst/>
          </a:prstGeom>
        </p:spPr>
        <p:txBody>
          <a:bodyPr anchorCtr="0" anchor="t" bIns="91425" lIns="91425" spcFirstLastPara="1" rIns="91425" wrap="square" tIns="91425">
            <a:normAutofit/>
          </a:bodyPr>
          <a:lstStyle/>
          <a:p>
            <a:pPr indent="0" lvl="0" marL="0" rtl="0" algn="l">
              <a:lnSpc>
                <a:spcPct val="115000"/>
              </a:lnSpc>
              <a:spcBef>
                <a:spcPts val="1200"/>
              </a:spcBef>
              <a:spcAft>
                <a:spcPts val="0"/>
              </a:spcAft>
              <a:buClr>
                <a:schemeClr val="dk1"/>
              </a:buClr>
              <a:buSzPts val="1100"/>
              <a:buFont typeface="Arial"/>
              <a:buNone/>
            </a:pPr>
            <a:r>
              <a:rPr lang="en-GB" sz="1900">
                <a:solidFill>
                  <a:srgbClr val="212529"/>
                </a:solidFill>
                <a:latin typeface="Proxima Nova"/>
                <a:ea typeface="Proxima Nova"/>
                <a:cs typeface="Proxima Nova"/>
                <a:sym typeface="Proxima Nova"/>
              </a:rPr>
              <a:t>Once we include the header file,then we can declare a vector in C++ as bellow :</a:t>
            </a:r>
            <a:endParaRPr sz="1900">
              <a:solidFill>
                <a:srgbClr val="212529"/>
              </a:solidFill>
              <a:latin typeface="Proxima Nova"/>
              <a:ea typeface="Proxima Nova"/>
              <a:cs typeface="Proxima Nova"/>
              <a:sym typeface="Proxima Nova"/>
            </a:endParaRPr>
          </a:p>
          <a:p>
            <a:pPr indent="0" lvl="0" marL="0" rtl="0" algn="l">
              <a:lnSpc>
                <a:spcPct val="115000"/>
              </a:lnSpc>
              <a:spcBef>
                <a:spcPts val="1200"/>
              </a:spcBef>
              <a:spcAft>
                <a:spcPts val="0"/>
              </a:spcAft>
              <a:buNone/>
            </a:pPr>
            <a:r>
              <a:rPr b="1" lang="en-GB" sz="1900">
                <a:solidFill>
                  <a:srgbClr val="212529"/>
                </a:solidFill>
                <a:latin typeface="Proxima Nova"/>
                <a:ea typeface="Proxima Nova"/>
                <a:cs typeface="Proxima Nova"/>
                <a:sym typeface="Proxima Nova"/>
              </a:rPr>
              <a:t>std::vector&lt;T&gt; vector_name;</a:t>
            </a:r>
            <a:endParaRPr b="1" sz="1900">
              <a:solidFill>
                <a:srgbClr val="212529"/>
              </a:solidFill>
              <a:latin typeface="Proxima Nova"/>
              <a:ea typeface="Proxima Nova"/>
              <a:cs typeface="Proxima Nova"/>
              <a:sym typeface="Proxima Nova"/>
            </a:endParaRPr>
          </a:p>
          <a:p>
            <a:pPr indent="0" lvl="0" marL="0" rtl="0" algn="l">
              <a:lnSpc>
                <a:spcPct val="115000"/>
              </a:lnSpc>
              <a:spcBef>
                <a:spcPts val="1200"/>
              </a:spcBef>
              <a:spcAft>
                <a:spcPts val="0"/>
              </a:spcAft>
              <a:buNone/>
            </a:pPr>
            <a:r>
              <a:rPr lang="en-GB" sz="1900">
                <a:solidFill>
                  <a:srgbClr val="212529"/>
                </a:solidFill>
                <a:latin typeface="Proxima Nova"/>
                <a:ea typeface="Proxima Nova"/>
                <a:cs typeface="Proxima Nova"/>
                <a:sym typeface="Proxima Nova"/>
              </a:rPr>
              <a:t>The type parameter &lt;T&gt; specifies the type of the vector. It can be any primitive data type such as int, char, float, etc. For example to declare a vector which dynamically store numbers we proceed as follow :</a:t>
            </a:r>
            <a:endParaRPr sz="1900">
              <a:solidFill>
                <a:srgbClr val="212529"/>
              </a:solidFill>
              <a:latin typeface="Proxima Nova"/>
              <a:ea typeface="Proxima Nova"/>
              <a:cs typeface="Proxima Nova"/>
              <a:sym typeface="Proxima Nova"/>
            </a:endParaRPr>
          </a:p>
          <a:p>
            <a:pPr indent="0" lvl="0" marL="0" rtl="0" algn="l">
              <a:lnSpc>
                <a:spcPct val="115000"/>
              </a:lnSpc>
              <a:spcBef>
                <a:spcPts val="1200"/>
              </a:spcBef>
              <a:spcAft>
                <a:spcPts val="0"/>
              </a:spcAft>
              <a:buNone/>
            </a:pPr>
            <a:r>
              <a:rPr lang="en-GB" sz="1900">
                <a:solidFill>
                  <a:srgbClr val="212529"/>
                </a:solidFill>
                <a:latin typeface="Proxima Nova"/>
                <a:ea typeface="Proxima Nova"/>
                <a:cs typeface="Proxima Nova"/>
                <a:sym typeface="Proxima Nova"/>
              </a:rPr>
              <a:t>vector&lt;</a:t>
            </a:r>
            <a:r>
              <a:rPr b="1" lang="en-GB" sz="1900">
                <a:solidFill>
                  <a:srgbClr val="212529"/>
                </a:solidFill>
                <a:latin typeface="Proxima Nova"/>
                <a:ea typeface="Proxima Nova"/>
                <a:cs typeface="Proxima Nova"/>
                <a:sym typeface="Proxima Nova"/>
              </a:rPr>
              <a:t>int</a:t>
            </a:r>
            <a:r>
              <a:rPr lang="en-GB" sz="1900">
                <a:solidFill>
                  <a:srgbClr val="212529"/>
                </a:solidFill>
                <a:latin typeface="Proxima Nova"/>
                <a:ea typeface="Proxima Nova"/>
                <a:cs typeface="Proxima Nova"/>
                <a:sym typeface="Proxima Nova"/>
              </a:rPr>
              <a:t>&gt; num;</a:t>
            </a:r>
            <a:endParaRPr sz="1900">
              <a:solidFill>
                <a:srgbClr val="212529"/>
              </a:solidFill>
              <a:latin typeface="Proxima Nova"/>
              <a:ea typeface="Proxima Nova"/>
              <a:cs typeface="Proxima Nova"/>
              <a:sym typeface="Proxima Nova"/>
            </a:endParaRPr>
          </a:p>
          <a:p>
            <a:pPr indent="0" lvl="0" marL="0" rtl="0" algn="l">
              <a:lnSpc>
                <a:spcPct val="115000"/>
              </a:lnSpc>
              <a:spcBef>
                <a:spcPts val="1200"/>
              </a:spcBef>
              <a:spcAft>
                <a:spcPts val="1200"/>
              </a:spcAft>
              <a:buNone/>
            </a:pPr>
            <a:r>
              <a:rPr lang="en-GB" sz="1900">
                <a:solidFill>
                  <a:srgbClr val="212529"/>
                </a:solidFill>
                <a:latin typeface="Proxima Nova"/>
                <a:ea typeface="Proxima Nova"/>
                <a:cs typeface="Proxima Nova"/>
                <a:sym typeface="Proxima Nova"/>
              </a:rPr>
              <a:t>Here, num is the name of the vector and  we do not specify the </a:t>
            </a:r>
            <a:r>
              <a:rPr b="1" lang="en-GB" sz="1900">
                <a:solidFill>
                  <a:srgbClr val="212529"/>
                </a:solidFill>
                <a:latin typeface="Proxima Nova"/>
                <a:ea typeface="Proxima Nova"/>
                <a:cs typeface="Proxima Nova"/>
                <a:sym typeface="Proxima Nova"/>
              </a:rPr>
              <a:t>size</a:t>
            </a:r>
            <a:r>
              <a:rPr lang="en-GB" sz="1900">
                <a:solidFill>
                  <a:srgbClr val="212529"/>
                </a:solidFill>
                <a:latin typeface="Proxima Nova"/>
                <a:ea typeface="Proxima Nova"/>
                <a:cs typeface="Proxima Nova"/>
                <a:sym typeface="Proxima Nova"/>
              </a:rPr>
              <a:t> of the vector during the declaration, because the size of a vector can grow dynamically so it is not necessary to define it.</a:t>
            </a:r>
            <a:endParaRPr sz="2000">
              <a:solidFill>
                <a:srgbClr val="273239"/>
              </a:solidFill>
              <a:highlight>
                <a:srgbClr val="FFFFFF"/>
              </a:highlight>
              <a:latin typeface="Nunito"/>
              <a:ea typeface="Nunito"/>
              <a:cs typeface="Nunito"/>
              <a:sym typeface="Nuni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213175" y="510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Vector Initialisation</a:t>
            </a:r>
            <a:endParaRPr/>
          </a:p>
        </p:txBody>
      </p:sp>
      <p:sp>
        <p:nvSpPr>
          <p:cNvPr id="78" name="Google Shape;78;p16"/>
          <p:cNvSpPr txBox="1"/>
          <p:nvPr>
            <p:ph idx="1" type="body"/>
          </p:nvPr>
        </p:nvSpPr>
        <p:spPr>
          <a:xfrm>
            <a:off x="276500" y="674000"/>
            <a:ext cx="3656700" cy="4012200"/>
          </a:xfrm>
          <a:prstGeom prst="rect">
            <a:avLst/>
          </a:prstGeom>
          <a:ln cap="flat" cmpd="sng" w="9525">
            <a:solidFill>
              <a:srgbClr val="000000"/>
            </a:solidFill>
            <a:prstDash val="dashDot"/>
            <a:round/>
            <a:headEnd len="sm" w="sm" type="none"/>
            <a:tailEnd len="sm" w="sm" type="none"/>
          </a:ln>
        </p:spPr>
        <p:txBody>
          <a:bodyPr anchorCtr="0" anchor="t" bIns="91425" lIns="91425" spcFirstLastPara="1" rIns="91425" wrap="square" tIns="91425">
            <a:normAutofit/>
          </a:bodyPr>
          <a:lstStyle/>
          <a:p>
            <a:pPr indent="0" lvl="0" marL="0" rtl="0" algn="l">
              <a:lnSpc>
                <a:spcPct val="115000"/>
              </a:lnSpc>
              <a:spcBef>
                <a:spcPts val="1800"/>
              </a:spcBef>
              <a:spcAft>
                <a:spcPts val="0"/>
              </a:spcAft>
              <a:buClr>
                <a:schemeClr val="dk1"/>
              </a:buClr>
              <a:buSzPts val="1100"/>
              <a:buFont typeface="Arial"/>
              <a:buNone/>
            </a:pPr>
            <a:r>
              <a:rPr b="1" lang="en-GB">
                <a:solidFill>
                  <a:srgbClr val="212529"/>
                </a:solidFill>
                <a:latin typeface="Proxima Nova"/>
                <a:ea typeface="Proxima Nova"/>
                <a:cs typeface="Proxima Nova"/>
                <a:sym typeface="Proxima Nova"/>
              </a:rPr>
              <a:t>C++ Vector Initialisation</a:t>
            </a:r>
            <a:endParaRPr b="1">
              <a:solidFill>
                <a:srgbClr val="212529"/>
              </a:solidFill>
              <a:latin typeface="Proxima Nova"/>
              <a:ea typeface="Proxima Nova"/>
              <a:cs typeface="Proxima Nova"/>
              <a:sym typeface="Proxima Nova"/>
            </a:endParaRPr>
          </a:p>
          <a:p>
            <a:pPr indent="0" lvl="0" marL="0" rtl="0" algn="l">
              <a:lnSpc>
                <a:spcPct val="115000"/>
              </a:lnSpc>
              <a:spcBef>
                <a:spcPts val="1200"/>
              </a:spcBef>
              <a:spcAft>
                <a:spcPts val="0"/>
              </a:spcAft>
              <a:buClr>
                <a:schemeClr val="dk1"/>
              </a:buClr>
              <a:buSzPts val="1100"/>
              <a:buFont typeface="Arial"/>
              <a:buNone/>
            </a:pPr>
            <a:r>
              <a:rPr lang="en-GB" sz="1300">
                <a:solidFill>
                  <a:srgbClr val="212529"/>
                </a:solidFill>
                <a:latin typeface="Proxima Nova"/>
                <a:ea typeface="Proxima Nova"/>
                <a:cs typeface="Proxima Nova"/>
                <a:sym typeface="Proxima Nova"/>
              </a:rPr>
              <a:t>There are 3 ways to initialize a vector in C++: </a:t>
            </a:r>
            <a:endParaRPr sz="1300">
              <a:solidFill>
                <a:srgbClr val="212529"/>
              </a:solidFill>
              <a:latin typeface="Proxima Nova"/>
              <a:ea typeface="Proxima Nova"/>
              <a:cs typeface="Proxima Nova"/>
              <a:sym typeface="Proxima Nova"/>
            </a:endParaRPr>
          </a:p>
          <a:p>
            <a:pPr indent="0" lvl="0" marL="0" rtl="0" algn="l">
              <a:lnSpc>
                <a:spcPct val="115000"/>
              </a:lnSpc>
              <a:spcBef>
                <a:spcPts val="1200"/>
              </a:spcBef>
              <a:spcAft>
                <a:spcPts val="0"/>
              </a:spcAft>
              <a:buClr>
                <a:schemeClr val="dk1"/>
              </a:buClr>
              <a:buSzPts val="1100"/>
              <a:buFont typeface="Arial"/>
              <a:buNone/>
            </a:pPr>
            <a:r>
              <a:rPr b="1" lang="en-GB" sz="1300">
                <a:solidFill>
                  <a:srgbClr val="212529"/>
                </a:solidFill>
                <a:latin typeface="Proxima Nova"/>
                <a:ea typeface="Proxima Nova"/>
                <a:cs typeface="Proxima Nova"/>
                <a:sym typeface="Proxima Nova"/>
              </a:rPr>
              <a:t>Method 1 and 2:</a:t>
            </a:r>
            <a:endParaRPr b="1" sz="1300">
              <a:solidFill>
                <a:srgbClr val="212529"/>
              </a:solidFill>
              <a:latin typeface="Proxima Nova"/>
              <a:ea typeface="Proxima Nova"/>
              <a:cs typeface="Proxima Nova"/>
              <a:sym typeface="Proxima Nova"/>
            </a:endParaRPr>
          </a:p>
          <a:p>
            <a:pPr indent="0" lvl="0" marL="0" rtl="0" algn="l">
              <a:lnSpc>
                <a:spcPct val="115000"/>
              </a:lnSpc>
              <a:spcBef>
                <a:spcPts val="1200"/>
              </a:spcBef>
              <a:spcAft>
                <a:spcPts val="0"/>
              </a:spcAft>
              <a:buClr>
                <a:schemeClr val="dk1"/>
              </a:buClr>
              <a:buSzPts val="1100"/>
              <a:buFont typeface="Arial"/>
              <a:buNone/>
            </a:pPr>
            <a:r>
              <a:rPr lang="en-GB" sz="1300">
                <a:solidFill>
                  <a:srgbClr val="212529"/>
                </a:solidFill>
                <a:latin typeface="Proxima Nova"/>
                <a:ea typeface="Proxima Nova"/>
                <a:cs typeface="Proxima Nova"/>
                <a:sym typeface="Proxima Nova"/>
              </a:rPr>
              <a:t>// list Initializer </a:t>
            </a:r>
            <a:endParaRPr sz="1300">
              <a:solidFill>
                <a:srgbClr val="212529"/>
              </a:solidFill>
              <a:latin typeface="Proxima Nova"/>
              <a:ea typeface="Proxima Nova"/>
              <a:cs typeface="Proxima Nova"/>
              <a:sym typeface="Proxima Nova"/>
            </a:endParaRPr>
          </a:p>
          <a:p>
            <a:pPr indent="0" lvl="0" marL="0" rtl="0" algn="l">
              <a:lnSpc>
                <a:spcPct val="115000"/>
              </a:lnSpc>
              <a:spcBef>
                <a:spcPts val="1200"/>
              </a:spcBef>
              <a:spcAft>
                <a:spcPts val="0"/>
              </a:spcAft>
              <a:buClr>
                <a:schemeClr val="dk1"/>
              </a:buClr>
              <a:buSzPts val="1100"/>
              <a:buFont typeface="Arial"/>
              <a:buNone/>
            </a:pPr>
            <a:r>
              <a:rPr lang="en-GB" sz="1300">
                <a:solidFill>
                  <a:srgbClr val="212529"/>
                </a:solidFill>
                <a:latin typeface="Proxima Nova"/>
                <a:ea typeface="Proxima Nova"/>
                <a:cs typeface="Proxima Nova"/>
                <a:sym typeface="Proxima Nova"/>
              </a:rPr>
              <a:t>vector&lt;int&gt; vector1 = {1, 2, 3, 4, 5};</a:t>
            </a:r>
            <a:endParaRPr sz="1300">
              <a:solidFill>
                <a:srgbClr val="212529"/>
              </a:solidFill>
              <a:latin typeface="Proxima Nova"/>
              <a:ea typeface="Proxima Nova"/>
              <a:cs typeface="Proxima Nova"/>
              <a:sym typeface="Proxima Nova"/>
            </a:endParaRPr>
          </a:p>
          <a:p>
            <a:pPr indent="0" lvl="0" marL="0" rtl="0" algn="l">
              <a:lnSpc>
                <a:spcPct val="115000"/>
              </a:lnSpc>
              <a:spcBef>
                <a:spcPts val="1200"/>
              </a:spcBef>
              <a:spcAft>
                <a:spcPts val="0"/>
              </a:spcAft>
              <a:buClr>
                <a:schemeClr val="dk1"/>
              </a:buClr>
              <a:buSzPts val="1100"/>
              <a:buFont typeface="Arial"/>
              <a:buNone/>
            </a:pPr>
            <a:r>
              <a:rPr lang="en-GB" sz="1300">
                <a:solidFill>
                  <a:srgbClr val="212529"/>
                </a:solidFill>
                <a:latin typeface="Proxima Nova"/>
                <a:ea typeface="Proxima Nova"/>
                <a:cs typeface="Proxima Nova"/>
                <a:sym typeface="Proxima Nova"/>
              </a:rPr>
              <a:t>// Uniform initialization</a:t>
            </a:r>
            <a:endParaRPr sz="1300">
              <a:solidFill>
                <a:srgbClr val="212529"/>
              </a:solidFill>
              <a:latin typeface="Proxima Nova"/>
              <a:ea typeface="Proxima Nova"/>
              <a:cs typeface="Proxima Nova"/>
              <a:sym typeface="Proxima Nova"/>
            </a:endParaRPr>
          </a:p>
          <a:p>
            <a:pPr indent="0" lvl="0" marL="0" rtl="0" algn="l">
              <a:lnSpc>
                <a:spcPct val="115000"/>
              </a:lnSpc>
              <a:spcBef>
                <a:spcPts val="1200"/>
              </a:spcBef>
              <a:spcAft>
                <a:spcPts val="0"/>
              </a:spcAft>
              <a:buClr>
                <a:schemeClr val="dk1"/>
              </a:buClr>
              <a:buSzPts val="1100"/>
              <a:buFont typeface="Arial"/>
              <a:buNone/>
            </a:pPr>
            <a:r>
              <a:rPr lang="en-GB" sz="1300">
                <a:solidFill>
                  <a:srgbClr val="212529"/>
                </a:solidFill>
                <a:latin typeface="Proxima Nova"/>
                <a:ea typeface="Proxima Nova"/>
                <a:cs typeface="Proxima Nova"/>
                <a:sym typeface="Proxima Nova"/>
              </a:rPr>
              <a:t>vector&lt;int&gt; vector2 {1, 2, 3, 4, 5};</a:t>
            </a:r>
            <a:endParaRPr sz="1300">
              <a:solidFill>
                <a:srgbClr val="212529"/>
              </a:solidFill>
              <a:latin typeface="Proxima Nova"/>
              <a:ea typeface="Proxima Nova"/>
              <a:cs typeface="Proxima Nova"/>
              <a:sym typeface="Proxima Nova"/>
            </a:endParaRPr>
          </a:p>
          <a:p>
            <a:pPr indent="0" lvl="0" marL="0" rtl="0" algn="l">
              <a:lnSpc>
                <a:spcPct val="115000"/>
              </a:lnSpc>
              <a:spcBef>
                <a:spcPts val="1200"/>
              </a:spcBef>
              <a:spcAft>
                <a:spcPts val="1200"/>
              </a:spcAft>
              <a:buNone/>
            </a:pPr>
            <a:r>
              <a:rPr lang="en-GB" sz="1300">
                <a:solidFill>
                  <a:srgbClr val="212529"/>
                </a:solidFill>
                <a:latin typeface="Proxima Nova"/>
                <a:ea typeface="Proxima Nova"/>
                <a:cs typeface="Proxima Nova"/>
                <a:sym typeface="Proxima Nova"/>
              </a:rPr>
              <a:t>Here, we are initializing the vector by providing values directly to the vector. Now, both vector1 and vector2 are initialized with values </a:t>
            </a:r>
            <a:r>
              <a:rPr b="1" lang="en-GB" sz="1300">
                <a:solidFill>
                  <a:srgbClr val="212529"/>
                </a:solidFill>
                <a:latin typeface="Proxima Nova"/>
                <a:ea typeface="Proxima Nova"/>
                <a:cs typeface="Proxima Nova"/>
                <a:sym typeface="Proxima Nova"/>
              </a:rPr>
              <a:t>1</a:t>
            </a:r>
            <a:r>
              <a:rPr lang="en-GB" sz="1300">
                <a:solidFill>
                  <a:srgbClr val="212529"/>
                </a:solidFill>
                <a:latin typeface="Proxima Nova"/>
                <a:ea typeface="Proxima Nova"/>
                <a:cs typeface="Proxima Nova"/>
                <a:sym typeface="Proxima Nova"/>
              </a:rPr>
              <a:t>, </a:t>
            </a:r>
            <a:r>
              <a:rPr b="1" lang="en-GB" sz="1300">
                <a:solidFill>
                  <a:srgbClr val="212529"/>
                </a:solidFill>
                <a:latin typeface="Proxima Nova"/>
                <a:ea typeface="Proxima Nova"/>
                <a:cs typeface="Proxima Nova"/>
                <a:sym typeface="Proxima Nova"/>
              </a:rPr>
              <a:t>2</a:t>
            </a:r>
            <a:r>
              <a:rPr lang="en-GB" sz="1300">
                <a:solidFill>
                  <a:srgbClr val="212529"/>
                </a:solidFill>
                <a:latin typeface="Proxima Nova"/>
                <a:ea typeface="Proxima Nova"/>
                <a:cs typeface="Proxima Nova"/>
                <a:sym typeface="Proxima Nova"/>
              </a:rPr>
              <a:t>, </a:t>
            </a:r>
            <a:r>
              <a:rPr b="1" lang="en-GB" sz="1300">
                <a:solidFill>
                  <a:srgbClr val="212529"/>
                </a:solidFill>
                <a:latin typeface="Proxima Nova"/>
                <a:ea typeface="Proxima Nova"/>
                <a:cs typeface="Proxima Nova"/>
                <a:sym typeface="Proxima Nova"/>
              </a:rPr>
              <a:t>3</a:t>
            </a:r>
            <a:r>
              <a:rPr lang="en-GB" sz="1300">
                <a:solidFill>
                  <a:srgbClr val="212529"/>
                </a:solidFill>
                <a:latin typeface="Proxima Nova"/>
                <a:ea typeface="Proxima Nova"/>
                <a:cs typeface="Proxima Nova"/>
                <a:sym typeface="Proxima Nova"/>
              </a:rPr>
              <a:t>, </a:t>
            </a:r>
            <a:r>
              <a:rPr b="1" lang="en-GB" sz="1300">
                <a:solidFill>
                  <a:srgbClr val="212529"/>
                </a:solidFill>
                <a:latin typeface="Proxima Nova"/>
                <a:ea typeface="Proxima Nova"/>
                <a:cs typeface="Proxima Nova"/>
                <a:sym typeface="Proxima Nova"/>
              </a:rPr>
              <a:t>4</a:t>
            </a:r>
            <a:r>
              <a:rPr lang="en-GB" sz="1300">
                <a:solidFill>
                  <a:srgbClr val="212529"/>
                </a:solidFill>
                <a:latin typeface="Proxima Nova"/>
                <a:ea typeface="Proxima Nova"/>
                <a:cs typeface="Proxima Nova"/>
                <a:sym typeface="Proxima Nova"/>
              </a:rPr>
              <a:t>, </a:t>
            </a:r>
            <a:r>
              <a:rPr b="1" lang="en-GB" sz="1300">
                <a:solidFill>
                  <a:srgbClr val="212529"/>
                </a:solidFill>
                <a:latin typeface="Proxima Nova"/>
                <a:ea typeface="Proxima Nova"/>
                <a:cs typeface="Proxima Nova"/>
                <a:sym typeface="Proxima Nova"/>
              </a:rPr>
              <a:t>5</a:t>
            </a:r>
            <a:r>
              <a:rPr lang="en-GB" sz="1300">
                <a:solidFill>
                  <a:srgbClr val="212529"/>
                </a:solidFill>
                <a:latin typeface="Proxima Nova"/>
                <a:ea typeface="Proxima Nova"/>
                <a:cs typeface="Proxima Nova"/>
                <a:sym typeface="Proxima Nova"/>
              </a:rPr>
              <a:t>.</a:t>
            </a:r>
            <a:endParaRPr sz="1900"/>
          </a:p>
        </p:txBody>
      </p:sp>
      <p:sp>
        <p:nvSpPr>
          <p:cNvPr id="79" name="Google Shape;79;p16"/>
          <p:cNvSpPr txBox="1"/>
          <p:nvPr/>
        </p:nvSpPr>
        <p:spPr>
          <a:xfrm>
            <a:off x="4446900" y="344775"/>
            <a:ext cx="3975600" cy="2625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GB" sz="1200">
                <a:solidFill>
                  <a:srgbClr val="212529"/>
                </a:solidFill>
                <a:latin typeface="Proxima Nova"/>
                <a:ea typeface="Proxima Nova"/>
                <a:cs typeface="Proxima Nova"/>
                <a:sym typeface="Proxima Nova"/>
              </a:rPr>
              <a:t>Method 3:</a:t>
            </a:r>
            <a:endParaRPr b="1" sz="1200">
              <a:solidFill>
                <a:srgbClr val="212529"/>
              </a:solidFill>
              <a:latin typeface="Proxima Nova"/>
              <a:ea typeface="Proxima Nova"/>
              <a:cs typeface="Proxima Nova"/>
              <a:sym typeface="Proxima Nova"/>
            </a:endParaRPr>
          </a:p>
          <a:p>
            <a:pPr indent="0" lvl="0" marL="0" rtl="0" algn="l">
              <a:lnSpc>
                <a:spcPct val="115000"/>
              </a:lnSpc>
              <a:spcBef>
                <a:spcPts val="1200"/>
              </a:spcBef>
              <a:spcAft>
                <a:spcPts val="0"/>
              </a:spcAft>
              <a:buNone/>
            </a:pPr>
            <a:r>
              <a:rPr b="1" lang="en-GB" sz="1200">
                <a:solidFill>
                  <a:srgbClr val="212529"/>
                </a:solidFill>
                <a:latin typeface="Proxima Nova"/>
                <a:ea typeface="Proxima Nova"/>
                <a:cs typeface="Proxima Nova"/>
                <a:sym typeface="Proxima Nova"/>
              </a:rPr>
              <a:t>// constructor initialization</a:t>
            </a:r>
            <a:endParaRPr b="1" sz="1200">
              <a:solidFill>
                <a:srgbClr val="212529"/>
              </a:solidFill>
              <a:latin typeface="Proxima Nova"/>
              <a:ea typeface="Proxima Nova"/>
              <a:cs typeface="Proxima Nova"/>
              <a:sym typeface="Proxima Nova"/>
            </a:endParaRPr>
          </a:p>
          <a:p>
            <a:pPr indent="0" lvl="0" marL="0" rtl="0" algn="l">
              <a:lnSpc>
                <a:spcPct val="115000"/>
              </a:lnSpc>
              <a:spcBef>
                <a:spcPts val="1200"/>
              </a:spcBef>
              <a:spcAft>
                <a:spcPts val="0"/>
              </a:spcAft>
              <a:buNone/>
            </a:pPr>
            <a:r>
              <a:rPr lang="en-GB" sz="1200">
                <a:solidFill>
                  <a:srgbClr val="212529"/>
                </a:solidFill>
                <a:latin typeface="Proxima Nova"/>
                <a:ea typeface="Proxima Nova"/>
                <a:cs typeface="Proxima Nova"/>
                <a:sym typeface="Proxima Nova"/>
              </a:rPr>
              <a:t>vector&lt;int&gt; vector3(5, 12);</a:t>
            </a:r>
            <a:endParaRPr sz="1200">
              <a:solidFill>
                <a:srgbClr val="212529"/>
              </a:solidFill>
              <a:latin typeface="Proxima Nova"/>
              <a:ea typeface="Proxima Nova"/>
              <a:cs typeface="Proxima Nova"/>
              <a:sym typeface="Proxima Nova"/>
            </a:endParaRPr>
          </a:p>
          <a:p>
            <a:pPr indent="0" lvl="0" marL="0" rtl="0" algn="l">
              <a:lnSpc>
                <a:spcPct val="115000"/>
              </a:lnSpc>
              <a:spcBef>
                <a:spcPts val="1200"/>
              </a:spcBef>
              <a:spcAft>
                <a:spcPts val="0"/>
              </a:spcAft>
              <a:buNone/>
            </a:pPr>
            <a:r>
              <a:rPr lang="en-GB" sz="1200">
                <a:solidFill>
                  <a:srgbClr val="212529"/>
                </a:solidFill>
                <a:latin typeface="Proxima Nova"/>
                <a:ea typeface="Proxima Nova"/>
                <a:cs typeface="Proxima Nova"/>
                <a:sym typeface="Proxima Nova"/>
              </a:rPr>
              <a:t>Here, </a:t>
            </a:r>
            <a:r>
              <a:rPr b="1" lang="en-GB" sz="1200">
                <a:solidFill>
                  <a:srgbClr val="212529"/>
                </a:solidFill>
                <a:latin typeface="Proxima Nova"/>
                <a:ea typeface="Proxima Nova"/>
                <a:cs typeface="Proxima Nova"/>
                <a:sym typeface="Proxima Nova"/>
              </a:rPr>
              <a:t>5</a:t>
            </a:r>
            <a:r>
              <a:rPr lang="en-GB" sz="1200">
                <a:solidFill>
                  <a:srgbClr val="212529"/>
                </a:solidFill>
                <a:latin typeface="Proxima Nova"/>
                <a:ea typeface="Proxima Nova"/>
                <a:cs typeface="Proxima Nova"/>
                <a:sym typeface="Proxima Nova"/>
              </a:rPr>
              <a:t> is the size of the vector and </a:t>
            </a:r>
            <a:r>
              <a:rPr b="1" lang="en-GB" sz="1200">
                <a:solidFill>
                  <a:srgbClr val="212529"/>
                </a:solidFill>
                <a:latin typeface="Proxima Nova"/>
                <a:ea typeface="Proxima Nova"/>
                <a:cs typeface="Proxima Nova"/>
                <a:sym typeface="Proxima Nova"/>
              </a:rPr>
              <a:t>12</a:t>
            </a:r>
            <a:r>
              <a:rPr lang="en-GB" sz="1200">
                <a:solidFill>
                  <a:srgbClr val="212529"/>
                </a:solidFill>
                <a:latin typeface="Proxima Nova"/>
                <a:ea typeface="Proxima Nova"/>
                <a:cs typeface="Proxima Nova"/>
                <a:sym typeface="Proxima Nova"/>
              </a:rPr>
              <a:t> is the value.</a:t>
            </a:r>
            <a:endParaRPr sz="1200">
              <a:solidFill>
                <a:srgbClr val="212529"/>
              </a:solidFill>
              <a:latin typeface="Proxima Nova"/>
              <a:ea typeface="Proxima Nova"/>
              <a:cs typeface="Proxima Nova"/>
              <a:sym typeface="Proxima Nova"/>
            </a:endParaRPr>
          </a:p>
          <a:p>
            <a:pPr indent="0" lvl="0" marL="0" rtl="0" algn="l">
              <a:lnSpc>
                <a:spcPct val="115000"/>
              </a:lnSpc>
              <a:spcBef>
                <a:spcPts val="1200"/>
              </a:spcBef>
              <a:spcAft>
                <a:spcPts val="0"/>
              </a:spcAft>
              <a:buNone/>
            </a:pPr>
            <a:r>
              <a:rPr lang="en-GB" sz="1200">
                <a:solidFill>
                  <a:srgbClr val="212529"/>
                </a:solidFill>
                <a:latin typeface="Proxima Nova"/>
                <a:ea typeface="Proxima Nova"/>
                <a:cs typeface="Proxima Nova"/>
                <a:sym typeface="Proxima Nova"/>
              </a:rPr>
              <a:t>This code creates an int vector with size </a:t>
            </a:r>
            <a:r>
              <a:rPr b="1" lang="en-GB" sz="1200">
                <a:solidFill>
                  <a:srgbClr val="212529"/>
                </a:solidFill>
                <a:latin typeface="Proxima Nova"/>
                <a:ea typeface="Proxima Nova"/>
                <a:cs typeface="Proxima Nova"/>
                <a:sym typeface="Proxima Nova"/>
              </a:rPr>
              <a:t>5</a:t>
            </a:r>
            <a:r>
              <a:rPr lang="en-GB" sz="1200">
                <a:solidFill>
                  <a:srgbClr val="212529"/>
                </a:solidFill>
                <a:latin typeface="Proxima Nova"/>
                <a:ea typeface="Proxima Nova"/>
                <a:cs typeface="Proxima Nova"/>
                <a:sym typeface="Proxima Nova"/>
              </a:rPr>
              <a:t> and initializes the vector with the value of </a:t>
            </a:r>
            <a:r>
              <a:rPr b="1" lang="en-GB" sz="1200">
                <a:solidFill>
                  <a:srgbClr val="212529"/>
                </a:solidFill>
                <a:latin typeface="Proxima Nova"/>
                <a:ea typeface="Proxima Nova"/>
                <a:cs typeface="Proxima Nova"/>
                <a:sym typeface="Proxima Nova"/>
              </a:rPr>
              <a:t>12</a:t>
            </a:r>
            <a:r>
              <a:rPr lang="en-GB" sz="1200">
                <a:solidFill>
                  <a:srgbClr val="212529"/>
                </a:solidFill>
                <a:latin typeface="Proxima Nova"/>
                <a:ea typeface="Proxima Nova"/>
                <a:cs typeface="Proxima Nova"/>
                <a:sym typeface="Proxima Nova"/>
              </a:rPr>
              <a:t>. So, the vector is equivalent to</a:t>
            </a:r>
            <a:endParaRPr sz="1200">
              <a:solidFill>
                <a:srgbClr val="212529"/>
              </a:solidFill>
              <a:latin typeface="Proxima Nova"/>
              <a:ea typeface="Proxima Nova"/>
              <a:cs typeface="Proxima Nova"/>
              <a:sym typeface="Proxima Nova"/>
            </a:endParaRPr>
          </a:p>
          <a:p>
            <a:pPr indent="0" lvl="0" marL="0" rtl="0" algn="l">
              <a:lnSpc>
                <a:spcPct val="115000"/>
              </a:lnSpc>
              <a:spcBef>
                <a:spcPts val="1200"/>
              </a:spcBef>
              <a:spcAft>
                <a:spcPts val="1200"/>
              </a:spcAft>
              <a:buNone/>
            </a:pPr>
            <a:r>
              <a:rPr b="1" lang="en-GB" sz="1200">
                <a:solidFill>
                  <a:srgbClr val="212529"/>
                </a:solidFill>
                <a:latin typeface="Proxima Nova"/>
                <a:ea typeface="Proxima Nova"/>
                <a:cs typeface="Proxima Nova"/>
                <a:sym typeface="Proxima Nova"/>
              </a:rPr>
              <a:t>vector&lt;int&gt; vector3 = {12, 12, 12, 12, 12};</a:t>
            </a:r>
            <a:endParaRPr b="1" sz="1200">
              <a:solidFill>
                <a:srgbClr val="212529"/>
              </a:solidFill>
              <a:latin typeface="Proxima Nova"/>
              <a:ea typeface="Proxima Nova"/>
              <a:cs typeface="Proxima Nova"/>
              <a:sym typeface="Proxima Nov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227250" y="107275"/>
            <a:ext cx="8520600" cy="371100"/>
          </a:xfrm>
          <a:prstGeom prst="rect">
            <a:avLst/>
          </a:prstGeom>
        </p:spPr>
        <p:txBody>
          <a:bodyPr anchorCtr="0" anchor="t" bIns="91425" lIns="91425" spcFirstLastPara="1" rIns="91425" wrap="square" tIns="91425">
            <a:normAutofit/>
          </a:bodyPr>
          <a:lstStyle/>
          <a:p>
            <a:pPr indent="0" lvl="0" marL="0" rtl="0" algn="l">
              <a:spcBef>
                <a:spcPts val="1400"/>
              </a:spcBef>
              <a:spcAft>
                <a:spcPts val="400"/>
              </a:spcAft>
              <a:buClr>
                <a:schemeClr val="dk1"/>
              </a:buClr>
              <a:buSzPts val="1100"/>
              <a:buFont typeface="Arial"/>
              <a:buNone/>
            </a:pPr>
            <a:r>
              <a:rPr b="1" lang="en-GB" sz="1200">
                <a:solidFill>
                  <a:srgbClr val="212529"/>
                </a:solidFill>
                <a:latin typeface="Proxima Nova"/>
                <a:ea typeface="Proxima Nova"/>
                <a:cs typeface="Proxima Nova"/>
                <a:sym typeface="Proxima Nova"/>
              </a:rPr>
              <a:t>C++ Vector Initialization sample program</a:t>
            </a:r>
            <a:endParaRPr/>
          </a:p>
        </p:txBody>
      </p:sp>
      <p:sp>
        <p:nvSpPr>
          <p:cNvPr id="85" name="Google Shape;85;p17"/>
          <p:cNvSpPr txBox="1"/>
          <p:nvPr>
            <p:ph idx="1" type="body"/>
          </p:nvPr>
        </p:nvSpPr>
        <p:spPr>
          <a:xfrm>
            <a:off x="771150" y="436175"/>
            <a:ext cx="3302700" cy="45525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GB" sz="1200">
                <a:solidFill>
                  <a:srgbClr val="212529"/>
                </a:solidFill>
                <a:latin typeface="Proxima Nova"/>
                <a:ea typeface="Proxima Nova"/>
                <a:cs typeface="Proxima Nova"/>
                <a:sym typeface="Proxima Nova"/>
              </a:rPr>
              <a:t>#include &lt;iostream&gt;</a:t>
            </a:r>
            <a:endParaRPr sz="1200">
              <a:solidFill>
                <a:srgbClr val="212529"/>
              </a:solidFill>
              <a:latin typeface="Proxima Nova"/>
              <a:ea typeface="Proxima Nova"/>
              <a:cs typeface="Proxima Nova"/>
              <a:sym typeface="Proxima Nova"/>
            </a:endParaRPr>
          </a:p>
          <a:p>
            <a:pPr indent="0" lvl="0" marL="0" rtl="0" algn="l">
              <a:lnSpc>
                <a:spcPct val="80000"/>
              </a:lnSpc>
              <a:spcBef>
                <a:spcPts val="0"/>
              </a:spcBef>
              <a:spcAft>
                <a:spcPts val="0"/>
              </a:spcAft>
              <a:buNone/>
            </a:pPr>
            <a:r>
              <a:rPr lang="en-GB" sz="1200">
                <a:solidFill>
                  <a:srgbClr val="212529"/>
                </a:solidFill>
                <a:latin typeface="Proxima Nova"/>
                <a:ea typeface="Proxima Nova"/>
                <a:cs typeface="Proxima Nova"/>
                <a:sym typeface="Proxima Nova"/>
              </a:rPr>
              <a:t>#include &lt;vector&gt;</a:t>
            </a:r>
            <a:endParaRPr sz="1200">
              <a:solidFill>
                <a:srgbClr val="212529"/>
              </a:solidFill>
              <a:latin typeface="Proxima Nova"/>
              <a:ea typeface="Proxima Nova"/>
              <a:cs typeface="Proxima Nova"/>
              <a:sym typeface="Proxima Nova"/>
            </a:endParaRPr>
          </a:p>
          <a:p>
            <a:pPr indent="0" lvl="0" marL="0" rtl="0" algn="l">
              <a:lnSpc>
                <a:spcPct val="80000"/>
              </a:lnSpc>
              <a:spcBef>
                <a:spcPts val="0"/>
              </a:spcBef>
              <a:spcAft>
                <a:spcPts val="0"/>
              </a:spcAft>
              <a:buNone/>
            </a:pPr>
            <a:r>
              <a:rPr lang="en-GB" sz="1200">
                <a:solidFill>
                  <a:srgbClr val="212529"/>
                </a:solidFill>
                <a:latin typeface="Proxima Nova"/>
                <a:ea typeface="Proxima Nova"/>
                <a:cs typeface="Proxima Nova"/>
                <a:sym typeface="Proxima Nova"/>
              </a:rPr>
              <a:t>using namespace std;</a:t>
            </a:r>
            <a:endParaRPr sz="1200">
              <a:solidFill>
                <a:srgbClr val="212529"/>
              </a:solidFill>
              <a:latin typeface="Proxima Nova"/>
              <a:ea typeface="Proxima Nova"/>
              <a:cs typeface="Proxima Nova"/>
              <a:sym typeface="Proxima Nova"/>
            </a:endParaRPr>
          </a:p>
          <a:p>
            <a:pPr indent="0" lvl="0" marL="0" rtl="0" algn="l">
              <a:lnSpc>
                <a:spcPct val="80000"/>
              </a:lnSpc>
              <a:spcBef>
                <a:spcPts val="0"/>
              </a:spcBef>
              <a:spcAft>
                <a:spcPts val="0"/>
              </a:spcAft>
              <a:buNone/>
            </a:pPr>
            <a:r>
              <a:rPr lang="en-GB" sz="1200">
                <a:solidFill>
                  <a:srgbClr val="212529"/>
                </a:solidFill>
                <a:latin typeface="Proxima Nova"/>
                <a:ea typeface="Proxima Nova"/>
                <a:cs typeface="Proxima Nova"/>
                <a:sym typeface="Proxima Nova"/>
              </a:rPr>
              <a:t>int main() {</a:t>
            </a:r>
            <a:endParaRPr sz="1200">
              <a:solidFill>
                <a:srgbClr val="212529"/>
              </a:solidFill>
              <a:latin typeface="Proxima Nova"/>
              <a:ea typeface="Proxima Nova"/>
              <a:cs typeface="Proxima Nova"/>
              <a:sym typeface="Proxima Nova"/>
            </a:endParaRPr>
          </a:p>
          <a:p>
            <a:pPr indent="0" lvl="0" marL="0" rtl="0" algn="l">
              <a:lnSpc>
                <a:spcPct val="80000"/>
              </a:lnSpc>
              <a:spcBef>
                <a:spcPts val="0"/>
              </a:spcBef>
              <a:spcAft>
                <a:spcPts val="0"/>
              </a:spcAft>
              <a:buNone/>
            </a:pPr>
            <a:r>
              <a:rPr lang="en-GB" sz="1200">
                <a:solidFill>
                  <a:srgbClr val="6AA84F"/>
                </a:solidFill>
                <a:latin typeface="Proxima Nova"/>
                <a:ea typeface="Proxima Nova"/>
                <a:cs typeface="Proxima Nova"/>
                <a:sym typeface="Proxima Nova"/>
              </a:rPr>
              <a:t>  // method 1</a:t>
            </a:r>
            <a:endParaRPr sz="1200">
              <a:solidFill>
                <a:srgbClr val="6AA84F"/>
              </a:solidFill>
              <a:latin typeface="Proxima Nova"/>
              <a:ea typeface="Proxima Nova"/>
              <a:cs typeface="Proxima Nova"/>
              <a:sym typeface="Proxima Nova"/>
            </a:endParaRPr>
          </a:p>
          <a:p>
            <a:pPr indent="0" lvl="0" marL="0" rtl="0" algn="l">
              <a:lnSpc>
                <a:spcPct val="80000"/>
              </a:lnSpc>
              <a:spcBef>
                <a:spcPts val="0"/>
              </a:spcBef>
              <a:spcAft>
                <a:spcPts val="0"/>
              </a:spcAft>
              <a:buNone/>
            </a:pPr>
            <a:r>
              <a:rPr lang="en-GB" sz="1200">
                <a:solidFill>
                  <a:srgbClr val="6AA84F"/>
                </a:solidFill>
                <a:latin typeface="Proxima Nova"/>
                <a:ea typeface="Proxima Nova"/>
                <a:cs typeface="Proxima Nova"/>
                <a:sym typeface="Proxima Nova"/>
              </a:rPr>
              <a:t>  // initializer list</a:t>
            </a:r>
            <a:endParaRPr sz="1200">
              <a:solidFill>
                <a:srgbClr val="6AA84F"/>
              </a:solidFill>
              <a:latin typeface="Proxima Nova"/>
              <a:ea typeface="Proxima Nova"/>
              <a:cs typeface="Proxima Nova"/>
              <a:sym typeface="Proxima Nova"/>
            </a:endParaRPr>
          </a:p>
          <a:p>
            <a:pPr indent="0" lvl="0" marL="0" rtl="0" algn="l">
              <a:lnSpc>
                <a:spcPct val="80000"/>
              </a:lnSpc>
              <a:spcBef>
                <a:spcPts val="0"/>
              </a:spcBef>
              <a:spcAft>
                <a:spcPts val="0"/>
              </a:spcAft>
              <a:buNone/>
            </a:pPr>
            <a:r>
              <a:rPr lang="en-GB" sz="1200">
                <a:solidFill>
                  <a:srgbClr val="212529"/>
                </a:solidFill>
                <a:latin typeface="Proxima Nova"/>
                <a:ea typeface="Proxima Nova"/>
                <a:cs typeface="Proxima Nova"/>
                <a:sym typeface="Proxima Nova"/>
              </a:rPr>
              <a:t>  vector&lt;int&gt; vector1 = {1, 2, 3, 4, 5};</a:t>
            </a:r>
            <a:endParaRPr sz="1200">
              <a:solidFill>
                <a:srgbClr val="212529"/>
              </a:solidFill>
              <a:latin typeface="Proxima Nova"/>
              <a:ea typeface="Proxima Nova"/>
              <a:cs typeface="Proxima Nova"/>
              <a:sym typeface="Proxima Nova"/>
            </a:endParaRPr>
          </a:p>
          <a:p>
            <a:pPr indent="0" lvl="0" marL="0" rtl="0" algn="l">
              <a:lnSpc>
                <a:spcPct val="80000"/>
              </a:lnSpc>
              <a:spcBef>
                <a:spcPts val="0"/>
              </a:spcBef>
              <a:spcAft>
                <a:spcPts val="0"/>
              </a:spcAft>
              <a:buNone/>
            </a:pPr>
            <a:r>
              <a:rPr lang="en-GB" sz="1200">
                <a:solidFill>
                  <a:srgbClr val="6AA84F"/>
                </a:solidFill>
                <a:latin typeface="Proxima Nova"/>
                <a:ea typeface="Proxima Nova"/>
                <a:cs typeface="Proxima Nova"/>
                <a:sym typeface="Proxima Nova"/>
              </a:rPr>
              <a:t>  // method 2</a:t>
            </a:r>
            <a:endParaRPr sz="1200">
              <a:solidFill>
                <a:srgbClr val="6AA84F"/>
              </a:solidFill>
              <a:latin typeface="Proxima Nova"/>
              <a:ea typeface="Proxima Nova"/>
              <a:cs typeface="Proxima Nova"/>
              <a:sym typeface="Proxima Nova"/>
            </a:endParaRPr>
          </a:p>
          <a:p>
            <a:pPr indent="0" lvl="0" marL="0" rtl="0" algn="l">
              <a:lnSpc>
                <a:spcPct val="80000"/>
              </a:lnSpc>
              <a:spcBef>
                <a:spcPts val="0"/>
              </a:spcBef>
              <a:spcAft>
                <a:spcPts val="0"/>
              </a:spcAft>
              <a:buNone/>
            </a:pPr>
            <a:r>
              <a:rPr lang="en-GB" sz="1200">
                <a:solidFill>
                  <a:srgbClr val="6AA84F"/>
                </a:solidFill>
                <a:latin typeface="Proxima Nova"/>
                <a:ea typeface="Proxima Nova"/>
                <a:cs typeface="Proxima Nova"/>
                <a:sym typeface="Proxima Nova"/>
              </a:rPr>
              <a:t>  // uniform initialization</a:t>
            </a:r>
            <a:endParaRPr sz="1200">
              <a:solidFill>
                <a:srgbClr val="6AA84F"/>
              </a:solidFill>
              <a:latin typeface="Proxima Nova"/>
              <a:ea typeface="Proxima Nova"/>
              <a:cs typeface="Proxima Nova"/>
              <a:sym typeface="Proxima Nova"/>
            </a:endParaRPr>
          </a:p>
          <a:p>
            <a:pPr indent="0" lvl="0" marL="0" rtl="0" algn="l">
              <a:lnSpc>
                <a:spcPct val="80000"/>
              </a:lnSpc>
              <a:spcBef>
                <a:spcPts val="0"/>
              </a:spcBef>
              <a:spcAft>
                <a:spcPts val="0"/>
              </a:spcAft>
              <a:buNone/>
            </a:pPr>
            <a:r>
              <a:rPr lang="en-GB" sz="1200">
                <a:solidFill>
                  <a:srgbClr val="212529"/>
                </a:solidFill>
                <a:latin typeface="Proxima Nova"/>
                <a:ea typeface="Proxima Nova"/>
                <a:cs typeface="Proxima Nova"/>
                <a:sym typeface="Proxima Nova"/>
              </a:rPr>
              <a:t>  vector&lt;int&gt; vector2{6, 7, 8, 9, 10};</a:t>
            </a:r>
            <a:endParaRPr sz="1200">
              <a:solidFill>
                <a:srgbClr val="212529"/>
              </a:solidFill>
              <a:latin typeface="Proxima Nova"/>
              <a:ea typeface="Proxima Nova"/>
              <a:cs typeface="Proxima Nova"/>
              <a:sym typeface="Proxima Nova"/>
            </a:endParaRPr>
          </a:p>
          <a:p>
            <a:pPr indent="0" lvl="0" marL="0" rtl="0" algn="l">
              <a:lnSpc>
                <a:spcPct val="80000"/>
              </a:lnSpc>
              <a:spcBef>
                <a:spcPts val="0"/>
              </a:spcBef>
              <a:spcAft>
                <a:spcPts val="0"/>
              </a:spcAft>
              <a:buNone/>
            </a:pPr>
            <a:r>
              <a:rPr lang="en-GB" sz="1200">
                <a:solidFill>
                  <a:srgbClr val="6AA84F"/>
                </a:solidFill>
                <a:latin typeface="Proxima Nova"/>
                <a:ea typeface="Proxima Nova"/>
                <a:cs typeface="Proxima Nova"/>
                <a:sym typeface="Proxima Nova"/>
              </a:rPr>
              <a:t>  // method 3</a:t>
            </a:r>
            <a:endParaRPr sz="1200">
              <a:solidFill>
                <a:srgbClr val="6AA84F"/>
              </a:solidFill>
              <a:latin typeface="Proxima Nova"/>
              <a:ea typeface="Proxima Nova"/>
              <a:cs typeface="Proxima Nova"/>
              <a:sym typeface="Proxima Nova"/>
            </a:endParaRPr>
          </a:p>
          <a:p>
            <a:pPr indent="0" lvl="0" marL="0" rtl="0" algn="l">
              <a:lnSpc>
                <a:spcPct val="80000"/>
              </a:lnSpc>
              <a:spcBef>
                <a:spcPts val="0"/>
              </a:spcBef>
              <a:spcAft>
                <a:spcPts val="0"/>
              </a:spcAft>
              <a:buNone/>
            </a:pPr>
            <a:r>
              <a:rPr lang="en-GB" sz="1200">
                <a:solidFill>
                  <a:srgbClr val="6AA84F"/>
                </a:solidFill>
                <a:latin typeface="Proxima Nova"/>
                <a:ea typeface="Proxima Nova"/>
                <a:cs typeface="Proxima Nova"/>
                <a:sym typeface="Proxima Nova"/>
              </a:rPr>
              <a:t>//constructor initialization</a:t>
            </a:r>
            <a:endParaRPr sz="1200">
              <a:solidFill>
                <a:srgbClr val="6AA84F"/>
              </a:solidFill>
              <a:latin typeface="Proxima Nova"/>
              <a:ea typeface="Proxima Nova"/>
              <a:cs typeface="Proxima Nova"/>
              <a:sym typeface="Proxima Nova"/>
            </a:endParaRPr>
          </a:p>
          <a:p>
            <a:pPr indent="0" lvl="0" marL="0" rtl="0" algn="l">
              <a:lnSpc>
                <a:spcPct val="80000"/>
              </a:lnSpc>
              <a:spcBef>
                <a:spcPts val="0"/>
              </a:spcBef>
              <a:spcAft>
                <a:spcPts val="0"/>
              </a:spcAft>
              <a:buNone/>
            </a:pPr>
            <a:r>
              <a:rPr lang="en-GB" sz="1200">
                <a:solidFill>
                  <a:srgbClr val="212529"/>
                </a:solidFill>
                <a:latin typeface="Proxima Nova"/>
                <a:ea typeface="Proxima Nova"/>
                <a:cs typeface="Proxima Nova"/>
                <a:sym typeface="Proxima Nova"/>
              </a:rPr>
              <a:t>  vector&lt;int&gt; vector3(5, 12);</a:t>
            </a:r>
            <a:endParaRPr sz="1200">
              <a:solidFill>
                <a:srgbClr val="212529"/>
              </a:solidFill>
              <a:latin typeface="Proxima Nova"/>
              <a:ea typeface="Proxima Nova"/>
              <a:cs typeface="Proxima Nova"/>
              <a:sym typeface="Proxima Nova"/>
            </a:endParaRPr>
          </a:p>
          <a:p>
            <a:pPr indent="0" lvl="0" marL="0" rtl="0" algn="l">
              <a:lnSpc>
                <a:spcPct val="80000"/>
              </a:lnSpc>
              <a:spcBef>
                <a:spcPts val="0"/>
              </a:spcBef>
              <a:spcAft>
                <a:spcPts val="0"/>
              </a:spcAft>
              <a:buNone/>
            </a:pPr>
            <a:r>
              <a:rPr lang="en-GB" sz="1200">
                <a:solidFill>
                  <a:srgbClr val="212529"/>
                </a:solidFill>
                <a:latin typeface="Proxima Nova"/>
                <a:ea typeface="Proxima Nova"/>
                <a:cs typeface="Proxima Nova"/>
                <a:sym typeface="Proxima Nova"/>
              </a:rPr>
              <a:t>  cout &lt;&lt; "vector from method 1 = ";</a:t>
            </a:r>
            <a:endParaRPr sz="1200">
              <a:solidFill>
                <a:srgbClr val="212529"/>
              </a:solidFill>
              <a:latin typeface="Proxima Nova"/>
              <a:ea typeface="Proxima Nova"/>
              <a:cs typeface="Proxima Nova"/>
              <a:sym typeface="Proxima Nova"/>
            </a:endParaRPr>
          </a:p>
          <a:p>
            <a:pPr indent="0" lvl="0" marL="0" rtl="0" algn="l">
              <a:lnSpc>
                <a:spcPct val="80000"/>
              </a:lnSpc>
              <a:spcBef>
                <a:spcPts val="0"/>
              </a:spcBef>
              <a:spcAft>
                <a:spcPts val="0"/>
              </a:spcAft>
              <a:buNone/>
            </a:pPr>
            <a:r>
              <a:rPr lang="en-GB" sz="1200">
                <a:solidFill>
                  <a:srgbClr val="212529"/>
                </a:solidFill>
                <a:latin typeface="Proxima Nova"/>
                <a:ea typeface="Proxima Nova"/>
                <a:cs typeface="Proxima Nova"/>
                <a:sym typeface="Proxima Nova"/>
              </a:rPr>
              <a:t>  for (int i = 0; i &lt; vector1.size(); i++) {</a:t>
            </a:r>
            <a:endParaRPr sz="1200">
              <a:solidFill>
                <a:srgbClr val="212529"/>
              </a:solidFill>
              <a:latin typeface="Proxima Nova"/>
              <a:ea typeface="Proxima Nova"/>
              <a:cs typeface="Proxima Nova"/>
              <a:sym typeface="Proxima Nova"/>
            </a:endParaRPr>
          </a:p>
          <a:p>
            <a:pPr indent="0" lvl="0" marL="0" rtl="0" algn="l">
              <a:lnSpc>
                <a:spcPct val="80000"/>
              </a:lnSpc>
              <a:spcBef>
                <a:spcPts val="0"/>
              </a:spcBef>
              <a:spcAft>
                <a:spcPts val="0"/>
              </a:spcAft>
              <a:buNone/>
            </a:pPr>
            <a:r>
              <a:rPr lang="en-GB" sz="1200">
                <a:solidFill>
                  <a:srgbClr val="212529"/>
                </a:solidFill>
                <a:latin typeface="Proxima Nova"/>
                <a:ea typeface="Proxima Nova"/>
                <a:cs typeface="Proxima Nova"/>
                <a:sym typeface="Proxima Nova"/>
              </a:rPr>
              <a:t>        cout &lt;&lt; vector1[i] &lt;&lt; " ";</a:t>
            </a:r>
            <a:endParaRPr sz="1200">
              <a:solidFill>
                <a:srgbClr val="212529"/>
              </a:solidFill>
              <a:latin typeface="Proxima Nova"/>
              <a:ea typeface="Proxima Nova"/>
              <a:cs typeface="Proxima Nova"/>
              <a:sym typeface="Proxima Nova"/>
            </a:endParaRPr>
          </a:p>
          <a:p>
            <a:pPr indent="0" lvl="0" marL="0" rtl="0" algn="l">
              <a:lnSpc>
                <a:spcPct val="80000"/>
              </a:lnSpc>
              <a:spcBef>
                <a:spcPts val="0"/>
              </a:spcBef>
              <a:spcAft>
                <a:spcPts val="0"/>
              </a:spcAft>
              <a:buNone/>
            </a:pPr>
            <a:r>
              <a:rPr lang="en-GB" sz="1200">
                <a:solidFill>
                  <a:srgbClr val="212529"/>
                </a:solidFill>
                <a:latin typeface="Proxima Nova"/>
                <a:ea typeface="Proxima Nova"/>
                <a:cs typeface="Proxima Nova"/>
                <a:sym typeface="Proxima Nova"/>
              </a:rPr>
              <a:t>    }</a:t>
            </a:r>
            <a:endParaRPr sz="1200">
              <a:solidFill>
                <a:srgbClr val="212529"/>
              </a:solidFill>
              <a:latin typeface="Proxima Nova"/>
              <a:ea typeface="Proxima Nova"/>
              <a:cs typeface="Proxima Nova"/>
              <a:sym typeface="Proxima Nova"/>
            </a:endParaRPr>
          </a:p>
          <a:p>
            <a:pPr indent="0" lvl="0" marL="0" rtl="0" algn="l">
              <a:lnSpc>
                <a:spcPct val="80000"/>
              </a:lnSpc>
              <a:spcBef>
                <a:spcPts val="0"/>
              </a:spcBef>
              <a:spcAft>
                <a:spcPts val="0"/>
              </a:spcAft>
              <a:buNone/>
            </a:pPr>
            <a:r>
              <a:rPr lang="en-GB" sz="1200">
                <a:solidFill>
                  <a:srgbClr val="212529"/>
                </a:solidFill>
                <a:latin typeface="Proxima Nova"/>
                <a:ea typeface="Proxima Nova"/>
                <a:cs typeface="Proxima Nova"/>
                <a:sym typeface="Proxima Nova"/>
              </a:rPr>
              <a:t>  </a:t>
            </a:r>
            <a:endParaRPr sz="1200">
              <a:solidFill>
                <a:srgbClr val="212529"/>
              </a:solidFill>
              <a:latin typeface="Proxima Nova"/>
              <a:ea typeface="Proxima Nova"/>
              <a:cs typeface="Proxima Nova"/>
              <a:sym typeface="Proxima Nova"/>
            </a:endParaRPr>
          </a:p>
          <a:p>
            <a:pPr indent="0" lvl="0" marL="0" rtl="0" algn="l">
              <a:lnSpc>
                <a:spcPct val="80000"/>
              </a:lnSpc>
              <a:spcBef>
                <a:spcPts val="0"/>
              </a:spcBef>
              <a:spcAft>
                <a:spcPts val="0"/>
              </a:spcAft>
              <a:buNone/>
            </a:pPr>
            <a:r>
              <a:rPr lang="en-GB" sz="1200">
                <a:solidFill>
                  <a:srgbClr val="212529"/>
                </a:solidFill>
                <a:latin typeface="Proxima Nova"/>
                <a:ea typeface="Proxima Nova"/>
                <a:cs typeface="Proxima Nova"/>
                <a:sym typeface="Proxima Nova"/>
              </a:rPr>
              <a:t>  cout &lt;&lt; "\n vector from method 2 = ";</a:t>
            </a:r>
            <a:endParaRPr sz="1200">
              <a:solidFill>
                <a:srgbClr val="212529"/>
              </a:solidFill>
              <a:latin typeface="Proxima Nova"/>
              <a:ea typeface="Proxima Nova"/>
              <a:cs typeface="Proxima Nova"/>
              <a:sym typeface="Proxima Nova"/>
            </a:endParaRPr>
          </a:p>
          <a:p>
            <a:pPr indent="0" lvl="0" marL="0" rtl="0" algn="l">
              <a:lnSpc>
                <a:spcPct val="80000"/>
              </a:lnSpc>
              <a:spcBef>
                <a:spcPts val="0"/>
              </a:spcBef>
              <a:spcAft>
                <a:spcPts val="0"/>
              </a:spcAft>
              <a:buNone/>
            </a:pPr>
            <a:r>
              <a:rPr lang="en-GB" sz="1200">
                <a:solidFill>
                  <a:srgbClr val="212529"/>
                </a:solidFill>
                <a:latin typeface="Proxima Nova"/>
                <a:ea typeface="Proxima Nova"/>
                <a:cs typeface="Proxima Nova"/>
                <a:sym typeface="Proxima Nova"/>
              </a:rPr>
              <a:t>    for (int i = 0; i &lt; vector2.size(); i++) {</a:t>
            </a:r>
            <a:endParaRPr sz="1200">
              <a:solidFill>
                <a:srgbClr val="212529"/>
              </a:solidFill>
              <a:latin typeface="Proxima Nova"/>
              <a:ea typeface="Proxima Nova"/>
              <a:cs typeface="Proxima Nova"/>
              <a:sym typeface="Proxima Nova"/>
            </a:endParaRPr>
          </a:p>
          <a:p>
            <a:pPr indent="0" lvl="0" marL="0" rtl="0" algn="l">
              <a:lnSpc>
                <a:spcPct val="80000"/>
              </a:lnSpc>
              <a:spcBef>
                <a:spcPts val="0"/>
              </a:spcBef>
              <a:spcAft>
                <a:spcPts val="0"/>
              </a:spcAft>
              <a:buNone/>
            </a:pPr>
            <a:r>
              <a:rPr lang="en-GB" sz="1200">
                <a:solidFill>
                  <a:srgbClr val="212529"/>
                </a:solidFill>
                <a:latin typeface="Proxima Nova"/>
                <a:ea typeface="Proxima Nova"/>
                <a:cs typeface="Proxima Nova"/>
                <a:sym typeface="Proxima Nova"/>
              </a:rPr>
              <a:t>        cout &lt;&lt; vector2[i] &lt;&lt; " ";</a:t>
            </a:r>
            <a:endParaRPr sz="1200">
              <a:solidFill>
                <a:srgbClr val="212529"/>
              </a:solidFill>
              <a:latin typeface="Proxima Nova"/>
              <a:ea typeface="Proxima Nova"/>
              <a:cs typeface="Proxima Nova"/>
              <a:sym typeface="Proxima Nova"/>
            </a:endParaRPr>
          </a:p>
          <a:p>
            <a:pPr indent="0" lvl="0" marL="0" rtl="0" algn="l">
              <a:lnSpc>
                <a:spcPct val="80000"/>
              </a:lnSpc>
              <a:spcBef>
                <a:spcPts val="0"/>
              </a:spcBef>
              <a:spcAft>
                <a:spcPts val="0"/>
              </a:spcAft>
              <a:buNone/>
            </a:pPr>
            <a:r>
              <a:rPr lang="en-GB" sz="1200">
                <a:solidFill>
                  <a:srgbClr val="212529"/>
                </a:solidFill>
                <a:latin typeface="Proxima Nova"/>
                <a:ea typeface="Proxima Nova"/>
                <a:cs typeface="Proxima Nova"/>
                <a:sym typeface="Proxima Nova"/>
              </a:rPr>
              <a:t>    }</a:t>
            </a:r>
            <a:endParaRPr sz="1200">
              <a:solidFill>
                <a:srgbClr val="212529"/>
              </a:solidFill>
              <a:latin typeface="Proxima Nova"/>
              <a:ea typeface="Proxima Nova"/>
              <a:cs typeface="Proxima Nova"/>
              <a:sym typeface="Proxima Nova"/>
            </a:endParaRPr>
          </a:p>
          <a:p>
            <a:pPr indent="0" lvl="0" marL="0" rtl="0" algn="l">
              <a:lnSpc>
                <a:spcPct val="80000"/>
              </a:lnSpc>
              <a:spcBef>
                <a:spcPts val="0"/>
              </a:spcBef>
              <a:spcAft>
                <a:spcPts val="0"/>
              </a:spcAft>
              <a:buNone/>
            </a:pPr>
            <a:r>
              <a:t/>
            </a:r>
            <a:endParaRPr sz="1200">
              <a:solidFill>
                <a:srgbClr val="212529"/>
              </a:solidFill>
              <a:latin typeface="Proxima Nova"/>
              <a:ea typeface="Proxima Nova"/>
              <a:cs typeface="Proxima Nova"/>
              <a:sym typeface="Proxima Nova"/>
            </a:endParaRPr>
          </a:p>
          <a:p>
            <a:pPr indent="0" lvl="0" marL="0" rtl="0" algn="l">
              <a:lnSpc>
                <a:spcPct val="80000"/>
              </a:lnSpc>
              <a:spcBef>
                <a:spcPts val="0"/>
              </a:spcBef>
              <a:spcAft>
                <a:spcPts val="0"/>
              </a:spcAft>
              <a:buNone/>
            </a:pPr>
            <a:r>
              <a:rPr lang="en-GB" sz="1200">
                <a:solidFill>
                  <a:srgbClr val="212529"/>
                </a:solidFill>
                <a:latin typeface="Proxima Nova"/>
                <a:ea typeface="Proxima Nova"/>
                <a:cs typeface="Proxima Nova"/>
                <a:sym typeface="Proxima Nova"/>
              </a:rPr>
              <a:t>  cout &lt;&lt; "\n vector from method 3 = ";</a:t>
            </a:r>
            <a:endParaRPr sz="1200">
              <a:solidFill>
                <a:srgbClr val="212529"/>
              </a:solidFill>
              <a:latin typeface="Proxima Nova"/>
              <a:ea typeface="Proxima Nova"/>
              <a:cs typeface="Proxima Nova"/>
              <a:sym typeface="Proxima Nova"/>
            </a:endParaRPr>
          </a:p>
          <a:p>
            <a:pPr indent="0" lvl="0" marL="0" rtl="0" algn="l">
              <a:lnSpc>
                <a:spcPct val="80000"/>
              </a:lnSpc>
              <a:spcBef>
                <a:spcPts val="0"/>
              </a:spcBef>
              <a:spcAft>
                <a:spcPts val="0"/>
              </a:spcAft>
              <a:buNone/>
            </a:pPr>
            <a:r>
              <a:rPr lang="en-GB" sz="1200">
                <a:solidFill>
                  <a:srgbClr val="212529"/>
                </a:solidFill>
                <a:latin typeface="Proxima Nova"/>
                <a:ea typeface="Proxima Nova"/>
                <a:cs typeface="Proxima Nova"/>
                <a:sym typeface="Proxima Nova"/>
              </a:rPr>
              <a:t>   for (int i = 0; i &lt; vector3.size(); i++) {</a:t>
            </a:r>
            <a:endParaRPr sz="1200">
              <a:solidFill>
                <a:srgbClr val="212529"/>
              </a:solidFill>
              <a:latin typeface="Proxima Nova"/>
              <a:ea typeface="Proxima Nova"/>
              <a:cs typeface="Proxima Nova"/>
              <a:sym typeface="Proxima Nova"/>
            </a:endParaRPr>
          </a:p>
          <a:p>
            <a:pPr indent="0" lvl="0" marL="0" rtl="0" algn="l">
              <a:lnSpc>
                <a:spcPct val="80000"/>
              </a:lnSpc>
              <a:spcBef>
                <a:spcPts val="0"/>
              </a:spcBef>
              <a:spcAft>
                <a:spcPts val="0"/>
              </a:spcAft>
              <a:buNone/>
            </a:pPr>
            <a:r>
              <a:rPr lang="en-GB" sz="1200">
                <a:solidFill>
                  <a:srgbClr val="212529"/>
                </a:solidFill>
                <a:latin typeface="Proxima Nova"/>
                <a:ea typeface="Proxima Nova"/>
                <a:cs typeface="Proxima Nova"/>
                <a:sym typeface="Proxima Nova"/>
              </a:rPr>
              <a:t>        cout &lt;&lt; vector3[i] &lt;&lt; " ";</a:t>
            </a:r>
            <a:endParaRPr sz="1200">
              <a:solidFill>
                <a:srgbClr val="212529"/>
              </a:solidFill>
              <a:latin typeface="Proxima Nova"/>
              <a:ea typeface="Proxima Nova"/>
              <a:cs typeface="Proxima Nova"/>
              <a:sym typeface="Proxima Nova"/>
            </a:endParaRPr>
          </a:p>
          <a:p>
            <a:pPr indent="0" lvl="0" marL="0" rtl="0" algn="l">
              <a:lnSpc>
                <a:spcPct val="80000"/>
              </a:lnSpc>
              <a:spcBef>
                <a:spcPts val="0"/>
              </a:spcBef>
              <a:spcAft>
                <a:spcPts val="0"/>
              </a:spcAft>
              <a:buNone/>
            </a:pPr>
            <a:r>
              <a:rPr lang="en-GB" sz="1200">
                <a:solidFill>
                  <a:srgbClr val="212529"/>
                </a:solidFill>
                <a:latin typeface="Proxima Nova"/>
                <a:ea typeface="Proxima Nova"/>
                <a:cs typeface="Proxima Nova"/>
                <a:sym typeface="Proxima Nova"/>
              </a:rPr>
              <a:t>    }</a:t>
            </a:r>
            <a:endParaRPr sz="1200">
              <a:solidFill>
                <a:srgbClr val="212529"/>
              </a:solidFill>
              <a:latin typeface="Proxima Nova"/>
              <a:ea typeface="Proxima Nova"/>
              <a:cs typeface="Proxima Nova"/>
              <a:sym typeface="Proxima Nova"/>
            </a:endParaRPr>
          </a:p>
          <a:p>
            <a:pPr indent="0" lvl="0" marL="0" rtl="0" algn="l">
              <a:lnSpc>
                <a:spcPct val="80000"/>
              </a:lnSpc>
              <a:spcBef>
                <a:spcPts val="0"/>
              </a:spcBef>
              <a:spcAft>
                <a:spcPts val="0"/>
              </a:spcAft>
              <a:buNone/>
            </a:pPr>
            <a:r>
              <a:rPr lang="en-GB" sz="1200">
                <a:solidFill>
                  <a:srgbClr val="212529"/>
                </a:solidFill>
                <a:latin typeface="Proxima Nova"/>
                <a:ea typeface="Proxima Nova"/>
                <a:cs typeface="Proxima Nova"/>
                <a:sym typeface="Proxima Nova"/>
              </a:rPr>
              <a:t>  return 0;</a:t>
            </a:r>
            <a:endParaRPr sz="1200">
              <a:solidFill>
                <a:srgbClr val="212529"/>
              </a:solidFill>
              <a:latin typeface="Proxima Nova"/>
              <a:ea typeface="Proxima Nova"/>
              <a:cs typeface="Proxima Nova"/>
              <a:sym typeface="Proxima Nova"/>
            </a:endParaRPr>
          </a:p>
          <a:p>
            <a:pPr indent="0" lvl="0" marL="0" rtl="0" algn="l">
              <a:lnSpc>
                <a:spcPct val="80000"/>
              </a:lnSpc>
              <a:spcBef>
                <a:spcPts val="0"/>
              </a:spcBef>
              <a:spcAft>
                <a:spcPts val="0"/>
              </a:spcAft>
              <a:buNone/>
            </a:pPr>
            <a:r>
              <a:rPr lang="en-GB" sz="1200">
                <a:solidFill>
                  <a:srgbClr val="212529"/>
                </a:solidFill>
                <a:latin typeface="Proxima Nova"/>
                <a:ea typeface="Proxima Nova"/>
                <a:cs typeface="Proxima Nova"/>
                <a:sym typeface="Proxima Nova"/>
              </a:rPr>
              <a:t>}</a:t>
            </a:r>
            <a:endParaRPr sz="1200">
              <a:solidFill>
                <a:srgbClr val="212529"/>
              </a:solidFill>
              <a:latin typeface="Proxima Nova"/>
              <a:ea typeface="Proxima Nova"/>
              <a:cs typeface="Proxima Nova"/>
              <a:sym typeface="Proxima Nova"/>
            </a:endParaRPr>
          </a:p>
          <a:p>
            <a:pPr indent="0" lvl="0" marL="0" rtl="0" algn="l">
              <a:lnSpc>
                <a:spcPct val="80000"/>
              </a:lnSpc>
              <a:spcBef>
                <a:spcPts val="0"/>
              </a:spcBef>
              <a:spcAft>
                <a:spcPts val="0"/>
              </a:spcAft>
              <a:buNone/>
            </a:pPr>
            <a:r>
              <a:t/>
            </a:r>
            <a:endParaRPr sz="1200">
              <a:solidFill>
                <a:srgbClr val="212529"/>
              </a:solidFill>
              <a:latin typeface="Proxima Nova"/>
              <a:ea typeface="Proxima Nova"/>
              <a:cs typeface="Proxima Nova"/>
              <a:sym typeface="Proxima Nova"/>
            </a:endParaRPr>
          </a:p>
        </p:txBody>
      </p:sp>
      <p:sp>
        <p:nvSpPr>
          <p:cNvPr id="86" name="Google Shape;86;p17"/>
          <p:cNvSpPr txBox="1"/>
          <p:nvPr/>
        </p:nvSpPr>
        <p:spPr>
          <a:xfrm>
            <a:off x="5453125" y="1402925"/>
            <a:ext cx="3000000" cy="1647000"/>
          </a:xfrm>
          <a:prstGeom prst="rect">
            <a:avLst/>
          </a:prstGeom>
          <a:noFill/>
          <a:ln>
            <a:noFill/>
          </a:ln>
        </p:spPr>
        <p:txBody>
          <a:bodyPr anchorCtr="0" anchor="t" bIns="91425" lIns="91425" spcFirstLastPara="1" rIns="91425" wrap="square" tIns="91425">
            <a:spAutoFit/>
          </a:bodyPr>
          <a:lstStyle/>
          <a:p>
            <a:pPr indent="0" lvl="0" marL="0" rtl="0" algn="l">
              <a:spcBef>
                <a:spcPts val="1200"/>
              </a:spcBef>
              <a:spcAft>
                <a:spcPts val="0"/>
              </a:spcAft>
              <a:buNone/>
            </a:pPr>
            <a:r>
              <a:rPr b="1" lang="en-GB" sz="1100">
                <a:solidFill>
                  <a:srgbClr val="212529"/>
                </a:solidFill>
                <a:latin typeface="Proxima Nova"/>
                <a:ea typeface="Proxima Nova"/>
                <a:cs typeface="Proxima Nova"/>
                <a:sym typeface="Proxima Nova"/>
              </a:rPr>
              <a:t>Output</a:t>
            </a:r>
            <a:endParaRPr b="1" sz="1100">
              <a:solidFill>
                <a:srgbClr val="212529"/>
              </a:solidFill>
              <a:latin typeface="Proxima Nova"/>
              <a:ea typeface="Proxima Nova"/>
              <a:cs typeface="Proxima Nova"/>
              <a:sym typeface="Proxima Nova"/>
            </a:endParaRPr>
          </a:p>
          <a:p>
            <a:pPr indent="0" lvl="0" marL="0" rtl="0" algn="l">
              <a:spcBef>
                <a:spcPts val="1200"/>
              </a:spcBef>
              <a:spcAft>
                <a:spcPts val="0"/>
              </a:spcAft>
              <a:buNone/>
            </a:pPr>
            <a:r>
              <a:rPr lang="en-GB" sz="1100">
                <a:solidFill>
                  <a:srgbClr val="212529"/>
                </a:solidFill>
                <a:latin typeface="Proxima Nova"/>
                <a:ea typeface="Proxima Nova"/>
                <a:cs typeface="Proxima Nova"/>
                <a:sym typeface="Proxima Nova"/>
              </a:rPr>
              <a:t>vector from method 1 = 1  2  3  4  5  </a:t>
            </a:r>
            <a:endParaRPr sz="1100">
              <a:solidFill>
                <a:srgbClr val="212529"/>
              </a:solidFill>
              <a:latin typeface="Proxima Nova"/>
              <a:ea typeface="Proxima Nova"/>
              <a:cs typeface="Proxima Nova"/>
              <a:sym typeface="Proxima Nova"/>
            </a:endParaRPr>
          </a:p>
          <a:p>
            <a:pPr indent="0" lvl="0" marL="0" rtl="0" algn="l">
              <a:spcBef>
                <a:spcPts val="1200"/>
              </a:spcBef>
              <a:spcAft>
                <a:spcPts val="0"/>
              </a:spcAft>
              <a:buNone/>
            </a:pPr>
            <a:r>
              <a:rPr lang="en-GB" sz="1100">
                <a:solidFill>
                  <a:srgbClr val="212529"/>
                </a:solidFill>
                <a:latin typeface="Proxima Nova"/>
                <a:ea typeface="Proxima Nova"/>
                <a:cs typeface="Proxima Nova"/>
                <a:sym typeface="Proxima Nova"/>
              </a:rPr>
              <a:t> vector from method 2 = 6  7  8  9  10  </a:t>
            </a:r>
            <a:endParaRPr sz="1100">
              <a:solidFill>
                <a:srgbClr val="212529"/>
              </a:solidFill>
              <a:latin typeface="Proxima Nova"/>
              <a:ea typeface="Proxima Nova"/>
              <a:cs typeface="Proxima Nova"/>
              <a:sym typeface="Proxima Nova"/>
            </a:endParaRPr>
          </a:p>
          <a:p>
            <a:pPr indent="0" lvl="0" marL="0" rtl="0" algn="l">
              <a:spcBef>
                <a:spcPts val="1200"/>
              </a:spcBef>
              <a:spcAft>
                <a:spcPts val="0"/>
              </a:spcAft>
              <a:buNone/>
            </a:pPr>
            <a:r>
              <a:rPr lang="en-GB" sz="1100">
                <a:solidFill>
                  <a:srgbClr val="212529"/>
                </a:solidFill>
                <a:latin typeface="Proxima Nova"/>
                <a:ea typeface="Proxima Nova"/>
                <a:cs typeface="Proxima Nova"/>
                <a:sym typeface="Proxima Nova"/>
              </a:rPr>
              <a:t> vector from method 3 = 12  12  12  12  12</a:t>
            </a:r>
            <a:endParaRPr sz="1100">
              <a:solidFill>
                <a:srgbClr val="212529"/>
              </a:solidFill>
              <a:latin typeface="Proxima Nova"/>
              <a:ea typeface="Proxima Nova"/>
              <a:cs typeface="Proxima Nova"/>
              <a:sym typeface="Proxima Nova"/>
            </a:endParaRPr>
          </a:p>
          <a:p>
            <a:pPr indent="0" lvl="0" marL="0" rtl="0" algn="l">
              <a:spcBef>
                <a:spcPts val="1200"/>
              </a:spcBef>
              <a:spcAft>
                <a:spcPts val="1200"/>
              </a:spcAft>
              <a:buNone/>
            </a:pPr>
            <a:r>
              <a:t/>
            </a:r>
            <a:endParaRPr sz="1100">
              <a:solidFill>
                <a:srgbClr val="212529"/>
              </a:solidFill>
              <a:latin typeface="Proxima Nova"/>
              <a:ea typeface="Proxima Nova"/>
              <a:cs typeface="Proxima Nova"/>
              <a:sym typeface="Proxima Nov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txBox="1"/>
          <p:nvPr>
            <p:ph type="title"/>
          </p:nvPr>
        </p:nvSpPr>
        <p:spPr>
          <a:xfrm>
            <a:off x="227250" y="107275"/>
            <a:ext cx="8520600" cy="371100"/>
          </a:xfrm>
          <a:prstGeom prst="rect">
            <a:avLst/>
          </a:prstGeom>
        </p:spPr>
        <p:txBody>
          <a:bodyPr anchorCtr="0" anchor="t" bIns="91425" lIns="91425" spcFirstLastPara="1" rIns="91425" wrap="square" tIns="91425">
            <a:normAutofit/>
          </a:bodyPr>
          <a:lstStyle/>
          <a:p>
            <a:pPr indent="0" lvl="0" marL="0" rtl="0" algn="l">
              <a:spcBef>
                <a:spcPts val="1400"/>
              </a:spcBef>
              <a:spcAft>
                <a:spcPts val="400"/>
              </a:spcAft>
              <a:buNone/>
            </a:pPr>
            <a:r>
              <a:rPr b="1" lang="en-GB" sz="1200">
                <a:solidFill>
                  <a:srgbClr val="212529"/>
                </a:solidFill>
                <a:latin typeface="Proxima Nova"/>
                <a:ea typeface="Proxima Nova"/>
                <a:cs typeface="Proxima Nova"/>
                <a:sym typeface="Proxima Nova"/>
              </a:rPr>
              <a:t>C++ Vector Initialization sample program</a:t>
            </a:r>
            <a:endParaRPr/>
          </a:p>
        </p:txBody>
      </p:sp>
      <p:sp>
        <p:nvSpPr>
          <p:cNvPr id="92" name="Google Shape;92;p18"/>
          <p:cNvSpPr txBox="1"/>
          <p:nvPr>
            <p:ph idx="1" type="body"/>
          </p:nvPr>
        </p:nvSpPr>
        <p:spPr>
          <a:xfrm>
            <a:off x="699600" y="554575"/>
            <a:ext cx="2683800" cy="4552500"/>
          </a:xfrm>
          <a:prstGeom prst="rect">
            <a:avLst/>
          </a:prstGeom>
          <a:solidFill>
            <a:srgbClr val="D9EAD3"/>
          </a:solidFill>
        </p:spPr>
        <p:txBody>
          <a:bodyPr anchorCtr="0" anchor="t" bIns="91425" lIns="91425" spcFirstLastPara="1" rIns="91425" wrap="square" tIns="91425">
            <a:normAutofit lnSpcReduction="10000"/>
          </a:bodyPr>
          <a:lstStyle/>
          <a:p>
            <a:pPr indent="0" lvl="0" marL="0" rtl="0" algn="l">
              <a:lnSpc>
                <a:spcPct val="100000"/>
              </a:lnSpc>
              <a:spcBef>
                <a:spcPts val="0"/>
              </a:spcBef>
              <a:spcAft>
                <a:spcPts val="0"/>
              </a:spcAft>
              <a:buNone/>
            </a:pPr>
            <a:r>
              <a:rPr lang="en-GB" sz="1100">
                <a:solidFill>
                  <a:srgbClr val="212529"/>
                </a:solidFill>
                <a:latin typeface="Proxima Nova"/>
                <a:ea typeface="Proxima Nova"/>
                <a:cs typeface="Proxima Nova"/>
                <a:sym typeface="Proxima Nova"/>
              </a:rPr>
              <a:t>#include &lt;iostream&gt;</a:t>
            </a:r>
            <a:endParaRPr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lang="en-GB" sz="1100">
                <a:solidFill>
                  <a:srgbClr val="212529"/>
                </a:solidFill>
                <a:latin typeface="Proxima Nova"/>
                <a:ea typeface="Proxima Nova"/>
                <a:cs typeface="Proxima Nova"/>
                <a:sym typeface="Proxima Nova"/>
              </a:rPr>
              <a:t>#include &lt;vector&gt;</a:t>
            </a:r>
            <a:endParaRPr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lang="en-GB" sz="1100">
                <a:solidFill>
                  <a:srgbClr val="212529"/>
                </a:solidFill>
                <a:latin typeface="Proxima Nova"/>
                <a:ea typeface="Proxima Nova"/>
                <a:cs typeface="Proxima Nova"/>
                <a:sym typeface="Proxima Nova"/>
              </a:rPr>
              <a:t>using namespace std;</a:t>
            </a:r>
            <a:endParaRPr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lang="en-GB" sz="1100">
                <a:solidFill>
                  <a:srgbClr val="212529"/>
                </a:solidFill>
                <a:latin typeface="Proxima Nova"/>
                <a:ea typeface="Proxima Nova"/>
                <a:cs typeface="Proxima Nova"/>
                <a:sym typeface="Proxima Nova"/>
              </a:rPr>
              <a:t>int main() {</a:t>
            </a:r>
            <a:endParaRPr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lang="en-GB" sz="1100">
                <a:solidFill>
                  <a:srgbClr val="212529"/>
                </a:solidFill>
                <a:latin typeface="Proxima Nova"/>
                <a:ea typeface="Proxima Nova"/>
                <a:cs typeface="Proxima Nova"/>
                <a:sym typeface="Proxima Nova"/>
              </a:rPr>
              <a:t>  </a:t>
            </a:r>
            <a:r>
              <a:rPr b="1" lang="en-GB" sz="1100">
                <a:solidFill>
                  <a:srgbClr val="212529"/>
                </a:solidFill>
                <a:latin typeface="Proxima Nova"/>
                <a:ea typeface="Proxima Nova"/>
                <a:cs typeface="Proxima Nova"/>
                <a:sym typeface="Proxima Nova"/>
              </a:rPr>
              <a:t>// method 1</a:t>
            </a:r>
            <a:endParaRPr b="1"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b="1" lang="en-GB" sz="1100">
                <a:solidFill>
                  <a:srgbClr val="212529"/>
                </a:solidFill>
                <a:latin typeface="Proxima Nova"/>
                <a:ea typeface="Proxima Nova"/>
                <a:cs typeface="Proxima Nova"/>
                <a:sym typeface="Proxima Nova"/>
              </a:rPr>
              <a:t>  // initializer list</a:t>
            </a:r>
            <a:endParaRPr b="1"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lang="en-GB" sz="1100">
                <a:solidFill>
                  <a:srgbClr val="212529"/>
                </a:solidFill>
                <a:latin typeface="Proxima Nova"/>
                <a:ea typeface="Proxima Nova"/>
                <a:cs typeface="Proxima Nova"/>
                <a:sym typeface="Proxima Nova"/>
              </a:rPr>
              <a:t>  vector&lt;int&gt; vector1 = {1, 2, 3, 4, 5};</a:t>
            </a:r>
            <a:endParaRPr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b="1" lang="en-GB" sz="1100">
                <a:solidFill>
                  <a:srgbClr val="212529"/>
                </a:solidFill>
                <a:latin typeface="Proxima Nova"/>
                <a:ea typeface="Proxima Nova"/>
                <a:cs typeface="Proxima Nova"/>
                <a:sym typeface="Proxima Nova"/>
              </a:rPr>
              <a:t>  // method 2</a:t>
            </a:r>
            <a:endParaRPr b="1"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b="1" lang="en-GB" sz="1100">
                <a:solidFill>
                  <a:srgbClr val="212529"/>
                </a:solidFill>
                <a:latin typeface="Proxima Nova"/>
                <a:ea typeface="Proxima Nova"/>
                <a:cs typeface="Proxima Nova"/>
                <a:sym typeface="Proxima Nova"/>
              </a:rPr>
              <a:t>  // uniform initialization</a:t>
            </a:r>
            <a:endParaRPr b="1"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lang="en-GB" sz="1100">
                <a:solidFill>
                  <a:srgbClr val="212529"/>
                </a:solidFill>
                <a:latin typeface="Proxima Nova"/>
                <a:ea typeface="Proxima Nova"/>
                <a:cs typeface="Proxima Nova"/>
                <a:sym typeface="Proxima Nova"/>
              </a:rPr>
              <a:t>  vector&lt;int&gt; vector2{6, 7, 8, 9, 10};</a:t>
            </a:r>
            <a:endParaRPr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b="1" lang="en-GB" sz="1100">
                <a:solidFill>
                  <a:srgbClr val="212529"/>
                </a:solidFill>
                <a:latin typeface="Proxima Nova"/>
                <a:ea typeface="Proxima Nova"/>
                <a:cs typeface="Proxima Nova"/>
                <a:sym typeface="Proxima Nova"/>
              </a:rPr>
              <a:t>  // method 3</a:t>
            </a:r>
            <a:endParaRPr b="1"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b="1" lang="en-GB" sz="1100">
                <a:solidFill>
                  <a:srgbClr val="212529"/>
                </a:solidFill>
                <a:latin typeface="Proxima Nova"/>
                <a:ea typeface="Proxima Nova"/>
                <a:cs typeface="Proxima Nova"/>
                <a:sym typeface="Proxima Nova"/>
              </a:rPr>
              <a:t>//constructor initialization</a:t>
            </a:r>
            <a:endParaRPr b="1"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lang="en-GB" sz="1100">
                <a:solidFill>
                  <a:srgbClr val="212529"/>
                </a:solidFill>
                <a:latin typeface="Proxima Nova"/>
                <a:ea typeface="Proxima Nova"/>
                <a:cs typeface="Proxima Nova"/>
                <a:sym typeface="Proxima Nova"/>
              </a:rPr>
              <a:t>  vector&lt;int&gt; vector3(5, 12);</a:t>
            </a:r>
            <a:endParaRPr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lang="en-GB" sz="1100">
                <a:solidFill>
                  <a:srgbClr val="212529"/>
                </a:solidFill>
                <a:latin typeface="Proxima Nova"/>
                <a:ea typeface="Proxima Nova"/>
                <a:cs typeface="Proxima Nova"/>
                <a:sym typeface="Proxima Nova"/>
              </a:rPr>
              <a:t>  cout &lt;&lt; "vector from method 1 = ";</a:t>
            </a:r>
            <a:endParaRPr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lang="en-GB" sz="1100">
                <a:solidFill>
                  <a:srgbClr val="212529"/>
                </a:solidFill>
                <a:latin typeface="Proxima Nova"/>
                <a:ea typeface="Proxima Nova"/>
                <a:cs typeface="Proxima Nova"/>
                <a:sym typeface="Proxima Nova"/>
              </a:rPr>
              <a:t>  for (int i : vector1) {</a:t>
            </a:r>
            <a:endParaRPr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lang="en-GB" sz="1100">
                <a:solidFill>
                  <a:srgbClr val="212529"/>
                </a:solidFill>
                <a:latin typeface="Proxima Nova"/>
                <a:ea typeface="Proxima Nova"/>
                <a:cs typeface="Proxima Nova"/>
                <a:sym typeface="Proxima Nova"/>
              </a:rPr>
              <a:t>    cout &lt;&lt; i &lt;&lt; "  ";</a:t>
            </a:r>
            <a:endParaRPr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lang="en-GB" sz="1100">
                <a:solidFill>
                  <a:srgbClr val="212529"/>
                </a:solidFill>
                <a:latin typeface="Proxima Nova"/>
                <a:ea typeface="Proxima Nova"/>
                <a:cs typeface="Proxima Nova"/>
                <a:sym typeface="Proxima Nova"/>
              </a:rPr>
              <a:t>  }</a:t>
            </a:r>
            <a:endParaRPr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lang="en-GB" sz="1100">
                <a:solidFill>
                  <a:srgbClr val="212529"/>
                </a:solidFill>
                <a:latin typeface="Proxima Nova"/>
                <a:ea typeface="Proxima Nova"/>
                <a:cs typeface="Proxima Nova"/>
                <a:sym typeface="Proxima Nova"/>
              </a:rPr>
              <a:t>  cout &lt;&lt; "\n vector from method 2 = ";</a:t>
            </a:r>
            <a:endParaRPr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lang="en-GB" sz="1100">
                <a:solidFill>
                  <a:srgbClr val="212529"/>
                </a:solidFill>
                <a:latin typeface="Proxima Nova"/>
                <a:ea typeface="Proxima Nova"/>
                <a:cs typeface="Proxima Nova"/>
                <a:sym typeface="Proxima Nova"/>
              </a:rPr>
              <a:t>  for (int  i : vector2) {</a:t>
            </a:r>
            <a:endParaRPr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lang="en-GB" sz="1100">
                <a:solidFill>
                  <a:srgbClr val="212529"/>
                </a:solidFill>
                <a:latin typeface="Proxima Nova"/>
                <a:ea typeface="Proxima Nova"/>
                <a:cs typeface="Proxima Nova"/>
                <a:sym typeface="Proxima Nova"/>
              </a:rPr>
              <a:t>    cout &lt;&lt; i &lt;&lt; "  ";</a:t>
            </a:r>
            <a:endParaRPr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lang="en-GB" sz="1100">
                <a:solidFill>
                  <a:srgbClr val="212529"/>
                </a:solidFill>
                <a:latin typeface="Proxima Nova"/>
                <a:ea typeface="Proxima Nova"/>
                <a:cs typeface="Proxima Nova"/>
                <a:sym typeface="Proxima Nova"/>
              </a:rPr>
              <a:t>  }</a:t>
            </a:r>
            <a:endParaRPr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lang="en-GB" sz="1100">
                <a:solidFill>
                  <a:srgbClr val="212529"/>
                </a:solidFill>
                <a:latin typeface="Proxima Nova"/>
                <a:ea typeface="Proxima Nova"/>
                <a:cs typeface="Proxima Nova"/>
                <a:sym typeface="Proxima Nova"/>
              </a:rPr>
              <a:t>  cout &lt;&lt; "\n vector from method 3 = ";</a:t>
            </a:r>
            <a:endParaRPr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lang="en-GB" sz="1100">
                <a:solidFill>
                  <a:srgbClr val="212529"/>
                </a:solidFill>
                <a:latin typeface="Proxima Nova"/>
                <a:ea typeface="Proxima Nova"/>
                <a:cs typeface="Proxima Nova"/>
                <a:sym typeface="Proxima Nova"/>
              </a:rPr>
              <a:t>  for (int i : vector3) {</a:t>
            </a:r>
            <a:endParaRPr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lang="en-GB" sz="1100">
                <a:solidFill>
                  <a:srgbClr val="212529"/>
                </a:solidFill>
                <a:latin typeface="Proxima Nova"/>
                <a:ea typeface="Proxima Nova"/>
                <a:cs typeface="Proxima Nova"/>
                <a:sym typeface="Proxima Nova"/>
              </a:rPr>
              <a:t>    cout &lt;&lt; i &lt;&lt; "  ";</a:t>
            </a:r>
            <a:endParaRPr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lang="en-GB" sz="1100">
                <a:solidFill>
                  <a:srgbClr val="212529"/>
                </a:solidFill>
                <a:latin typeface="Proxima Nova"/>
                <a:ea typeface="Proxima Nova"/>
                <a:cs typeface="Proxima Nova"/>
                <a:sym typeface="Proxima Nova"/>
              </a:rPr>
              <a:t>  }</a:t>
            </a:r>
            <a:endParaRPr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lang="en-GB" sz="1100">
                <a:solidFill>
                  <a:srgbClr val="212529"/>
                </a:solidFill>
                <a:latin typeface="Proxima Nova"/>
                <a:ea typeface="Proxima Nova"/>
                <a:cs typeface="Proxima Nova"/>
                <a:sym typeface="Proxima Nova"/>
              </a:rPr>
              <a:t>  return 0;</a:t>
            </a:r>
            <a:endParaRPr sz="1100">
              <a:solidFill>
                <a:srgbClr val="212529"/>
              </a:solidFill>
              <a:latin typeface="Proxima Nova"/>
              <a:ea typeface="Proxima Nova"/>
              <a:cs typeface="Proxima Nova"/>
              <a:sym typeface="Proxima Nova"/>
            </a:endParaRPr>
          </a:p>
          <a:p>
            <a:pPr indent="0" lvl="0" marL="0" rtl="0" algn="l">
              <a:lnSpc>
                <a:spcPct val="100000"/>
              </a:lnSpc>
              <a:spcBef>
                <a:spcPts val="1200"/>
              </a:spcBef>
              <a:spcAft>
                <a:spcPts val="1200"/>
              </a:spcAft>
              <a:buNone/>
            </a:pPr>
            <a:r>
              <a:rPr lang="en-GB" sz="1100">
                <a:solidFill>
                  <a:srgbClr val="212529"/>
                </a:solidFill>
                <a:latin typeface="Proxima Nova"/>
                <a:ea typeface="Proxima Nova"/>
                <a:cs typeface="Proxima Nova"/>
                <a:sym typeface="Proxima Nova"/>
              </a:rPr>
              <a:t>}</a:t>
            </a:r>
            <a:endParaRPr sz="1100">
              <a:solidFill>
                <a:srgbClr val="212529"/>
              </a:solidFill>
              <a:latin typeface="Proxima Nova"/>
              <a:ea typeface="Proxima Nova"/>
              <a:cs typeface="Proxima Nova"/>
              <a:sym typeface="Proxima Nova"/>
            </a:endParaRPr>
          </a:p>
        </p:txBody>
      </p:sp>
      <p:sp>
        <p:nvSpPr>
          <p:cNvPr id="93" name="Google Shape;93;p18"/>
          <p:cNvSpPr txBox="1"/>
          <p:nvPr>
            <p:ph idx="1" type="body"/>
          </p:nvPr>
        </p:nvSpPr>
        <p:spPr>
          <a:xfrm>
            <a:off x="4169650" y="295500"/>
            <a:ext cx="2810400" cy="4552500"/>
          </a:xfrm>
          <a:prstGeom prst="rect">
            <a:avLst/>
          </a:prstGeom>
          <a:solidFill>
            <a:srgbClr val="FFF2CC"/>
          </a:solidFill>
        </p:spPr>
        <p:txBody>
          <a:bodyPr anchorCtr="0" anchor="t" bIns="91425" lIns="91425" spcFirstLastPara="1" rIns="91425" wrap="square" tIns="91425">
            <a:normAutofit lnSpcReduction="10000"/>
          </a:bodyPr>
          <a:lstStyle/>
          <a:p>
            <a:pPr indent="0" lvl="0" marL="0" rtl="0" algn="l">
              <a:lnSpc>
                <a:spcPct val="100000"/>
              </a:lnSpc>
              <a:spcBef>
                <a:spcPts val="0"/>
              </a:spcBef>
              <a:spcAft>
                <a:spcPts val="0"/>
              </a:spcAft>
              <a:buNone/>
            </a:pPr>
            <a:r>
              <a:rPr lang="en-GB" sz="1100">
                <a:solidFill>
                  <a:srgbClr val="212529"/>
                </a:solidFill>
                <a:latin typeface="Proxima Nova"/>
                <a:ea typeface="Proxima Nova"/>
                <a:cs typeface="Proxima Nova"/>
                <a:sym typeface="Proxima Nova"/>
              </a:rPr>
              <a:t>#include &lt;iostream&gt;</a:t>
            </a:r>
            <a:endParaRPr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lang="en-GB" sz="1100">
                <a:solidFill>
                  <a:srgbClr val="212529"/>
                </a:solidFill>
                <a:latin typeface="Proxima Nova"/>
                <a:ea typeface="Proxima Nova"/>
                <a:cs typeface="Proxima Nova"/>
                <a:sym typeface="Proxima Nova"/>
              </a:rPr>
              <a:t>#include &lt;vector&gt;</a:t>
            </a:r>
            <a:endParaRPr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lang="en-GB" sz="1100">
                <a:solidFill>
                  <a:srgbClr val="212529"/>
                </a:solidFill>
                <a:latin typeface="Proxima Nova"/>
                <a:ea typeface="Proxima Nova"/>
                <a:cs typeface="Proxima Nova"/>
                <a:sym typeface="Proxima Nova"/>
              </a:rPr>
              <a:t>using namespace std;</a:t>
            </a:r>
            <a:endParaRPr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lang="en-GB" sz="1100">
                <a:solidFill>
                  <a:srgbClr val="212529"/>
                </a:solidFill>
                <a:latin typeface="Proxima Nova"/>
                <a:ea typeface="Proxima Nova"/>
                <a:cs typeface="Proxima Nova"/>
                <a:sym typeface="Proxima Nova"/>
              </a:rPr>
              <a:t>int main() {</a:t>
            </a:r>
            <a:endParaRPr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lang="en-GB" sz="1100">
                <a:solidFill>
                  <a:srgbClr val="212529"/>
                </a:solidFill>
                <a:latin typeface="Proxima Nova"/>
                <a:ea typeface="Proxima Nova"/>
                <a:cs typeface="Proxima Nova"/>
                <a:sym typeface="Proxima Nova"/>
              </a:rPr>
              <a:t>  </a:t>
            </a:r>
            <a:r>
              <a:rPr b="1" lang="en-GB" sz="1100">
                <a:solidFill>
                  <a:srgbClr val="212529"/>
                </a:solidFill>
                <a:latin typeface="Proxima Nova"/>
                <a:ea typeface="Proxima Nova"/>
                <a:cs typeface="Proxima Nova"/>
                <a:sym typeface="Proxima Nova"/>
              </a:rPr>
              <a:t>// method 1</a:t>
            </a:r>
            <a:endParaRPr b="1"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b="1" lang="en-GB" sz="1100">
                <a:solidFill>
                  <a:srgbClr val="212529"/>
                </a:solidFill>
                <a:latin typeface="Proxima Nova"/>
                <a:ea typeface="Proxima Nova"/>
                <a:cs typeface="Proxima Nova"/>
                <a:sym typeface="Proxima Nova"/>
              </a:rPr>
              <a:t>  // initializer list</a:t>
            </a:r>
            <a:endParaRPr b="1"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lang="en-GB" sz="1100">
                <a:solidFill>
                  <a:srgbClr val="212529"/>
                </a:solidFill>
                <a:latin typeface="Proxima Nova"/>
                <a:ea typeface="Proxima Nova"/>
                <a:cs typeface="Proxima Nova"/>
                <a:sym typeface="Proxima Nova"/>
              </a:rPr>
              <a:t>  vector&lt;int&gt; vector1 = {1, 2, 3, 4, 5};</a:t>
            </a:r>
            <a:endParaRPr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b="1" lang="en-GB" sz="1100">
                <a:solidFill>
                  <a:srgbClr val="212529"/>
                </a:solidFill>
                <a:latin typeface="Proxima Nova"/>
                <a:ea typeface="Proxima Nova"/>
                <a:cs typeface="Proxima Nova"/>
                <a:sym typeface="Proxima Nova"/>
              </a:rPr>
              <a:t>  // method 2</a:t>
            </a:r>
            <a:endParaRPr b="1"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b="1" lang="en-GB" sz="1100">
                <a:solidFill>
                  <a:srgbClr val="212529"/>
                </a:solidFill>
                <a:latin typeface="Proxima Nova"/>
                <a:ea typeface="Proxima Nova"/>
                <a:cs typeface="Proxima Nova"/>
                <a:sym typeface="Proxima Nova"/>
              </a:rPr>
              <a:t>  // uniform initialization</a:t>
            </a:r>
            <a:endParaRPr b="1"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lang="en-GB" sz="1100">
                <a:solidFill>
                  <a:srgbClr val="212529"/>
                </a:solidFill>
                <a:latin typeface="Proxima Nova"/>
                <a:ea typeface="Proxima Nova"/>
                <a:cs typeface="Proxima Nova"/>
                <a:sym typeface="Proxima Nova"/>
              </a:rPr>
              <a:t>  vector&lt;int&gt; vector2{6, 7, 8, 9, 10};</a:t>
            </a:r>
            <a:endParaRPr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b="1" lang="en-GB" sz="1100">
                <a:solidFill>
                  <a:srgbClr val="212529"/>
                </a:solidFill>
                <a:latin typeface="Proxima Nova"/>
                <a:ea typeface="Proxima Nova"/>
                <a:cs typeface="Proxima Nova"/>
                <a:sym typeface="Proxima Nova"/>
              </a:rPr>
              <a:t>  // method 3</a:t>
            </a:r>
            <a:endParaRPr b="1"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b="1" lang="en-GB" sz="1100">
                <a:solidFill>
                  <a:srgbClr val="212529"/>
                </a:solidFill>
                <a:latin typeface="Proxima Nova"/>
                <a:ea typeface="Proxima Nova"/>
                <a:cs typeface="Proxima Nova"/>
                <a:sym typeface="Proxima Nova"/>
              </a:rPr>
              <a:t>//constructor initialization</a:t>
            </a:r>
            <a:endParaRPr b="1"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lang="en-GB" sz="1100">
                <a:solidFill>
                  <a:srgbClr val="212529"/>
                </a:solidFill>
                <a:latin typeface="Proxima Nova"/>
                <a:ea typeface="Proxima Nova"/>
                <a:cs typeface="Proxima Nova"/>
                <a:sym typeface="Proxima Nova"/>
              </a:rPr>
              <a:t>  vector&lt;int&gt; vector3(5, 12);</a:t>
            </a:r>
            <a:endParaRPr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lang="en-GB" sz="1100">
                <a:solidFill>
                  <a:srgbClr val="212529"/>
                </a:solidFill>
                <a:latin typeface="Proxima Nova"/>
                <a:ea typeface="Proxima Nova"/>
                <a:cs typeface="Proxima Nova"/>
                <a:sym typeface="Proxima Nova"/>
              </a:rPr>
              <a:t>  cout &lt;&lt; "vector from method 1 = ";</a:t>
            </a:r>
            <a:endParaRPr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lang="en-GB" sz="1100">
                <a:solidFill>
                  <a:srgbClr val="212529"/>
                </a:solidFill>
                <a:latin typeface="Proxima Nova"/>
                <a:ea typeface="Proxima Nova"/>
                <a:cs typeface="Proxima Nova"/>
                <a:sym typeface="Proxima Nova"/>
              </a:rPr>
              <a:t>  for (const int&amp; i : vector1) {</a:t>
            </a:r>
            <a:endParaRPr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lang="en-GB" sz="1100">
                <a:solidFill>
                  <a:srgbClr val="212529"/>
                </a:solidFill>
                <a:latin typeface="Proxima Nova"/>
                <a:ea typeface="Proxima Nova"/>
                <a:cs typeface="Proxima Nova"/>
                <a:sym typeface="Proxima Nova"/>
              </a:rPr>
              <a:t>    cout &lt;&lt; i &lt;&lt; "  ";</a:t>
            </a:r>
            <a:endParaRPr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lang="en-GB" sz="1100">
                <a:solidFill>
                  <a:srgbClr val="212529"/>
                </a:solidFill>
                <a:latin typeface="Proxima Nova"/>
                <a:ea typeface="Proxima Nova"/>
                <a:cs typeface="Proxima Nova"/>
                <a:sym typeface="Proxima Nova"/>
              </a:rPr>
              <a:t>  }</a:t>
            </a:r>
            <a:endParaRPr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lang="en-GB" sz="1100">
                <a:solidFill>
                  <a:srgbClr val="212529"/>
                </a:solidFill>
                <a:latin typeface="Proxima Nova"/>
                <a:ea typeface="Proxima Nova"/>
                <a:cs typeface="Proxima Nova"/>
                <a:sym typeface="Proxima Nova"/>
              </a:rPr>
              <a:t>  cout &lt;&lt; "\n vector from method 2 = ";</a:t>
            </a:r>
            <a:endParaRPr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lang="en-GB" sz="1100">
                <a:solidFill>
                  <a:srgbClr val="212529"/>
                </a:solidFill>
                <a:latin typeface="Proxima Nova"/>
                <a:ea typeface="Proxima Nova"/>
                <a:cs typeface="Proxima Nova"/>
                <a:sym typeface="Proxima Nova"/>
              </a:rPr>
              <a:t>  for (const int&amp; i : vector2) {</a:t>
            </a:r>
            <a:endParaRPr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lang="en-GB" sz="1100">
                <a:solidFill>
                  <a:srgbClr val="212529"/>
                </a:solidFill>
                <a:latin typeface="Proxima Nova"/>
                <a:ea typeface="Proxima Nova"/>
                <a:cs typeface="Proxima Nova"/>
                <a:sym typeface="Proxima Nova"/>
              </a:rPr>
              <a:t>    cout &lt;&lt; i &lt;&lt; "  ";</a:t>
            </a:r>
            <a:endParaRPr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lang="en-GB" sz="1100">
                <a:solidFill>
                  <a:srgbClr val="212529"/>
                </a:solidFill>
                <a:latin typeface="Proxima Nova"/>
                <a:ea typeface="Proxima Nova"/>
                <a:cs typeface="Proxima Nova"/>
                <a:sym typeface="Proxima Nova"/>
              </a:rPr>
              <a:t>  }</a:t>
            </a:r>
            <a:endParaRPr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lang="en-GB" sz="1100">
                <a:solidFill>
                  <a:srgbClr val="212529"/>
                </a:solidFill>
                <a:latin typeface="Proxima Nova"/>
                <a:ea typeface="Proxima Nova"/>
                <a:cs typeface="Proxima Nova"/>
                <a:sym typeface="Proxima Nova"/>
              </a:rPr>
              <a:t>  cout &lt;&lt; "\n vector from method 3 = ";</a:t>
            </a:r>
            <a:endParaRPr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lang="en-GB" sz="1100">
                <a:solidFill>
                  <a:srgbClr val="212529"/>
                </a:solidFill>
                <a:latin typeface="Proxima Nova"/>
                <a:ea typeface="Proxima Nova"/>
                <a:cs typeface="Proxima Nova"/>
                <a:sym typeface="Proxima Nova"/>
              </a:rPr>
              <a:t>  for (const int&amp; i : vector3) {</a:t>
            </a:r>
            <a:endParaRPr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lang="en-GB" sz="1100">
                <a:solidFill>
                  <a:srgbClr val="212529"/>
                </a:solidFill>
                <a:latin typeface="Proxima Nova"/>
                <a:ea typeface="Proxima Nova"/>
                <a:cs typeface="Proxima Nova"/>
                <a:sym typeface="Proxima Nova"/>
              </a:rPr>
              <a:t>    cout &lt;&lt; i &lt;&lt; "  ";</a:t>
            </a:r>
            <a:endParaRPr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lang="en-GB" sz="1100">
                <a:solidFill>
                  <a:srgbClr val="212529"/>
                </a:solidFill>
                <a:latin typeface="Proxima Nova"/>
                <a:ea typeface="Proxima Nova"/>
                <a:cs typeface="Proxima Nova"/>
                <a:sym typeface="Proxima Nova"/>
              </a:rPr>
              <a:t>  }</a:t>
            </a:r>
            <a:endParaRPr sz="1100">
              <a:solidFill>
                <a:srgbClr val="212529"/>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lang="en-GB" sz="1100">
                <a:solidFill>
                  <a:srgbClr val="212529"/>
                </a:solidFill>
                <a:latin typeface="Proxima Nova"/>
                <a:ea typeface="Proxima Nova"/>
                <a:cs typeface="Proxima Nova"/>
                <a:sym typeface="Proxima Nova"/>
              </a:rPr>
              <a:t>  return 0;</a:t>
            </a:r>
            <a:endParaRPr sz="1100">
              <a:solidFill>
                <a:srgbClr val="212529"/>
              </a:solidFill>
              <a:latin typeface="Proxima Nova"/>
              <a:ea typeface="Proxima Nova"/>
              <a:cs typeface="Proxima Nova"/>
              <a:sym typeface="Proxima Nova"/>
            </a:endParaRPr>
          </a:p>
          <a:p>
            <a:pPr indent="0" lvl="0" marL="0" rtl="0" algn="l">
              <a:lnSpc>
                <a:spcPct val="100000"/>
              </a:lnSpc>
              <a:spcBef>
                <a:spcPts val="1200"/>
              </a:spcBef>
              <a:spcAft>
                <a:spcPts val="1200"/>
              </a:spcAft>
              <a:buNone/>
            </a:pPr>
            <a:r>
              <a:rPr lang="en-GB" sz="1100">
                <a:solidFill>
                  <a:srgbClr val="212529"/>
                </a:solidFill>
                <a:latin typeface="Proxima Nova"/>
                <a:ea typeface="Proxima Nova"/>
                <a:cs typeface="Proxima Nova"/>
                <a:sym typeface="Proxima Nova"/>
              </a:rPr>
              <a:t>}</a:t>
            </a:r>
            <a:endParaRPr sz="1100">
              <a:solidFill>
                <a:srgbClr val="212529"/>
              </a:solidFill>
              <a:latin typeface="Proxima Nova"/>
              <a:ea typeface="Proxima Nova"/>
              <a:cs typeface="Proxima Nova"/>
              <a:sym typeface="Proxima Nova"/>
            </a:endParaRPr>
          </a:p>
        </p:txBody>
      </p:sp>
      <p:sp>
        <p:nvSpPr>
          <p:cNvPr id="94" name="Google Shape;94;p18"/>
          <p:cNvSpPr txBox="1"/>
          <p:nvPr/>
        </p:nvSpPr>
        <p:spPr>
          <a:xfrm>
            <a:off x="3369125" y="2603400"/>
            <a:ext cx="738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t>OR</a:t>
            </a:r>
            <a:endParaRPr b="1"/>
          </a:p>
        </p:txBody>
      </p:sp>
      <p:sp>
        <p:nvSpPr>
          <p:cNvPr id="95" name="Google Shape;95;p18"/>
          <p:cNvSpPr txBox="1"/>
          <p:nvPr/>
        </p:nvSpPr>
        <p:spPr>
          <a:xfrm>
            <a:off x="6706900" y="3309800"/>
            <a:ext cx="2437200" cy="1816200"/>
          </a:xfrm>
          <a:prstGeom prst="rect">
            <a:avLst/>
          </a:prstGeom>
          <a:noFill/>
          <a:ln>
            <a:noFill/>
          </a:ln>
        </p:spPr>
        <p:txBody>
          <a:bodyPr anchorCtr="0" anchor="t" bIns="91425" lIns="91425" spcFirstLastPara="1" rIns="91425" wrap="square" tIns="91425">
            <a:spAutoFit/>
          </a:bodyPr>
          <a:lstStyle/>
          <a:p>
            <a:pPr indent="0" lvl="0" marL="0" rtl="0" algn="l">
              <a:spcBef>
                <a:spcPts val="1200"/>
              </a:spcBef>
              <a:spcAft>
                <a:spcPts val="0"/>
              </a:spcAft>
              <a:buNone/>
            </a:pPr>
            <a:r>
              <a:rPr b="1" lang="en-GB" sz="1100">
                <a:solidFill>
                  <a:srgbClr val="212529"/>
                </a:solidFill>
                <a:latin typeface="Proxima Nova"/>
                <a:ea typeface="Proxima Nova"/>
                <a:cs typeface="Proxima Nova"/>
                <a:sym typeface="Proxima Nova"/>
              </a:rPr>
              <a:t>Output</a:t>
            </a:r>
            <a:endParaRPr b="1" sz="1100">
              <a:solidFill>
                <a:srgbClr val="212529"/>
              </a:solidFill>
              <a:latin typeface="Proxima Nova"/>
              <a:ea typeface="Proxima Nova"/>
              <a:cs typeface="Proxima Nova"/>
              <a:sym typeface="Proxima Nova"/>
            </a:endParaRPr>
          </a:p>
          <a:p>
            <a:pPr indent="0" lvl="0" marL="0" rtl="0" algn="l">
              <a:spcBef>
                <a:spcPts val="1200"/>
              </a:spcBef>
              <a:spcAft>
                <a:spcPts val="0"/>
              </a:spcAft>
              <a:buNone/>
            </a:pPr>
            <a:r>
              <a:rPr lang="en-GB" sz="1100">
                <a:solidFill>
                  <a:srgbClr val="212529"/>
                </a:solidFill>
                <a:latin typeface="Proxima Nova"/>
                <a:ea typeface="Proxima Nova"/>
                <a:cs typeface="Proxima Nova"/>
                <a:sym typeface="Proxima Nova"/>
              </a:rPr>
              <a:t>vector from method 1 = 1  2  3  4  5  </a:t>
            </a:r>
            <a:endParaRPr sz="1100">
              <a:solidFill>
                <a:srgbClr val="212529"/>
              </a:solidFill>
              <a:latin typeface="Proxima Nova"/>
              <a:ea typeface="Proxima Nova"/>
              <a:cs typeface="Proxima Nova"/>
              <a:sym typeface="Proxima Nova"/>
            </a:endParaRPr>
          </a:p>
          <a:p>
            <a:pPr indent="0" lvl="0" marL="0" rtl="0" algn="l">
              <a:spcBef>
                <a:spcPts val="1200"/>
              </a:spcBef>
              <a:spcAft>
                <a:spcPts val="0"/>
              </a:spcAft>
              <a:buNone/>
            </a:pPr>
            <a:r>
              <a:rPr lang="en-GB" sz="1100">
                <a:solidFill>
                  <a:srgbClr val="212529"/>
                </a:solidFill>
                <a:latin typeface="Proxima Nova"/>
                <a:ea typeface="Proxima Nova"/>
                <a:cs typeface="Proxima Nova"/>
                <a:sym typeface="Proxima Nova"/>
              </a:rPr>
              <a:t> vector from method 2 = 6  7  8  9  10  </a:t>
            </a:r>
            <a:endParaRPr sz="1100">
              <a:solidFill>
                <a:srgbClr val="212529"/>
              </a:solidFill>
              <a:latin typeface="Proxima Nova"/>
              <a:ea typeface="Proxima Nova"/>
              <a:cs typeface="Proxima Nova"/>
              <a:sym typeface="Proxima Nova"/>
            </a:endParaRPr>
          </a:p>
          <a:p>
            <a:pPr indent="0" lvl="0" marL="0" rtl="0" algn="l">
              <a:spcBef>
                <a:spcPts val="1200"/>
              </a:spcBef>
              <a:spcAft>
                <a:spcPts val="0"/>
              </a:spcAft>
              <a:buNone/>
            </a:pPr>
            <a:r>
              <a:rPr lang="en-GB" sz="1100">
                <a:solidFill>
                  <a:srgbClr val="212529"/>
                </a:solidFill>
                <a:latin typeface="Proxima Nova"/>
                <a:ea typeface="Proxima Nova"/>
                <a:cs typeface="Proxima Nova"/>
                <a:sym typeface="Proxima Nova"/>
              </a:rPr>
              <a:t> vector from method 3 = 12  12  12  12  12</a:t>
            </a:r>
            <a:endParaRPr sz="1100">
              <a:solidFill>
                <a:srgbClr val="212529"/>
              </a:solidFill>
              <a:latin typeface="Proxima Nova"/>
              <a:ea typeface="Proxima Nova"/>
              <a:cs typeface="Proxima Nova"/>
              <a:sym typeface="Proxima Nova"/>
            </a:endParaRPr>
          </a:p>
          <a:p>
            <a:pPr indent="0" lvl="0" marL="0" rtl="0" algn="l">
              <a:spcBef>
                <a:spcPts val="1200"/>
              </a:spcBef>
              <a:spcAft>
                <a:spcPts val="1200"/>
              </a:spcAft>
              <a:buNone/>
            </a:pPr>
            <a:r>
              <a:t/>
            </a:r>
            <a:endParaRPr sz="1100">
              <a:solidFill>
                <a:srgbClr val="212529"/>
              </a:solidFill>
              <a:latin typeface="Proxima Nova"/>
              <a:ea typeface="Proxima Nova"/>
              <a:cs typeface="Proxima Nova"/>
              <a:sym typeface="Proxima Nov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9"/>
          <p:cNvSpPr txBox="1"/>
          <p:nvPr>
            <p:ph type="title"/>
          </p:nvPr>
        </p:nvSpPr>
        <p:spPr>
          <a:xfrm>
            <a:off x="185075" y="861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Functions:Iterators with Vectors</a:t>
            </a:r>
            <a:endParaRPr/>
          </a:p>
        </p:txBody>
      </p:sp>
      <p:sp>
        <p:nvSpPr>
          <p:cNvPr id="101" name="Google Shape;101;p19"/>
          <p:cNvSpPr txBox="1"/>
          <p:nvPr>
            <p:ph idx="1" type="body"/>
          </p:nvPr>
        </p:nvSpPr>
        <p:spPr>
          <a:xfrm>
            <a:off x="311700" y="717700"/>
            <a:ext cx="8520600" cy="3851100"/>
          </a:xfrm>
          <a:prstGeom prst="rect">
            <a:avLst/>
          </a:prstGeom>
        </p:spPr>
        <p:txBody>
          <a:bodyPr anchorCtr="0" anchor="t" bIns="91425" lIns="91425" spcFirstLastPara="1" rIns="91425" wrap="square" tIns="91425">
            <a:normAutofit/>
          </a:bodyPr>
          <a:lstStyle/>
          <a:p>
            <a:pPr indent="0" lvl="0" marL="457200" rtl="0" algn="l">
              <a:lnSpc>
                <a:spcPct val="115000"/>
              </a:lnSpc>
              <a:spcBef>
                <a:spcPts val="0"/>
              </a:spcBef>
              <a:spcAft>
                <a:spcPts val="0"/>
              </a:spcAft>
              <a:buNone/>
            </a:pPr>
            <a:r>
              <a:t/>
            </a:r>
            <a:endParaRPr b="1" sz="1200">
              <a:solidFill>
                <a:srgbClr val="212529"/>
              </a:solidFill>
              <a:latin typeface="Proxima Nova"/>
              <a:ea typeface="Proxima Nova"/>
              <a:cs typeface="Proxima Nova"/>
              <a:sym typeface="Proxima Nova"/>
            </a:endParaRPr>
          </a:p>
          <a:p>
            <a:pPr indent="-304800" lvl="0" marL="457200" rtl="0" algn="l">
              <a:lnSpc>
                <a:spcPct val="115000"/>
              </a:lnSpc>
              <a:spcBef>
                <a:spcPts val="0"/>
              </a:spcBef>
              <a:spcAft>
                <a:spcPts val="0"/>
              </a:spcAft>
              <a:buClr>
                <a:srgbClr val="212529"/>
              </a:buClr>
              <a:buSzPts val="1200"/>
              <a:buFont typeface="Proxima Nova"/>
              <a:buAutoNum type="arabicPeriod"/>
            </a:pPr>
            <a:r>
              <a:rPr b="1" lang="en-GB" sz="1200">
                <a:solidFill>
                  <a:srgbClr val="212529"/>
                </a:solidFill>
                <a:latin typeface="Proxima Nova"/>
                <a:ea typeface="Proxima Nova"/>
                <a:cs typeface="Proxima Nova"/>
                <a:sym typeface="Proxima Nova"/>
              </a:rPr>
              <a:t>begin() </a:t>
            </a:r>
            <a:r>
              <a:rPr lang="en-GB" sz="1200">
                <a:solidFill>
                  <a:srgbClr val="212529"/>
                </a:solidFill>
                <a:latin typeface="Proxima Nova"/>
                <a:ea typeface="Proxima Nova"/>
                <a:cs typeface="Proxima Nova"/>
                <a:sym typeface="Proxima Nova"/>
              </a:rPr>
              <a:t>– Returns an iterator pointing to the first element in the vector.</a:t>
            </a:r>
            <a:endParaRPr sz="1200">
              <a:solidFill>
                <a:srgbClr val="212529"/>
              </a:solidFill>
              <a:latin typeface="Proxima Nova"/>
              <a:ea typeface="Proxima Nova"/>
              <a:cs typeface="Proxima Nova"/>
              <a:sym typeface="Proxima Nova"/>
            </a:endParaRPr>
          </a:p>
          <a:p>
            <a:pPr indent="-304800" lvl="0" marL="457200" rtl="0" algn="l">
              <a:lnSpc>
                <a:spcPct val="115000"/>
              </a:lnSpc>
              <a:spcBef>
                <a:spcPts val="0"/>
              </a:spcBef>
              <a:spcAft>
                <a:spcPts val="0"/>
              </a:spcAft>
              <a:buClr>
                <a:srgbClr val="212529"/>
              </a:buClr>
              <a:buSzPts val="1200"/>
              <a:buFont typeface="Proxima Nova"/>
              <a:buAutoNum type="arabicPeriod"/>
            </a:pPr>
            <a:r>
              <a:rPr b="1" lang="en-GB" sz="1200">
                <a:solidFill>
                  <a:srgbClr val="212529"/>
                </a:solidFill>
                <a:latin typeface="Proxima Nova"/>
                <a:ea typeface="Proxima Nova"/>
                <a:cs typeface="Proxima Nova"/>
                <a:sym typeface="Proxima Nova"/>
              </a:rPr>
              <a:t>end()</a:t>
            </a:r>
            <a:r>
              <a:rPr lang="en-GB" sz="1200">
                <a:solidFill>
                  <a:srgbClr val="212529"/>
                </a:solidFill>
                <a:latin typeface="Proxima Nova"/>
                <a:ea typeface="Proxima Nova"/>
                <a:cs typeface="Proxima Nova"/>
                <a:sym typeface="Proxima Nova"/>
              </a:rPr>
              <a:t> – Returns an iterator pointing to the theoretical element that follows the last element in the vector.</a:t>
            </a:r>
            <a:endParaRPr sz="1200">
              <a:solidFill>
                <a:srgbClr val="212529"/>
              </a:solidFill>
              <a:latin typeface="Proxima Nova"/>
              <a:ea typeface="Proxima Nova"/>
              <a:cs typeface="Proxima Nova"/>
              <a:sym typeface="Proxima Nova"/>
            </a:endParaRPr>
          </a:p>
          <a:p>
            <a:pPr indent="-304800" lvl="0" marL="457200" rtl="0" algn="l">
              <a:lnSpc>
                <a:spcPct val="115000"/>
              </a:lnSpc>
              <a:spcBef>
                <a:spcPts val="0"/>
              </a:spcBef>
              <a:spcAft>
                <a:spcPts val="0"/>
              </a:spcAft>
              <a:buClr>
                <a:srgbClr val="212529"/>
              </a:buClr>
              <a:buSzPts val="1200"/>
              <a:buFont typeface="Proxima Nova"/>
              <a:buAutoNum type="arabicPeriod"/>
            </a:pPr>
            <a:r>
              <a:rPr b="1" lang="en-GB" sz="1200">
                <a:solidFill>
                  <a:srgbClr val="212529"/>
                </a:solidFill>
                <a:latin typeface="Proxima Nova"/>
                <a:ea typeface="Proxima Nova"/>
                <a:cs typeface="Proxima Nova"/>
                <a:sym typeface="Proxima Nova"/>
              </a:rPr>
              <a:t>rbegin()</a:t>
            </a:r>
            <a:r>
              <a:rPr lang="en-GB" sz="1200">
                <a:solidFill>
                  <a:srgbClr val="212529"/>
                </a:solidFill>
                <a:latin typeface="Proxima Nova"/>
                <a:ea typeface="Proxima Nova"/>
                <a:cs typeface="Proxima Nova"/>
                <a:sym typeface="Proxima Nova"/>
              </a:rPr>
              <a:t> – Returns a reverse iterator pointing to the last element in the vector (reverse beginning). It moves from last to first element.</a:t>
            </a:r>
            <a:endParaRPr sz="1200">
              <a:solidFill>
                <a:srgbClr val="212529"/>
              </a:solidFill>
              <a:latin typeface="Proxima Nova"/>
              <a:ea typeface="Proxima Nova"/>
              <a:cs typeface="Proxima Nova"/>
              <a:sym typeface="Proxima Nova"/>
            </a:endParaRPr>
          </a:p>
          <a:p>
            <a:pPr indent="-304800" lvl="0" marL="457200" rtl="0" algn="l">
              <a:lnSpc>
                <a:spcPct val="115000"/>
              </a:lnSpc>
              <a:spcBef>
                <a:spcPts val="0"/>
              </a:spcBef>
              <a:spcAft>
                <a:spcPts val="0"/>
              </a:spcAft>
              <a:buClr>
                <a:srgbClr val="212529"/>
              </a:buClr>
              <a:buSzPts val="1200"/>
              <a:buFont typeface="Proxima Nova"/>
              <a:buAutoNum type="arabicPeriod"/>
            </a:pPr>
            <a:r>
              <a:rPr b="1" lang="en-GB" sz="1200">
                <a:solidFill>
                  <a:srgbClr val="212529"/>
                </a:solidFill>
                <a:latin typeface="Proxima Nova"/>
                <a:ea typeface="Proxima Nova"/>
                <a:cs typeface="Proxima Nova"/>
                <a:sym typeface="Proxima Nova"/>
              </a:rPr>
              <a:t>rend() </a:t>
            </a:r>
            <a:r>
              <a:rPr lang="en-GB" sz="1200">
                <a:solidFill>
                  <a:srgbClr val="212529"/>
                </a:solidFill>
                <a:latin typeface="Proxima Nova"/>
                <a:ea typeface="Proxima Nova"/>
                <a:cs typeface="Proxima Nova"/>
                <a:sym typeface="Proxima Nova"/>
              </a:rPr>
              <a:t>– Returns a reverse iterator pointing to the theoretical element preceding the first element in the vector (considered as reverse end).</a:t>
            </a:r>
            <a:endParaRPr sz="1200">
              <a:solidFill>
                <a:srgbClr val="212529"/>
              </a:solidFill>
              <a:latin typeface="Proxima Nova"/>
              <a:ea typeface="Proxima Nova"/>
              <a:cs typeface="Proxima Nova"/>
              <a:sym typeface="Proxima Nova"/>
            </a:endParaRPr>
          </a:p>
          <a:p>
            <a:pPr indent="-304800" lvl="0" marL="457200" rtl="0" algn="l">
              <a:lnSpc>
                <a:spcPct val="115000"/>
              </a:lnSpc>
              <a:spcBef>
                <a:spcPts val="0"/>
              </a:spcBef>
              <a:spcAft>
                <a:spcPts val="0"/>
              </a:spcAft>
              <a:buClr>
                <a:srgbClr val="212529"/>
              </a:buClr>
              <a:buSzPts val="1200"/>
              <a:buFont typeface="Proxima Nova"/>
              <a:buAutoNum type="arabicPeriod"/>
            </a:pPr>
            <a:r>
              <a:rPr b="1" lang="en-GB" sz="1200">
                <a:solidFill>
                  <a:srgbClr val="212529"/>
                </a:solidFill>
                <a:latin typeface="Proxima Nova"/>
                <a:ea typeface="Proxima Nova"/>
                <a:cs typeface="Proxima Nova"/>
                <a:sym typeface="Proxima Nova"/>
              </a:rPr>
              <a:t>cbegin()</a:t>
            </a:r>
            <a:r>
              <a:rPr lang="en-GB" sz="1200">
                <a:solidFill>
                  <a:srgbClr val="212529"/>
                </a:solidFill>
                <a:latin typeface="Proxima Nova"/>
                <a:ea typeface="Proxima Nova"/>
                <a:cs typeface="Proxima Nova"/>
                <a:sym typeface="Proxima Nova"/>
              </a:rPr>
              <a:t> – Returns a constant iterator pointing to the first element in the vector.</a:t>
            </a:r>
            <a:endParaRPr sz="1200">
              <a:solidFill>
                <a:srgbClr val="212529"/>
              </a:solidFill>
              <a:latin typeface="Proxima Nova"/>
              <a:ea typeface="Proxima Nova"/>
              <a:cs typeface="Proxima Nova"/>
              <a:sym typeface="Proxima Nova"/>
            </a:endParaRPr>
          </a:p>
          <a:p>
            <a:pPr indent="-304800" lvl="0" marL="457200" rtl="0" algn="l">
              <a:lnSpc>
                <a:spcPct val="115000"/>
              </a:lnSpc>
              <a:spcBef>
                <a:spcPts val="0"/>
              </a:spcBef>
              <a:spcAft>
                <a:spcPts val="0"/>
              </a:spcAft>
              <a:buClr>
                <a:srgbClr val="212529"/>
              </a:buClr>
              <a:buSzPts val="1200"/>
              <a:buFont typeface="Proxima Nova"/>
              <a:buAutoNum type="arabicPeriod"/>
            </a:pPr>
            <a:r>
              <a:rPr b="1" lang="en-GB" sz="1200">
                <a:solidFill>
                  <a:srgbClr val="212529"/>
                </a:solidFill>
                <a:latin typeface="Proxima Nova"/>
                <a:ea typeface="Proxima Nova"/>
                <a:cs typeface="Proxima Nova"/>
                <a:sym typeface="Proxima Nova"/>
              </a:rPr>
              <a:t>cend()</a:t>
            </a:r>
            <a:r>
              <a:rPr lang="en-GB" sz="1200">
                <a:solidFill>
                  <a:srgbClr val="212529"/>
                </a:solidFill>
                <a:latin typeface="Proxima Nova"/>
                <a:ea typeface="Proxima Nova"/>
                <a:cs typeface="Proxima Nova"/>
                <a:sym typeface="Proxima Nova"/>
              </a:rPr>
              <a:t> – Returns a constant iterator pointing to the theoretical element that follows the last element in the vector.</a:t>
            </a:r>
            <a:endParaRPr sz="1200">
              <a:solidFill>
                <a:srgbClr val="212529"/>
              </a:solidFill>
              <a:latin typeface="Proxima Nova"/>
              <a:ea typeface="Proxima Nova"/>
              <a:cs typeface="Proxima Nova"/>
              <a:sym typeface="Proxima Nova"/>
            </a:endParaRPr>
          </a:p>
          <a:p>
            <a:pPr indent="-304800" lvl="0" marL="457200" rtl="0" algn="l">
              <a:lnSpc>
                <a:spcPct val="115000"/>
              </a:lnSpc>
              <a:spcBef>
                <a:spcPts val="0"/>
              </a:spcBef>
              <a:spcAft>
                <a:spcPts val="0"/>
              </a:spcAft>
              <a:buClr>
                <a:srgbClr val="212529"/>
              </a:buClr>
              <a:buSzPts val="1200"/>
              <a:buFont typeface="Proxima Nova"/>
              <a:buAutoNum type="arabicPeriod"/>
            </a:pPr>
            <a:r>
              <a:rPr b="1" lang="en-GB" sz="1200">
                <a:solidFill>
                  <a:srgbClr val="212529"/>
                </a:solidFill>
                <a:latin typeface="Proxima Nova"/>
                <a:ea typeface="Proxima Nova"/>
                <a:cs typeface="Proxima Nova"/>
                <a:sym typeface="Proxima Nova"/>
              </a:rPr>
              <a:t>crbegin()</a:t>
            </a:r>
            <a:r>
              <a:rPr lang="en-GB" sz="1200">
                <a:solidFill>
                  <a:srgbClr val="212529"/>
                </a:solidFill>
                <a:latin typeface="Proxima Nova"/>
                <a:ea typeface="Proxima Nova"/>
                <a:cs typeface="Proxima Nova"/>
                <a:sym typeface="Proxima Nova"/>
              </a:rPr>
              <a:t> – </a:t>
            </a:r>
            <a:r>
              <a:rPr lang="en-GB" sz="1200">
                <a:solidFill>
                  <a:srgbClr val="212529"/>
                </a:solidFill>
                <a:latin typeface="Proxima Nova"/>
                <a:ea typeface="Proxima Nova"/>
                <a:cs typeface="Proxima Nova"/>
                <a:sym typeface="Proxima Nova"/>
              </a:rPr>
              <a:t>Returns a const reverse iterator pointing to the last element in the vector (reverse beginning). It moves from last to first element.</a:t>
            </a:r>
            <a:endParaRPr sz="1200">
              <a:solidFill>
                <a:srgbClr val="212529"/>
              </a:solidFill>
              <a:latin typeface="Proxima Nova"/>
              <a:ea typeface="Proxima Nova"/>
              <a:cs typeface="Proxima Nova"/>
              <a:sym typeface="Proxima Nova"/>
            </a:endParaRPr>
          </a:p>
          <a:p>
            <a:pPr indent="-304800" lvl="0" marL="457200" rtl="0" algn="l">
              <a:lnSpc>
                <a:spcPct val="115000"/>
              </a:lnSpc>
              <a:spcBef>
                <a:spcPts val="0"/>
              </a:spcBef>
              <a:spcAft>
                <a:spcPts val="0"/>
              </a:spcAft>
              <a:buClr>
                <a:srgbClr val="212529"/>
              </a:buClr>
              <a:buSzPts val="1200"/>
              <a:buFont typeface="Proxima Nova"/>
              <a:buAutoNum type="arabicPeriod"/>
            </a:pPr>
            <a:r>
              <a:rPr b="1" lang="en-GB" sz="1200">
                <a:solidFill>
                  <a:srgbClr val="212529"/>
                </a:solidFill>
                <a:latin typeface="Proxima Nova"/>
                <a:ea typeface="Proxima Nova"/>
                <a:cs typeface="Proxima Nova"/>
                <a:sym typeface="Proxima Nova"/>
              </a:rPr>
              <a:t>crend()</a:t>
            </a:r>
            <a:r>
              <a:rPr lang="en-GB" sz="1200">
                <a:solidFill>
                  <a:srgbClr val="212529"/>
                </a:solidFill>
                <a:latin typeface="Proxima Nova"/>
                <a:ea typeface="Proxima Nova"/>
                <a:cs typeface="Proxima Nova"/>
                <a:sym typeface="Proxima Nova"/>
              </a:rPr>
              <a:t> – Returns a const reverse iterator pointing to the theoretical element preceding the first element in the vector (considered as reverse end).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type="title"/>
          </p:nvPr>
        </p:nvSpPr>
        <p:spPr>
          <a:xfrm>
            <a:off x="262450" y="58075"/>
            <a:ext cx="33753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GB" sz="2020"/>
              <a:t>Iterators in Vectors</a:t>
            </a:r>
            <a:endParaRPr sz="2020"/>
          </a:p>
        </p:txBody>
      </p:sp>
      <p:sp>
        <p:nvSpPr>
          <p:cNvPr id="107" name="Google Shape;107;p20"/>
          <p:cNvSpPr txBox="1"/>
          <p:nvPr>
            <p:ph idx="1" type="body"/>
          </p:nvPr>
        </p:nvSpPr>
        <p:spPr>
          <a:xfrm>
            <a:off x="656500" y="492525"/>
            <a:ext cx="3874800" cy="4390500"/>
          </a:xfrm>
          <a:prstGeom prst="rect">
            <a:avLst/>
          </a:prstGeom>
          <a:noFill/>
        </p:spPr>
        <p:txBody>
          <a:bodyPr anchorCtr="0" anchor="t" bIns="91425" lIns="91425" spcFirstLastPara="1" rIns="91425" wrap="square" tIns="91425">
            <a:normAutofit fontScale="70000" lnSpcReduction="20000"/>
          </a:bodyPr>
          <a:lstStyle/>
          <a:p>
            <a:pPr indent="0" lvl="0" marL="0" rtl="0" algn="l">
              <a:lnSpc>
                <a:spcPct val="115000"/>
              </a:lnSpc>
              <a:spcBef>
                <a:spcPts val="0"/>
              </a:spcBef>
              <a:spcAft>
                <a:spcPts val="0"/>
              </a:spcAft>
              <a:buNone/>
            </a:pPr>
            <a:r>
              <a:rPr lang="en-GB" sz="1200">
                <a:solidFill>
                  <a:srgbClr val="738191"/>
                </a:solidFill>
                <a:latin typeface="Consolas"/>
                <a:ea typeface="Consolas"/>
                <a:cs typeface="Consolas"/>
                <a:sym typeface="Consolas"/>
              </a:rPr>
              <a:t>// C++ program to illustrate the</a:t>
            </a:r>
            <a:br>
              <a:rPr lang="en-GB" sz="1200">
                <a:solidFill>
                  <a:srgbClr val="00193A"/>
                </a:solidFill>
                <a:latin typeface="Consolas"/>
                <a:ea typeface="Consolas"/>
                <a:cs typeface="Consolas"/>
                <a:sym typeface="Consolas"/>
              </a:rPr>
            </a:br>
            <a:r>
              <a:rPr lang="en-GB" sz="1200">
                <a:solidFill>
                  <a:srgbClr val="738191"/>
                </a:solidFill>
                <a:latin typeface="Consolas"/>
                <a:ea typeface="Consolas"/>
                <a:cs typeface="Consolas"/>
                <a:sym typeface="Consolas"/>
              </a:rPr>
              <a:t>// iterators in vector</a:t>
            </a:r>
            <a:br>
              <a:rPr lang="en-GB" sz="1200">
                <a:solidFill>
                  <a:srgbClr val="00193A"/>
                </a:solidFill>
                <a:latin typeface="Consolas"/>
                <a:ea typeface="Consolas"/>
                <a:cs typeface="Consolas"/>
                <a:sym typeface="Consolas"/>
              </a:rPr>
            </a:br>
            <a:r>
              <a:rPr lang="en-GB" sz="1200">
                <a:solidFill>
                  <a:srgbClr val="4C81C9"/>
                </a:solidFill>
                <a:latin typeface="Consolas"/>
                <a:ea typeface="Consolas"/>
                <a:cs typeface="Consolas"/>
                <a:sym typeface="Consolas"/>
              </a:rPr>
              <a:t>#include &lt;iostream&gt;</a:t>
            </a:r>
            <a:br>
              <a:rPr lang="en-GB" sz="1200">
                <a:solidFill>
                  <a:srgbClr val="00193A"/>
                </a:solidFill>
                <a:latin typeface="Consolas"/>
                <a:ea typeface="Consolas"/>
                <a:cs typeface="Consolas"/>
                <a:sym typeface="Consolas"/>
              </a:rPr>
            </a:br>
            <a:r>
              <a:rPr lang="en-GB" sz="1200">
                <a:solidFill>
                  <a:srgbClr val="4C81C9"/>
                </a:solidFill>
                <a:latin typeface="Consolas"/>
                <a:ea typeface="Consolas"/>
                <a:cs typeface="Consolas"/>
                <a:sym typeface="Consolas"/>
              </a:rPr>
              <a:t>#include &lt;vector&gt;</a:t>
            </a:r>
            <a:br>
              <a:rPr lang="en-GB" sz="1200">
                <a:solidFill>
                  <a:srgbClr val="00193A"/>
                </a:solidFill>
                <a:latin typeface="Consolas"/>
                <a:ea typeface="Consolas"/>
                <a:cs typeface="Consolas"/>
                <a:sym typeface="Consolas"/>
              </a:rPr>
            </a:br>
            <a:br>
              <a:rPr lang="en-GB" sz="1200">
                <a:solidFill>
                  <a:srgbClr val="00193A"/>
                </a:solidFill>
                <a:latin typeface="Consolas"/>
                <a:ea typeface="Consolas"/>
                <a:cs typeface="Consolas"/>
                <a:sym typeface="Consolas"/>
              </a:rPr>
            </a:br>
            <a:r>
              <a:rPr b="1" lang="en-GB" sz="1200">
                <a:solidFill>
                  <a:srgbClr val="00193A"/>
                </a:solidFill>
                <a:latin typeface="Consolas"/>
                <a:ea typeface="Consolas"/>
                <a:cs typeface="Consolas"/>
                <a:sym typeface="Consolas"/>
              </a:rPr>
              <a:t>using</a:t>
            </a:r>
            <a:r>
              <a:rPr lang="en-GB" sz="1200">
                <a:solidFill>
                  <a:srgbClr val="00193A"/>
                </a:solidFill>
                <a:latin typeface="Consolas"/>
                <a:ea typeface="Consolas"/>
                <a:cs typeface="Consolas"/>
                <a:sym typeface="Consolas"/>
              </a:rPr>
              <a:t> </a:t>
            </a:r>
            <a:r>
              <a:rPr b="1" lang="en-GB" sz="1200">
                <a:solidFill>
                  <a:srgbClr val="00193A"/>
                </a:solidFill>
                <a:latin typeface="Consolas"/>
                <a:ea typeface="Consolas"/>
                <a:cs typeface="Consolas"/>
                <a:sym typeface="Consolas"/>
              </a:rPr>
              <a:t>namespace</a:t>
            </a:r>
            <a:r>
              <a:rPr lang="en-GB" sz="1200">
                <a:solidFill>
                  <a:srgbClr val="00193A"/>
                </a:solidFill>
                <a:latin typeface="Consolas"/>
                <a:ea typeface="Consolas"/>
                <a:cs typeface="Consolas"/>
                <a:sym typeface="Consolas"/>
              </a:rPr>
              <a:t> </a:t>
            </a:r>
            <a:r>
              <a:rPr lang="en-GB" sz="1200">
                <a:solidFill>
                  <a:srgbClr val="0048AB"/>
                </a:solidFill>
                <a:latin typeface="Consolas"/>
                <a:ea typeface="Consolas"/>
                <a:cs typeface="Consolas"/>
                <a:sym typeface="Consolas"/>
              </a:rPr>
              <a:t>std</a:t>
            </a:r>
            <a:r>
              <a:rPr lang="en-GB" sz="1200">
                <a:solidFill>
                  <a:srgbClr val="00193A"/>
                </a:solidFill>
                <a:latin typeface="Consolas"/>
                <a:ea typeface="Consolas"/>
                <a:cs typeface="Consolas"/>
                <a:sym typeface="Consolas"/>
              </a:rPr>
              <a:t>;</a:t>
            </a:r>
            <a:br>
              <a:rPr lang="en-GB" sz="1200">
                <a:solidFill>
                  <a:srgbClr val="00193A"/>
                </a:solidFill>
                <a:latin typeface="Consolas"/>
                <a:ea typeface="Consolas"/>
                <a:cs typeface="Consolas"/>
                <a:sym typeface="Consolas"/>
              </a:rPr>
            </a:br>
            <a:br>
              <a:rPr lang="en-GB" sz="1200">
                <a:solidFill>
                  <a:srgbClr val="00193A"/>
                </a:solidFill>
                <a:latin typeface="Consolas"/>
                <a:ea typeface="Consolas"/>
                <a:cs typeface="Consolas"/>
                <a:sym typeface="Consolas"/>
              </a:rPr>
            </a:br>
            <a:r>
              <a:rPr b="1" lang="en-GB" sz="1200">
                <a:solidFill>
                  <a:srgbClr val="00193A"/>
                </a:solidFill>
                <a:latin typeface="Consolas"/>
                <a:ea typeface="Consolas"/>
                <a:cs typeface="Consolas"/>
                <a:sym typeface="Consolas"/>
              </a:rPr>
              <a:t>int</a:t>
            </a:r>
            <a:r>
              <a:rPr lang="en-GB" sz="1200">
                <a:solidFill>
                  <a:srgbClr val="00193A"/>
                </a:solidFill>
                <a:latin typeface="Consolas"/>
                <a:ea typeface="Consolas"/>
                <a:cs typeface="Consolas"/>
                <a:sym typeface="Consolas"/>
              </a:rPr>
              <a:t> </a:t>
            </a:r>
            <a:r>
              <a:rPr b="1" lang="en-GB" sz="1200">
                <a:solidFill>
                  <a:srgbClr val="0048AB"/>
                </a:solidFill>
                <a:latin typeface="Consolas"/>
                <a:ea typeface="Consolas"/>
                <a:cs typeface="Consolas"/>
                <a:sym typeface="Consolas"/>
              </a:rPr>
              <a:t>main</a:t>
            </a:r>
            <a:r>
              <a:rPr lang="en-GB" sz="1200">
                <a:solidFill>
                  <a:srgbClr val="00193A"/>
                </a:solidFill>
                <a:latin typeface="Consolas"/>
                <a:ea typeface="Consolas"/>
                <a:cs typeface="Consolas"/>
                <a:sym typeface="Consolas"/>
              </a:rPr>
              <a:t>()</a:t>
            </a:r>
            <a:br>
              <a:rPr lang="en-GB" sz="1200">
                <a:solidFill>
                  <a:srgbClr val="00193A"/>
                </a:solidFill>
                <a:latin typeface="Consolas"/>
                <a:ea typeface="Consolas"/>
                <a:cs typeface="Consolas"/>
                <a:sym typeface="Consolas"/>
              </a:rPr>
            </a:br>
            <a:r>
              <a:rPr lang="en-GB" sz="1200">
                <a:solidFill>
                  <a:srgbClr val="00193A"/>
                </a:solidFill>
                <a:latin typeface="Consolas"/>
                <a:ea typeface="Consolas"/>
                <a:cs typeface="Consolas"/>
                <a:sym typeface="Consolas"/>
              </a:rPr>
              <a:t>{</a:t>
            </a:r>
            <a:br>
              <a:rPr lang="en-GB" sz="1200">
                <a:solidFill>
                  <a:srgbClr val="00193A"/>
                </a:solidFill>
                <a:latin typeface="Consolas"/>
                <a:ea typeface="Consolas"/>
                <a:cs typeface="Consolas"/>
                <a:sym typeface="Consolas"/>
              </a:rPr>
            </a:br>
            <a:r>
              <a:rPr lang="en-GB" sz="1200">
                <a:solidFill>
                  <a:srgbClr val="00193A"/>
                </a:solidFill>
                <a:latin typeface="Consolas"/>
                <a:ea typeface="Consolas"/>
                <a:cs typeface="Consolas"/>
                <a:sym typeface="Consolas"/>
              </a:rPr>
              <a:t>	</a:t>
            </a:r>
            <a:r>
              <a:rPr lang="en-GB" sz="1200">
                <a:solidFill>
                  <a:srgbClr val="0048AB"/>
                </a:solidFill>
                <a:latin typeface="Consolas"/>
                <a:ea typeface="Consolas"/>
                <a:cs typeface="Consolas"/>
                <a:sym typeface="Consolas"/>
              </a:rPr>
              <a:t>vector</a:t>
            </a:r>
            <a:r>
              <a:rPr lang="en-GB" sz="1200">
                <a:solidFill>
                  <a:srgbClr val="00193A"/>
                </a:solidFill>
                <a:latin typeface="Consolas"/>
                <a:ea typeface="Consolas"/>
                <a:cs typeface="Consolas"/>
                <a:sym typeface="Consolas"/>
              </a:rPr>
              <a:t>&lt;</a:t>
            </a:r>
            <a:r>
              <a:rPr b="1" lang="en-GB" sz="1200">
                <a:solidFill>
                  <a:srgbClr val="00193A"/>
                </a:solidFill>
                <a:latin typeface="Consolas"/>
                <a:ea typeface="Consolas"/>
                <a:cs typeface="Consolas"/>
                <a:sym typeface="Consolas"/>
              </a:rPr>
              <a:t>int</a:t>
            </a:r>
            <a:r>
              <a:rPr lang="en-GB" sz="1200">
                <a:solidFill>
                  <a:srgbClr val="00193A"/>
                </a:solidFill>
                <a:latin typeface="Consolas"/>
                <a:ea typeface="Consolas"/>
                <a:cs typeface="Consolas"/>
                <a:sym typeface="Consolas"/>
              </a:rPr>
              <a:t>&gt; g1;</a:t>
            </a:r>
            <a:br>
              <a:rPr lang="en-GB" sz="1200">
                <a:solidFill>
                  <a:srgbClr val="00193A"/>
                </a:solidFill>
                <a:latin typeface="Consolas"/>
                <a:ea typeface="Consolas"/>
                <a:cs typeface="Consolas"/>
                <a:sym typeface="Consolas"/>
              </a:rPr>
            </a:br>
            <a:br>
              <a:rPr lang="en-GB" sz="1200">
                <a:solidFill>
                  <a:srgbClr val="00193A"/>
                </a:solidFill>
                <a:latin typeface="Consolas"/>
                <a:ea typeface="Consolas"/>
                <a:cs typeface="Consolas"/>
                <a:sym typeface="Consolas"/>
              </a:rPr>
            </a:br>
            <a:r>
              <a:rPr lang="en-GB" sz="1200">
                <a:solidFill>
                  <a:srgbClr val="00193A"/>
                </a:solidFill>
                <a:latin typeface="Consolas"/>
                <a:ea typeface="Consolas"/>
                <a:cs typeface="Consolas"/>
                <a:sym typeface="Consolas"/>
              </a:rPr>
              <a:t>	</a:t>
            </a:r>
            <a:r>
              <a:rPr b="1" lang="en-GB" sz="1200">
                <a:solidFill>
                  <a:srgbClr val="00193A"/>
                </a:solidFill>
                <a:latin typeface="Consolas"/>
                <a:ea typeface="Consolas"/>
                <a:cs typeface="Consolas"/>
                <a:sym typeface="Consolas"/>
              </a:rPr>
              <a:t>for</a:t>
            </a:r>
            <a:r>
              <a:rPr lang="en-GB" sz="1200">
                <a:solidFill>
                  <a:srgbClr val="00193A"/>
                </a:solidFill>
                <a:latin typeface="Consolas"/>
                <a:ea typeface="Consolas"/>
                <a:cs typeface="Consolas"/>
                <a:sym typeface="Consolas"/>
              </a:rPr>
              <a:t> (</a:t>
            </a:r>
            <a:r>
              <a:rPr b="1" lang="en-GB" sz="1200">
                <a:solidFill>
                  <a:srgbClr val="00193A"/>
                </a:solidFill>
                <a:latin typeface="Consolas"/>
                <a:ea typeface="Consolas"/>
                <a:cs typeface="Consolas"/>
                <a:sym typeface="Consolas"/>
              </a:rPr>
              <a:t>int</a:t>
            </a:r>
            <a:r>
              <a:rPr lang="en-GB" sz="1200">
                <a:solidFill>
                  <a:srgbClr val="00193A"/>
                </a:solidFill>
                <a:latin typeface="Consolas"/>
                <a:ea typeface="Consolas"/>
                <a:cs typeface="Consolas"/>
                <a:sym typeface="Consolas"/>
              </a:rPr>
              <a:t> i = 1; i &lt;= 5; i++)</a:t>
            </a:r>
            <a:br>
              <a:rPr lang="en-GB" sz="1200">
                <a:solidFill>
                  <a:srgbClr val="00193A"/>
                </a:solidFill>
                <a:latin typeface="Consolas"/>
                <a:ea typeface="Consolas"/>
                <a:cs typeface="Consolas"/>
                <a:sym typeface="Consolas"/>
              </a:rPr>
            </a:br>
            <a:r>
              <a:rPr lang="en-GB" sz="1200">
                <a:solidFill>
                  <a:srgbClr val="00193A"/>
                </a:solidFill>
                <a:latin typeface="Consolas"/>
                <a:ea typeface="Consolas"/>
                <a:cs typeface="Consolas"/>
                <a:sym typeface="Consolas"/>
              </a:rPr>
              <a:t>		g1.push_back(i);</a:t>
            </a:r>
            <a:br>
              <a:rPr lang="en-GB" sz="1200">
                <a:solidFill>
                  <a:srgbClr val="00193A"/>
                </a:solidFill>
                <a:latin typeface="Consolas"/>
                <a:ea typeface="Consolas"/>
                <a:cs typeface="Consolas"/>
                <a:sym typeface="Consolas"/>
              </a:rPr>
            </a:br>
            <a:br>
              <a:rPr lang="en-GB" sz="1200">
                <a:solidFill>
                  <a:srgbClr val="00193A"/>
                </a:solidFill>
                <a:latin typeface="Consolas"/>
                <a:ea typeface="Consolas"/>
                <a:cs typeface="Consolas"/>
                <a:sym typeface="Consolas"/>
              </a:rPr>
            </a:br>
            <a:r>
              <a:rPr lang="en-GB" sz="1200">
                <a:solidFill>
                  <a:srgbClr val="00193A"/>
                </a:solidFill>
                <a:latin typeface="Consolas"/>
                <a:ea typeface="Consolas"/>
                <a:cs typeface="Consolas"/>
                <a:sym typeface="Consolas"/>
              </a:rPr>
              <a:t>	</a:t>
            </a:r>
            <a:r>
              <a:rPr lang="en-GB" sz="1200">
                <a:solidFill>
                  <a:srgbClr val="0048AB"/>
                </a:solidFill>
                <a:latin typeface="Consolas"/>
                <a:ea typeface="Consolas"/>
                <a:cs typeface="Consolas"/>
                <a:sym typeface="Consolas"/>
              </a:rPr>
              <a:t>cout</a:t>
            </a:r>
            <a:r>
              <a:rPr lang="en-GB" sz="1200">
                <a:solidFill>
                  <a:srgbClr val="00193A"/>
                </a:solidFill>
                <a:latin typeface="Consolas"/>
                <a:ea typeface="Consolas"/>
                <a:cs typeface="Consolas"/>
                <a:sym typeface="Consolas"/>
              </a:rPr>
              <a:t> &lt;&lt; </a:t>
            </a:r>
            <a:r>
              <a:rPr lang="en-GB" sz="1200">
                <a:solidFill>
                  <a:srgbClr val="0048AB"/>
                </a:solidFill>
                <a:latin typeface="Consolas"/>
                <a:ea typeface="Consolas"/>
                <a:cs typeface="Consolas"/>
                <a:sym typeface="Consolas"/>
              </a:rPr>
              <a:t>"Output of begin and end: "</a:t>
            </a:r>
            <a:r>
              <a:rPr lang="en-GB" sz="1200">
                <a:solidFill>
                  <a:srgbClr val="00193A"/>
                </a:solidFill>
                <a:latin typeface="Consolas"/>
                <a:ea typeface="Consolas"/>
                <a:cs typeface="Consolas"/>
                <a:sym typeface="Consolas"/>
              </a:rPr>
              <a:t>;</a:t>
            </a:r>
            <a:br>
              <a:rPr lang="en-GB" sz="1200">
                <a:solidFill>
                  <a:srgbClr val="00193A"/>
                </a:solidFill>
                <a:latin typeface="Consolas"/>
                <a:ea typeface="Consolas"/>
                <a:cs typeface="Consolas"/>
                <a:sym typeface="Consolas"/>
              </a:rPr>
            </a:br>
            <a:r>
              <a:rPr lang="en-GB" sz="1200">
                <a:solidFill>
                  <a:srgbClr val="00193A"/>
                </a:solidFill>
                <a:latin typeface="Consolas"/>
                <a:ea typeface="Consolas"/>
                <a:cs typeface="Consolas"/>
                <a:sym typeface="Consolas"/>
              </a:rPr>
              <a:t>	</a:t>
            </a:r>
            <a:r>
              <a:rPr b="1" lang="en-GB" sz="1200">
                <a:solidFill>
                  <a:srgbClr val="00193A"/>
                </a:solidFill>
                <a:latin typeface="Consolas"/>
                <a:ea typeface="Consolas"/>
                <a:cs typeface="Consolas"/>
                <a:sym typeface="Consolas"/>
              </a:rPr>
              <a:t>for</a:t>
            </a:r>
            <a:r>
              <a:rPr lang="en-GB" sz="1200">
                <a:solidFill>
                  <a:srgbClr val="00193A"/>
                </a:solidFill>
                <a:latin typeface="Consolas"/>
                <a:ea typeface="Consolas"/>
                <a:cs typeface="Consolas"/>
                <a:sym typeface="Consolas"/>
              </a:rPr>
              <a:t> (</a:t>
            </a:r>
            <a:r>
              <a:rPr b="1" lang="en-GB" sz="1200">
                <a:solidFill>
                  <a:srgbClr val="00193A"/>
                </a:solidFill>
                <a:latin typeface="Consolas"/>
                <a:ea typeface="Consolas"/>
                <a:cs typeface="Consolas"/>
                <a:sym typeface="Consolas"/>
              </a:rPr>
              <a:t>auto</a:t>
            </a:r>
            <a:r>
              <a:rPr lang="en-GB" sz="1200">
                <a:solidFill>
                  <a:srgbClr val="00193A"/>
                </a:solidFill>
                <a:latin typeface="Consolas"/>
                <a:ea typeface="Consolas"/>
                <a:cs typeface="Consolas"/>
                <a:sym typeface="Consolas"/>
              </a:rPr>
              <a:t> i = g1.begin(); i != g1.end(); ++i)</a:t>
            </a:r>
            <a:br>
              <a:rPr lang="en-GB" sz="1200">
                <a:solidFill>
                  <a:srgbClr val="00193A"/>
                </a:solidFill>
                <a:latin typeface="Consolas"/>
                <a:ea typeface="Consolas"/>
                <a:cs typeface="Consolas"/>
                <a:sym typeface="Consolas"/>
              </a:rPr>
            </a:br>
            <a:r>
              <a:rPr lang="en-GB" sz="1200">
                <a:solidFill>
                  <a:srgbClr val="00193A"/>
                </a:solidFill>
                <a:latin typeface="Consolas"/>
                <a:ea typeface="Consolas"/>
                <a:cs typeface="Consolas"/>
                <a:sym typeface="Consolas"/>
              </a:rPr>
              <a:t>		</a:t>
            </a:r>
            <a:r>
              <a:rPr lang="en-GB" sz="1200">
                <a:solidFill>
                  <a:srgbClr val="0048AB"/>
                </a:solidFill>
                <a:latin typeface="Consolas"/>
                <a:ea typeface="Consolas"/>
                <a:cs typeface="Consolas"/>
                <a:sym typeface="Consolas"/>
              </a:rPr>
              <a:t>cout</a:t>
            </a:r>
            <a:r>
              <a:rPr lang="en-GB" sz="1200">
                <a:solidFill>
                  <a:srgbClr val="00193A"/>
                </a:solidFill>
                <a:latin typeface="Consolas"/>
                <a:ea typeface="Consolas"/>
                <a:cs typeface="Consolas"/>
                <a:sym typeface="Consolas"/>
              </a:rPr>
              <a:t> &lt;&lt; *i &lt;&lt; </a:t>
            </a:r>
            <a:r>
              <a:rPr lang="en-GB" sz="1200">
                <a:solidFill>
                  <a:srgbClr val="0048AB"/>
                </a:solidFill>
                <a:latin typeface="Consolas"/>
                <a:ea typeface="Consolas"/>
                <a:cs typeface="Consolas"/>
                <a:sym typeface="Consolas"/>
              </a:rPr>
              <a:t>" "</a:t>
            </a:r>
            <a:r>
              <a:rPr lang="en-GB" sz="1200">
                <a:solidFill>
                  <a:srgbClr val="00193A"/>
                </a:solidFill>
                <a:latin typeface="Consolas"/>
                <a:ea typeface="Consolas"/>
                <a:cs typeface="Consolas"/>
                <a:sym typeface="Consolas"/>
              </a:rPr>
              <a:t>;</a:t>
            </a:r>
            <a:br>
              <a:rPr lang="en-GB" sz="1200">
                <a:solidFill>
                  <a:srgbClr val="00193A"/>
                </a:solidFill>
                <a:latin typeface="Consolas"/>
                <a:ea typeface="Consolas"/>
                <a:cs typeface="Consolas"/>
                <a:sym typeface="Consolas"/>
              </a:rPr>
            </a:br>
            <a:br>
              <a:rPr lang="en-GB" sz="1200">
                <a:solidFill>
                  <a:srgbClr val="00193A"/>
                </a:solidFill>
                <a:latin typeface="Consolas"/>
                <a:ea typeface="Consolas"/>
                <a:cs typeface="Consolas"/>
                <a:sym typeface="Consolas"/>
              </a:rPr>
            </a:br>
            <a:r>
              <a:rPr lang="en-GB" sz="1200">
                <a:solidFill>
                  <a:srgbClr val="00193A"/>
                </a:solidFill>
                <a:latin typeface="Consolas"/>
                <a:ea typeface="Consolas"/>
                <a:cs typeface="Consolas"/>
                <a:sym typeface="Consolas"/>
              </a:rPr>
              <a:t>	</a:t>
            </a:r>
            <a:r>
              <a:rPr lang="en-GB" sz="1200">
                <a:solidFill>
                  <a:srgbClr val="0048AB"/>
                </a:solidFill>
                <a:latin typeface="Consolas"/>
                <a:ea typeface="Consolas"/>
                <a:cs typeface="Consolas"/>
                <a:sym typeface="Consolas"/>
              </a:rPr>
              <a:t>cout</a:t>
            </a:r>
            <a:r>
              <a:rPr lang="en-GB" sz="1200">
                <a:solidFill>
                  <a:srgbClr val="00193A"/>
                </a:solidFill>
                <a:latin typeface="Consolas"/>
                <a:ea typeface="Consolas"/>
                <a:cs typeface="Consolas"/>
                <a:sym typeface="Consolas"/>
              </a:rPr>
              <a:t> &lt;&lt; </a:t>
            </a:r>
            <a:r>
              <a:rPr lang="en-GB" sz="1200">
                <a:solidFill>
                  <a:srgbClr val="0048AB"/>
                </a:solidFill>
                <a:latin typeface="Consolas"/>
                <a:ea typeface="Consolas"/>
                <a:cs typeface="Consolas"/>
                <a:sym typeface="Consolas"/>
              </a:rPr>
              <a:t>"\nOutput of cbegin and cend: "</a:t>
            </a:r>
            <a:r>
              <a:rPr lang="en-GB" sz="1200">
                <a:solidFill>
                  <a:srgbClr val="00193A"/>
                </a:solidFill>
                <a:latin typeface="Consolas"/>
                <a:ea typeface="Consolas"/>
                <a:cs typeface="Consolas"/>
                <a:sym typeface="Consolas"/>
              </a:rPr>
              <a:t>;</a:t>
            </a:r>
            <a:br>
              <a:rPr lang="en-GB" sz="1200">
                <a:solidFill>
                  <a:srgbClr val="00193A"/>
                </a:solidFill>
                <a:latin typeface="Consolas"/>
                <a:ea typeface="Consolas"/>
                <a:cs typeface="Consolas"/>
                <a:sym typeface="Consolas"/>
              </a:rPr>
            </a:br>
            <a:r>
              <a:rPr lang="en-GB" sz="1200">
                <a:solidFill>
                  <a:srgbClr val="00193A"/>
                </a:solidFill>
                <a:latin typeface="Consolas"/>
                <a:ea typeface="Consolas"/>
                <a:cs typeface="Consolas"/>
                <a:sym typeface="Consolas"/>
              </a:rPr>
              <a:t>	</a:t>
            </a:r>
            <a:r>
              <a:rPr b="1" lang="en-GB" sz="1200">
                <a:solidFill>
                  <a:srgbClr val="00193A"/>
                </a:solidFill>
                <a:latin typeface="Consolas"/>
                <a:ea typeface="Consolas"/>
                <a:cs typeface="Consolas"/>
                <a:sym typeface="Consolas"/>
              </a:rPr>
              <a:t>for</a:t>
            </a:r>
            <a:r>
              <a:rPr lang="en-GB" sz="1200">
                <a:solidFill>
                  <a:srgbClr val="00193A"/>
                </a:solidFill>
                <a:latin typeface="Consolas"/>
                <a:ea typeface="Consolas"/>
                <a:cs typeface="Consolas"/>
                <a:sym typeface="Consolas"/>
              </a:rPr>
              <a:t> (</a:t>
            </a:r>
            <a:r>
              <a:rPr b="1" lang="en-GB" sz="1200">
                <a:solidFill>
                  <a:srgbClr val="00193A"/>
                </a:solidFill>
                <a:latin typeface="Consolas"/>
                <a:ea typeface="Consolas"/>
                <a:cs typeface="Consolas"/>
                <a:sym typeface="Consolas"/>
              </a:rPr>
              <a:t>auto</a:t>
            </a:r>
            <a:r>
              <a:rPr lang="en-GB" sz="1200">
                <a:solidFill>
                  <a:srgbClr val="00193A"/>
                </a:solidFill>
                <a:latin typeface="Consolas"/>
                <a:ea typeface="Consolas"/>
                <a:cs typeface="Consolas"/>
                <a:sym typeface="Consolas"/>
              </a:rPr>
              <a:t> i = g1.cbegin(); i != g1.cend(); ++i)</a:t>
            </a:r>
            <a:br>
              <a:rPr lang="en-GB" sz="1200">
                <a:solidFill>
                  <a:srgbClr val="00193A"/>
                </a:solidFill>
                <a:latin typeface="Consolas"/>
                <a:ea typeface="Consolas"/>
                <a:cs typeface="Consolas"/>
                <a:sym typeface="Consolas"/>
              </a:rPr>
            </a:br>
            <a:r>
              <a:rPr lang="en-GB" sz="1200">
                <a:solidFill>
                  <a:srgbClr val="00193A"/>
                </a:solidFill>
                <a:latin typeface="Consolas"/>
                <a:ea typeface="Consolas"/>
                <a:cs typeface="Consolas"/>
                <a:sym typeface="Consolas"/>
              </a:rPr>
              <a:t>		</a:t>
            </a:r>
            <a:r>
              <a:rPr lang="en-GB" sz="1200">
                <a:solidFill>
                  <a:srgbClr val="0048AB"/>
                </a:solidFill>
                <a:latin typeface="Consolas"/>
                <a:ea typeface="Consolas"/>
                <a:cs typeface="Consolas"/>
                <a:sym typeface="Consolas"/>
              </a:rPr>
              <a:t>cout</a:t>
            </a:r>
            <a:r>
              <a:rPr lang="en-GB" sz="1200">
                <a:solidFill>
                  <a:srgbClr val="00193A"/>
                </a:solidFill>
                <a:latin typeface="Consolas"/>
                <a:ea typeface="Consolas"/>
                <a:cs typeface="Consolas"/>
                <a:sym typeface="Consolas"/>
              </a:rPr>
              <a:t> &lt;&lt; *i &lt;&lt; </a:t>
            </a:r>
            <a:r>
              <a:rPr lang="en-GB" sz="1200">
                <a:solidFill>
                  <a:srgbClr val="0048AB"/>
                </a:solidFill>
                <a:latin typeface="Consolas"/>
                <a:ea typeface="Consolas"/>
                <a:cs typeface="Consolas"/>
                <a:sym typeface="Consolas"/>
              </a:rPr>
              <a:t>" "</a:t>
            </a:r>
            <a:r>
              <a:rPr lang="en-GB" sz="1200">
                <a:solidFill>
                  <a:srgbClr val="00193A"/>
                </a:solidFill>
                <a:latin typeface="Consolas"/>
                <a:ea typeface="Consolas"/>
                <a:cs typeface="Consolas"/>
                <a:sym typeface="Consolas"/>
              </a:rPr>
              <a:t>;</a:t>
            </a:r>
            <a:br>
              <a:rPr lang="en-GB" sz="1200">
                <a:solidFill>
                  <a:srgbClr val="00193A"/>
                </a:solidFill>
                <a:latin typeface="Consolas"/>
                <a:ea typeface="Consolas"/>
                <a:cs typeface="Consolas"/>
                <a:sym typeface="Consolas"/>
              </a:rPr>
            </a:br>
            <a:br>
              <a:rPr lang="en-GB" sz="1200">
                <a:solidFill>
                  <a:srgbClr val="00193A"/>
                </a:solidFill>
                <a:latin typeface="Consolas"/>
                <a:ea typeface="Consolas"/>
                <a:cs typeface="Consolas"/>
                <a:sym typeface="Consolas"/>
              </a:rPr>
            </a:br>
            <a:r>
              <a:rPr lang="en-GB" sz="1200">
                <a:solidFill>
                  <a:srgbClr val="00193A"/>
                </a:solidFill>
                <a:latin typeface="Consolas"/>
                <a:ea typeface="Consolas"/>
                <a:cs typeface="Consolas"/>
                <a:sym typeface="Consolas"/>
              </a:rPr>
              <a:t>	</a:t>
            </a:r>
            <a:r>
              <a:rPr lang="en-GB" sz="1200">
                <a:solidFill>
                  <a:srgbClr val="0048AB"/>
                </a:solidFill>
                <a:latin typeface="Consolas"/>
                <a:ea typeface="Consolas"/>
                <a:cs typeface="Consolas"/>
                <a:sym typeface="Consolas"/>
              </a:rPr>
              <a:t>cout</a:t>
            </a:r>
            <a:r>
              <a:rPr lang="en-GB" sz="1200">
                <a:solidFill>
                  <a:srgbClr val="00193A"/>
                </a:solidFill>
                <a:latin typeface="Consolas"/>
                <a:ea typeface="Consolas"/>
                <a:cs typeface="Consolas"/>
                <a:sym typeface="Consolas"/>
              </a:rPr>
              <a:t> &lt;&lt; </a:t>
            </a:r>
            <a:r>
              <a:rPr lang="en-GB" sz="1200">
                <a:solidFill>
                  <a:srgbClr val="0048AB"/>
                </a:solidFill>
                <a:latin typeface="Consolas"/>
                <a:ea typeface="Consolas"/>
                <a:cs typeface="Consolas"/>
                <a:sym typeface="Consolas"/>
              </a:rPr>
              <a:t>"\nOutput of rbegin and rend: "</a:t>
            </a:r>
            <a:r>
              <a:rPr lang="en-GB" sz="1200">
                <a:solidFill>
                  <a:srgbClr val="00193A"/>
                </a:solidFill>
                <a:latin typeface="Consolas"/>
                <a:ea typeface="Consolas"/>
                <a:cs typeface="Consolas"/>
                <a:sym typeface="Consolas"/>
              </a:rPr>
              <a:t>;</a:t>
            </a:r>
            <a:br>
              <a:rPr lang="en-GB" sz="1200">
                <a:solidFill>
                  <a:srgbClr val="00193A"/>
                </a:solidFill>
                <a:latin typeface="Consolas"/>
                <a:ea typeface="Consolas"/>
                <a:cs typeface="Consolas"/>
                <a:sym typeface="Consolas"/>
              </a:rPr>
            </a:br>
            <a:r>
              <a:rPr lang="en-GB" sz="1200">
                <a:solidFill>
                  <a:srgbClr val="00193A"/>
                </a:solidFill>
                <a:latin typeface="Consolas"/>
                <a:ea typeface="Consolas"/>
                <a:cs typeface="Consolas"/>
                <a:sym typeface="Consolas"/>
              </a:rPr>
              <a:t>	</a:t>
            </a:r>
            <a:r>
              <a:rPr b="1" lang="en-GB" sz="1200">
                <a:solidFill>
                  <a:srgbClr val="00193A"/>
                </a:solidFill>
                <a:latin typeface="Consolas"/>
                <a:ea typeface="Consolas"/>
                <a:cs typeface="Consolas"/>
                <a:sym typeface="Consolas"/>
              </a:rPr>
              <a:t>for</a:t>
            </a:r>
            <a:r>
              <a:rPr lang="en-GB" sz="1200">
                <a:solidFill>
                  <a:srgbClr val="00193A"/>
                </a:solidFill>
                <a:latin typeface="Consolas"/>
                <a:ea typeface="Consolas"/>
                <a:cs typeface="Consolas"/>
                <a:sym typeface="Consolas"/>
              </a:rPr>
              <a:t> (</a:t>
            </a:r>
            <a:r>
              <a:rPr b="1" lang="en-GB" sz="1200">
                <a:solidFill>
                  <a:srgbClr val="00193A"/>
                </a:solidFill>
                <a:latin typeface="Consolas"/>
                <a:ea typeface="Consolas"/>
                <a:cs typeface="Consolas"/>
                <a:sym typeface="Consolas"/>
              </a:rPr>
              <a:t>auto</a:t>
            </a:r>
            <a:r>
              <a:rPr lang="en-GB" sz="1200">
                <a:solidFill>
                  <a:srgbClr val="00193A"/>
                </a:solidFill>
                <a:latin typeface="Consolas"/>
                <a:ea typeface="Consolas"/>
                <a:cs typeface="Consolas"/>
                <a:sym typeface="Consolas"/>
              </a:rPr>
              <a:t> ir = g1.rbegin(); ir != g1.rend(); ++ir)</a:t>
            </a:r>
            <a:br>
              <a:rPr lang="en-GB" sz="1200">
                <a:solidFill>
                  <a:srgbClr val="00193A"/>
                </a:solidFill>
                <a:latin typeface="Consolas"/>
                <a:ea typeface="Consolas"/>
                <a:cs typeface="Consolas"/>
                <a:sym typeface="Consolas"/>
              </a:rPr>
            </a:br>
            <a:r>
              <a:rPr lang="en-GB" sz="1200">
                <a:solidFill>
                  <a:srgbClr val="00193A"/>
                </a:solidFill>
                <a:latin typeface="Consolas"/>
                <a:ea typeface="Consolas"/>
                <a:cs typeface="Consolas"/>
                <a:sym typeface="Consolas"/>
              </a:rPr>
              <a:t>		</a:t>
            </a:r>
            <a:r>
              <a:rPr lang="en-GB" sz="1200">
                <a:solidFill>
                  <a:srgbClr val="0048AB"/>
                </a:solidFill>
                <a:latin typeface="Consolas"/>
                <a:ea typeface="Consolas"/>
                <a:cs typeface="Consolas"/>
                <a:sym typeface="Consolas"/>
              </a:rPr>
              <a:t>cout</a:t>
            </a:r>
            <a:r>
              <a:rPr lang="en-GB" sz="1200">
                <a:solidFill>
                  <a:srgbClr val="00193A"/>
                </a:solidFill>
                <a:latin typeface="Consolas"/>
                <a:ea typeface="Consolas"/>
                <a:cs typeface="Consolas"/>
                <a:sym typeface="Consolas"/>
              </a:rPr>
              <a:t> &lt;&lt; *ir &lt;&lt; </a:t>
            </a:r>
            <a:r>
              <a:rPr lang="en-GB" sz="1200">
                <a:solidFill>
                  <a:srgbClr val="0048AB"/>
                </a:solidFill>
                <a:latin typeface="Consolas"/>
                <a:ea typeface="Consolas"/>
                <a:cs typeface="Consolas"/>
                <a:sym typeface="Consolas"/>
              </a:rPr>
              <a:t>" "</a:t>
            </a:r>
            <a:r>
              <a:rPr lang="en-GB" sz="1200">
                <a:solidFill>
                  <a:srgbClr val="00193A"/>
                </a:solidFill>
                <a:latin typeface="Consolas"/>
                <a:ea typeface="Consolas"/>
                <a:cs typeface="Consolas"/>
                <a:sym typeface="Consolas"/>
              </a:rPr>
              <a:t>;</a:t>
            </a:r>
            <a:br>
              <a:rPr lang="en-GB" sz="1200">
                <a:solidFill>
                  <a:srgbClr val="00193A"/>
                </a:solidFill>
                <a:latin typeface="Consolas"/>
                <a:ea typeface="Consolas"/>
                <a:cs typeface="Consolas"/>
                <a:sym typeface="Consolas"/>
              </a:rPr>
            </a:br>
            <a:br>
              <a:rPr lang="en-GB" sz="1200">
                <a:solidFill>
                  <a:srgbClr val="00193A"/>
                </a:solidFill>
                <a:latin typeface="Consolas"/>
                <a:ea typeface="Consolas"/>
                <a:cs typeface="Consolas"/>
                <a:sym typeface="Consolas"/>
              </a:rPr>
            </a:br>
            <a:r>
              <a:rPr lang="en-GB" sz="1200">
                <a:solidFill>
                  <a:srgbClr val="00193A"/>
                </a:solidFill>
                <a:latin typeface="Consolas"/>
                <a:ea typeface="Consolas"/>
                <a:cs typeface="Consolas"/>
                <a:sym typeface="Consolas"/>
              </a:rPr>
              <a:t>	</a:t>
            </a:r>
            <a:r>
              <a:rPr lang="en-GB" sz="1200">
                <a:solidFill>
                  <a:srgbClr val="0048AB"/>
                </a:solidFill>
                <a:latin typeface="Consolas"/>
                <a:ea typeface="Consolas"/>
                <a:cs typeface="Consolas"/>
                <a:sym typeface="Consolas"/>
              </a:rPr>
              <a:t>cout</a:t>
            </a:r>
            <a:r>
              <a:rPr lang="en-GB" sz="1200">
                <a:solidFill>
                  <a:srgbClr val="00193A"/>
                </a:solidFill>
                <a:latin typeface="Consolas"/>
                <a:ea typeface="Consolas"/>
                <a:cs typeface="Consolas"/>
                <a:sym typeface="Consolas"/>
              </a:rPr>
              <a:t> &lt;&lt; </a:t>
            </a:r>
            <a:r>
              <a:rPr lang="en-GB" sz="1200">
                <a:solidFill>
                  <a:srgbClr val="0048AB"/>
                </a:solidFill>
                <a:latin typeface="Consolas"/>
                <a:ea typeface="Consolas"/>
                <a:cs typeface="Consolas"/>
                <a:sym typeface="Consolas"/>
              </a:rPr>
              <a:t>"\nOutput of crbegin and crend : "</a:t>
            </a:r>
            <a:r>
              <a:rPr lang="en-GB" sz="1200">
                <a:solidFill>
                  <a:srgbClr val="00193A"/>
                </a:solidFill>
                <a:latin typeface="Consolas"/>
                <a:ea typeface="Consolas"/>
                <a:cs typeface="Consolas"/>
                <a:sym typeface="Consolas"/>
              </a:rPr>
              <a:t>;</a:t>
            </a:r>
            <a:br>
              <a:rPr lang="en-GB" sz="1200">
                <a:solidFill>
                  <a:srgbClr val="00193A"/>
                </a:solidFill>
                <a:latin typeface="Consolas"/>
                <a:ea typeface="Consolas"/>
                <a:cs typeface="Consolas"/>
                <a:sym typeface="Consolas"/>
              </a:rPr>
            </a:br>
            <a:r>
              <a:rPr lang="en-GB" sz="1200">
                <a:solidFill>
                  <a:srgbClr val="00193A"/>
                </a:solidFill>
                <a:latin typeface="Consolas"/>
                <a:ea typeface="Consolas"/>
                <a:cs typeface="Consolas"/>
                <a:sym typeface="Consolas"/>
              </a:rPr>
              <a:t>	</a:t>
            </a:r>
            <a:r>
              <a:rPr b="1" lang="en-GB" sz="1200">
                <a:solidFill>
                  <a:srgbClr val="00193A"/>
                </a:solidFill>
                <a:latin typeface="Consolas"/>
                <a:ea typeface="Consolas"/>
                <a:cs typeface="Consolas"/>
                <a:sym typeface="Consolas"/>
              </a:rPr>
              <a:t>for</a:t>
            </a:r>
            <a:r>
              <a:rPr lang="en-GB" sz="1200">
                <a:solidFill>
                  <a:srgbClr val="00193A"/>
                </a:solidFill>
                <a:latin typeface="Consolas"/>
                <a:ea typeface="Consolas"/>
                <a:cs typeface="Consolas"/>
                <a:sym typeface="Consolas"/>
              </a:rPr>
              <a:t> (</a:t>
            </a:r>
            <a:r>
              <a:rPr b="1" lang="en-GB" sz="1200">
                <a:solidFill>
                  <a:srgbClr val="00193A"/>
                </a:solidFill>
                <a:latin typeface="Consolas"/>
                <a:ea typeface="Consolas"/>
                <a:cs typeface="Consolas"/>
                <a:sym typeface="Consolas"/>
              </a:rPr>
              <a:t>auto</a:t>
            </a:r>
            <a:r>
              <a:rPr lang="en-GB" sz="1200">
                <a:solidFill>
                  <a:srgbClr val="00193A"/>
                </a:solidFill>
                <a:latin typeface="Consolas"/>
                <a:ea typeface="Consolas"/>
                <a:cs typeface="Consolas"/>
                <a:sym typeface="Consolas"/>
              </a:rPr>
              <a:t> ir = g1.crbegin(); ir != g1.crend(); ++ir)</a:t>
            </a:r>
            <a:br>
              <a:rPr lang="en-GB" sz="1200">
                <a:solidFill>
                  <a:srgbClr val="00193A"/>
                </a:solidFill>
                <a:latin typeface="Consolas"/>
                <a:ea typeface="Consolas"/>
                <a:cs typeface="Consolas"/>
                <a:sym typeface="Consolas"/>
              </a:rPr>
            </a:br>
            <a:r>
              <a:rPr lang="en-GB" sz="1200">
                <a:solidFill>
                  <a:srgbClr val="00193A"/>
                </a:solidFill>
                <a:latin typeface="Consolas"/>
                <a:ea typeface="Consolas"/>
                <a:cs typeface="Consolas"/>
                <a:sym typeface="Consolas"/>
              </a:rPr>
              <a:t>		</a:t>
            </a:r>
            <a:r>
              <a:rPr lang="en-GB" sz="1200">
                <a:solidFill>
                  <a:srgbClr val="0048AB"/>
                </a:solidFill>
                <a:latin typeface="Consolas"/>
                <a:ea typeface="Consolas"/>
                <a:cs typeface="Consolas"/>
                <a:sym typeface="Consolas"/>
              </a:rPr>
              <a:t>cout</a:t>
            </a:r>
            <a:r>
              <a:rPr lang="en-GB" sz="1200">
                <a:solidFill>
                  <a:srgbClr val="00193A"/>
                </a:solidFill>
                <a:latin typeface="Consolas"/>
                <a:ea typeface="Consolas"/>
                <a:cs typeface="Consolas"/>
                <a:sym typeface="Consolas"/>
              </a:rPr>
              <a:t> &lt;&lt; *ir &lt;&lt; </a:t>
            </a:r>
            <a:r>
              <a:rPr lang="en-GB" sz="1200">
                <a:solidFill>
                  <a:srgbClr val="0048AB"/>
                </a:solidFill>
                <a:latin typeface="Consolas"/>
                <a:ea typeface="Consolas"/>
                <a:cs typeface="Consolas"/>
                <a:sym typeface="Consolas"/>
              </a:rPr>
              <a:t>" "</a:t>
            </a:r>
            <a:r>
              <a:rPr lang="en-GB" sz="1200">
                <a:solidFill>
                  <a:srgbClr val="00193A"/>
                </a:solidFill>
                <a:latin typeface="Consolas"/>
                <a:ea typeface="Consolas"/>
                <a:cs typeface="Consolas"/>
                <a:sym typeface="Consolas"/>
              </a:rPr>
              <a:t>;</a:t>
            </a:r>
            <a:br>
              <a:rPr lang="en-GB" sz="1200">
                <a:solidFill>
                  <a:srgbClr val="00193A"/>
                </a:solidFill>
                <a:latin typeface="Consolas"/>
                <a:ea typeface="Consolas"/>
                <a:cs typeface="Consolas"/>
                <a:sym typeface="Consolas"/>
              </a:rPr>
            </a:br>
            <a:br>
              <a:rPr lang="en-GB" sz="1200">
                <a:solidFill>
                  <a:srgbClr val="00193A"/>
                </a:solidFill>
                <a:latin typeface="Consolas"/>
                <a:ea typeface="Consolas"/>
                <a:cs typeface="Consolas"/>
                <a:sym typeface="Consolas"/>
              </a:rPr>
            </a:br>
            <a:r>
              <a:rPr lang="en-GB" sz="1200">
                <a:solidFill>
                  <a:srgbClr val="00193A"/>
                </a:solidFill>
                <a:latin typeface="Consolas"/>
                <a:ea typeface="Consolas"/>
                <a:cs typeface="Consolas"/>
                <a:sym typeface="Consolas"/>
              </a:rPr>
              <a:t>	</a:t>
            </a:r>
            <a:r>
              <a:rPr b="1" lang="en-GB" sz="1200">
                <a:solidFill>
                  <a:srgbClr val="00193A"/>
                </a:solidFill>
                <a:latin typeface="Consolas"/>
                <a:ea typeface="Consolas"/>
                <a:cs typeface="Consolas"/>
                <a:sym typeface="Consolas"/>
              </a:rPr>
              <a:t>return</a:t>
            </a:r>
            <a:r>
              <a:rPr lang="en-GB" sz="1200">
                <a:solidFill>
                  <a:srgbClr val="00193A"/>
                </a:solidFill>
                <a:latin typeface="Consolas"/>
                <a:ea typeface="Consolas"/>
                <a:cs typeface="Consolas"/>
                <a:sym typeface="Consolas"/>
              </a:rPr>
              <a:t> 0;</a:t>
            </a:r>
            <a:br>
              <a:rPr lang="en-GB" sz="1200">
                <a:solidFill>
                  <a:srgbClr val="00193A"/>
                </a:solidFill>
                <a:latin typeface="Consolas"/>
                <a:ea typeface="Consolas"/>
                <a:cs typeface="Consolas"/>
                <a:sym typeface="Consolas"/>
              </a:rPr>
            </a:br>
            <a:r>
              <a:rPr lang="en-GB" sz="1200">
                <a:solidFill>
                  <a:srgbClr val="00193A"/>
                </a:solidFill>
                <a:latin typeface="Consolas"/>
                <a:ea typeface="Consolas"/>
                <a:cs typeface="Consolas"/>
                <a:sym typeface="Consolas"/>
              </a:rPr>
              <a:t>}</a:t>
            </a:r>
            <a:endParaRPr/>
          </a:p>
        </p:txBody>
      </p:sp>
      <p:graphicFrame>
        <p:nvGraphicFramePr>
          <p:cNvPr id="108" name="Google Shape;108;p20"/>
          <p:cNvGraphicFramePr/>
          <p:nvPr/>
        </p:nvGraphicFramePr>
        <p:xfrm>
          <a:off x="4740875" y="1910350"/>
          <a:ext cx="3000000" cy="3000000"/>
        </p:xfrm>
        <a:graphic>
          <a:graphicData uri="http://schemas.openxmlformats.org/drawingml/2006/table">
            <a:tbl>
              <a:tblPr>
                <a:noFill/>
                <a:tableStyleId>{3148F640-CBB6-4A9C-AC96-E862B239324D}</a:tableStyleId>
              </a:tblPr>
              <a:tblGrid>
                <a:gridCol w="3666275"/>
              </a:tblGrid>
              <a:tr h="12700">
                <a:tc>
                  <a:txBody>
                    <a:bodyPr/>
                    <a:lstStyle/>
                    <a:p>
                      <a:pPr indent="0" lvl="0" marL="0" rtl="0" algn="l">
                        <a:lnSpc>
                          <a:spcPct val="115000"/>
                        </a:lnSpc>
                        <a:spcBef>
                          <a:spcPts val="0"/>
                        </a:spcBef>
                        <a:spcAft>
                          <a:spcPts val="0"/>
                        </a:spcAft>
                        <a:buNone/>
                      </a:pPr>
                      <a:r>
                        <a:rPr lang="en-GB" sz="1200">
                          <a:solidFill>
                            <a:srgbClr val="00193A"/>
                          </a:solidFill>
                          <a:highlight>
                            <a:srgbClr val="EAEEF3"/>
                          </a:highlight>
                          <a:latin typeface="Consolas"/>
                          <a:ea typeface="Consolas"/>
                          <a:cs typeface="Consolas"/>
                          <a:sym typeface="Consolas"/>
                        </a:rPr>
                        <a:t>Output of begin and end: 1 2 3 4 5 </a:t>
                      </a:r>
                      <a:br>
                        <a:rPr lang="en-GB" sz="1200">
                          <a:solidFill>
                            <a:srgbClr val="00193A"/>
                          </a:solidFill>
                          <a:highlight>
                            <a:srgbClr val="EAEEF3"/>
                          </a:highlight>
                          <a:latin typeface="Consolas"/>
                          <a:ea typeface="Consolas"/>
                          <a:cs typeface="Consolas"/>
                          <a:sym typeface="Consolas"/>
                        </a:rPr>
                      </a:br>
                      <a:r>
                        <a:rPr lang="en-GB" sz="1200">
                          <a:solidFill>
                            <a:srgbClr val="00193A"/>
                          </a:solidFill>
                          <a:highlight>
                            <a:srgbClr val="EAEEF3"/>
                          </a:highlight>
                          <a:latin typeface="Consolas"/>
                          <a:ea typeface="Consolas"/>
                          <a:cs typeface="Consolas"/>
                          <a:sym typeface="Consolas"/>
                        </a:rPr>
                        <a:t>Output of cbegin and cend: 1 2 3 4 5 </a:t>
                      </a:r>
                      <a:br>
                        <a:rPr lang="en-GB" sz="1200">
                          <a:solidFill>
                            <a:srgbClr val="00193A"/>
                          </a:solidFill>
                          <a:highlight>
                            <a:srgbClr val="EAEEF3"/>
                          </a:highlight>
                          <a:latin typeface="Consolas"/>
                          <a:ea typeface="Consolas"/>
                          <a:cs typeface="Consolas"/>
                          <a:sym typeface="Consolas"/>
                        </a:rPr>
                      </a:br>
                      <a:r>
                        <a:rPr lang="en-GB" sz="1200">
                          <a:solidFill>
                            <a:srgbClr val="00193A"/>
                          </a:solidFill>
                          <a:highlight>
                            <a:srgbClr val="EAEEF3"/>
                          </a:highlight>
                          <a:latin typeface="Consolas"/>
                          <a:ea typeface="Consolas"/>
                          <a:cs typeface="Consolas"/>
                          <a:sym typeface="Consolas"/>
                        </a:rPr>
                        <a:t>Output of rbegin and rend: 5 4 3 2 1 </a:t>
                      </a:r>
                      <a:br>
                        <a:rPr lang="en-GB" sz="1200">
                          <a:solidFill>
                            <a:srgbClr val="00193A"/>
                          </a:solidFill>
                          <a:highlight>
                            <a:srgbClr val="EAEEF3"/>
                          </a:highlight>
                          <a:latin typeface="Consolas"/>
                          <a:ea typeface="Consolas"/>
                          <a:cs typeface="Consolas"/>
                          <a:sym typeface="Consolas"/>
                        </a:rPr>
                      </a:br>
                      <a:r>
                        <a:rPr lang="en-GB" sz="1200">
                          <a:solidFill>
                            <a:srgbClr val="00193A"/>
                          </a:solidFill>
                          <a:highlight>
                            <a:srgbClr val="EAEEF3"/>
                          </a:highlight>
                          <a:latin typeface="Consolas"/>
                          <a:ea typeface="Consolas"/>
                          <a:cs typeface="Consolas"/>
                          <a:sym typeface="Consolas"/>
                        </a:rPr>
                        <a:t>Output of crbegin and crend : 5 4 3 2 1</a:t>
                      </a:r>
                      <a:endParaRPr sz="1200">
                        <a:solidFill>
                          <a:srgbClr val="212529"/>
                        </a:solidFill>
                        <a:latin typeface="Proxima Nova"/>
                        <a:ea typeface="Proxima Nova"/>
                        <a:cs typeface="Proxima Nova"/>
                        <a:sym typeface="Proxima Nova"/>
                      </a:endParaRPr>
                    </a:p>
                  </a:txBody>
                  <a:tcPr marT="63500" marB="63500" marR="63500" marL="63500">
                    <a:solidFill>
                      <a:srgbClr val="EAEEF3"/>
                    </a:solidFill>
                  </a:tcPr>
                </a:tc>
              </a:tr>
            </a:tbl>
          </a:graphicData>
        </a:graphic>
      </p:graphicFrame>
      <p:sp>
        <p:nvSpPr>
          <p:cNvPr id="109" name="Google Shape;109;p20"/>
          <p:cNvSpPr txBox="1"/>
          <p:nvPr/>
        </p:nvSpPr>
        <p:spPr>
          <a:xfrm>
            <a:off x="5424950" y="1027300"/>
            <a:ext cx="1491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t>output:</a:t>
            </a:r>
            <a:endParaRPr b="1"/>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1"/>
          <p:cNvSpPr txBox="1"/>
          <p:nvPr>
            <p:ph type="title"/>
          </p:nvPr>
        </p:nvSpPr>
        <p:spPr>
          <a:xfrm>
            <a:off x="213200" y="1213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Functions:Vector capacity </a:t>
            </a:r>
            <a:endParaRPr/>
          </a:p>
        </p:txBody>
      </p:sp>
      <p:sp>
        <p:nvSpPr>
          <p:cNvPr id="115" name="Google Shape;115;p21"/>
          <p:cNvSpPr txBox="1"/>
          <p:nvPr>
            <p:ph idx="1" type="body"/>
          </p:nvPr>
        </p:nvSpPr>
        <p:spPr>
          <a:xfrm>
            <a:off x="311700" y="694075"/>
            <a:ext cx="8520600" cy="38748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Clr>
                <a:srgbClr val="212529"/>
              </a:buClr>
              <a:buSzPts val="1800"/>
              <a:buFont typeface="Proxima Nova"/>
              <a:buAutoNum type="arabicPeriod"/>
            </a:pPr>
            <a:r>
              <a:rPr b="1" lang="en-GB">
                <a:solidFill>
                  <a:srgbClr val="212529"/>
                </a:solidFill>
                <a:latin typeface="Proxima Nova"/>
                <a:ea typeface="Proxima Nova"/>
                <a:cs typeface="Proxima Nova"/>
                <a:sym typeface="Proxima Nova"/>
              </a:rPr>
              <a:t>size()</a:t>
            </a:r>
            <a:r>
              <a:rPr lang="en-GB">
                <a:solidFill>
                  <a:srgbClr val="212529"/>
                </a:solidFill>
                <a:latin typeface="Proxima Nova"/>
                <a:ea typeface="Proxima Nova"/>
                <a:cs typeface="Proxima Nova"/>
                <a:sym typeface="Proxima Nova"/>
              </a:rPr>
              <a:t> – Returns the number of elements in the vector.</a:t>
            </a:r>
            <a:endParaRPr>
              <a:solidFill>
                <a:srgbClr val="212529"/>
              </a:solidFill>
              <a:latin typeface="Proxima Nova"/>
              <a:ea typeface="Proxima Nova"/>
              <a:cs typeface="Proxima Nova"/>
              <a:sym typeface="Proxima Nova"/>
            </a:endParaRPr>
          </a:p>
          <a:p>
            <a:pPr indent="-342900" lvl="0" marL="457200" rtl="0" algn="l">
              <a:lnSpc>
                <a:spcPct val="115000"/>
              </a:lnSpc>
              <a:spcBef>
                <a:spcPts val="0"/>
              </a:spcBef>
              <a:spcAft>
                <a:spcPts val="0"/>
              </a:spcAft>
              <a:buClr>
                <a:srgbClr val="212529"/>
              </a:buClr>
              <a:buSzPts val="1800"/>
              <a:buFont typeface="Proxima Nova"/>
              <a:buAutoNum type="arabicPeriod"/>
            </a:pPr>
            <a:r>
              <a:rPr b="1" lang="en-GB">
                <a:solidFill>
                  <a:srgbClr val="212529"/>
                </a:solidFill>
                <a:latin typeface="Proxima Nova"/>
                <a:ea typeface="Proxima Nova"/>
                <a:cs typeface="Proxima Nova"/>
                <a:sym typeface="Proxima Nova"/>
              </a:rPr>
              <a:t>max_size()</a:t>
            </a:r>
            <a:r>
              <a:rPr lang="en-GB">
                <a:solidFill>
                  <a:srgbClr val="212529"/>
                </a:solidFill>
                <a:latin typeface="Proxima Nova"/>
                <a:ea typeface="Proxima Nova"/>
                <a:cs typeface="Proxima Nova"/>
                <a:sym typeface="Proxima Nova"/>
              </a:rPr>
              <a:t> – Returns the maximum number of elements that the vector can hold.</a:t>
            </a:r>
            <a:endParaRPr>
              <a:solidFill>
                <a:srgbClr val="212529"/>
              </a:solidFill>
              <a:latin typeface="Proxima Nova"/>
              <a:ea typeface="Proxima Nova"/>
              <a:cs typeface="Proxima Nova"/>
              <a:sym typeface="Proxima Nova"/>
            </a:endParaRPr>
          </a:p>
          <a:p>
            <a:pPr indent="-342900" lvl="0" marL="457200" rtl="0" algn="l">
              <a:lnSpc>
                <a:spcPct val="115000"/>
              </a:lnSpc>
              <a:spcBef>
                <a:spcPts val="0"/>
              </a:spcBef>
              <a:spcAft>
                <a:spcPts val="0"/>
              </a:spcAft>
              <a:buClr>
                <a:srgbClr val="212529"/>
              </a:buClr>
              <a:buSzPts val="1800"/>
              <a:buFont typeface="Proxima Nova"/>
              <a:buAutoNum type="arabicPeriod"/>
            </a:pPr>
            <a:r>
              <a:rPr b="1" lang="en-GB">
                <a:solidFill>
                  <a:srgbClr val="212529"/>
                </a:solidFill>
                <a:latin typeface="Proxima Nova"/>
                <a:ea typeface="Proxima Nova"/>
                <a:cs typeface="Proxima Nova"/>
                <a:sym typeface="Proxima Nova"/>
              </a:rPr>
              <a:t>capacity()</a:t>
            </a:r>
            <a:r>
              <a:rPr lang="en-GB">
                <a:solidFill>
                  <a:srgbClr val="212529"/>
                </a:solidFill>
                <a:latin typeface="Proxima Nova"/>
                <a:ea typeface="Proxima Nova"/>
                <a:cs typeface="Proxima Nova"/>
                <a:sym typeface="Proxima Nova"/>
              </a:rPr>
              <a:t> – Returns the size of the storage space currently allocated to the vector expressed as the number of elements.</a:t>
            </a:r>
            <a:endParaRPr>
              <a:solidFill>
                <a:srgbClr val="212529"/>
              </a:solidFill>
              <a:latin typeface="Proxima Nova"/>
              <a:ea typeface="Proxima Nova"/>
              <a:cs typeface="Proxima Nova"/>
              <a:sym typeface="Proxima Nova"/>
            </a:endParaRPr>
          </a:p>
          <a:p>
            <a:pPr indent="-342900" lvl="0" marL="457200" rtl="0" algn="l">
              <a:lnSpc>
                <a:spcPct val="115000"/>
              </a:lnSpc>
              <a:spcBef>
                <a:spcPts val="0"/>
              </a:spcBef>
              <a:spcAft>
                <a:spcPts val="0"/>
              </a:spcAft>
              <a:buClr>
                <a:srgbClr val="212529"/>
              </a:buClr>
              <a:buSzPts val="1800"/>
              <a:buFont typeface="Proxima Nova"/>
              <a:buAutoNum type="arabicPeriod"/>
            </a:pPr>
            <a:r>
              <a:rPr b="1" lang="en-GB">
                <a:solidFill>
                  <a:srgbClr val="212529"/>
                </a:solidFill>
                <a:latin typeface="Proxima Nova"/>
                <a:ea typeface="Proxima Nova"/>
                <a:cs typeface="Proxima Nova"/>
                <a:sym typeface="Proxima Nova"/>
              </a:rPr>
              <a:t>resize(n)</a:t>
            </a:r>
            <a:r>
              <a:rPr lang="en-GB">
                <a:solidFill>
                  <a:srgbClr val="212529"/>
                </a:solidFill>
                <a:latin typeface="Proxima Nova"/>
                <a:ea typeface="Proxima Nova"/>
                <a:cs typeface="Proxima Nova"/>
                <a:sym typeface="Proxima Nova"/>
              </a:rPr>
              <a:t> – Resizes the container so that it contains ‘n’ elements.</a:t>
            </a:r>
            <a:endParaRPr>
              <a:solidFill>
                <a:srgbClr val="212529"/>
              </a:solidFill>
              <a:latin typeface="Proxima Nova"/>
              <a:ea typeface="Proxima Nova"/>
              <a:cs typeface="Proxima Nova"/>
              <a:sym typeface="Proxima Nova"/>
            </a:endParaRPr>
          </a:p>
          <a:p>
            <a:pPr indent="-342900" lvl="0" marL="457200" rtl="0" algn="l">
              <a:lnSpc>
                <a:spcPct val="115000"/>
              </a:lnSpc>
              <a:spcBef>
                <a:spcPts val="0"/>
              </a:spcBef>
              <a:spcAft>
                <a:spcPts val="0"/>
              </a:spcAft>
              <a:buClr>
                <a:srgbClr val="212529"/>
              </a:buClr>
              <a:buSzPts val="1800"/>
              <a:buFont typeface="Proxima Nova"/>
              <a:buAutoNum type="arabicPeriod"/>
            </a:pPr>
            <a:r>
              <a:rPr b="1" lang="en-GB">
                <a:solidFill>
                  <a:srgbClr val="212529"/>
                </a:solidFill>
                <a:latin typeface="Proxima Nova"/>
                <a:ea typeface="Proxima Nova"/>
                <a:cs typeface="Proxima Nova"/>
                <a:sym typeface="Proxima Nova"/>
              </a:rPr>
              <a:t>empty()</a:t>
            </a:r>
            <a:r>
              <a:rPr lang="en-GB">
                <a:solidFill>
                  <a:srgbClr val="212529"/>
                </a:solidFill>
                <a:latin typeface="Proxima Nova"/>
                <a:ea typeface="Proxima Nova"/>
                <a:cs typeface="Proxima Nova"/>
                <a:sym typeface="Proxima Nova"/>
              </a:rPr>
              <a:t> – Returns whether the container is empty.</a:t>
            </a:r>
            <a:endParaRPr>
              <a:solidFill>
                <a:srgbClr val="212529"/>
              </a:solidFill>
              <a:latin typeface="Proxima Nova"/>
              <a:ea typeface="Proxima Nova"/>
              <a:cs typeface="Proxima Nova"/>
              <a:sym typeface="Proxima Nova"/>
            </a:endParaRPr>
          </a:p>
          <a:p>
            <a:pPr indent="-342900" lvl="0" marL="457200" rtl="0" algn="l">
              <a:lnSpc>
                <a:spcPct val="115000"/>
              </a:lnSpc>
              <a:spcBef>
                <a:spcPts val="0"/>
              </a:spcBef>
              <a:spcAft>
                <a:spcPts val="0"/>
              </a:spcAft>
              <a:buClr>
                <a:srgbClr val="212529"/>
              </a:buClr>
              <a:buSzPts val="1800"/>
              <a:buFont typeface="Proxima Nova"/>
              <a:buAutoNum type="arabicPeriod"/>
            </a:pPr>
            <a:r>
              <a:rPr b="1" lang="en-GB">
                <a:solidFill>
                  <a:srgbClr val="212529"/>
                </a:solidFill>
                <a:latin typeface="Proxima Nova"/>
                <a:ea typeface="Proxima Nova"/>
                <a:cs typeface="Proxima Nova"/>
                <a:sym typeface="Proxima Nova"/>
              </a:rPr>
              <a:t>shrink_to_fit()</a:t>
            </a:r>
            <a:r>
              <a:rPr lang="en-GB">
                <a:solidFill>
                  <a:srgbClr val="212529"/>
                </a:solidFill>
                <a:latin typeface="Proxima Nova"/>
                <a:ea typeface="Proxima Nova"/>
                <a:cs typeface="Proxima Nova"/>
                <a:sym typeface="Proxima Nova"/>
              </a:rPr>
              <a:t> – Reduces the capacity of the container to fit its size and destroys all elements beyond the capacity.</a:t>
            </a:r>
            <a:endParaRPr>
              <a:solidFill>
                <a:srgbClr val="212529"/>
              </a:solidFill>
              <a:latin typeface="Proxima Nova"/>
              <a:ea typeface="Proxima Nova"/>
              <a:cs typeface="Proxima Nova"/>
              <a:sym typeface="Proxima Nova"/>
            </a:endParaRPr>
          </a:p>
          <a:p>
            <a:pPr indent="-342900" lvl="0" marL="457200" rtl="0" algn="l">
              <a:lnSpc>
                <a:spcPct val="115000"/>
              </a:lnSpc>
              <a:spcBef>
                <a:spcPts val="0"/>
              </a:spcBef>
              <a:spcAft>
                <a:spcPts val="0"/>
              </a:spcAft>
              <a:buClr>
                <a:srgbClr val="212529"/>
              </a:buClr>
              <a:buSzPts val="1800"/>
              <a:buFont typeface="Proxima Nova"/>
              <a:buAutoNum type="arabicPeriod"/>
            </a:pPr>
            <a:r>
              <a:rPr b="1" lang="en-GB">
                <a:solidFill>
                  <a:srgbClr val="212529"/>
                </a:solidFill>
                <a:latin typeface="Proxima Nova"/>
                <a:ea typeface="Proxima Nova"/>
                <a:cs typeface="Proxima Nova"/>
                <a:sym typeface="Proxima Nova"/>
              </a:rPr>
              <a:t>reserve()</a:t>
            </a:r>
            <a:r>
              <a:rPr lang="en-GB">
                <a:solidFill>
                  <a:srgbClr val="212529"/>
                </a:solidFill>
                <a:latin typeface="Proxima Nova"/>
                <a:ea typeface="Proxima Nova"/>
                <a:cs typeface="Proxima Nova"/>
                <a:sym typeface="Proxima Nova"/>
              </a:rPr>
              <a:t> – Requests that the vector capacity be at least enough to contain n elements.</a:t>
            </a:r>
            <a:endParaRPr sz="24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2"/>
          <p:cNvSpPr txBox="1"/>
          <p:nvPr>
            <p:ph type="title"/>
          </p:nvPr>
        </p:nvSpPr>
        <p:spPr>
          <a:xfrm>
            <a:off x="149875" y="299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Sample Program with Capacity Functions</a:t>
            </a:r>
            <a:endParaRPr/>
          </a:p>
        </p:txBody>
      </p:sp>
      <p:sp>
        <p:nvSpPr>
          <p:cNvPr id="121" name="Google Shape;121;p22"/>
          <p:cNvSpPr txBox="1"/>
          <p:nvPr>
            <p:ph idx="1" type="body"/>
          </p:nvPr>
        </p:nvSpPr>
        <p:spPr>
          <a:xfrm>
            <a:off x="586125" y="501900"/>
            <a:ext cx="4028100" cy="43530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Clr>
                <a:schemeClr val="dk1"/>
              </a:buClr>
              <a:buSzPts val="605"/>
              <a:buFont typeface="Arial"/>
              <a:buNone/>
            </a:pPr>
            <a:r>
              <a:rPr lang="en-GB" sz="760">
                <a:solidFill>
                  <a:srgbClr val="738191"/>
                </a:solidFill>
                <a:latin typeface="Consolas"/>
                <a:ea typeface="Consolas"/>
                <a:cs typeface="Consolas"/>
                <a:sym typeface="Consolas"/>
              </a:rPr>
              <a:t>// C++ program to illustrate the</a:t>
            </a:r>
            <a:br>
              <a:rPr lang="en-GB" sz="760">
                <a:solidFill>
                  <a:srgbClr val="00193A"/>
                </a:solidFill>
                <a:latin typeface="Consolas"/>
                <a:ea typeface="Consolas"/>
                <a:cs typeface="Consolas"/>
                <a:sym typeface="Consolas"/>
              </a:rPr>
            </a:br>
            <a:r>
              <a:rPr lang="en-GB" sz="760">
                <a:solidFill>
                  <a:srgbClr val="738191"/>
                </a:solidFill>
                <a:latin typeface="Consolas"/>
                <a:ea typeface="Consolas"/>
                <a:cs typeface="Consolas"/>
                <a:sym typeface="Consolas"/>
              </a:rPr>
              <a:t>// capacity function in vector</a:t>
            </a:r>
            <a:br>
              <a:rPr lang="en-GB" sz="760">
                <a:solidFill>
                  <a:srgbClr val="00193A"/>
                </a:solidFill>
                <a:latin typeface="Consolas"/>
                <a:ea typeface="Consolas"/>
                <a:cs typeface="Consolas"/>
                <a:sym typeface="Consolas"/>
              </a:rPr>
            </a:br>
            <a:r>
              <a:rPr lang="en-GB" sz="760">
                <a:solidFill>
                  <a:srgbClr val="4C81C9"/>
                </a:solidFill>
                <a:latin typeface="Consolas"/>
                <a:ea typeface="Consolas"/>
                <a:cs typeface="Consolas"/>
                <a:sym typeface="Consolas"/>
              </a:rPr>
              <a:t>#include &lt;iostream&gt;</a:t>
            </a:r>
            <a:br>
              <a:rPr lang="en-GB" sz="760">
                <a:solidFill>
                  <a:srgbClr val="00193A"/>
                </a:solidFill>
                <a:latin typeface="Consolas"/>
                <a:ea typeface="Consolas"/>
                <a:cs typeface="Consolas"/>
                <a:sym typeface="Consolas"/>
              </a:rPr>
            </a:br>
            <a:r>
              <a:rPr lang="en-GB" sz="760">
                <a:solidFill>
                  <a:srgbClr val="4C81C9"/>
                </a:solidFill>
                <a:latin typeface="Consolas"/>
                <a:ea typeface="Consolas"/>
                <a:cs typeface="Consolas"/>
                <a:sym typeface="Consolas"/>
              </a:rPr>
              <a:t>#include &lt;vector&gt;</a:t>
            </a:r>
            <a:br>
              <a:rPr lang="en-GB" sz="760">
                <a:solidFill>
                  <a:srgbClr val="00193A"/>
                </a:solidFill>
                <a:latin typeface="Consolas"/>
                <a:ea typeface="Consolas"/>
                <a:cs typeface="Consolas"/>
                <a:sym typeface="Consolas"/>
              </a:rPr>
            </a:br>
            <a:br>
              <a:rPr lang="en-GB" sz="760">
                <a:solidFill>
                  <a:srgbClr val="00193A"/>
                </a:solidFill>
                <a:latin typeface="Consolas"/>
                <a:ea typeface="Consolas"/>
                <a:cs typeface="Consolas"/>
                <a:sym typeface="Consolas"/>
              </a:rPr>
            </a:br>
            <a:r>
              <a:rPr b="1" lang="en-GB" sz="760">
                <a:solidFill>
                  <a:srgbClr val="00193A"/>
                </a:solidFill>
                <a:latin typeface="Consolas"/>
                <a:ea typeface="Consolas"/>
                <a:cs typeface="Consolas"/>
                <a:sym typeface="Consolas"/>
              </a:rPr>
              <a:t>using</a:t>
            </a:r>
            <a:r>
              <a:rPr lang="en-GB" sz="760">
                <a:solidFill>
                  <a:srgbClr val="00193A"/>
                </a:solidFill>
                <a:latin typeface="Consolas"/>
                <a:ea typeface="Consolas"/>
                <a:cs typeface="Consolas"/>
                <a:sym typeface="Consolas"/>
              </a:rPr>
              <a:t> </a:t>
            </a:r>
            <a:r>
              <a:rPr b="1" lang="en-GB" sz="760">
                <a:solidFill>
                  <a:srgbClr val="00193A"/>
                </a:solidFill>
                <a:latin typeface="Consolas"/>
                <a:ea typeface="Consolas"/>
                <a:cs typeface="Consolas"/>
                <a:sym typeface="Consolas"/>
              </a:rPr>
              <a:t>namespace</a:t>
            </a:r>
            <a:r>
              <a:rPr lang="en-GB" sz="760">
                <a:solidFill>
                  <a:srgbClr val="00193A"/>
                </a:solidFill>
                <a:latin typeface="Consolas"/>
                <a:ea typeface="Consolas"/>
                <a:cs typeface="Consolas"/>
                <a:sym typeface="Consolas"/>
              </a:rPr>
              <a:t> </a:t>
            </a:r>
            <a:r>
              <a:rPr lang="en-GB" sz="760">
                <a:solidFill>
                  <a:srgbClr val="0048AB"/>
                </a:solidFill>
                <a:latin typeface="Consolas"/>
                <a:ea typeface="Consolas"/>
                <a:cs typeface="Consolas"/>
                <a:sym typeface="Consolas"/>
              </a:rPr>
              <a:t>std</a:t>
            </a:r>
            <a:r>
              <a:rPr lang="en-GB" sz="760">
                <a:solidFill>
                  <a:srgbClr val="00193A"/>
                </a:solidFill>
                <a:latin typeface="Consolas"/>
                <a:ea typeface="Consolas"/>
                <a:cs typeface="Consolas"/>
                <a:sym typeface="Consolas"/>
              </a:rPr>
              <a:t>;</a:t>
            </a:r>
            <a:br>
              <a:rPr lang="en-GB" sz="760">
                <a:solidFill>
                  <a:srgbClr val="00193A"/>
                </a:solidFill>
                <a:latin typeface="Consolas"/>
                <a:ea typeface="Consolas"/>
                <a:cs typeface="Consolas"/>
                <a:sym typeface="Consolas"/>
              </a:rPr>
            </a:br>
            <a:br>
              <a:rPr lang="en-GB" sz="760">
                <a:solidFill>
                  <a:srgbClr val="00193A"/>
                </a:solidFill>
                <a:latin typeface="Consolas"/>
                <a:ea typeface="Consolas"/>
                <a:cs typeface="Consolas"/>
                <a:sym typeface="Consolas"/>
              </a:rPr>
            </a:br>
            <a:r>
              <a:rPr b="1" lang="en-GB" sz="760">
                <a:solidFill>
                  <a:srgbClr val="00193A"/>
                </a:solidFill>
                <a:latin typeface="Consolas"/>
                <a:ea typeface="Consolas"/>
                <a:cs typeface="Consolas"/>
                <a:sym typeface="Consolas"/>
              </a:rPr>
              <a:t>int</a:t>
            </a:r>
            <a:r>
              <a:rPr lang="en-GB" sz="760">
                <a:solidFill>
                  <a:srgbClr val="00193A"/>
                </a:solidFill>
                <a:latin typeface="Consolas"/>
                <a:ea typeface="Consolas"/>
                <a:cs typeface="Consolas"/>
                <a:sym typeface="Consolas"/>
              </a:rPr>
              <a:t> </a:t>
            </a:r>
            <a:r>
              <a:rPr b="1" lang="en-GB" sz="760">
                <a:solidFill>
                  <a:srgbClr val="0048AB"/>
                </a:solidFill>
                <a:latin typeface="Consolas"/>
                <a:ea typeface="Consolas"/>
                <a:cs typeface="Consolas"/>
                <a:sym typeface="Consolas"/>
              </a:rPr>
              <a:t>main</a:t>
            </a:r>
            <a:r>
              <a:rPr lang="en-GB" sz="760">
                <a:solidFill>
                  <a:srgbClr val="00193A"/>
                </a:solidFill>
                <a:latin typeface="Consolas"/>
                <a:ea typeface="Consolas"/>
                <a:cs typeface="Consolas"/>
                <a:sym typeface="Consolas"/>
              </a:rPr>
              <a:t>()</a:t>
            </a:r>
            <a:br>
              <a:rPr lang="en-GB" sz="760">
                <a:solidFill>
                  <a:srgbClr val="00193A"/>
                </a:solidFill>
                <a:latin typeface="Consolas"/>
                <a:ea typeface="Consolas"/>
                <a:cs typeface="Consolas"/>
                <a:sym typeface="Consolas"/>
              </a:rPr>
            </a:br>
            <a:r>
              <a:rPr lang="en-GB" sz="760">
                <a:solidFill>
                  <a:srgbClr val="00193A"/>
                </a:solidFill>
                <a:latin typeface="Consolas"/>
                <a:ea typeface="Consolas"/>
                <a:cs typeface="Consolas"/>
                <a:sym typeface="Consolas"/>
              </a:rPr>
              <a:t>{</a:t>
            </a:r>
            <a:br>
              <a:rPr lang="en-GB" sz="760">
                <a:solidFill>
                  <a:srgbClr val="00193A"/>
                </a:solidFill>
                <a:latin typeface="Consolas"/>
                <a:ea typeface="Consolas"/>
                <a:cs typeface="Consolas"/>
                <a:sym typeface="Consolas"/>
              </a:rPr>
            </a:br>
            <a:r>
              <a:rPr lang="en-GB" sz="760">
                <a:solidFill>
                  <a:srgbClr val="00193A"/>
                </a:solidFill>
                <a:latin typeface="Consolas"/>
                <a:ea typeface="Consolas"/>
                <a:cs typeface="Consolas"/>
                <a:sym typeface="Consolas"/>
              </a:rPr>
              <a:t>	</a:t>
            </a:r>
            <a:r>
              <a:rPr lang="en-GB" sz="760">
                <a:solidFill>
                  <a:srgbClr val="0048AB"/>
                </a:solidFill>
                <a:latin typeface="Consolas"/>
                <a:ea typeface="Consolas"/>
                <a:cs typeface="Consolas"/>
                <a:sym typeface="Consolas"/>
              </a:rPr>
              <a:t>vector</a:t>
            </a:r>
            <a:r>
              <a:rPr lang="en-GB" sz="760">
                <a:solidFill>
                  <a:srgbClr val="00193A"/>
                </a:solidFill>
                <a:latin typeface="Consolas"/>
                <a:ea typeface="Consolas"/>
                <a:cs typeface="Consolas"/>
                <a:sym typeface="Consolas"/>
              </a:rPr>
              <a:t>&lt;</a:t>
            </a:r>
            <a:r>
              <a:rPr b="1" lang="en-GB" sz="760">
                <a:solidFill>
                  <a:srgbClr val="00193A"/>
                </a:solidFill>
                <a:latin typeface="Consolas"/>
                <a:ea typeface="Consolas"/>
                <a:cs typeface="Consolas"/>
                <a:sym typeface="Consolas"/>
              </a:rPr>
              <a:t>int</a:t>
            </a:r>
            <a:r>
              <a:rPr lang="en-GB" sz="760">
                <a:solidFill>
                  <a:srgbClr val="00193A"/>
                </a:solidFill>
                <a:latin typeface="Consolas"/>
                <a:ea typeface="Consolas"/>
                <a:cs typeface="Consolas"/>
                <a:sym typeface="Consolas"/>
              </a:rPr>
              <a:t>&gt; g1;</a:t>
            </a:r>
            <a:br>
              <a:rPr lang="en-GB" sz="760">
                <a:solidFill>
                  <a:srgbClr val="00193A"/>
                </a:solidFill>
                <a:latin typeface="Consolas"/>
                <a:ea typeface="Consolas"/>
                <a:cs typeface="Consolas"/>
                <a:sym typeface="Consolas"/>
              </a:rPr>
            </a:br>
            <a:br>
              <a:rPr lang="en-GB" sz="760">
                <a:solidFill>
                  <a:srgbClr val="00193A"/>
                </a:solidFill>
                <a:latin typeface="Consolas"/>
                <a:ea typeface="Consolas"/>
                <a:cs typeface="Consolas"/>
                <a:sym typeface="Consolas"/>
              </a:rPr>
            </a:br>
            <a:r>
              <a:rPr lang="en-GB" sz="760">
                <a:solidFill>
                  <a:srgbClr val="00193A"/>
                </a:solidFill>
                <a:latin typeface="Consolas"/>
                <a:ea typeface="Consolas"/>
                <a:cs typeface="Consolas"/>
                <a:sym typeface="Consolas"/>
              </a:rPr>
              <a:t>	</a:t>
            </a:r>
            <a:r>
              <a:rPr b="1" lang="en-GB" sz="760">
                <a:solidFill>
                  <a:srgbClr val="00193A"/>
                </a:solidFill>
                <a:latin typeface="Consolas"/>
                <a:ea typeface="Consolas"/>
                <a:cs typeface="Consolas"/>
                <a:sym typeface="Consolas"/>
              </a:rPr>
              <a:t>for</a:t>
            </a:r>
            <a:r>
              <a:rPr lang="en-GB" sz="760">
                <a:solidFill>
                  <a:srgbClr val="00193A"/>
                </a:solidFill>
                <a:latin typeface="Consolas"/>
                <a:ea typeface="Consolas"/>
                <a:cs typeface="Consolas"/>
                <a:sym typeface="Consolas"/>
              </a:rPr>
              <a:t> (</a:t>
            </a:r>
            <a:r>
              <a:rPr b="1" lang="en-GB" sz="760">
                <a:solidFill>
                  <a:srgbClr val="00193A"/>
                </a:solidFill>
                <a:latin typeface="Consolas"/>
                <a:ea typeface="Consolas"/>
                <a:cs typeface="Consolas"/>
                <a:sym typeface="Consolas"/>
              </a:rPr>
              <a:t>int</a:t>
            </a:r>
            <a:r>
              <a:rPr lang="en-GB" sz="760">
                <a:solidFill>
                  <a:srgbClr val="00193A"/>
                </a:solidFill>
                <a:latin typeface="Consolas"/>
                <a:ea typeface="Consolas"/>
                <a:cs typeface="Consolas"/>
                <a:sym typeface="Consolas"/>
              </a:rPr>
              <a:t> i = 1; i &lt;= 5; i++)</a:t>
            </a:r>
            <a:br>
              <a:rPr lang="en-GB" sz="760">
                <a:solidFill>
                  <a:srgbClr val="00193A"/>
                </a:solidFill>
                <a:latin typeface="Consolas"/>
                <a:ea typeface="Consolas"/>
                <a:cs typeface="Consolas"/>
                <a:sym typeface="Consolas"/>
              </a:rPr>
            </a:br>
            <a:r>
              <a:rPr lang="en-GB" sz="760">
                <a:solidFill>
                  <a:srgbClr val="00193A"/>
                </a:solidFill>
                <a:latin typeface="Consolas"/>
                <a:ea typeface="Consolas"/>
                <a:cs typeface="Consolas"/>
                <a:sym typeface="Consolas"/>
              </a:rPr>
              <a:t>		g1.push_back(i);</a:t>
            </a:r>
            <a:br>
              <a:rPr lang="en-GB" sz="760">
                <a:solidFill>
                  <a:srgbClr val="00193A"/>
                </a:solidFill>
                <a:latin typeface="Consolas"/>
                <a:ea typeface="Consolas"/>
                <a:cs typeface="Consolas"/>
                <a:sym typeface="Consolas"/>
              </a:rPr>
            </a:br>
            <a:br>
              <a:rPr lang="en-GB" sz="760">
                <a:solidFill>
                  <a:srgbClr val="00193A"/>
                </a:solidFill>
                <a:latin typeface="Consolas"/>
                <a:ea typeface="Consolas"/>
                <a:cs typeface="Consolas"/>
                <a:sym typeface="Consolas"/>
              </a:rPr>
            </a:br>
            <a:r>
              <a:rPr lang="en-GB" sz="760">
                <a:solidFill>
                  <a:srgbClr val="00193A"/>
                </a:solidFill>
                <a:latin typeface="Consolas"/>
                <a:ea typeface="Consolas"/>
                <a:cs typeface="Consolas"/>
                <a:sym typeface="Consolas"/>
              </a:rPr>
              <a:t>	</a:t>
            </a:r>
            <a:r>
              <a:rPr lang="en-GB" sz="760">
                <a:solidFill>
                  <a:srgbClr val="0048AB"/>
                </a:solidFill>
                <a:latin typeface="Consolas"/>
                <a:ea typeface="Consolas"/>
                <a:cs typeface="Consolas"/>
                <a:sym typeface="Consolas"/>
              </a:rPr>
              <a:t>cout</a:t>
            </a:r>
            <a:r>
              <a:rPr lang="en-GB" sz="760">
                <a:solidFill>
                  <a:srgbClr val="00193A"/>
                </a:solidFill>
                <a:latin typeface="Consolas"/>
                <a:ea typeface="Consolas"/>
                <a:cs typeface="Consolas"/>
                <a:sym typeface="Consolas"/>
              </a:rPr>
              <a:t> &lt;&lt; </a:t>
            </a:r>
            <a:r>
              <a:rPr lang="en-GB" sz="760">
                <a:solidFill>
                  <a:srgbClr val="0048AB"/>
                </a:solidFill>
                <a:latin typeface="Consolas"/>
                <a:ea typeface="Consolas"/>
                <a:cs typeface="Consolas"/>
                <a:sym typeface="Consolas"/>
              </a:rPr>
              <a:t>"Size : "</a:t>
            </a:r>
            <a:r>
              <a:rPr lang="en-GB" sz="760">
                <a:solidFill>
                  <a:srgbClr val="00193A"/>
                </a:solidFill>
                <a:latin typeface="Consolas"/>
                <a:ea typeface="Consolas"/>
                <a:cs typeface="Consolas"/>
                <a:sym typeface="Consolas"/>
              </a:rPr>
              <a:t> &lt;&lt; g1.size();</a:t>
            </a:r>
            <a:br>
              <a:rPr lang="en-GB" sz="760">
                <a:solidFill>
                  <a:srgbClr val="00193A"/>
                </a:solidFill>
                <a:latin typeface="Consolas"/>
                <a:ea typeface="Consolas"/>
                <a:cs typeface="Consolas"/>
                <a:sym typeface="Consolas"/>
              </a:rPr>
            </a:br>
            <a:r>
              <a:rPr lang="en-GB" sz="760">
                <a:solidFill>
                  <a:srgbClr val="00193A"/>
                </a:solidFill>
                <a:latin typeface="Consolas"/>
                <a:ea typeface="Consolas"/>
                <a:cs typeface="Consolas"/>
                <a:sym typeface="Consolas"/>
              </a:rPr>
              <a:t>	</a:t>
            </a:r>
            <a:r>
              <a:rPr lang="en-GB" sz="760">
                <a:solidFill>
                  <a:srgbClr val="0048AB"/>
                </a:solidFill>
                <a:latin typeface="Consolas"/>
                <a:ea typeface="Consolas"/>
                <a:cs typeface="Consolas"/>
                <a:sym typeface="Consolas"/>
              </a:rPr>
              <a:t>cout</a:t>
            </a:r>
            <a:r>
              <a:rPr lang="en-GB" sz="760">
                <a:solidFill>
                  <a:srgbClr val="00193A"/>
                </a:solidFill>
                <a:latin typeface="Consolas"/>
                <a:ea typeface="Consolas"/>
                <a:cs typeface="Consolas"/>
                <a:sym typeface="Consolas"/>
              </a:rPr>
              <a:t> &lt;&lt; </a:t>
            </a:r>
            <a:r>
              <a:rPr lang="en-GB" sz="760">
                <a:solidFill>
                  <a:srgbClr val="0048AB"/>
                </a:solidFill>
                <a:latin typeface="Consolas"/>
                <a:ea typeface="Consolas"/>
                <a:cs typeface="Consolas"/>
                <a:sym typeface="Consolas"/>
              </a:rPr>
              <a:t>"\nCapacity : "</a:t>
            </a:r>
            <a:r>
              <a:rPr lang="en-GB" sz="760">
                <a:solidFill>
                  <a:srgbClr val="00193A"/>
                </a:solidFill>
                <a:latin typeface="Consolas"/>
                <a:ea typeface="Consolas"/>
                <a:cs typeface="Consolas"/>
                <a:sym typeface="Consolas"/>
              </a:rPr>
              <a:t> &lt;&lt; g1.capacity();</a:t>
            </a:r>
            <a:br>
              <a:rPr lang="en-GB" sz="760">
                <a:solidFill>
                  <a:srgbClr val="00193A"/>
                </a:solidFill>
                <a:latin typeface="Consolas"/>
                <a:ea typeface="Consolas"/>
                <a:cs typeface="Consolas"/>
                <a:sym typeface="Consolas"/>
              </a:rPr>
            </a:br>
            <a:r>
              <a:rPr lang="en-GB" sz="760">
                <a:solidFill>
                  <a:srgbClr val="00193A"/>
                </a:solidFill>
                <a:latin typeface="Consolas"/>
                <a:ea typeface="Consolas"/>
                <a:cs typeface="Consolas"/>
                <a:sym typeface="Consolas"/>
              </a:rPr>
              <a:t>	</a:t>
            </a:r>
            <a:r>
              <a:rPr lang="en-GB" sz="760">
                <a:solidFill>
                  <a:srgbClr val="0048AB"/>
                </a:solidFill>
                <a:latin typeface="Consolas"/>
                <a:ea typeface="Consolas"/>
                <a:cs typeface="Consolas"/>
                <a:sym typeface="Consolas"/>
              </a:rPr>
              <a:t>cout</a:t>
            </a:r>
            <a:r>
              <a:rPr lang="en-GB" sz="760">
                <a:solidFill>
                  <a:srgbClr val="00193A"/>
                </a:solidFill>
                <a:latin typeface="Consolas"/>
                <a:ea typeface="Consolas"/>
                <a:cs typeface="Consolas"/>
                <a:sym typeface="Consolas"/>
              </a:rPr>
              <a:t> &lt;&lt; </a:t>
            </a:r>
            <a:r>
              <a:rPr lang="en-GB" sz="760">
                <a:solidFill>
                  <a:srgbClr val="0048AB"/>
                </a:solidFill>
                <a:latin typeface="Consolas"/>
                <a:ea typeface="Consolas"/>
                <a:cs typeface="Consolas"/>
                <a:sym typeface="Consolas"/>
              </a:rPr>
              <a:t>"\nMax_Size : "</a:t>
            </a:r>
            <a:r>
              <a:rPr lang="en-GB" sz="760">
                <a:solidFill>
                  <a:srgbClr val="00193A"/>
                </a:solidFill>
                <a:latin typeface="Consolas"/>
                <a:ea typeface="Consolas"/>
                <a:cs typeface="Consolas"/>
                <a:sym typeface="Consolas"/>
              </a:rPr>
              <a:t> &lt;&lt; g1.max_size();</a:t>
            </a:r>
            <a:br>
              <a:rPr lang="en-GB" sz="760">
                <a:solidFill>
                  <a:srgbClr val="00193A"/>
                </a:solidFill>
                <a:latin typeface="Consolas"/>
                <a:ea typeface="Consolas"/>
                <a:cs typeface="Consolas"/>
                <a:sym typeface="Consolas"/>
              </a:rPr>
            </a:br>
            <a:br>
              <a:rPr lang="en-GB" sz="760">
                <a:solidFill>
                  <a:srgbClr val="00193A"/>
                </a:solidFill>
                <a:latin typeface="Consolas"/>
                <a:ea typeface="Consolas"/>
                <a:cs typeface="Consolas"/>
                <a:sym typeface="Consolas"/>
              </a:rPr>
            </a:br>
            <a:r>
              <a:rPr lang="en-GB" sz="760">
                <a:solidFill>
                  <a:srgbClr val="00193A"/>
                </a:solidFill>
                <a:latin typeface="Consolas"/>
                <a:ea typeface="Consolas"/>
                <a:cs typeface="Consolas"/>
                <a:sym typeface="Consolas"/>
              </a:rPr>
              <a:t>	</a:t>
            </a:r>
            <a:r>
              <a:rPr lang="en-GB" sz="760">
                <a:solidFill>
                  <a:srgbClr val="738191"/>
                </a:solidFill>
                <a:latin typeface="Consolas"/>
                <a:ea typeface="Consolas"/>
                <a:cs typeface="Consolas"/>
                <a:sym typeface="Consolas"/>
              </a:rPr>
              <a:t>// resizes the vector size to 4</a:t>
            </a:r>
            <a:br>
              <a:rPr lang="en-GB" sz="760">
                <a:solidFill>
                  <a:srgbClr val="00193A"/>
                </a:solidFill>
                <a:latin typeface="Consolas"/>
                <a:ea typeface="Consolas"/>
                <a:cs typeface="Consolas"/>
                <a:sym typeface="Consolas"/>
              </a:rPr>
            </a:br>
            <a:r>
              <a:rPr lang="en-GB" sz="760">
                <a:solidFill>
                  <a:srgbClr val="00193A"/>
                </a:solidFill>
                <a:latin typeface="Consolas"/>
                <a:ea typeface="Consolas"/>
                <a:cs typeface="Consolas"/>
                <a:sym typeface="Consolas"/>
              </a:rPr>
              <a:t>	g1.resize(4);</a:t>
            </a:r>
            <a:br>
              <a:rPr lang="en-GB" sz="760">
                <a:solidFill>
                  <a:srgbClr val="00193A"/>
                </a:solidFill>
                <a:latin typeface="Consolas"/>
                <a:ea typeface="Consolas"/>
                <a:cs typeface="Consolas"/>
                <a:sym typeface="Consolas"/>
              </a:rPr>
            </a:br>
            <a:br>
              <a:rPr lang="en-GB" sz="760">
                <a:solidFill>
                  <a:srgbClr val="00193A"/>
                </a:solidFill>
                <a:latin typeface="Consolas"/>
                <a:ea typeface="Consolas"/>
                <a:cs typeface="Consolas"/>
                <a:sym typeface="Consolas"/>
              </a:rPr>
            </a:br>
            <a:r>
              <a:rPr lang="en-GB" sz="760">
                <a:solidFill>
                  <a:srgbClr val="00193A"/>
                </a:solidFill>
                <a:latin typeface="Consolas"/>
                <a:ea typeface="Consolas"/>
                <a:cs typeface="Consolas"/>
                <a:sym typeface="Consolas"/>
              </a:rPr>
              <a:t>	</a:t>
            </a:r>
            <a:r>
              <a:rPr lang="en-GB" sz="760">
                <a:solidFill>
                  <a:srgbClr val="738191"/>
                </a:solidFill>
                <a:latin typeface="Consolas"/>
                <a:ea typeface="Consolas"/>
                <a:cs typeface="Consolas"/>
                <a:sym typeface="Consolas"/>
              </a:rPr>
              <a:t>// prints the vector size after resize()</a:t>
            </a:r>
            <a:br>
              <a:rPr lang="en-GB" sz="760">
                <a:solidFill>
                  <a:srgbClr val="00193A"/>
                </a:solidFill>
                <a:latin typeface="Consolas"/>
                <a:ea typeface="Consolas"/>
                <a:cs typeface="Consolas"/>
                <a:sym typeface="Consolas"/>
              </a:rPr>
            </a:br>
            <a:r>
              <a:rPr lang="en-GB" sz="760">
                <a:solidFill>
                  <a:srgbClr val="00193A"/>
                </a:solidFill>
                <a:latin typeface="Consolas"/>
                <a:ea typeface="Consolas"/>
                <a:cs typeface="Consolas"/>
                <a:sym typeface="Consolas"/>
              </a:rPr>
              <a:t>	</a:t>
            </a:r>
            <a:r>
              <a:rPr lang="en-GB" sz="760">
                <a:solidFill>
                  <a:srgbClr val="0048AB"/>
                </a:solidFill>
                <a:latin typeface="Consolas"/>
                <a:ea typeface="Consolas"/>
                <a:cs typeface="Consolas"/>
                <a:sym typeface="Consolas"/>
              </a:rPr>
              <a:t>cout</a:t>
            </a:r>
            <a:r>
              <a:rPr lang="en-GB" sz="760">
                <a:solidFill>
                  <a:srgbClr val="00193A"/>
                </a:solidFill>
                <a:latin typeface="Consolas"/>
                <a:ea typeface="Consolas"/>
                <a:cs typeface="Consolas"/>
                <a:sym typeface="Consolas"/>
              </a:rPr>
              <a:t> &lt;&lt; </a:t>
            </a:r>
            <a:r>
              <a:rPr lang="en-GB" sz="760">
                <a:solidFill>
                  <a:srgbClr val="0048AB"/>
                </a:solidFill>
                <a:latin typeface="Consolas"/>
                <a:ea typeface="Consolas"/>
                <a:cs typeface="Consolas"/>
                <a:sym typeface="Consolas"/>
              </a:rPr>
              <a:t>"\nSize : "</a:t>
            </a:r>
            <a:r>
              <a:rPr lang="en-GB" sz="760">
                <a:solidFill>
                  <a:srgbClr val="00193A"/>
                </a:solidFill>
                <a:latin typeface="Consolas"/>
                <a:ea typeface="Consolas"/>
                <a:cs typeface="Consolas"/>
                <a:sym typeface="Consolas"/>
              </a:rPr>
              <a:t> &lt;&lt; g1.size();</a:t>
            </a:r>
            <a:br>
              <a:rPr lang="en-GB" sz="760">
                <a:solidFill>
                  <a:srgbClr val="00193A"/>
                </a:solidFill>
                <a:latin typeface="Consolas"/>
                <a:ea typeface="Consolas"/>
                <a:cs typeface="Consolas"/>
                <a:sym typeface="Consolas"/>
              </a:rPr>
            </a:br>
            <a:br>
              <a:rPr lang="en-GB" sz="760">
                <a:solidFill>
                  <a:srgbClr val="00193A"/>
                </a:solidFill>
                <a:latin typeface="Consolas"/>
                <a:ea typeface="Consolas"/>
                <a:cs typeface="Consolas"/>
                <a:sym typeface="Consolas"/>
              </a:rPr>
            </a:br>
            <a:r>
              <a:rPr lang="en-GB" sz="760">
                <a:solidFill>
                  <a:srgbClr val="00193A"/>
                </a:solidFill>
                <a:latin typeface="Consolas"/>
                <a:ea typeface="Consolas"/>
                <a:cs typeface="Consolas"/>
                <a:sym typeface="Consolas"/>
              </a:rPr>
              <a:t>	</a:t>
            </a:r>
            <a:r>
              <a:rPr lang="en-GB" sz="760">
                <a:solidFill>
                  <a:srgbClr val="738191"/>
                </a:solidFill>
                <a:latin typeface="Consolas"/>
                <a:ea typeface="Consolas"/>
                <a:cs typeface="Consolas"/>
                <a:sym typeface="Consolas"/>
              </a:rPr>
              <a:t>// checks if the vector is empty or not</a:t>
            </a:r>
            <a:br>
              <a:rPr lang="en-GB" sz="760">
                <a:solidFill>
                  <a:srgbClr val="00193A"/>
                </a:solidFill>
                <a:latin typeface="Consolas"/>
                <a:ea typeface="Consolas"/>
                <a:cs typeface="Consolas"/>
                <a:sym typeface="Consolas"/>
              </a:rPr>
            </a:br>
            <a:r>
              <a:rPr lang="en-GB" sz="760">
                <a:solidFill>
                  <a:srgbClr val="00193A"/>
                </a:solidFill>
                <a:latin typeface="Consolas"/>
                <a:ea typeface="Consolas"/>
                <a:cs typeface="Consolas"/>
                <a:sym typeface="Consolas"/>
              </a:rPr>
              <a:t>	</a:t>
            </a:r>
            <a:r>
              <a:rPr b="1" lang="en-GB" sz="760">
                <a:solidFill>
                  <a:srgbClr val="00193A"/>
                </a:solidFill>
                <a:latin typeface="Consolas"/>
                <a:ea typeface="Consolas"/>
                <a:cs typeface="Consolas"/>
                <a:sym typeface="Consolas"/>
              </a:rPr>
              <a:t>if</a:t>
            </a:r>
            <a:r>
              <a:rPr lang="en-GB" sz="760">
                <a:solidFill>
                  <a:srgbClr val="00193A"/>
                </a:solidFill>
                <a:latin typeface="Consolas"/>
                <a:ea typeface="Consolas"/>
                <a:cs typeface="Consolas"/>
                <a:sym typeface="Consolas"/>
              </a:rPr>
              <a:t> (g1.empty() == </a:t>
            </a:r>
            <a:r>
              <a:rPr lang="en-GB" sz="760">
                <a:solidFill>
                  <a:srgbClr val="0048AB"/>
                </a:solidFill>
                <a:latin typeface="Consolas"/>
                <a:ea typeface="Consolas"/>
                <a:cs typeface="Consolas"/>
                <a:sym typeface="Consolas"/>
              </a:rPr>
              <a:t>false</a:t>
            </a:r>
            <a:r>
              <a:rPr lang="en-GB" sz="760">
                <a:solidFill>
                  <a:srgbClr val="00193A"/>
                </a:solidFill>
                <a:latin typeface="Consolas"/>
                <a:ea typeface="Consolas"/>
                <a:cs typeface="Consolas"/>
                <a:sym typeface="Consolas"/>
              </a:rPr>
              <a:t>)</a:t>
            </a:r>
            <a:br>
              <a:rPr lang="en-GB" sz="760">
                <a:solidFill>
                  <a:srgbClr val="00193A"/>
                </a:solidFill>
                <a:latin typeface="Consolas"/>
                <a:ea typeface="Consolas"/>
                <a:cs typeface="Consolas"/>
                <a:sym typeface="Consolas"/>
              </a:rPr>
            </a:br>
            <a:r>
              <a:rPr lang="en-GB" sz="760">
                <a:solidFill>
                  <a:srgbClr val="00193A"/>
                </a:solidFill>
                <a:latin typeface="Consolas"/>
                <a:ea typeface="Consolas"/>
                <a:cs typeface="Consolas"/>
                <a:sym typeface="Consolas"/>
              </a:rPr>
              <a:t>		</a:t>
            </a:r>
            <a:r>
              <a:rPr lang="en-GB" sz="760">
                <a:solidFill>
                  <a:srgbClr val="0048AB"/>
                </a:solidFill>
                <a:latin typeface="Consolas"/>
                <a:ea typeface="Consolas"/>
                <a:cs typeface="Consolas"/>
                <a:sym typeface="Consolas"/>
              </a:rPr>
              <a:t>cout</a:t>
            </a:r>
            <a:r>
              <a:rPr lang="en-GB" sz="760">
                <a:solidFill>
                  <a:srgbClr val="00193A"/>
                </a:solidFill>
                <a:latin typeface="Consolas"/>
                <a:ea typeface="Consolas"/>
                <a:cs typeface="Consolas"/>
                <a:sym typeface="Consolas"/>
              </a:rPr>
              <a:t> &lt;&lt; </a:t>
            </a:r>
            <a:r>
              <a:rPr lang="en-GB" sz="760">
                <a:solidFill>
                  <a:srgbClr val="0048AB"/>
                </a:solidFill>
                <a:latin typeface="Consolas"/>
                <a:ea typeface="Consolas"/>
                <a:cs typeface="Consolas"/>
                <a:sym typeface="Consolas"/>
              </a:rPr>
              <a:t>"\nVector is not empty"</a:t>
            </a:r>
            <a:r>
              <a:rPr lang="en-GB" sz="760">
                <a:solidFill>
                  <a:srgbClr val="00193A"/>
                </a:solidFill>
                <a:latin typeface="Consolas"/>
                <a:ea typeface="Consolas"/>
                <a:cs typeface="Consolas"/>
                <a:sym typeface="Consolas"/>
              </a:rPr>
              <a:t>;</a:t>
            </a:r>
            <a:br>
              <a:rPr lang="en-GB" sz="760">
                <a:solidFill>
                  <a:srgbClr val="00193A"/>
                </a:solidFill>
                <a:latin typeface="Consolas"/>
                <a:ea typeface="Consolas"/>
                <a:cs typeface="Consolas"/>
                <a:sym typeface="Consolas"/>
              </a:rPr>
            </a:br>
            <a:r>
              <a:rPr lang="en-GB" sz="760">
                <a:solidFill>
                  <a:srgbClr val="00193A"/>
                </a:solidFill>
                <a:latin typeface="Consolas"/>
                <a:ea typeface="Consolas"/>
                <a:cs typeface="Consolas"/>
                <a:sym typeface="Consolas"/>
              </a:rPr>
              <a:t>	</a:t>
            </a:r>
            <a:r>
              <a:rPr b="1" lang="en-GB" sz="760">
                <a:solidFill>
                  <a:srgbClr val="00193A"/>
                </a:solidFill>
                <a:latin typeface="Consolas"/>
                <a:ea typeface="Consolas"/>
                <a:cs typeface="Consolas"/>
                <a:sym typeface="Consolas"/>
              </a:rPr>
              <a:t>else</a:t>
            </a:r>
            <a:br>
              <a:rPr lang="en-GB" sz="760">
                <a:solidFill>
                  <a:srgbClr val="00193A"/>
                </a:solidFill>
                <a:latin typeface="Consolas"/>
                <a:ea typeface="Consolas"/>
                <a:cs typeface="Consolas"/>
                <a:sym typeface="Consolas"/>
              </a:rPr>
            </a:br>
            <a:r>
              <a:rPr lang="en-GB" sz="760">
                <a:solidFill>
                  <a:srgbClr val="00193A"/>
                </a:solidFill>
                <a:latin typeface="Consolas"/>
                <a:ea typeface="Consolas"/>
                <a:cs typeface="Consolas"/>
                <a:sym typeface="Consolas"/>
              </a:rPr>
              <a:t>		</a:t>
            </a:r>
            <a:r>
              <a:rPr lang="en-GB" sz="760">
                <a:solidFill>
                  <a:srgbClr val="0048AB"/>
                </a:solidFill>
                <a:latin typeface="Consolas"/>
                <a:ea typeface="Consolas"/>
                <a:cs typeface="Consolas"/>
                <a:sym typeface="Consolas"/>
              </a:rPr>
              <a:t>cout</a:t>
            </a:r>
            <a:r>
              <a:rPr lang="en-GB" sz="760">
                <a:solidFill>
                  <a:srgbClr val="00193A"/>
                </a:solidFill>
                <a:latin typeface="Consolas"/>
                <a:ea typeface="Consolas"/>
                <a:cs typeface="Consolas"/>
                <a:sym typeface="Consolas"/>
              </a:rPr>
              <a:t> &lt;&lt; </a:t>
            </a:r>
            <a:r>
              <a:rPr lang="en-GB" sz="760">
                <a:solidFill>
                  <a:srgbClr val="0048AB"/>
                </a:solidFill>
                <a:latin typeface="Consolas"/>
                <a:ea typeface="Consolas"/>
                <a:cs typeface="Consolas"/>
                <a:sym typeface="Consolas"/>
              </a:rPr>
              <a:t>"\nVector is empty"</a:t>
            </a:r>
            <a:r>
              <a:rPr lang="en-GB" sz="760">
                <a:solidFill>
                  <a:srgbClr val="00193A"/>
                </a:solidFill>
                <a:latin typeface="Consolas"/>
                <a:ea typeface="Consolas"/>
                <a:cs typeface="Consolas"/>
                <a:sym typeface="Consolas"/>
              </a:rPr>
              <a:t>;</a:t>
            </a:r>
            <a:br>
              <a:rPr lang="en-GB" sz="760">
                <a:solidFill>
                  <a:srgbClr val="00193A"/>
                </a:solidFill>
                <a:latin typeface="Consolas"/>
                <a:ea typeface="Consolas"/>
                <a:cs typeface="Consolas"/>
                <a:sym typeface="Consolas"/>
              </a:rPr>
            </a:br>
            <a:br>
              <a:rPr lang="en-GB" sz="760">
                <a:solidFill>
                  <a:srgbClr val="00193A"/>
                </a:solidFill>
                <a:latin typeface="Consolas"/>
                <a:ea typeface="Consolas"/>
                <a:cs typeface="Consolas"/>
                <a:sym typeface="Consolas"/>
              </a:rPr>
            </a:br>
            <a:r>
              <a:rPr lang="en-GB" sz="760">
                <a:solidFill>
                  <a:srgbClr val="00193A"/>
                </a:solidFill>
                <a:latin typeface="Consolas"/>
                <a:ea typeface="Consolas"/>
                <a:cs typeface="Consolas"/>
                <a:sym typeface="Consolas"/>
              </a:rPr>
              <a:t>	</a:t>
            </a:r>
            <a:r>
              <a:rPr lang="en-GB" sz="760">
                <a:solidFill>
                  <a:srgbClr val="738191"/>
                </a:solidFill>
                <a:latin typeface="Consolas"/>
                <a:ea typeface="Consolas"/>
                <a:cs typeface="Consolas"/>
                <a:sym typeface="Consolas"/>
              </a:rPr>
              <a:t>// Shrinks the vector</a:t>
            </a:r>
            <a:br>
              <a:rPr lang="en-GB" sz="760">
                <a:solidFill>
                  <a:srgbClr val="00193A"/>
                </a:solidFill>
                <a:latin typeface="Consolas"/>
                <a:ea typeface="Consolas"/>
                <a:cs typeface="Consolas"/>
                <a:sym typeface="Consolas"/>
              </a:rPr>
            </a:br>
            <a:r>
              <a:rPr lang="en-GB" sz="760">
                <a:solidFill>
                  <a:srgbClr val="00193A"/>
                </a:solidFill>
                <a:latin typeface="Consolas"/>
                <a:ea typeface="Consolas"/>
                <a:cs typeface="Consolas"/>
                <a:sym typeface="Consolas"/>
              </a:rPr>
              <a:t>	g1.shrink_to_fit();</a:t>
            </a:r>
            <a:br>
              <a:rPr lang="en-GB" sz="760">
                <a:solidFill>
                  <a:srgbClr val="00193A"/>
                </a:solidFill>
                <a:latin typeface="Consolas"/>
                <a:ea typeface="Consolas"/>
                <a:cs typeface="Consolas"/>
                <a:sym typeface="Consolas"/>
              </a:rPr>
            </a:br>
            <a:r>
              <a:rPr lang="en-GB" sz="760">
                <a:solidFill>
                  <a:srgbClr val="00193A"/>
                </a:solidFill>
                <a:latin typeface="Consolas"/>
                <a:ea typeface="Consolas"/>
                <a:cs typeface="Consolas"/>
                <a:sym typeface="Consolas"/>
              </a:rPr>
              <a:t>	</a:t>
            </a:r>
            <a:r>
              <a:rPr lang="en-GB" sz="760">
                <a:solidFill>
                  <a:srgbClr val="0048AB"/>
                </a:solidFill>
                <a:latin typeface="Consolas"/>
                <a:ea typeface="Consolas"/>
                <a:cs typeface="Consolas"/>
                <a:sym typeface="Consolas"/>
              </a:rPr>
              <a:t>cout</a:t>
            </a:r>
            <a:r>
              <a:rPr lang="en-GB" sz="760">
                <a:solidFill>
                  <a:srgbClr val="00193A"/>
                </a:solidFill>
                <a:latin typeface="Consolas"/>
                <a:ea typeface="Consolas"/>
                <a:cs typeface="Consolas"/>
                <a:sym typeface="Consolas"/>
              </a:rPr>
              <a:t> &lt;&lt; </a:t>
            </a:r>
            <a:r>
              <a:rPr lang="en-GB" sz="760">
                <a:solidFill>
                  <a:srgbClr val="0048AB"/>
                </a:solidFill>
                <a:latin typeface="Consolas"/>
                <a:ea typeface="Consolas"/>
                <a:cs typeface="Consolas"/>
                <a:sym typeface="Consolas"/>
              </a:rPr>
              <a:t>"\nVector elements are: "</a:t>
            </a:r>
            <a:r>
              <a:rPr lang="en-GB" sz="760">
                <a:solidFill>
                  <a:srgbClr val="00193A"/>
                </a:solidFill>
                <a:latin typeface="Consolas"/>
                <a:ea typeface="Consolas"/>
                <a:cs typeface="Consolas"/>
                <a:sym typeface="Consolas"/>
              </a:rPr>
              <a:t>;</a:t>
            </a:r>
            <a:br>
              <a:rPr lang="en-GB" sz="760">
                <a:solidFill>
                  <a:srgbClr val="00193A"/>
                </a:solidFill>
                <a:latin typeface="Consolas"/>
                <a:ea typeface="Consolas"/>
                <a:cs typeface="Consolas"/>
                <a:sym typeface="Consolas"/>
              </a:rPr>
            </a:br>
            <a:r>
              <a:rPr lang="en-GB" sz="760">
                <a:solidFill>
                  <a:srgbClr val="00193A"/>
                </a:solidFill>
                <a:latin typeface="Consolas"/>
                <a:ea typeface="Consolas"/>
                <a:cs typeface="Consolas"/>
                <a:sym typeface="Consolas"/>
              </a:rPr>
              <a:t>	</a:t>
            </a:r>
            <a:r>
              <a:rPr b="1" lang="en-GB" sz="760">
                <a:solidFill>
                  <a:srgbClr val="00193A"/>
                </a:solidFill>
                <a:latin typeface="Consolas"/>
                <a:ea typeface="Consolas"/>
                <a:cs typeface="Consolas"/>
                <a:sym typeface="Consolas"/>
              </a:rPr>
              <a:t>for</a:t>
            </a:r>
            <a:r>
              <a:rPr lang="en-GB" sz="760">
                <a:solidFill>
                  <a:srgbClr val="00193A"/>
                </a:solidFill>
                <a:latin typeface="Consolas"/>
                <a:ea typeface="Consolas"/>
                <a:cs typeface="Consolas"/>
                <a:sym typeface="Consolas"/>
              </a:rPr>
              <a:t> (</a:t>
            </a:r>
            <a:r>
              <a:rPr b="1" lang="en-GB" sz="760">
                <a:solidFill>
                  <a:srgbClr val="00193A"/>
                </a:solidFill>
                <a:latin typeface="Consolas"/>
                <a:ea typeface="Consolas"/>
                <a:cs typeface="Consolas"/>
                <a:sym typeface="Consolas"/>
              </a:rPr>
              <a:t>auto</a:t>
            </a:r>
            <a:r>
              <a:rPr lang="en-GB" sz="760">
                <a:solidFill>
                  <a:srgbClr val="00193A"/>
                </a:solidFill>
                <a:latin typeface="Consolas"/>
                <a:ea typeface="Consolas"/>
                <a:cs typeface="Consolas"/>
                <a:sym typeface="Consolas"/>
              </a:rPr>
              <a:t> it = g1.begin(); it != g1.end(); it++)</a:t>
            </a:r>
            <a:br>
              <a:rPr lang="en-GB" sz="760">
                <a:solidFill>
                  <a:srgbClr val="00193A"/>
                </a:solidFill>
                <a:latin typeface="Consolas"/>
                <a:ea typeface="Consolas"/>
                <a:cs typeface="Consolas"/>
                <a:sym typeface="Consolas"/>
              </a:rPr>
            </a:br>
            <a:r>
              <a:rPr lang="en-GB" sz="760">
                <a:solidFill>
                  <a:srgbClr val="00193A"/>
                </a:solidFill>
                <a:latin typeface="Consolas"/>
                <a:ea typeface="Consolas"/>
                <a:cs typeface="Consolas"/>
                <a:sym typeface="Consolas"/>
              </a:rPr>
              <a:t>		</a:t>
            </a:r>
            <a:r>
              <a:rPr lang="en-GB" sz="760">
                <a:solidFill>
                  <a:srgbClr val="0048AB"/>
                </a:solidFill>
                <a:latin typeface="Consolas"/>
                <a:ea typeface="Consolas"/>
                <a:cs typeface="Consolas"/>
                <a:sym typeface="Consolas"/>
              </a:rPr>
              <a:t>cout</a:t>
            </a:r>
            <a:r>
              <a:rPr lang="en-GB" sz="760">
                <a:solidFill>
                  <a:srgbClr val="00193A"/>
                </a:solidFill>
                <a:latin typeface="Consolas"/>
                <a:ea typeface="Consolas"/>
                <a:cs typeface="Consolas"/>
                <a:sym typeface="Consolas"/>
              </a:rPr>
              <a:t> &lt;&lt; *it &lt;&lt; </a:t>
            </a:r>
            <a:r>
              <a:rPr lang="en-GB" sz="760">
                <a:solidFill>
                  <a:srgbClr val="0048AB"/>
                </a:solidFill>
                <a:latin typeface="Consolas"/>
                <a:ea typeface="Consolas"/>
                <a:cs typeface="Consolas"/>
                <a:sym typeface="Consolas"/>
              </a:rPr>
              <a:t>" "</a:t>
            </a:r>
            <a:r>
              <a:rPr lang="en-GB" sz="760">
                <a:solidFill>
                  <a:srgbClr val="00193A"/>
                </a:solidFill>
                <a:latin typeface="Consolas"/>
                <a:ea typeface="Consolas"/>
                <a:cs typeface="Consolas"/>
                <a:sym typeface="Consolas"/>
              </a:rPr>
              <a:t>;</a:t>
            </a:r>
            <a:br>
              <a:rPr lang="en-GB" sz="760">
                <a:solidFill>
                  <a:srgbClr val="00193A"/>
                </a:solidFill>
                <a:latin typeface="Consolas"/>
                <a:ea typeface="Consolas"/>
                <a:cs typeface="Consolas"/>
                <a:sym typeface="Consolas"/>
              </a:rPr>
            </a:br>
            <a:br>
              <a:rPr lang="en-GB" sz="760">
                <a:solidFill>
                  <a:srgbClr val="00193A"/>
                </a:solidFill>
                <a:latin typeface="Consolas"/>
                <a:ea typeface="Consolas"/>
                <a:cs typeface="Consolas"/>
                <a:sym typeface="Consolas"/>
              </a:rPr>
            </a:br>
            <a:r>
              <a:rPr lang="en-GB" sz="760">
                <a:solidFill>
                  <a:srgbClr val="00193A"/>
                </a:solidFill>
                <a:latin typeface="Consolas"/>
                <a:ea typeface="Consolas"/>
                <a:cs typeface="Consolas"/>
                <a:sym typeface="Consolas"/>
              </a:rPr>
              <a:t>	</a:t>
            </a:r>
            <a:r>
              <a:rPr b="1" lang="en-GB" sz="760">
                <a:solidFill>
                  <a:srgbClr val="00193A"/>
                </a:solidFill>
                <a:latin typeface="Consolas"/>
                <a:ea typeface="Consolas"/>
                <a:cs typeface="Consolas"/>
                <a:sym typeface="Consolas"/>
              </a:rPr>
              <a:t>return</a:t>
            </a:r>
            <a:r>
              <a:rPr lang="en-GB" sz="760">
                <a:solidFill>
                  <a:srgbClr val="00193A"/>
                </a:solidFill>
                <a:latin typeface="Consolas"/>
                <a:ea typeface="Consolas"/>
                <a:cs typeface="Consolas"/>
                <a:sym typeface="Consolas"/>
              </a:rPr>
              <a:t> 0;</a:t>
            </a:r>
            <a:br>
              <a:rPr lang="en-GB" sz="760">
                <a:solidFill>
                  <a:srgbClr val="00193A"/>
                </a:solidFill>
                <a:latin typeface="Consolas"/>
                <a:ea typeface="Consolas"/>
                <a:cs typeface="Consolas"/>
                <a:sym typeface="Consolas"/>
              </a:rPr>
            </a:br>
            <a:r>
              <a:rPr lang="en-GB" sz="760">
                <a:solidFill>
                  <a:srgbClr val="00193A"/>
                </a:solidFill>
                <a:latin typeface="Consolas"/>
                <a:ea typeface="Consolas"/>
                <a:cs typeface="Consolas"/>
                <a:sym typeface="Consolas"/>
              </a:rPr>
              <a:t>}</a:t>
            </a:r>
            <a:endParaRPr sz="109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3"/>
          <p:cNvSpPr txBox="1"/>
          <p:nvPr>
            <p:ph type="title"/>
          </p:nvPr>
        </p:nvSpPr>
        <p:spPr>
          <a:xfrm>
            <a:off x="241325" y="1495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Functions:Access elements of the Vector</a:t>
            </a:r>
            <a:endParaRPr/>
          </a:p>
        </p:txBody>
      </p:sp>
      <p:sp>
        <p:nvSpPr>
          <p:cNvPr id="127" name="Google Shape;127;p23"/>
          <p:cNvSpPr txBox="1"/>
          <p:nvPr>
            <p:ph idx="1" type="body"/>
          </p:nvPr>
        </p:nvSpPr>
        <p:spPr>
          <a:xfrm>
            <a:off x="311700" y="863550"/>
            <a:ext cx="3600600" cy="3857700"/>
          </a:xfrm>
          <a:prstGeom prst="rect">
            <a:avLst/>
          </a:prstGeom>
          <a:ln cap="flat" cmpd="sng" w="9525">
            <a:solidFill>
              <a:srgbClr val="000000"/>
            </a:solidFill>
            <a:prstDash val="dashDot"/>
            <a:round/>
            <a:headEnd len="sm" w="sm" type="none"/>
            <a:tailEnd len="sm" w="sm" type="none"/>
          </a:ln>
        </p:spPr>
        <p:txBody>
          <a:bodyPr anchorCtr="0" anchor="t" bIns="91425" lIns="91425" spcFirstLastPara="1" rIns="91425" wrap="square" tIns="91425">
            <a:normAutofit/>
          </a:bodyPr>
          <a:lstStyle/>
          <a:p>
            <a:pPr indent="-317500" lvl="0" marL="457200" rtl="0" algn="l">
              <a:lnSpc>
                <a:spcPct val="115000"/>
              </a:lnSpc>
              <a:spcBef>
                <a:spcPts val="0"/>
              </a:spcBef>
              <a:spcAft>
                <a:spcPts val="0"/>
              </a:spcAft>
              <a:buClr>
                <a:srgbClr val="212529"/>
              </a:buClr>
              <a:buSzPts val="1400"/>
              <a:buFont typeface="Proxima Nova"/>
              <a:buAutoNum type="arabicPeriod"/>
            </a:pPr>
            <a:r>
              <a:rPr b="1" lang="en-GB" sz="1400">
                <a:solidFill>
                  <a:srgbClr val="212529"/>
                </a:solidFill>
                <a:latin typeface="Proxima Nova"/>
                <a:ea typeface="Proxima Nova"/>
                <a:cs typeface="Proxima Nova"/>
                <a:sym typeface="Proxima Nova"/>
              </a:rPr>
              <a:t>reference operator [g]</a:t>
            </a:r>
            <a:r>
              <a:rPr lang="en-GB" sz="1400">
                <a:solidFill>
                  <a:srgbClr val="212529"/>
                </a:solidFill>
                <a:latin typeface="Proxima Nova"/>
                <a:ea typeface="Proxima Nova"/>
                <a:cs typeface="Proxima Nova"/>
                <a:sym typeface="Proxima Nova"/>
              </a:rPr>
              <a:t> – Returns a reference to the element at position ‘g’ in the vector</a:t>
            </a:r>
            <a:endParaRPr sz="1400">
              <a:solidFill>
                <a:srgbClr val="212529"/>
              </a:solidFill>
              <a:latin typeface="Proxima Nova"/>
              <a:ea typeface="Proxima Nova"/>
              <a:cs typeface="Proxima Nova"/>
              <a:sym typeface="Proxima Nova"/>
            </a:endParaRPr>
          </a:p>
          <a:p>
            <a:pPr indent="-317500" lvl="0" marL="457200" rtl="0" algn="l">
              <a:lnSpc>
                <a:spcPct val="115000"/>
              </a:lnSpc>
              <a:spcBef>
                <a:spcPts val="0"/>
              </a:spcBef>
              <a:spcAft>
                <a:spcPts val="0"/>
              </a:spcAft>
              <a:buClr>
                <a:srgbClr val="212529"/>
              </a:buClr>
              <a:buSzPts val="1400"/>
              <a:buFont typeface="Proxima Nova"/>
              <a:buAutoNum type="arabicPeriod"/>
            </a:pPr>
            <a:r>
              <a:rPr b="1" lang="en-GB" sz="1400">
                <a:solidFill>
                  <a:srgbClr val="212529"/>
                </a:solidFill>
                <a:latin typeface="Proxima Nova"/>
                <a:ea typeface="Proxima Nova"/>
                <a:cs typeface="Proxima Nova"/>
                <a:sym typeface="Proxima Nova"/>
              </a:rPr>
              <a:t>at(g)</a:t>
            </a:r>
            <a:r>
              <a:rPr lang="en-GB" sz="1400">
                <a:solidFill>
                  <a:srgbClr val="212529"/>
                </a:solidFill>
                <a:latin typeface="Proxima Nova"/>
                <a:ea typeface="Proxima Nova"/>
                <a:cs typeface="Proxima Nova"/>
                <a:sym typeface="Proxima Nova"/>
              </a:rPr>
              <a:t> – Returns a reference to the element at position ‘g’ in the vector</a:t>
            </a:r>
            <a:endParaRPr sz="1400">
              <a:solidFill>
                <a:srgbClr val="212529"/>
              </a:solidFill>
              <a:latin typeface="Proxima Nova"/>
              <a:ea typeface="Proxima Nova"/>
              <a:cs typeface="Proxima Nova"/>
              <a:sym typeface="Proxima Nova"/>
            </a:endParaRPr>
          </a:p>
          <a:p>
            <a:pPr indent="-317500" lvl="0" marL="457200" rtl="0" algn="l">
              <a:lnSpc>
                <a:spcPct val="115000"/>
              </a:lnSpc>
              <a:spcBef>
                <a:spcPts val="0"/>
              </a:spcBef>
              <a:spcAft>
                <a:spcPts val="0"/>
              </a:spcAft>
              <a:buClr>
                <a:srgbClr val="212529"/>
              </a:buClr>
              <a:buSzPts val="1400"/>
              <a:buFont typeface="Proxima Nova"/>
              <a:buAutoNum type="arabicPeriod"/>
            </a:pPr>
            <a:r>
              <a:rPr b="1" lang="en-GB" sz="1400">
                <a:solidFill>
                  <a:srgbClr val="212529"/>
                </a:solidFill>
                <a:latin typeface="Proxima Nova"/>
                <a:ea typeface="Proxima Nova"/>
                <a:cs typeface="Proxima Nova"/>
                <a:sym typeface="Proxima Nova"/>
              </a:rPr>
              <a:t>front()</a:t>
            </a:r>
            <a:r>
              <a:rPr lang="en-GB" sz="1400">
                <a:solidFill>
                  <a:srgbClr val="212529"/>
                </a:solidFill>
                <a:latin typeface="Proxima Nova"/>
                <a:ea typeface="Proxima Nova"/>
                <a:cs typeface="Proxima Nova"/>
                <a:sym typeface="Proxima Nova"/>
              </a:rPr>
              <a:t> – Returns a reference to the first element in the vector</a:t>
            </a:r>
            <a:endParaRPr sz="1400">
              <a:solidFill>
                <a:srgbClr val="212529"/>
              </a:solidFill>
              <a:latin typeface="Proxima Nova"/>
              <a:ea typeface="Proxima Nova"/>
              <a:cs typeface="Proxima Nova"/>
              <a:sym typeface="Proxima Nova"/>
            </a:endParaRPr>
          </a:p>
          <a:p>
            <a:pPr indent="-317500" lvl="0" marL="457200" rtl="0" algn="l">
              <a:lnSpc>
                <a:spcPct val="115000"/>
              </a:lnSpc>
              <a:spcBef>
                <a:spcPts val="0"/>
              </a:spcBef>
              <a:spcAft>
                <a:spcPts val="0"/>
              </a:spcAft>
              <a:buClr>
                <a:srgbClr val="212529"/>
              </a:buClr>
              <a:buSzPts val="1400"/>
              <a:buFont typeface="Proxima Nova"/>
              <a:buAutoNum type="arabicPeriod"/>
            </a:pPr>
            <a:r>
              <a:rPr b="1" lang="en-GB" sz="1400">
                <a:solidFill>
                  <a:srgbClr val="212529"/>
                </a:solidFill>
                <a:latin typeface="Proxima Nova"/>
                <a:ea typeface="Proxima Nova"/>
                <a:cs typeface="Proxima Nova"/>
                <a:sym typeface="Proxima Nova"/>
              </a:rPr>
              <a:t>back()</a:t>
            </a:r>
            <a:r>
              <a:rPr lang="en-GB" sz="1400">
                <a:solidFill>
                  <a:srgbClr val="212529"/>
                </a:solidFill>
                <a:latin typeface="Proxima Nova"/>
                <a:ea typeface="Proxima Nova"/>
                <a:cs typeface="Proxima Nova"/>
                <a:sym typeface="Proxima Nova"/>
              </a:rPr>
              <a:t> – Returns a reference to the last element in the vector</a:t>
            </a:r>
            <a:endParaRPr sz="1400">
              <a:solidFill>
                <a:srgbClr val="212529"/>
              </a:solidFill>
              <a:latin typeface="Proxima Nova"/>
              <a:ea typeface="Proxima Nova"/>
              <a:cs typeface="Proxima Nova"/>
              <a:sym typeface="Proxima Nova"/>
            </a:endParaRPr>
          </a:p>
          <a:p>
            <a:pPr indent="-317500" lvl="0" marL="457200" rtl="0" algn="l">
              <a:lnSpc>
                <a:spcPct val="115000"/>
              </a:lnSpc>
              <a:spcBef>
                <a:spcPts val="0"/>
              </a:spcBef>
              <a:spcAft>
                <a:spcPts val="0"/>
              </a:spcAft>
              <a:buClr>
                <a:srgbClr val="212529"/>
              </a:buClr>
              <a:buSzPts val="1400"/>
              <a:buFont typeface="Proxima Nova"/>
              <a:buAutoNum type="arabicPeriod"/>
            </a:pPr>
            <a:r>
              <a:rPr b="1" lang="en-GB" sz="1400">
                <a:solidFill>
                  <a:srgbClr val="212529"/>
                </a:solidFill>
                <a:latin typeface="Proxima Nova"/>
                <a:ea typeface="Proxima Nova"/>
                <a:cs typeface="Proxima Nova"/>
                <a:sym typeface="Proxima Nova"/>
              </a:rPr>
              <a:t>data()</a:t>
            </a:r>
            <a:r>
              <a:rPr lang="en-GB" sz="1400">
                <a:solidFill>
                  <a:srgbClr val="212529"/>
                </a:solidFill>
                <a:latin typeface="Proxima Nova"/>
                <a:ea typeface="Proxima Nova"/>
                <a:cs typeface="Proxima Nova"/>
                <a:sym typeface="Proxima Nova"/>
              </a:rPr>
              <a:t> – Returns a direct pointer to the memory array used internally by the vector to store its owned elements.</a:t>
            </a:r>
            <a:endParaRPr sz="2000"/>
          </a:p>
        </p:txBody>
      </p:sp>
      <p:sp>
        <p:nvSpPr>
          <p:cNvPr id="128" name="Google Shape;128;p23"/>
          <p:cNvSpPr txBox="1"/>
          <p:nvPr/>
        </p:nvSpPr>
        <p:spPr>
          <a:xfrm>
            <a:off x="4705200" y="556500"/>
            <a:ext cx="4062900" cy="4587000"/>
          </a:xfrm>
          <a:prstGeom prst="rect">
            <a:avLst/>
          </a:prstGeom>
          <a:solidFill>
            <a:srgbClr val="D9D9D9"/>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t>// C++ program to illustrate the</a:t>
            </a:r>
            <a:endParaRPr sz="1100"/>
          </a:p>
          <a:p>
            <a:pPr indent="0" lvl="0" marL="0" rtl="0" algn="l">
              <a:spcBef>
                <a:spcPts val="0"/>
              </a:spcBef>
              <a:spcAft>
                <a:spcPts val="0"/>
              </a:spcAft>
              <a:buNone/>
            </a:pPr>
            <a:r>
              <a:rPr lang="en-GB" sz="1100"/>
              <a:t>// element accessor in vector</a:t>
            </a:r>
            <a:endParaRPr sz="1100"/>
          </a:p>
          <a:p>
            <a:pPr indent="0" lvl="0" marL="0" rtl="0" algn="l">
              <a:spcBef>
                <a:spcPts val="0"/>
              </a:spcBef>
              <a:spcAft>
                <a:spcPts val="0"/>
              </a:spcAft>
              <a:buNone/>
            </a:pPr>
            <a:r>
              <a:rPr lang="en-GB" sz="1100"/>
              <a:t>#include &lt;bits/stdc++.h&gt;</a:t>
            </a:r>
            <a:endParaRPr sz="1100"/>
          </a:p>
          <a:p>
            <a:pPr indent="0" lvl="0" marL="0" rtl="0" algn="l">
              <a:spcBef>
                <a:spcPts val="0"/>
              </a:spcBef>
              <a:spcAft>
                <a:spcPts val="0"/>
              </a:spcAft>
              <a:buNone/>
            </a:pPr>
            <a:r>
              <a:rPr lang="en-GB" sz="1100"/>
              <a:t>using namespace std;</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GB" sz="1100"/>
              <a:t>int main()</a:t>
            </a:r>
            <a:endParaRPr sz="1100"/>
          </a:p>
          <a:p>
            <a:pPr indent="0" lvl="0" marL="0" rtl="0" algn="l">
              <a:spcBef>
                <a:spcPts val="0"/>
              </a:spcBef>
              <a:spcAft>
                <a:spcPts val="0"/>
              </a:spcAft>
              <a:buNone/>
            </a:pPr>
            <a:r>
              <a:rPr lang="en-GB" sz="1100"/>
              <a:t>{</a:t>
            </a:r>
            <a:endParaRPr sz="1100"/>
          </a:p>
          <a:p>
            <a:pPr indent="0" lvl="0" marL="0" rtl="0" algn="l">
              <a:spcBef>
                <a:spcPts val="0"/>
              </a:spcBef>
              <a:spcAft>
                <a:spcPts val="0"/>
              </a:spcAft>
              <a:buNone/>
            </a:pPr>
            <a:r>
              <a:rPr lang="en-GB" sz="1100"/>
              <a:t>	vector&lt;int&gt; g1;</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GB" sz="1100"/>
              <a:t>	for (int i = 1; i &lt;= 10; i++)</a:t>
            </a:r>
            <a:endParaRPr sz="1100"/>
          </a:p>
          <a:p>
            <a:pPr indent="0" lvl="0" marL="0" rtl="0" algn="l">
              <a:spcBef>
                <a:spcPts val="0"/>
              </a:spcBef>
              <a:spcAft>
                <a:spcPts val="0"/>
              </a:spcAft>
              <a:buNone/>
            </a:pPr>
            <a:r>
              <a:rPr lang="en-GB" sz="1100"/>
              <a:t>		g1.push_back(i * 10);</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GB" sz="1100"/>
              <a:t>	cout &lt;&lt; "\nReference operator [g] : g1[2] = " &lt;&lt; g1[2];</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GB" sz="1100"/>
              <a:t>	cout &lt;&lt; "\nat : g1.at(4) = " &lt;&lt; g1.at(4);</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GB" sz="1100"/>
              <a:t>	cout &lt;&lt; "\nfront() : g1.front() = " &lt;&lt; g1.front();</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GB" sz="1100"/>
              <a:t>	cout &lt;&lt; "\nback() : g1.back() = " &lt;&lt; g1.back();</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GB" sz="1100"/>
              <a:t>	// pointer to the first element</a:t>
            </a:r>
            <a:endParaRPr sz="1100"/>
          </a:p>
          <a:p>
            <a:pPr indent="0" lvl="0" marL="0" rtl="0" algn="l">
              <a:spcBef>
                <a:spcPts val="0"/>
              </a:spcBef>
              <a:spcAft>
                <a:spcPts val="0"/>
              </a:spcAft>
              <a:buNone/>
            </a:pPr>
            <a:r>
              <a:rPr lang="en-GB" sz="1100"/>
              <a:t>	int* pos = g1.data();</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GB" sz="1100"/>
              <a:t>	cout &lt;&lt; "\nThe first element is " &lt;&lt; *pos;</a:t>
            </a:r>
            <a:endParaRPr sz="1100"/>
          </a:p>
          <a:p>
            <a:pPr indent="0" lvl="0" marL="0" rtl="0" algn="l">
              <a:spcBef>
                <a:spcPts val="0"/>
              </a:spcBef>
              <a:spcAft>
                <a:spcPts val="0"/>
              </a:spcAft>
              <a:buNone/>
            </a:pPr>
            <a:r>
              <a:rPr lang="en-GB" sz="1100"/>
              <a:t>	return 0;</a:t>
            </a:r>
            <a:endParaRPr sz="1100"/>
          </a:p>
          <a:p>
            <a:pPr indent="0" lvl="0" marL="0" rtl="0" algn="l">
              <a:spcBef>
                <a:spcPts val="0"/>
              </a:spcBef>
              <a:spcAft>
                <a:spcPts val="0"/>
              </a:spcAft>
              <a:buNone/>
            </a:pPr>
            <a:r>
              <a:rPr lang="en-GB" sz="1100"/>
              <a:t>}</a:t>
            </a:r>
            <a:endParaRPr sz="11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4"/>
          <p:cNvSpPr txBox="1"/>
          <p:nvPr>
            <p:ph type="title"/>
          </p:nvPr>
        </p:nvSpPr>
        <p:spPr>
          <a:xfrm>
            <a:off x="311700" y="64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Modifier functions</a:t>
            </a:r>
            <a:endParaRPr/>
          </a:p>
        </p:txBody>
      </p:sp>
      <p:sp>
        <p:nvSpPr>
          <p:cNvPr id="134" name="Google Shape;134;p24"/>
          <p:cNvSpPr txBox="1"/>
          <p:nvPr>
            <p:ph idx="1" type="body"/>
          </p:nvPr>
        </p:nvSpPr>
        <p:spPr>
          <a:xfrm>
            <a:off x="627500" y="636725"/>
            <a:ext cx="8434200" cy="4709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Font typeface="Nunito"/>
              <a:buAutoNum type="arabicPeriod"/>
            </a:pPr>
            <a:r>
              <a:rPr b="1" lang="en-GB">
                <a:highlight>
                  <a:srgbClr val="FFFFFF"/>
                </a:highlight>
                <a:latin typeface="Nunito"/>
                <a:ea typeface="Nunito"/>
                <a:cs typeface="Nunito"/>
                <a:sym typeface="Nunito"/>
              </a:rPr>
              <a:t>assign() </a:t>
            </a:r>
            <a:r>
              <a:rPr lang="en-GB">
                <a:highlight>
                  <a:srgbClr val="FFFFFF"/>
                </a:highlight>
                <a:latin typeface="Nunito"/>
                <a:ea typeface="Nunito"/>
                <a:cs typeface="Nunito"/>
                <a:sym typeface="Nunito"/>
              </a:rPr>
              <a:t>– It assigns new value to the vector elements by replacing old ones</a:t>
            </a:r>
            <a:endParaRPr>
              <a:highlight>
                <a:srgbClr val="FFFFFF"/>
              </a:highlight>
              <a:latin typeface="Nunito"/>
              <a:ea typeface="Nunito"/>
              <a:cs typeface="Nunito"/>
              <a:sym typeface="Nunito"/>
            </a:endParaRPr>
          </a:p>
          <a:p>
            <a:pPr indent="-342900" lvl="0" marL="457200" rtl="0" algn="l">
              <a:spcBef>
                <a:spcPts val="0"/>
              </a:spcBef>
              <a:spcAft>
                <a:spcPts val="0"/>
              </a:spcAft>
              <a:buSzPts val="1800"/>
              <a:buFont typeface="Nunito"/>
              <a:buAutoNum type="arabicPeriod"/>
            </a:pPr>
            <a:r>
              <a:rPr b="1" lang="en-GB">
                <a:highlight>
                  <a:srgbClr val="FFFFFF"/>
                </a:highlight>
                <a:latin typeface="Nunito"/>
                <a:ea typeface="Nunito"/>
                <a:cs typeface="Nunito"/>
                <a:sym typeface="Nunito"/>
              </a:rPr>
              <a:t>push_back() </a:t>
            </a:r>
            <a:r>
              <a:rPr lang="en-GB">
                <a:highlight>
                  <a:srgbClr val="FFFFFF"/>
                </a:highlight>
                <a:latin typeface="Nunito"/>
                <a:ea typeface="Nunito"/>
                <a:cs typeface="Nunito"/>
                <a:sym typeface="Nunito"/>
              </a:rPr>
              <a:t>– It push the elements into a vector from the back</a:t>
            </a:r>
            <a:endParaRPr>
              <a:highlight>
                <a:srgbClr val="FFFFFF"/>
              </a:highlight>
              <a:latin typeface="Nunito"/>
              <a:ea typeface="Nunito"/>
              <a:cs typeface="Nunito"/>
              <a:sym typeface="Nunito"/>
            </a:endParaRPr>
          </a:p>
          <a:p>
            <a:pPr indent="-342900" lvl="0" marL="457200" rtl="0" algn="l">
              <a:spcBef>
                <a:spcPts val="0"/>
              </a:spcBef>
              <a:spcAft>
                <a:spcPts val="0"/>
              </a:spcAft>
              <a:buSzPts val="1800"/>
              <a:buFont typeface="Nunito"/>
              <a:buAutoNum type="arabicPeriod"/>
            </a:pPr>
            <a:r>
              <a:rPr b="1" lang="en-GB">
                <a:highlight>
                  <a:srgbClr val="FFFFFF"/>
                </a:highlight>
                <a:latin typeface="Nunito"/>
                <a:ea typeface="Nunito"/>
                <a:cs typeface="Nunito"/>
                <a:sym typeface="Nunito"/>
              </a:rPr>
              <a:t>pop_back() </a:t>
            </a:r>
            <a:r>
              <a:rPr lang="en-GB">
                <a:highlight>
                  <a:srgbClr val="FFFFFF"/>
                </a:highlight>
                <a:latin typeface="Nunito"/>
                <a:ea typeface="Nunito"/>
                <a:cs typeface="Nunito"/>
                <a:sym typeface="Nunito"/>
              </a:rPr>
              <a:t>– It is used to pop or remove elements from a vector from the back.</a:t>
            </a:r>
            <a:endParaRPr>
              <a:highlight>
                <a:srgbClr val="FFFFFF"/>
              </a:highlight>
              <a:latin typeface="Nunito"/>
              <a:ea typeface="Nunito"/>
              <a:cs typeface="Nunito"/>
              <a:sym typeface="Nunito"/>
            </a:endParaRPr>
          </a:p>
          <a:p>
            <a:pPr indent="-342900" lvl="0" marL="457200" rtl="0" algn="l">
              <a:spcBef>
                <a:spcPts val="0"/>
              </a:spcBef>
              <a:spcAft>
                <a:spcPts val="0"/>
              </a:spcAft>
              <a:buSzPts val="1800"/>
              <a:buFont typeface="Nunito"/>
              <a:buAutoNum type="arabicPeriod"/>
            </a:pPr>
            <a:r>
              <a:rPr b="1" lang="en-GB">
                <a:highlight>
                  <a:srgbClr val="FFFFFF"/>
                </a:highlight>
                <a:latin typeface="Nunito"/>
                <a:ea typeface="Nunito"/>
                <a:cs typeface="Nunito"/>
                <a:sym typeface="Nunito"/>
              </a:rPr>
              <a:t>insert()</a:t>
            </a:r>
            <a:r>
              <a:rPr lang="en-GB">
                <a:highlight>
                  <a:srgbClr val="FFFFFF"/>
                </a:highlight>
                <a:latin typeface="Nunito"/>
                <a:ea typeface="Nunito"/>
                <a:cs typeface="Nunito"/>
                <a:sym typeface="Nunito"/>
              </a:rPr>
              <a:t> – It inserts new elements before the element at the specified position</a:t>
            </a:r>
            <a:endParaRPr>
              <a:highlight>
                <a:srgbClr val="FFFFFF"/>
              </a:highlight>
              <a:latin typeface="Nunito"/>
              <a:ea typeface="Nunito"/>
              <a:cs typeface="Nunito"/>
              <a:sym typeface="Nunito"/>
            </a:endParaRPr>
          </a:p>
          <a:p>
            <a:pPr indent="-342900" lvl="0" marL="457200" rtl="0" algn="l">
              <a:spcBef>
                <a:spcPts val="0"/>
              </a:spcBef>
              <a:spcAft>
                <a:spcPts val="0"/>
              </a:spcAft>
              <a:buSzPts val="1800"/>
              <a:buFont typeface="Nunito"/>
              <a:buAutoNum type="arabicPeriod"/>
            </a:pPr>
            <a:r>
              <a:rPr b="1" lang="en-GB">
                <a:highlight>
                  <a:srgbClr val="FFFFFF"/>
                </a:highlight>
                <a:latin typeface="Nunito"/>
                <a:ea typeface="Nunito"/>
                <a:cs typeface="Nunito"/>
                <a:sym typeface="Nunito"/>
              </a:rPr>
              <a:t>erase() </a:t>
            </a:r>
            <a:r>
              <a:rPr lang="en-GB">
                <a:highlight>
                  <a:srgbClr val="FFFFFF"/>
                </a:highlight>
                <a:latin typeface="Nunito"/>
                <a:ea typeface="Nunito"/>
                <a:cs typeface="Nunito"/>
                <a:sym typeface="Nunito"/>
              </a:rPr>
              <a:t>– It is used to remove elements from a container from the specified position or range.</a:t>
            </a:r>
            <a:endParaRPr>
              <a:highlight>
                <a:srgbClr val="FFFFFF"/>
              </a:highlight>
              <a:latin typeface="Nunito"/>
              <a:ea typeface="Nunito"/>
              <a:cs typeface="Nunito"/>
              <a:sym typeface="Nunito"/>
            </a:endParaRPr>
          </a:p>
          <a:p>
            <a:pPr indent="-342900" lvl="0" marL="457200" rtl="0" algn="l">
              <a:spcBef>
                <a:spcPts val="0"/>
              </a:spcBef>
              <a:spcAft>
                <a:spcPts val="0"/>
              </a:spcAft>
              <a:buSzPts val="1800"/>
              <a:buFont typeface="Nunito"/>
              <a:buAutoNum type="arabicPeriod"/>
            </a:pPr>
            <a:r>
              <a:rPr b="1" lang="en-GB">
                <a:highlight>
                  <a:srgbClr val="FFFFFF"/>
                </a:highlight>
                <a:latin typeface="Nunito"/>
                <a:ea typeface="Nunito"/>
                <a:cs typeface="Nunito"/>
                <a:sym typeface="Nunito"/>
              </a:rPr>
              <a:t>swap() </a:t>
            </a:r>
            <a:r>
              <a:rPr lang="en-GB">
                <a:highlight>
                  <a:srgbClr val="FFFFFF"/>
                </a:highlight>
                <a:latin typeface="Nunito"/>
                <a:ea typeface="Nunito"/>
                <a:cs typeface="Nunito"/>
                <a:sym typeface="Nunito"/>
              </a:rPr>
              <a:t>– It is used to swap the contents of one vector with another vector of same type. Sizes may differ.</a:t>
            </a:r>
            <a:endParaRPr>
              <a:highlight>
                <a:srgbClr val="FFFFFF"/>
              </a:highlight>
              <a:latin typeface="Nunito"/>
              <a:ea typeface="Nunito"/>
              <a:cs typeface="Nunito"/>
              <a:sym typeface="Nunito"/>
            </a:endParaRPr>
          </a:p>
          <a:p>
            <a:pPr indent="-342900" lvl="0" marL="457200" rtl="0" algn="l">
              <a:spcBef>
                <a:spcPts val="0"/>
              </a:spcBef>
              <a:spcAft>
                <a:spcPts val="0"/>
              </a:spcAft>
              <a:buSzPts val="1800"/>
              <a:buFont typeface="Nunito"/>
              <a:buAutoNum type="arabicPeriod"/>
            </a:pPr>
            <a:r>
              <a:rPr b="1" lang="en-GB">
                <a:highlight>
                  <a:srgbClr val="FFFFFF"/>
                </a:highlight>
                <a:latin typeface="Nunito"/>
                <a:ea typeface="Nunito"/>
                <a:cs typeface="Nunito"/>
                <a:sym typeface="Nunito"/>
              </a:rPr>
              <a:t>clear() </a:t>
            </a:r>
            <a:r>
              <a:rPr lang="en-GB">
                <a:highlight>
                  <a:srgbClr val="FFFFFF"/>
                </a:highlight>
                <a:latin typeface="Nunito"/>
                <a:ea typeface="Nunito"/>
                <a:cs typeface="Nunito"/>
                <a:sym typeface="Nunito"/>
              </a:rPr>
              <a:t>– It is used to remove all the elements of the vector container</a:t>
            </a:r>
            <a:endParaRPr>
              <a:highlight>
                <a:srgbClr val="FFFFFF"/>
              </a:highlight>
              <a:latin typeface="Nunito"/>
              <a:ea typeface="Nunito"/>
              <a:cs typeface="Nunito"/>
              <a:sym typeface="Nunito"/>
            </a:endParaRPr>
          </a:p>
          <a:p>
            <a:pPr indent="-342900" lvl="0" marL="457200" rtl="0" algn="l">
              <a:spcBef>
                <a:spcPts val="0"/>
              </a:spcBef>
              <a:spcAft>
                <a:spcPts val="0"/>
              </a:spcAft>
              <a:buSzPts val="1800"/>
              <a:buFont typeface="Nunito"/>
              <a:buAutoNum type="arabicPeriod"/>
            </a:pPr>
            <a:r>
              <a:rPr b="1" lang="en-GB">
                <a:highlight>
                  <a:srgbClr val="FFFFFF"/>
                </a:highlight>
                <a:latin typeface="Nunito"/>
                <a:ea typeface="Nunito"/>
                <a:cs typeface="Nunito"/>
                <a:sym typeface="Nunito"/>
              </a:rPr>
              <a:t>emplace() </a:t>
            </a:r>
            <a:r>
              <a:rPr lang="en-GB">
                <a:highlight>
                  <a:srgbClr val="FFFFFF"/>
                </a:highlight>
                <a:latin typeface="Nunito"/>
                <a:ea typeface="Nunito"/>
                <a:cs typeface="Nunito"/>
                <a:sym typeface="Nunito"/>
              </a:rPr>
              <a:t>– It extends the container by inserting new element at position</a:t>
            </a:r>
            <a:endParaRPr>
              <a:highlight>
                <a:srgbClr val="FFFFFF"/>
              </a:highlight>
              <a:latin typeface="Nunito"/>
              <a:ea typeface="Nunito"/>
              <a:cs typeface="Nunito"/>
              <a:sym typeface="Nunito"/>
            </a:endParaRPr>
          </a:p>
          <a:p>
            <a:pPr indent="-342900" lvl="0" marL="457200" rtl="0" algn="l">
              <a:spcBef>
                <a:spcPts val="0"/>
              </a:spcBef>
              <a:spcAft>
                <a:spcPts val="0"/>
              </a:spcAft>
              <a:buSzPts val="1800"/>
              <a:buFont typeface="Nunito"/>
              <a:buAutoNum type="arabicPeriod"/>
            </a:pPr>
            <a:r>
              <a:rPr b="1" lang="en-GB">
                <a:highlight>
                  <a:srgbClr val="FFFFFF"/>
                </a:highlight>
                <a:latin typeface="Nunito"/>
                <a:ea typeface="Nunito"/>
                <a:cs typeface="Nunito"/>
                <a:sym typeface="Nunito"/>
              </a:rPr>
              <a:t>emplace_back() </a:t>
            </a:r>
            <a:r>
              <a:rPr lang="en-GB">
                <a:highlight>
                  <a:srgbClr val="FFFFFF"/>
                </a:highlight>
                <a:latin typeface="Nunito"/>
                <a:ea typeface="Nunito"/>
                <a:cs typeface="Nunito"/>
                <a:sym typeface="Nunito"/>
              </a:rPr>
              <a:t>– It is used to insert a new element into the vector container, the new element is added to the end of the vector</a:t>
            </a:r>
            <a:endParaRPr>
              <a:highlight>
                <a:srgbClr val="FFFFFF"/>
              </a:highlight>
              <a:latin typeface="Nunito"/>
              <a:ea typeface="Nunito"/>
              <a:cs typeface="Nunito"/>
              <a:sym typeface="Nuni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5"/>
          <p:cNvSpPr txBox="1"/>
          <p:nvPr>
            <p:ph type="title"/>
          </p:nvPr>
        </p:nvSpPr>
        <p:spPr>
          <a:xfrm>
            <a:off x="262450" y="128400"/>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b="1" lang="en-GB" sz="1400">
                <a:solidFill>
                  <a:srgbClr val="212529"/>
                </a:solidFill>
                <a:highlight>
                  <a:srgbClr val="FFFFFF"/>
                </a:highlight>
                <a:latin typeface="Proxima Nova"/>
                <a:ea typeface="Proxima Nova"/>
                <a:cs typeface="Proxima Nova"/>
                <a:sym typeface="Proxima Nova"/>
              </a:rPr>
              <a:t> Functions: </a:t>
            </a:r>
            <a:r>
              <a:rPr b="1" lang="en-GB" sz="1400">
                <a:solidFill>
                  <a:srgbClr val="212529"/>
                </a:solidFill>
                <a:highlight>
                  <a:srgbClr val="EFEFEF"/>
                </a:highlight>
                <a:latin typeface="Proxima Nova"/>
                <a:ea typeface="Proxima Nova"/>
                <a:cs typeface="Proxima Nova"/>
                <a:sym typeface="Proxima Nova"/>
              </a:rPr>
              <a:t>Modifiers on vectors</a:t>
            </a:r>
            <a:endParaRPr sz="3100"/>
          </a:p>
        </p:txBody>
      </p:sp>
      <p:sp>
        <p:nvSpPr>
          <p:cNvPr id="140" name="Google Shape;140;p25"/>
          <p:cNvSpPr txBox="1"/>
          <p:nvPr>
            <p:ph idx="1" type="body"/>
          </p:nvPr>
        </p:nvSpPr>
        <p:spPr>
          <a:xfrm>
            <a:off x="77400" y="534750"/>
            <a:ext cx="3384300" cy="4376700"/>
          </a:xfrm>
          <a:prstGeom prst="rect">
            <a:avLst/>
          </a:prstGeom>
          <a:solidFill>
            <a:srgbClr val="D9EAD3"/>
          </a:solidFill>
          <a:ln cap="flat" cmpd="sng" w="9525">
            <a:solidFill>
              <a:srgbClr val="000000"/>
            </a:solidFill>
            <a:prstDash val="dashDot"/>
            <a:round/>
            <a:headEnd len="sm" w="sm" type="none"/>
            <a:tailEnd len="sm" w="sm" type="none"/>
          </a:ln>
        </p:spPr>
        <p:txBody>
          <a:bodyPr anchorCtr="0" anchor="t" bIns="91425" lIns="91425" spcFirstLastPara="1" rIns="91425" wrap="square" tIns="91425">
            <a:noAutofit/>
          </a:bodyPr>
          <a:lstStyle/>
          <a:p>
            <a:pPr indent="0" lvl="0" marL="0" rtl="0" algn="l">
              <a:lnSpc>
                <a:spcPct val="105000"/>
              </a:lnSpc>
              <a:spcBef>
                <a:spcPts val="0"/>
              </a:spcBef>
              <a:spcAft>
                <a:spcPts val="0"/>
              </a:spcAft>
              <a:buClr>
                <a:schemeClr val="dk1"/>
              </a:buClr>
              <a:buSzPts val="688"/>
              <a:buFont typeface="Arial"/>
              <a:buNone/>
            </a:pPr>
            <a:r>
              <a:rPr lang="en-GB" sz="850">
                <a:solidFill>
                  <a:srgbClr val="738191"/>
                </a:solidFill>
                <a:latin typeface="Consolas"/>
                <a:ea typeface="Consolas"/>
                <a:cs typeface="Consolas"/>
                <a:sym typeface="Consolas"/>
              </a:rPr>
              <a:t>// C++ program to illustrate the</a:t>
            </a:r>
            <a:br>
              <a:rPr lang="en-GB" sz="850">
                <a:solidFill>
                  <a:srgbClr val="00193A"/>
                </a:solidFill>
                <a:latin typeface="Consolas"/>
                <a:ea typeface="Consolas"/>
                <a:cs typeface="Consolas"/>
                <a:sym typeface="Consolas"/>
              </a:rPr>
            </a:br>
            <a:r>
              <a:rPr lang="en-GB" sz="850">
                <a:solidFill>
                  <a:srgbClr val="738191"/>
                </a:solidFill>
                <a:latin typeface="Consolas"/>
                <a:ea typeface="Consolas"/>
                <a:cs typeface="Consolas"/>
                <a:sym typeface="Consolas"/>
              </a:rPr>
              <a:t>// Modifiers in vector</a:t>
            </a:r>
            <a:br>
              <a:rPr lang="en-GB" sz="850">
                <a:solidFill>
                  <a:srgbClr val="00193A"/>
                </a:solidFill>
                <a:latin typeface="Consolas"/>
                <a:ea typeface="Consolas"/>
                <a:cs typeface="Consolas"/>
                <a:sym typeface="Consolas"/>
              </a:rPr>
            </a:br>
            <a:r>
              <a:rPr lang="en-GB" sz="850">
                <a:solidFill>
                  <a:srgbClr val="4C81C9"/>
                </a:solidFill>
                <a:latin typeface="Consolas"/>
                <a:ea typeface="Consolas"/>
                <a:cs typeface="Consolas"/>
                <a:sym typeface="Consolas"/>
              </a:rPr>
              <a:t>#include &lt;bits/stdc++.h&gt;</a:t>
            </a:r>
            <a:br>
              <a:rPr lang="en-GB" sz="850">
                <a:solidFill>
                  <a:srgbClr val="00193A"/>
                </a:solidFill>
                <a:latin typeface="Consolas"/>
                <a:ea typeface="Consolas"/>
                <a:cs typeface="Consolas"/>
                <a:sym typeface="Consolas"/>
              </a:rPr>
            </a:br>
            <a:r>
              <a:rPr lang="en-GB" sz="850">
                <a:solidFill>
                  <a:srgbClr val="4C81C9"/>
                </a:solidFill>
                <a:latin typeface="Consolas"/>
                <a:ea typeface="Consolas"/>
                <a:cs typeface="Consolas"/>
                <a:sym typeface="Consolas"/>
              </a:rPr>
              <a:t>#include &lt;vector&gt;</a:t>
            </a:r>
            <a:br>
              <a:rPr lang="en-GB" sz="850">
                <a:solidFill>
                  <a:srgbClr val="00193A"/>
                </a:solidFill>
                <a:latin typeface="Consolas"/>
                <a:ea typeface="Consolas"/>
                <a:cs typeface="Consolas"/>
                <a:sym typeface="Consolas"/>
              </a:rPr>
            </a:br>
            <a:r>
              <a:rPr b="1" lang="en-GB" sz="850">
                <a:solidFill>
                  <a:srgbClr val="00193A"/>
                </a:solidFill>
                <a:latin typeface="Consolas"/>
                <a:ea typeface="Consolas"/>
                <a:cs typeface="Consolas"/>
                <a:sym typeface="Consolas"/>
              </a:rPr>
              <a:t>using</a:t>
            </a:r>
            <a:r>
              <a:rPr lang="en-GB" sz="850">
                <a:solidFill>
                  <a:srgbClr val="00193A"/>
                </a:solidFill>
                <a:latin typeface="Consolas"/>
                <a:ea typeface="Consolas"/>
                <a:cs typeface="Consolas"/>
                <a:sym typeface="Consolas"/>
              </a:rPr>
              <a:t> </a:t>
            </a:r>
            <a:r>
              <a:rPr b="1" lang="en-GB" sz="850">
                <a:solidFill>
                  <a:srgbClr val="00193A"/>
                </a:solidFill>
                <a:latin typeface="Consolas"/>
                <a:ea typeface="Consolas"/>
                <a:cs typeface="Consolas"/>
                <a:sym typeface="Consolas"/>
              </a:rPr>
              <a:t>namespace</a:t>
            </a:r>
            <a:r>
              <a:rPr lang="en-GB" sz="850">
                <a:solidFill>
                  <a:srgbClr val="00193A"/>
                </a:solidFill>
                <a:latin typeface="Consolas"/>
                <a:ea typeface="Consolas"/>
                <a:cs typeface="Consolas"/>
                <a:sym typeface="Consolas"/>
              </a:rPr>
              <a:t> </a:t>
            </a:r>
            <a:r>
              <a:rPr lang="en-GB" sz="850">
                <a:solidFill>
                  <a:srgbClr val="0048AB"/>
                </a:solidFill>
                <a:latin typeface="Consolas"/>
                <a:ea typeface="Consolas"/>
                <a:cs typeface="Consolas"/>
                <a:sym typeface="Consolas"/>
              </a:rPr>
              <a:t>std</a:t>
            </a:r>
            <a:r>
              <a:rPr lang="en-GB" sz="850">
                <a:solidFill>
                  <a:srgbClr val="00193A"/>
                </a:solidFill>
                <a:latin typeface="Consolas"/>
                <a:ea typeface="Consolas"/>
                <a:cs typeface="Consolas"/>
                <a:sym typeface="Consolas"/>
              </a:rPr>
              <a:t>;</a:t>
            </a:r>
            <a:br>
              <a:rPr lang="en-GB" sz="850">
                <a:solidFill>
                  <a:srgbClr val="00193A"/>
                </a:solidFill>
                <a:latin typeface="Consolas"/>
                <a:ea typeface="Consolas"/>
                <a:cs typeface="Consolas"/>
                <a:sym typeface="Consolas"/>
              </a:rPr>
            </a:br>
            <a:br>
              <a:rPr lang="en-GB" sz="850">
                <a:solidFill>
                  <a:srgbClr val="00193A"/>
                </a:solidFill>
                <a:latin typeface="Consolas"/>
                <a:ea typeface="Consolas"/>
                <a:cs typeface="Consolas"/>
                <a:sym typeface="Consolas"/>
              </a:rPr>
            </a:br>
            <a:r>
              <a:rPr b="1" lang="en-GB" sz="850">
                <a:solidFill>
                  <a:srgbClr val="00193A"/>
                </a:solidFill>
                <a:latin typeface="Consolas"/>
                <a:ea typeface="Consolas"/>
                <a:cs typeface="Consolas"/>
                <a:sym typeface="Consolas"/>
              </a:rPr>
              <a:t>int</a:t>
            </a:r>
            <a:r>
              <a:rPr lang="en-GB" sz="850">
                <a:solidFill>
                  <a:srgbClr val="00193A"/>
                </a:solidFill>
                <a:latin typeface="Consolas"/>
                <a:ea typeface="Consolas"/>
                <a:cs typeface="Consolas"/>
                <a:sym typeface="Consolas"/>
              </a:rPr>
              <a:t> </a:t>
            </a:r>
            <a:r>
              <a:rPr b="1" lang="en-GB" sz="850">
                <a:solidFill>
                  <a:srgbClr val="0048AB"/>
                </a:solidFill>
                <a:latin typeface="Consolas"/>
                <a:ea typeface="Consolas"/>
                <a:cs typeface="Consolas"/>
                <a:sym typeface="Consolas"/>
              </a:rPr>
              <a:t>main</a:t>
            </a:r>
            <a:r>
              <a:rPr lang="en-GB" sz="850">
                <a:solidFill>
                  <a:srgbClr val="00193A"/>
                </a:solidFill>
                <a:latin typeface="Consolas"/>
                <a:ea typeface="Consolas"/>
                <a:cs typeface="Consolas"/>
                <a:sym typeface="Consolas"/>
              </a:rPr>
              <a:t>()</a:t>
            </a:r>
            <a:br>
              <a:rPr lang="en-GB" sz="850">
                <a:solidFill>
                  <a:srgbClr val="00193A"/>
                </a:solidFill>
                <a:latin typeface="Consolas"/>
                <a:ea typeface="Consolas"/>
                <a:cs typeface="Consolas"/>
                <a:sym typeface="Consolas"/>
              </a:rPr>
            </a:br>
            <a:r>
              <a:rPr lang="en-GB" sz="850">
                <a:solidFill>
                  <a:srgbClr val="00193A"/>
                </a:solidFill>
                <a:latin typeface="Consolas"/>
                <a:ea typeface="Consolas"/>
                <a:cs typeface="Consolas"/>
                <a:sym typeface="Consolas"/>
              </a:rPr>
              <a:t>{</a:t>
            </a:r>
            <a:br>
              <a:rPr lang="en-GB" sz="850">
                <a:solidFill>
                  <a:srgbClr val="00193A"/>
                </a:solidFill>
                <a:latin typeface="Consolas"/>
                <a:ea typeface="Consolas"/>
                <a:cs typeface="Consolas"/>
                <a:sym typeface="Consolas"/>
              </a:rPr>
            </a:br>
            <a:r>
              <a:rPr lang="en-GB" sz="850">
                <a:solidFill>
                  <a:srgbClr val="00193A"/>
                </a:solidFill>
                <a:latin typeface="Consolas"/>
                <a:ea typeface="Consolas"/>
                <a:cs typeface="Consolas"/>
                <a:sym typeface="Consolas"/>
              </a:rPr>
              <a:t>	</a:t>
            </a:r>
            <a:r>
              <a:rPr lang="en-GB" sz="850">
                <a:solidFill>
                  <a:srgbClr val="738191"/>
                </a:solidFill>
                <a:latin typeface="Consolas"/>
                <a:ea typeface="Consolas"/>
                <a:cs typeface="Consolas"/>
                <a:sym typeface="Consolas"/>
              </a:rPr>
              <a:t>// Assign vector</a:t>
            </a:r>
            <a:br>
              <a:rPr lang="en-GB" sz="850">
                <a:solidFill>
                  <a:srgbClr val="00193A"/>
                </a:solidFill>
                <a:latin typeface="Consolas"/>
                <a:ea typeface="Consolas"/>
                <a:cs typeface="Consolas"/>
                <a:sym typeface="Consolas"/>
              </a:rPr>
            </a:br>
            <a:r>
              <a:rPr lang="en-GB" sz="850">
                <a:solidFill>
                  <a:srgbClr val="00193A"/>
                </a:solidFill>
                <a:latin typeface="Consolas"/>
                <a:ea typeface="Consolas"/>
                <a:cs typeface="Consolas"/>
                <a:sym typeface="Consolas"/>
              </a:rPr>
              <a:t>	</a:t>
            </a:r>
            <a:r>
              <a:rPr lang="en-GB" sz="850">
                <a:solidFill>
                  <a:srgbClr val="0048AB"/>
                </a:solidFill>
                <a:latin typeface="Consolas"/>
                <a:ea typeface="Consolas"/>
                <a:cs typeface="Consolas"/>
                <a:sym typeface="Consolas"/>
              </a:rPr>
              <a:t>vector</a:t>
            </a:r>
            <a:r>
              <a:rPr lang="en-GB" sz="850">
                <a:solidFill>
                  <a:srgbClr val="00193A"/>
                </a:solidFill>
                <a:latin typeface="Consolas"/>
                <a:ea typeface="Consolas"/>
                <a:cs typeface="Consolas"/>
                <a:sym typeface="Consolas"/>
              </a:rPr>
              <a:t>&lt;</a:t>
            </a:r>
            <a:r>
              <a:rPr b="1" lang="en-GB" sz="850">
                <a:solidFill>
                  <a:srgbClr val="00193A"/>
                </a:solidFill>
                <a:latin typeface="Consolas"/>
                <a:ea typeface="Consolas"/>
                <a:cs typeface="Consolas"/>
                <a:sym typeface="Consolas"/>
              </a:rPr>
              <a:t>int</a:t>
            </a:r>
            <a:r>
              <a:rPr lang="en-GB" sz="850">
                <a:solidFill>
                  <a:srgbClr val="00193A"/>
                </a:solidFill>
                <a:latin typeface="Consolas"/>
                <a:ea typeface="Consolas"/>
                <a:cs typeface="Consolas"/>
                <a:sym typeface="Consolas"/>
              </a:rPr>
              <a:t>&gt; v;</a:t>
            </a:r>
            <a:br>
              <a:rPr lang="en-GB" sz="850">
                <a:solidFill>
                  <a:srgbClr val="00193A"/>
                </a:solidFill>
                <a:latin typeface="Consolas"/>
                <a:ea typeface="Consolas"/>
                <a:cs typeface="Consolas"/>
                <a:sym typeface="Consolas"/>
              </a:rPr>
            </a:br>
            <a:br>
              <a:rPr lang="en-GB" sz="850">
                <a:solidFill>
                  <a:srgbClr val="00193A"/>
                </a:solidFill>
                <a:latin typeface="Consolas"/>
                <a:ea typeface="Consolas"/>
                <a:cs typeface="Consolas"/>
                <a:sym typeface="Consolas"/>
              </a:rPr>
            </a:br>
            <a:r>
              <a:rPr lang="en-GB" sz="850">
                <a:solidFill>
                  <a:srgbClr val="00193A"/>
                </a:solidFill>
                <a:latin typeface="Consolas"/>
                <a:ea typeface="Consolas"/>
                <a:cs typeface="Consolas"/>
                <a:sym typeface="Consolas"/>
              </a:rPr>
              <a:t>	</a:t>
            </a:r>
            <a:r>
              <a:rPr lang="en-GB" sz="850">
                <a:solidFill>
                  <a:srgbClr val="738191"/>
                </a:solidFill>
                <a:latin typeface="Consolas"/>
                <a:ea typeface="Consolas"/>
                <a:cs typeface="Consolas"/>
                <a:sym typeface="Consolas"/>
              </a:rPr>
              <a:t>// fill the array with 10 five times</a:t>
            </a:r>
            <a:br>
              <a:rPr lang="en-GB" sz="850">
                <a:solidFill>
                  <a:srgbClr val="00193A"/>
                </a:solidFill>
                <a:latin typeface="Consolas"/>
                <a:ea typeface="Consolas"/>
                <a:cs typeface="Consolas"/>
                <a:sym typeface="Consolas"/>
              </a:rPr>
            </a:br>
            <a:r>
              <a:rPr lang="en-GB" sz="850">
                <a:solidFill>
                  <a:srgbClr val="00193A"/>
                </a:solidFill>
                <a:latin typeface="Consolas"/>
                <a:ea typeface="Consolas"/>
                <a:cs typeface="Consolas"/>
                <a:sym typeface="Consolas"/>
              </a:rPr>
              <a:t>	v.assign(5, 10);</a:t>
            </a:r>
            <a:br>
              <a:rPr lang="en-GB" sz="850">
                <a:solidFill>
                  <a:srgbClr val="00193A"/>
                </a:solidFill>
                <a:latin typeface="Consolas"/>
                <a:ea typeface="Consolas"/>
                <a:cs typeface="Consolas"/>
                <a:sym typeface="Consolas"/>
              </a:rPr>
            </a:br>
            <a:br>
              <a:rPr lang="en-GB" sz="850">
                <a:solidFill>
                  <a:srgbClr val="00193A"/>
                </a:solidFill>
                <a:latin typeface="Consolas"/>
                <a:ea typeface="Consolas"/>
                <a:cs typeface="Consolas"/>
                <a:sym typeface="Consolas"/>
              </a:rPr>
            </a:br>
            <a:r>
              <a:rPr lang="en-GB" sz="850">
                <a:solidFill>
                  <a:srgbClr val="00193A"/>
                </a:solidFill>
                <a:latin typeface="Consolas"/>
                <a:ea typeface="Consolas"/>
                <a:cs typeface="Consolas"/>
                <a:sym typeface="Consolas"/>
              </a:rPr>
              <a:t>	</a:t>
            </a:r>
            <a:r>
              <a:rPr lang="en-GB" sz="850">
                <a:solidFill>
                  <a:srgbClr val="0048AB"/>
                </a:solidFill>
                <a:latin typeface="Consolas"/>
                <a:ea typeface="Consolas"/>
                <a:cs typeface="Consolas"/>
                <a:sym typeface="Consolas"/>
              </a:rPr>
              <a:t>cout</a:t>
            </a:r>
            <a:r>
              <a:rPr lang="en-GB" sz="850">
                <a:solidFill>
                  <a:srgbClr val="00193A"/>
                </a:solidFill>
                <a:latin typeface="Consolas"/>
                <a:ea typeface="Consolas"/>
                <a:cs typeface="Consolas"/>
                <a:sym typeface="Consolas"/>
              </a:rPr>
              <a:t> &lt;&lt; </a:t>
            </a:r>
            <a:r>
              <a:rPr lang="en-GB" sz="850">
                <a:solidFill>
                  <a:srgbClr val="0048AB"/>
                </a:solidFill>
                <a:latin typeface="Consolas"/>
                <a:ea typeface="Consolas"/>
                <a:cs typeface="Consolas"/>
                <a:sym typeface="Consolas"/>
              </a:rPr>
              <a:t>"The vector elements are: "</a:t>
            </a:r>
            <a:r>
              <a:rPr lang="en-GB" sz="850">
                <a:solidFill>
                  <a:srgbClr val="00193A"/>
                </a:solidFill>
                <a:latin typeface="Consolas"/>
                <a:ea typeface="Consolas"/>
                <a:cs typeface="Consolas"/>
                <a:sym typeface="Consolas"/>
              </a:rPr>
              <a:t>;</a:t>
            </a:r>
            <a:br>
              <a:rPr lang="en-GB" sz="850">
                <a:solidFill>
                  <a:srgbClr val="00193A"/>
                </a:solidFill>
                <a:latin typeface="Consolas"/>
                <a:ea typeface="Consolas"/>
                <a:cs typeface="Consolas"/>
                <a:sym typeface="Consolas"/>
              </a:rPr>
            </a:br>
            <a:r>
              <a:rPr lang="en-GB" sz="850">
                <a:solidFill>
                  <a:srgbClr val="00193A"/>
                </a:solidFill>
                <a:latin typeface="Consolas"/>
                <a:ea typeface="Consolas"/>
                <a:cs typeface="Consolas"/>
                <a:sym typeface="Consolas"/>
              </a:rPr>
              <a:t>	</a:t>
            </a:r>
            <a:r>
              <a:rPr b="1" lang="en-GB" sz="850">
                <a:solidFill>
                  <a:srgbClr val="00193A"/>
                </a:solidFill>
                <a:latin typeface="Consolas"/>
                <a:ea typeface="Consolas"/>
                <a:cs typeface="Consolas"/>
                <a:sym typeface="Consolas"/>
              </a:rPr>
              <a:t>for</a:t>
            </a:r>
            <a:r>
              <a:rPr lang="en-GB" sz="850">
                <a:solidFill>
                  <a:srgbClr val="00193A"/>
                </a:solidFill>
                <a:latin typeface="Consolas"/>
                <a:ea typeface="Consolas"/>
                <a:cs typeface="Consolas"/>
                <a:sym typeface="Consolas"/>
              </a:rPr>
              <a:t> (</a:t>
            </a:r>
            <a:r>
              <a:rPr b="1" lang="en-GB" sz="850">
                <a:solidFill>
                  <a:srgbClr val="00193A"/>
                </a:solidFill>
                <a:latin typeface="Consolas"/>
                <a:ea typeface="Consolas"/>
                <a:cs typeface="Consolas"/>
                <a:sym typeface="Consolas"/>
              </a:rPr>
              <a:t>int</a:t>
            </a:r>
            <a:r>
              <a:rPr lang="en-GB" sz="850">
                <a:solidFill>
                  <a:srgbClr val="00193A"/>
                </a:solidFill>
                <a:latin typeface="Consolas"/>
                <a:ea typeface="Consolas"/>
                <a:cs typeface="Consolas"/>
                <a:sym typeface="Consolas"/>
              </a:rPr>
              <a:t> i = 0; i &lt; v.size(); i++)</a:t>
            </a:r>
            <a:br>
              <a:rPr lang="en-GB" sz="850">
                <a:solidFill>
                  <a:srgbClr val="00193A"/>
                </a:solidFill>
                <a:latin typeface="Consolas"/>
                <a:ea typeface="Consolas"/>
                <a:cs typeface="Consolas"/>
                <a:sym typeface="Consolas"/>
              </a:rPr>
            </a:br>
            <a:r>
              <a:rPr lang="en-GB" sz="850">
                <a:solidFill>
                  <a:srgbClr val="00193A"/>
                </a:solidFill>
                <a:latin typeface="Consolas"/>
                <a:ea typeface="Consolas"/>
                <a:cs typeface="Consolas"/>
                <a:sym typeface="Consolas"/>
              </a:rPr>
              <a:t>		</a:t>
            </a:r>
            <a:r>
              <a:rPr lang="en-GB" sz="850">
                <a:solidFill>
                  <a:srgbClr val="0048AB"/>
                </a:solidFill>
                <a:latin typeface="Consolas"/>
                <a:ea typeface="Consolas"/>
                <a:cs typeface="Consolas"/>
                <a:sym typeface="Consolas"/>
              </a:rPr>
              <a:t>cout</a:t>
            </a:r>
            <a:r>
              <a:rPr lang="en-GB" sz="850">
                <a:solidFill>
                  <a:srgbClr val="00193A"/>
                </a:solidFill>
                <a:latin typeface="Consolas"/>
                <a:ea typeface="Consolas"/>
                <a:cs typeface="Consolas"/>
                <a:sym typeface="Consolas"/>
              </a:rPr>
              <a:t> &lt;&lt; v[i] &lt;&lt; </a:t>
            </a:r>
            <a:r>
              <a:rPr lang="en-GB" sz="850">
                <a:solidFill>
                  <a:srgbClr val="0048AB"/>
                </a:solidFill>
                <a:latin typeface="Consolas"/>
                <a:ea typeface="Consolas"/>
                <a:cs typeface="Consolas"/>
                <a:sym typeface="Consolas"/>
              </a:rPr>
              <a:t>" "</a:t>
            </a:r>
            <a:r>
              <a:rPr lang="en-GB" sz="850">
                <a:solidFill>
                  <a:srgbClr val="00193A"/>
                </a:solidFill>
                <a:latin typeface="Consolas"/>
                <a:ea typeface="Consolas"/>
                <a:cs typeface="Consolas"/>
                <a:sym typeface="Consolas"/>
              </a:rPr>
              <a:t>;</a:t>
            </a:r>
            <a:br>
              <a:rPr lang="en-GB" sz="850">
                <a:solidFill>
                  <a:srgbClr val="00193A"/>
                </a:solidFill>
                <a:latin typeface="Consolas"/>
                <a:ea typeface="Consolas"/>
                <a:cs typeface="Consolas"/>
                <a:sym typeface="Consolas"/>
              </a:rPr>
            </a:br>
            <a:br>
              <a:rPr lang="en-GB" sz="850">
                <a:solidFill>
                  <a:srgbClr val="00193A"/>
                </a:solidFill>
                <a:latin typeface="Consolas"/>
                <a:ea typeface="Consolas"/>
                <a:cs typeface="Consolas"/>
                <a:sym typeface="Consolas"/>
              </a:rPr>
            </a:br>
            <a:r>
              <a:rPr lang="en-GB" sz="850">
                <a:solidFill>
                  <a:srgbClr val="00193A"/>
                </a:solidFill>
                <a:latin typeface="Consolas"/>
                <a:ea typeface="Consolas"/>
                <a:cs typeface="Consolas"/>
                <a:sym typeface="Consolas"/>
              </a:rPr>
              <a:t>	</a:t>
            </a:r>
            <a:r>
              <a:rPr lang="en-GB" sz="850">
                <a:solidFill>
                  <a:srgbClr val="738191"/>
                </a:solidFill>
                <a:latin typeface="Consolas"/>
                <a:ea typeface="Consolas"/>
                <a:cs typeface="Consolas"/>
                <a:sym typeface="Consolas"/>
              </a:rPr>
              <a:t>// inserts 15 to the last position</a:t>
            </a:r>
            <a:br>
              <a:rPr lang="en-GB" sz="850">
                <a:solidFill>
                  <a:srgbClr val="00193A"/>
                </a:solidFill>
                <a:latin typeface="Consolas"/>
                <a:ea typeface="Consolas"/>
                <a:cs typeface="Consolas"/>
                <a:sym typeface="Consolas"/>
              </a:rPr>
            </a:br>
            <a:r>
              <a:rPr lang="en-GB" sz="850">
                <a:solidFill>
                  <a:srgbClr val="00193A"/>
                </a:solidFill>
                <a:latin typeface="Consolas"/>
                <a:ea typeface="Consolas"/>
                <a:cs typeface="Consolas"/>
                <a:sym typeface="Consolas"/>
              </a:rPr>
              <a:t>	v.push_back(15);</a:t>
            </a:r>
            <a:br>
              <a:rPr lang="en-GB" sz="850">
                <a:solidFill>
                  <a:srgbClr val="00193A"/>
                </a:solidFill>
                <a:latin typeface="Consolas"/>
                <a:ea typeface="Consolas"/>
                <a:cs typeface="Consolas"/>
                <a:sym typeface="Consolas"/>
              </a:rPr>
            </a:br>
            <a:r>
              <a:rPr lang="en-GB" sz="850">
                <a:solidFill>
                  <a:srgbClr val="00193A"/>
                </a:solidFill>
                <a:latin typeface="Consolas"/>
                <a:ea typeface="Consolas"/>
                <a:cs typeface="Consolas"/>
                <a:sym typeface="Consolas"/>
              </a:rPr>
              <a:t>	</a:t>
            </a:r>
            <a:r>
              <a:rPr b="1" lang="en-GB" sz="850">
                <a:solidFill>
                  <a:srgbClr val="00193A"/>
                </a:solidFill>
                <a:latin typeface="Consolas"/>
                <a:ea typeface="Consolas"/>
                <a:cs typeface="Consolas"/>
                <a:sym typeface="Consolas"/>
              </a:rPr>
              <a:t>int</a:t>
            </a:r>
            <a:r>
              <a:rPr lang="en-GB" sz="850">
                <a:solidFill>
                  <a:srgbClr val="00193A"/>
                </a:solidFill>
                <a:latin typeface="Consolas"/>
                <a:ea typeface="Consolas"/>
                <a:cs typeface="Consolas"/>
                <a:sym typeface="Consolas"/>
              </a:rPr>
              <a:t> n = v.size();</a:t>
            </a:r>
            <a:br>
              <a:rPr lang="en-GB" sz="850">
                <a:solidFill>
                  <a:srgbClr val="00193A"/>
                </a:solidFill>
                <a:latin typeface="Consolas"/>
                <a:ea typeface="Consolas"/>
                <a:cs typeface="Consolas"/>
                <a:sym typeface="Consolas"/>
              </a:rPr>
            </a:br>
            <a:r>
              <a:rPr lang="en-GB" sz="850">
                <a:solidFill>
                  <a:srgbClr val="00193A"/>
                </a:solidFill>
                <a:latin typeface="Consolas"/>
                <a:ea typeface="Consolas"/>
                <a:cs typeface="Consolas"/>
                <a:sym typeface="Consolas"/>
              </a:rPr>
              <a:t>	</a:t>
            </a:r>
            <a:r>
              <a:rPr lang="en-GB" sz="850">
                <a:solidFill>
                  <a:srgbClr val="0048AB"/>
                </a:solidFill>
                <a:latin typeface="Consolas"/>
                <a:ea typeface="Consolas"/>
                <a:cs typeface="Consolas"/>
                <a:sym typeface="Consolas"/>
              </a:rPr>
              <a:t>cout</a:t>
            </a:r>
            <a:r>
              <a:rPr lang="en-GB" sz="850">
                <a:solidFill>
                  <a:srgbClr val="00193A"/>
                </a:solidFill>
                <a:latin typeface="Consolas"/>
                <a:ea typeface="Consolas"/>
                <a:cs typeface="Consolas"/>
                <a:sym typeface="Consolas"/>
              </a:rPr>
              <a:t> &lt;&lt; </a:t>
            </a:r>
            <a:r>
              <a:rPr lang="en-GB" sz="850">
                <a:solidFill>
                  <a:srgbClr val="0048AB"/>
                </a:solidFill>
                <a:latin typeface="Consolas"/>
                <a:ea typeface="Consolas"/>
                <a:cs typeface="Consolas"/>
                <a:sym typeface="Consolas"/>
              </a:rPr>
              <a:t>"\nThe last element is: "</a:t>
            </a:r>
            <a:r>
              <a:rPr lang="en-GB" sz="850">
                <a:solidFill>
                  <a:srgbClr val="00193A"/>
                </a:solidFill>
                <a:latin typeface="Consolas"/>
                <a:ea typeface="Consolas"/>
                <a:cs typeface="Consolas"/>
                <a:sym typeface="Consolas"/>
              </a:rPr>
              <a:t> &lt;&lt; v[n - 1];</a:t>
            </a:r>
            <a:br>
              <a:rPr lang="en-GB" sz="850">
                <a:solidFill>
                  <a:srgbClr val="00193A"/>
                </a:solidFill>
                <a:latin typeface="Consolas"/>
                <a:ea typeface="Consolas"/>
                <a:cs typeface="Consolas"/>
                <a:sym typeface="Consolas"/>
              </a:rPr>
            </a:br>
            <a:br>
              <a:rPr lang="en-GB" sz="850">
                <a:solidFill>
                  <a:srgbClr val="00193A"/>
                </a:solidFill>
                <a:latin typeface="Consolas"/>
                <a:ea typeface="Consolas"/>
                <a:cs typeface="Consolas"/>
                <a:sym typeface="Consolas"/>
              </a:rPr>
            </a:br>
            <a:r>
              <a:rPr lang="en-GB" sz="850">
                <a:solidFill>
                  <a:srgbClr val="00193A"/>
                </a:solidFill>
                <a:latin typeface="Consolas"/>
                <a:ea typeface="Consolas"/>
                <a:cs typeface="Consolas"/>
                <a:sym typeface="Consolas"/>
              </a:rPr>
              <a:t>	</a:t>
            </a:r>
            <a:r>
              <a:rPr lang="en-GB" sz="850">
                <a:solidFill>
                  <a:srgbClr val="738191"/>
                </a:solidFill>
                <a:latin typeface="Consolas"/>
                <a:ea typeface="Consolas"/>
                <a:cs typeface="Consolas"/>
                <a:sym typeface="Consolas"/>
              </a:rPr>
              <a:t>// removes last element</a:t>
            </a:r>
            <a:br>
              <a:rPr lang="en-GB" sz="850">
                <a:solidFill>
                  <a:srgbClr val="00193A"/>
                </a:solidFill>
                <a:latin typeface="Consolas"/>
                <a:ea typeface="Consolas"/>
                <a:cs typeface="Consolas"/>
                <a:sym typeface="Consolas"/>
              </a:rPr>
            </a:br>
            <a:r>
              <a:rPr lang="en-GB" sz="850">
                <a:solidFill>
                  <a:srgbClr val="00193A"/>
                </a:solidFill>
                <a:latin typeface="Consolas"/>
                <a:ea typeface="Consolas"/>
                <a:cs typeface="Consolas"/>
                <a:sym typeface="Consolas"/>
              </a:rPr>
              <a:t>	v.pop_back();</a:t>
            </a:r>
            <a:br>
              <a:rPr lang="en-GB" sz="850">
                <a:solidFill>
                  <a:srgbClr val="00193A"/>
                </a:solidFill>
                <a:latin typeface="Consolas"/>
                <a:ea typeface="Consolas"/>
                <a:cs typeface="Consolas"/>
                <a:sym typeface="Consolas"/>
              </a:rPr>
            </a:br>
            <a:br>
              <a:rPr lang="en-GB" sz="850">
                <a:solidFill>
                  <a:srgbClr val="00193A"/>
                </a:solidFill>
                <a:latin typeface="Consolas"/>
                <a:ea typeface="Consolas"/>
                <a:cs typeface="Consolas"/>
                <a:sym typeface="Consolas"/>
              </a:rPr>
            </a:br>
            <a:r>
              <a:rPr lang="en-GB" sz="850">
                <a:solidFill>
                  <a:srgbClr val="00193A"/>
                </a:solidFill>
                <a:latin typeface="Consolas"/>
                <a:ea typeface="Consolas"/>
                <a:cs typeface="Consolas"/>
                <a:sym typeface="Consolas"/>
              </a:rPr>
              <a:t>	</a:t>
            </a:r>
            <a:r>
              <a:rPr lang="en-GB" sz="850">
                <a:solidFill>
                  <a:srgbClr val="738191"/>
                </a:solidFill>
                <a:latin typeface="Consolas"/>
                <a:ea typeface="Consolas"/>
                <a:cs typeface="Consolas"/>
                <a:sym typeface="Consolas"/>
              </a:rPr>
              <a:t>// prints the vector</a:t>
            </a:r>
            <a:br>
              <a:rPr lang="en-GB" sz="850">
                <a:solidFill>
                  <a:srgbClr val="00193A"/>
                </a:solidFill>
                <a:latin typeface="Consolas"/>
                <a:ea typeface="Consolas"/>
                <a:cs typeface="Consolas"/>
                <a:sym typeface="Consolas"/>
              </a:rPr>
            </a:br>
            <a:r>
              <a:rPr lang="en-GB" sz="850">
                <a:solidFill>
                  <a:srgbClr val="00193A"/>
                </a:solidFill>
                <a:latin typeface="Consolas"/>
                <a:ea typeface="Consolas"/>
                <a:cs typeface="Consolas"/>
                <a:sym typeface="Consolas"/>
              </a:rPr>
              <a:t>	</a:t>
            </a:r>
            <a:r>
              <a:rPr lang="en-GB" sz="850">
                <a:solidFill>
                  <a:srgbClr val="0048AB"/>
                </a:solidFill>
                <a:latin typeface="Consolas"/>
                <a:ea typeface="Consolas"/>
                <a:cs typeface="Consolas"/>
                <a:sym typeface="Consolas"/>
              </a:rPr>
              <a:t>cout</a:t>
            </a:r>
            <a:r>
              <a:rPr lang="en-GB" sz="850">
                <a:solidFill>
                  <a:srgbClr val="00193A"/>
                </a:solidFill>
                <a:latin typeface="Consolas"/>
                <a:ea typeface="Consolas"/>
                <a:cs typeface="Consolas"/>
                <a:sym typeface="Consolas"/>
              </a:rPr>
              <a:t> &lt;&lt; </a:t>
            </a:r>
            <a:r>
              <a:rPr lang="en-GB" sz="850">
                <a:solidFill>
                  <a:srgbClr val="0048AB"/>
                </a:solidFill>
                <a:latin typeface="Consolas"/>
                <a:ea typeface="Consolas"/>
                <a:cs typeface="Consolas"/>
                <a:sym typeface="Consolas"/>
              </a:rPr>
              <a:t>"\nThe vector elements are: "</a:t>
            </a:r>
            <a:r>
              <a:rPr lang="en-GB" sz="850">
                <a:solidFill>
                  <a:srgbClr val="00193A"/>
                </a:solidFill>
                <a:latin typeface="Consolas"/>
                <a:ea typeface="Consolas"/>
                <a:cs typeface="Consolas"/>
                <a:sym typeface="Consolas"/>
              </a:rPr>
              <a:t>;</a:t>
            </a:r>
            <a:br>
              <a:rPr lang="en-GB" sz="850">
                <a:solidFill>
                  <a:srgbClr val="00193A"/>
                </a:solidFill>
                <a:latin typeface="Consolas"/>
                <a:ea typeface="Consolas"/>
                <a:cs typeface="Consolas"/>
                <a:sym typeface="Consolas"/>
              </a:rPr>
            </a:br>
            <a:r>
              <a:rPr lang="en-GB" sz="850">
                <a:solidFill>
                  <a:srgbClr val="00193A"/>
                </a:solidFill>
                <a:latin typeface="Consolas"/>
                <a:ea typeface="Consolas"/>
                <a:cs typeface="Consolas"/>
                <a:sym typeface="Consolas"/>
              </a:rPr>
              <a:t>	</a:t>
            </a:r>
            <a:r>
              <a:rPr b="1" lang="en-GB" sz="850">
                <a:solidFill>
                  <a:srgbClr val="00193A"/>
                </a:solidFill>
                <a:latin typeface="Consolas"/>
                <a:ea typeface="Consolas"/>
                <a:cs typeface="Consolas"/>
                <a:sym typeface="Consolas"/>
              </a:rPr>
              <a:t>for</a:t>
            </a:r>
            <a:r>
              <a:rPr lang="en-GB" sz="850">
                <a:solidFill>
                  <a:srgbClr val="00193A"/>
                </a:solidFill>
                <a:latin typeface="Consolas"/>
                <a:ea typeface="Consolas"/>
                <a:cs typeface="Consolas"/>
                <a:sym typeface="Consolas"/>
              </a:rPr>
              <a:t> (</a:t>
            </a:r>
            <a:r>
              <a:rPr b="1" lang="en-GB" sz="850">
                <a:solidFill>
                  <a:srgbClr val="00193A"/>
                </a:solidFill>
                <a:latin typeface="Consolas"/>
                <a:ea typeface="Consolas"/>
                <a:cs typeface="Consolas"/>
                <a:sym typeface="Consolas"/>
              </a:rPr>
              <a:t>int</a:t>
            </a:r>
            <a:r>
              <a:rPr lang="en-GB" sz="850">
                <a:solidFill>
                  <a:srgbClr val="00193A"/>
                </a:solidFill>
                <a:latin typeface="Consolas"/>
                <a:ea typeface="Consolas"/>
                <a:cs typeface="Consolas"/>
                <a:sym typeface="Consolas"/>
              </a:rPr>
              <a:t> i = 0; i &lt; v.size(); i++)</a:t>
            </a:r>
            <a:br>
              <a:rPr lang="en-GB" sz="850">
                <a:solidFill>
                  <a:srgbClr val="00193A"/>
                </a:solidFill>
                <a:latin typeface="Consolas"/>
                <a:ea typeface="Consolas"/>
                <a:cs typeface="Consolas"/>
                <a:sym typeface="Consolas"/>
              </a:rPr>
            </a:br>
            <a:r>
              <a:rPr lang="en-GB" sz="850">
                <a:solidFill>
                  <a:srgbClr val="00193A"/>
                </a:solidFill>
                <a:latin typeface="Consolas"/>
                <a:ea typeface="Consolas"/>
                <a:cs typeface="Consolas"/>
                <a:sym typeface="Consolas"/>
              </a:rPr>
              <a:t>		</a:t>
            </a:r>
            <a:r>
              <a:rPr lang="en-GB" sz="850">
                <a:solidFill>
                  <a:srgbClr val="0048AB"/>
                </a:solidFill>
                <a:latin typeface="Consolas"/>
                <a:ea typeface="Consolas"/>
                <a:cs typeface="Consolas"/>
                <a:sym typeface="Consolas"/>
              </a:rPr>
              <a:t>cout</a:t>
            </a:r>
            <a:r>
              <a:rPr lang="en-GB" sz="850">
                <a:solidFill>
                  <a:srgbClr val="00193A"/>
                </a:solidFill>
                <a:latin typeface="Consolas"/>
                <a:ea typeface="Consolas"/>
                <a:cs typeface="Consolas"/>
                <a:sym typeface="Consolas"/>
              </a:rPr>
              <a:t> &lt;&lt; v[i] &lt;&lt; </a:t>
            </a:r>
            <a:r>
              <a:rPr lang="en-GB" sz="850">
                <a:solidFill>
                  <a:srgbClr val="0048AB"/>
                </a:solidFill>
                <a:latin typeface="Consolas"/>
                <a:ea typeface="Consolas"/>
                <a:cs typeface="Consolas"/>
                <a:sym typeface="Consolas"/>
              </a:rPr>
              <a:t>" "</a:t>
            </a:r>
            <a:r>
              <a:rPr lang="en-GB" sz="850">
                <a:solidFill>
                  <a:srgbClr val="00193A"/>
                </a:solidFill>
                <a:latin typeface="Consolas"/>
                <a:ea typeface="Consolas"/>
                <a:cs typeface="Consolas"/>
                <a:sym typeface="Consolas"/>
              </a:rPr>
              <a:t>;</a:t>
            </a:r>
            <a:br>
              <a:rPr lang="en-GB" sz="850">
                <a:solidFill>
                  <a:srgbClr val="00193A"/>
                </a:solidFill>
                <a:latin typeface="Consolas"/>
                <a:ea typeface="Consolas"/>
                <a:cs typeface="Consolas"/>
                <a:sym typeface="Consolas"/>
              </a:rPr>
            </a:br>
            <a:br>
              <a:rPr lang="en-GB" sz="850">
                <a:solidFill>
                  <a:srgbClr val="00193A"/>
                </a:solidFill>
                <a:latin typeface="Consolas"/>
                <a:ea typeface="Consolas"/>
                <a:cs typeface="Consolas"/>
                <a:sym typeface="Consolas"/>
              </a:rPr>
            </a:br>
            <a:br>
              <a:rPr lang="en-GB" sz="850">
                <a:solidFill>
                  <a:srgbClr val="00193A"/>
                </a:solidFill>
                <a:latin typeface="Consolas"/>
                <a:ea typeface="Consolas"/>
                <a:cs typeface="Consolas"/>
                <a:sym typeface="Consolas"/>
              </a:rPr>
            </a:br>
            <a:endParaRPr sz="1225"/>
          </a:p>
        </p:txBody>
      </p:sp>
      <p:sp>
        <p:nvSpPr>
          <p:cNvPr id="141" name="Google Shape;141;p25"/>
          <p:cNvSpPr txBox="1"/>
          <p:nvPr/>
        </p:nvSpPr>
        <p:spPr>
          <a:xfrm>
            <a:off x="3405550" y="128400"/>
            <a:ext cx="3567300" cy="4783800"/>
          </a:xfrm>
          <a:prstGeom prst="rect">
            <a:avLst/>
          </a:prstGeom>
          <a:solidFill>
            <a:srgbClr val="EFEFEF"/>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br>
              <a:rPr lang="en-GB" sz="900">
                <a:solidFill>
                  <a:srgbClr val="00193A"/>
                </a:solidFill>
                <a:latin typeface="Consolas"/>
                <a:ea typeface="Consolas"/>
                <a:cs typeface="Consolas"/>
                <a:sym typeface="Consolas"/>
              </a:rPr>
            </a:br>
            <a:r>
              <a:rPr lang="en-GB" sz="900">
                <a:solidFill>
                  <a:srgbClr val="738191"/>
                </a:solidFill>
                <a:latin typeface="Consolas"/>
                <a:ea typeface="Consolas"/>
                <a:cs typeface="Consolas"/>
                <a:sym typeface="Consolas"/>
              </a:rPr>
              <a:t>// inserts 5 at the beginning</a:t>
            </a:r>
            <a:br>
              <a:rPr lang="en-GB" sz="900">
                <a:solidFill>
                  <a:srgbClr val="00193A"/>
                </a:solidFill>
                <a:latin typeface="Consolas"/>
                <a:ea typeface="Consolas"/>
                <a:cs typeface="Consolas"/>
                <a:sym typeface="Consolas"/>
              </a:rPr>
            </a:br>
            <a:r>
              <a:rPr lang="en-GB" sz="900">
                <a:solidFill>
                  <a:srgbClr val="00193A"/>
                </a:solidFill>
                <a:latin typeface="Consolas"/>
                <a:ea typeface="Consolas"/>
                <a:cs typeface="Consolas"/>
                <a:sym typeface="Consolas"/>
              </a:rPr>
              <a:t>v.insert(v.begin(), 5);</a:t>
            </a:r>
            <a:br>
              <a:rPr lang="en-GB" sz="900">
                <a:solidFill>
                  <a:srgbClr val="00193A"/>
                </a:solidFill>
                <a:latin typeface="Consolas"/>
                <a:ea typeface="Consolas"/>
                <a:cs typeface="Consolas"/>
                <a:sym typeface="Consolas"/>
              </a:rPr>
            </a:br>
            <a:br>
              <a:rPr lang="en-GB" sz="900">
                <a:solidFill>
                  <a:srgbClr val="00193A"/>
                </a:solidFill>
                <a:latin typeface="Consolas"/>
                <a:ea typeface="Consolas"/>
                <a:cs typeface="Consolas"/>
                <a:sym typeface="Consolas"/>
              </a:rPr>
            </a:br>
            <a:r>
              <a:rPr lang="en-GB" sz="900">
                <a:solidFill>
                  <a:srgbClr val="0048AB"/>
                </a:solidFill>
                <a:latin typeface="Consolas"/>
                <a:ea typeface="Consolas"/>
                <a:cs typeface="Consolas"/>
                <a:sym typeface="Consolas"/>
              </a:rPr>
              <a:t>cout</a:t>
            </a:r>
            <a:r>
              <a:rPr lang="en-GB" sz="900">
                <a:solidFill>
                  <a:srgbClr val="00193A"/>
                </a:solidFill>
                <a:latin typeface="Consolas"/>
                <a:ea typeface="Consolas"/>
                <a:cs typeface="Consolas"/>
                <a:sym typeface="Consolas"/>
              </a:rPr>
              <a:t> &lt;&lt; </a:t>
            </a:r>
            <a:r>
              <a:rPr lang="en-GB" sz="900">
                <a:solidFill>
                  <a:srgbClr val="0048AB"/>
                </a:solidFill>
                <a:latin typeface="Consolas"/>
                <a:ea typeface="Consolas"/>
                <a:cs typeface="Consolas"/>
                <a:sym typeface="Consolas"/>
              </a:rPr>
              <a:t>"\nThe first element is: "</a:t>
            </a:r>
            <a:r>
              <a:rPr lang="en-GB" sz="900">
                <a:solidFill>
                  <a:srgbClr val="00193A"/>
                </a:solidFill>
                <a:latin typeface="Consolas"/>
                <a:ea typeface="Consolas"/>
                <a:cs typeface="Consolas"/>
                <a:sym typeface="Consolas"/>
              </a:rPr>
              <a:t> &lt;&lt; v[0];</a:t>
            </a:r>
            <a:br>
              <a:rPr lang="en-GB" sz="900">
                <a:solidFill>
                  <a:srgbClr val="00193A"/>
                </a:solidFill>
                <a:latin typeface="Consolas"/>
                <a:ea typeface="Consolas"/>
                <a:cs typeface="Consolas"/>
                <a:sym typeface="Consolas"/>
              </a:rPr>
            </a:br>
            <a:br>
              <a:rPr lang="en-GB" sz="900">
                <a:solidFill>
                  <a:srgbClr val="00193A"/>
                </a:solidFill>
                <a:latin typeface="Consolas"/>
                <a:ea typeface="Consolas"/>
                <a:cs typeface="Consolas"/>
                <a:sym typeface="Consolas"/>
              </a:rPr>
            </a:br>
            <a:r>
              <a:rPr lang="en-GB" sz="900">
                <a:solidFill>
                  <a:srgbClr val="738191"/>
                </a:solidFill>
                <a:latin typeface="Consolas"/>
                <a:ea typeface="Consolas"/>
                <a:cs typeface="Consolas"/>
                <a:sym typeface="Consolas"/>
              </a:rPr>
              <a:t>// removes the first element</a:t>
            </a:r>
            <a:br>
              <a:rPr lang="en-GB" sz="900">
                <a:solidFill>
                  <a:srgbClr val="00193A"/>
                </a:solidFill>
                <a:latin typeface="Consolas"/>
                <a:ea typeface="Consolas"/>
                <a:cs typeface="Consolas"/>
                <a:sym typeface="Consolas"/>
              </a:rPr>
            </a:br>
            <a:r>
              <a:rPr lang="en-GB" sz="900">
                <a:solidFill>
                  <a:srgbClr val="00193A"/>
                </a:solidFill>
                <a:latin typeface="Consolas"/>
                <a:ea typeface="Consolas"/>
                <a:cs typeface="Consolas"/>
                <a:sym typeface="Consolas"/>
              </a:rPr>
              <a:t>v.erase(v.begin());</a:t>
            </a:r>
            <a:br>
              <a:rPr lang="en-GB" sz="900">
                <a:solidFill>
                  <a:srgbClr val="00193A"/>
                </a:solidFill>
                <a:latin typeface="Consolas"/>
                <a:ea typeface="Consolas"/>
                <a:cs typeface="Consolas"/>
                <a:sym typeface="Consolas"/>
              </a:rPr>
            </a:br>
            <a:br>
              <a:rPr lang="en-GB" sz="900">
                <a:solidFill>
                  <a:srgbClr val="00193A"/>
                </a:solidFill>
                <a:latin typeface="Consolas"/>
                <a:ea typeface="Consolas"/>
                <a:cs typeface="Consolas"/>
                <a:sym typeface="Consolas"/>
              </a:rPr>
            </a:br>
            <a:r>
              <a:rPr lang="en-GB" sz="900">
                <a:solidFill>
                  <a:srgbClr val="0048AB"/>
                </a:solidFill>
                <a:latin typeface="Consolas"/>
                <a:ea typeface="Consolas"/>
                <a:cs typeface="Consolas"/>
                <a:sym typeface="Consolas"/>
              </a:rPr>
              <a:t>cout</a:t>
            </a:r>
            <a:r>
              <a:rPr lang="en-GB" sz="900">
                <a:solidFill>
                  <a:srgbClr val="00193A"/>
                </a:solidFill>
                <a:latin typeface="Consolas"/>
                <a:ea typeface="Consolas"/>
                <a:cs typeface="Consolas"/>
                <a:sym typeface="Consolas"/>
              </a:rPr>
              <a:t> &lt;&lt; </a:t>
            </a:r>
            <a:r>
              <a:rPr lang="en-GB" sz="900">
                <a:solidFill>
                  <a:srgbClr val="0048AB"/>
                </a:solidFill>
                <a:latin typeface="Consolas"/>
                <a:ea typeface="Consolas"/>
                <a:cs typeface="Consolas"/>
                <a:sym typeface="Consolas"/>
              </a:rPr>
              <a:t>"\nThe first element is: "</a:t>
            </a:r>
            <a:r>
              <a:rPr lang="en-GB" sz="900">
                <a:solidFill>
                  <a:srgbClr val="00193A"/>
                </a:solidFill>
                <a:latin typeface="Consolas"/>
                <a:ea typeface="Consolas"/>
                <a:cs typeface="Consolas"/>
                <a:sym typeface="Consolas"/>
              </a:rPr>
              <a:t> &lt;&lt; v[0];</a:t>
            </a:r>
            <a:endParaRPr sz="900">
              <a:solidFill>
                <a:srgbClr val="00193A"/>
              </a:solidFill>
              <a:latin typeface="Consolas"/>
              <a:ea typeface="Consolas"/>
              <a:cs typeface="Consolas"/>
              <a:sym typeface="Consolas"/>
            </a:endParaRPr>
          </a:p>
          <a:p>
            <a:pPr indent="0" lvl="0" marL="0" rtl="0" algn="l">
              <a:lnSpc>
                <a:spcPct val="115000"/>
              </a:lnSpc>
              <a:spcBef>
                <a:spcPts val="0"/>
              </a:spcBef>
              <a:spcAft>
                <a:spcPts val="0"/>
              </a:spcAft>
              <a:buNone/>
            </a:pPr>
            <a:r>
              <a:rPr lang="en-GB" sz="900">
                <a:solidFill>
                  <a:srgbClr val="738191"/>
                </a:solidFill>
                <a:latin typeface="Consolas"/>
                <a:ea typeface="Consolas"/>
                <a:cs typeface="Consolas"/>
                <a:sym typeface="Consolas"/>
              </a:rPr>
              <a:t>// inserts at the beginning</a:t>
            </a:r>
            <a:br>
              <a:rPr lang="en-GB" sz="900">
                <a:solidFill>
                  <a:srgbClr val="00193A"/>
                </a:solidFill>
                <a:latin typeface="Consolas"/>
                <a:ea typeface="Consolas"/>
                <a:cs typeface="Consolas"/>
                <a:sym typeface="Consolas"/>
              </a:rPr>
            </a:br>
            <a:r>
              <a:rPr lang="en-GB" sz="900">
                <a:solidFill>
                  <a:srgbClr val="00193A"/>
                </a:solidFill>
                <a:latin typeface="Consolas"/>
                <a:ea typeface="Consolas"/>
                <a:cs typeface="Consolas"/>
                <a:sym typeface="Consolas"/>
              </a:rPr>
              <a:t>v.emplace(v.begin(), 5);</a:t>
            </a:r>
            <a:br>
              <a:rPr lang="en-GB" sz="900">
                <a:solidFill>
                  <a:srgbClr val="00193A"/>
                </a:solidFill>
                <a:latin typeface="Consolas"/>
                <a:ea typeface="Consolas"/>
                <a:cs typeface="Consolas"/>
                <a:sym typeface="Consolas"/>
              </a:rPr>
            </a:br>
            <a:r>
              <a:rPr lang="en-GB" sz="900">
                <a:solidFill>
                  <a:srgbClr val="0048AB"/>
                </a:solidFill>
                <a:latin typeface="Consolas"/>
                <a:ea typeface="Consolas"/>
                <a:cs typeface="Consolas"/>
                <a:sym typeface="Consolas"/>
              </a:rPr>
              <a:t>cout</a:t>
            </a:r>
            <a:r>
              <a:rPr lang="en-GB" sz="900">
                <a:solidFill>
                  <a:srgbClr val="00193A"/>
                </a:solidFill>
                <a:latin typeface="Consolas"/>
                <a:ea typeface="Consolas"/>
                <a:cs typeface="Consolas"/>
                <a:sym typeface="Consolas"/>
              </a:rPr>
              <a:t> &lt;&lt; </a:t>
            </a:r>
            <a:r>
              <a:rPr lang="en-GB" sz="900">
                <a:solidFill>
                  <a:srgbClr val="0048AB"/>
                </a:solidFill>
                <a:latin typeface="Consolas"/>
                <a:ea typeface="Consolas"/>
                <a:cs typeface="Consolas"/>
                <a:sym typeface="Consolas"/>
              </a:rPr>
              <a:t>"\nThe first element is: "</a:t>
            </a:r>
            <a:r>
              <a:rPr lang="en-GB" sz="900">
                <a:solidFill>
                  <a:srgbClr val="00193A"/>
                </a:solidFill>
                <a:latin typeface="Consolas"/>
                <a:ea typeface="Consolas"/>
                <a:cs typeface="Consolas"/>
                <a:sym typeface="Consolas"/>
              </a:rPr>
              <a:t> &lt;&lt; v[0];</a:t>
            </a:r>
            <a:endParaRPr sz="900">
              <a:solidFill>
                <a:srgbClr val="00193A"/>
              </a:solidFill>
              <a:latin typeface="Consolas"/>
              <a:ea typeface="Consolas"/>
              <a:cs typeface="Consolas"/>
              <a:sym typeface="Consolas"/>
            </a:endParaRPr>
          </a:p>
          <a:p>
            <a:pPr indent="0" lvl="0" marL="0" rtl="0" algn="l">
              <a:lnSpc>
                <a:spcPct val="115000"/>
              </a:lnSpc>
              <a:spcBef>
                <a:spcPts val="0"/>
              </a:spcBef>
              <a:spcAft>
                <a:spcPts val="0"/>
              </a:spcAft>
              <a:buNone/>
            </a:pPr>
            <a:r>
              <a:rPr lang="en-GB" sz="900">
                <a:solidFill>
                  <a:srgbClr val="738191"/>
                </a:solidFill>
                <a:latin typeface="Consolas"/>
                <a:ea typeface="Consolas"/>
                <a:cs typeface="Consolas"/>
                <a:sym typeface="Consolas"/>
              </a:rPr>
              <a:t>// Inserts 20 at the end</a:t>
            </a:r>
            <a:br>
              <a:rPr lang="en-GB" sz="900">
                <a:solidFill>
                  <a:srgbClr val="00193A"/>
                </a:solidFill>
                <a:latin typeface="Consolas"/>
                <a:ea typeface="Consolas"/>
                <a:cs typeface="Consolas"/>
                <a:sym typeface="Consolas"/>
              </a:rPr>
            </a:br>
            <a:r>
              <a:rPr lang="en-GB" sz="900">
                <a:solidFill>
                  <a:srgbClr val="00193A"/>
                </a:solidFill>
                <a:latin typeface="Consolas"/>
                <a:ea typeface="Consolas"/>
                <a:cs typeface="Consolas"/>
                <a:sym typeface="Consolas"/>
              </a:rPr>
              <a:t>v.emplace_back(20);</a:t>
            </a:r>
            <a:br>
              <a:rPr lang="en-GB" sz="900">
                <a:solidFill>
                  <a:srgbClr val="00193A"/>
                </a:solidFill>
                <a:latin typeface="Consolas"/>
                <a:ea typeface="Consolas"/>
                <a:cs typeface="Consolas"/>
                <a:sym typeface="Consolas"/>
              </a:rPr>
            </a:br>
            <a:r>
              <a:rPr lang="en-GB" sz="900">
                <a:solidFill>
                  <a:srgbClr val="00193A"/>
                </a:solidFill>
                <a:latin typeface="Consolas"/>
                <a:ea typeface="Consolas"/>
                <a:cs typeface="Consolas"/>
                <a:sym typeface="Consolas"/>
              </a:rPr>
              <a:t>n = v.size();</a:t>
            </a:r>
            <a:br>
              <a:rPr lang="en-GB" sz="900">
                <a:solidFill>
                  <a:srgbClr val="00193A"/>
                </a:solidFill>
                <a:latin typeface="Consolas"/>
                <a:ea typeface="Consolas"/>
                <a:cs typeface="Consolas"/>
                <a:sym typeface="Consolas"/>
              </a:rPr>
            </a:br>
            <a:r>
              <a:rPr lang="en-GB" sz="900">
                <a:solidFill>
                  <a:srgbClr val="0048AB"/>
                </a:solidFill>
                <a:latin typeface="Consolas"/>
                <a:ea typeface="Consolas"/>
                <a:cs typeface="Consolas"/>
                <a:sym typeface="Consolas"/>
              </a:rPr>
              <a:t>cout</a:t>
            </a:r>
            <a:r>
              <a:rPr lang="en-GB" sz="900">
                <a:solidFill>
                  <a:srgbClr val="00193A"/>
                </a:solidFill>
                <a:latin typeface="Consolas"/>
                <a:ea typeface="Consolas"/>
                <a:cs typeface="Consolas"/>
                <a:sym typeface="Consolas"/>
              </a:rPr>
              <a:t> &lt;&lt; </a:t>
            </a:r>
            <a:r>
              <a:rPr lang="en-GB" sz="900">
                <a:solidFill>
                  <a:srgbClr val="0048AB"/>
                </a:solidFill>
                <a:latin typeface="Consolas"/>
                <a:ea typeface="Consolas"/>
                <a:cs typeface="Consolas"/>
                <a:sym typeface="Consolas"/>
              </a:rPr>
              <a:t>"\nThe last element is: "</a:t>
            </a:r>
            <a:r>
              <a:rPr lang="en-GB" sz="900">
                <a:solidFill>
                  <a:srgbClr val="00193A"/>
                </a:solidFill>
                <a:latin typeface="Consolas"/>
                <a:ea typeface="Consolas"/>
                <a:cs typeface="Consolas"/>
                <a:sym typeface="Consolas"/>
              </a:rPr>
              <a:t> &lt;&lt; v[n - 1];</a:t>
            </a:r>
            <a:br>
              <a:rPr lang="en-GB" sz="900">
                <a:solidFill>
                  <a:srgbClr val="00193A"/>
                </a:solidFill>
                <a:latin typeface="Consolas"/>
                <a:ea typeface="Consolas"/>
                <a:cs typeface="Consolas"/>
                <a:sym typeface="Consolas"/>
              </a:rPr>
            </a:br>
            <a:br>
              <a:rPr lang="en-GB" sz="900">
                <a:solidFill>
                  <a:srgbClr val="00193A"/>
                </a:solidFill>
                <a:latin typeface="Consolas"/>
                <a:ea typeface="Consolas"/>
                <a:cs typeface="Consolas"/>
                <a:sym typeface="Consolas"/>
              </a:rPr>
            </a:br>
            <a:r>
              <a:rPr lang="en-GB" sz="900">
                <a:solidFill>
                  <a:srgbClr val="738191"/>
                </a:solidFill>
                <a:latin typeface="Consolas"/>
                <a:ea typeface="Consolas"/>
                <a:cs typeface="Consolas"/>
                <a:sym typeface="Consolas"/>
              </a:rPr>
              <a:t>// erases the vector</a:t>
            </a:r>
            <a:br>
              <a:rPr lang="en-GB" sz="900">
                <a:solidFill>
                  <a:srgbClr val="00193A"/>
                </a:solidFill>
                <a:latin typeface="Consolas"/>
                <a:ea typeface="Consolas"/>
                <a:cs typeface="Consolas"/>
                <a:sym typeface="Consolas"/>
              </a:rPr>
            </a:br>
            <a:r>
              <a:rPr lang="en-GB" sz="900">
                <a:solidFill>
                  <a:srgbClr val="00193A"/>
                </a:solidFill>
                <a:latin typeface="Consolas"/>
                <a:ea typeface="Consolas"/>
                <a:cs typeface="Consolas"/>
                <a:sym typeface="Consolas"/>
              </a:rPr>
              <a:t>v.clear();</a:t>
            </a:r>
            <a:br>
              <a:rPr lang="en-GB" sz="900">
                <a:solidFill>
                  <a:srgbClr val="00193A"/>
                </a:solidFill>
                <a:latin typeface="Consolas"/>
                <a:ea typeface="Consolas"/>
                <a:cs typeface="Consolas"/>
                <a:sym typeface="Consolas"/>
              </a:rPr>
            </a:br>
            <a:r>
              <a:rPr lang="en-GB" sz="900">
                <a:solidFill>
                  <a:srgbClr val="0048AB"/>
                </a:solidFill>
                <a:latin typeface="Consolas"/>
                <a:ea typeface="Consolas"/>
                <a:cs typeface="Consolas"/>
                <a:sym typeface="Consolas"/>
              </a:rPr>
              <a:t>cout</a:t>
            </a:r>
            <a:r>
              <a:rPr lang="en-GB" sz="900">
                <a:solidFill>
                  <a:srgbClr val="00193A"/>
                </a:solidFill>
                <a:latin typeface="Consolas"/>
                <a:ea typeface="Consolas"/>
                <a:cs typeface="Consolas"/>
                <a:sym typeface="Consolas"/>
              </a:rPr>
              <a:t> &lt;&lt; </a:t>
            </a:r>
            <a:r>
              <a:rPr lang="en-GB" sz="900">
                <a:solidFill>
                  <a:srgbClr val="0048AB"/>
                </a:solidFill>
                <a:latin typeface="Consolas"/>
                <a:ea typeface="Consolas"/>
                <a:cs typeface="Consolas"/>
                <a:sym typeface="Consolas"/>
              </a:rPr>
              <a:t>"\nVector size after erase(): "</a:t>
            </a:r>
            <a:r>
              <a:rPr lang="en-GB" sz="900">
                <a:solidFill>
                  <a:srgbClr val="00193A"/>
                </a:solidFill>
                <a:latin typeface="Consolas"/>
                <a:ea typeface="Consolas"/>
                <a:cs typeface="Consolas"/>
                <a:sym typeface="Consolas"/>
              </a:rPr>
              <a:t> &lt;&lt; v.size();</a:t>
            </a:r>
            <a:br>
              <a:rPr lang="en-GB" sz="900">
                <a:solidFill>
                  <a:srgbClr val="00193A"/>
                </a:solidFill>
                <a:latin typeface="Consolas"/>
                <a:ea typeface="Consolas"/>
                <a:cs typeface="Consolas"/>
                <a:sym typeface="Consolas"/>
              </a:rPr>
            </a:br>
            <a:br>
              <a:rPr lang="en-GB" sz="900">
                <a:solidFill>
                  <a:srgbClr val="00193A"/>
                </a:solidFill>
                <a:latin typeface="Consolas"/>
                <a:ea typeface="Consolas"/>
                <a:cs typeface="Consolas"/>
                <a:sym typeface="Consolas"/>
              </a:rPr>
            </a:br>
            <a:r>
              <a:rPr lang="en-GB" sz="900">
                <a:solidFill>
                  <a:srgbClr val="738191"/>
                </a:solidFill>
                <a:latin typeface="Consolas"/>
                <a:ea typeface="Consolas"/>
                <a:cs typeface="Consolas"/>
                <a:sym typeface="Consolas"/>
              </a:rPr>
              <a:t>// two vector to perform swap</a:t>
            </a:r>
            <a:br>
              <a:rPr lang="en-GB" sz="900">
                <a:solidFill>
                  <a:srgbClr val="00193A"/>
                </a:solidFill>
                <a:latin typeface="Consolas"/>
                <a:ea typeface="Consolas"/>
                <a:cs typeface="Consolas"/>
                <a:sym typeface="Consolas"/>
              </a:rPr>
            </a:br>
            <a:r>
              <a:rPr lang="en-GB" sz="900">
                <a:solidFill>
                  <a:srgbClr val="0048AB"/>
                </a:solidFill>
                <a:latin typeface="Consolas"/>
                <a:ea typeface="Consolas"/>
                <a:cs typeface="Consolas"/>
                <a:sym typeface="Consolas"/>
              </a:rPr>
              <a:t>vector</a:t>
            </a:r>
            <a:r>
              <a:rPr lang="en-GB" sz="900">
                <a:solidFill>
                  <a:srgbClr val="00193A"/>
                </a:solidFill>
                <a:latin typeface="Consolas"/>
                <a:ea typeface="Consolas"/>
                <a:cs typeface="Consolas"/>
                <a:sym typeface="Consolas"/>
              </a:rPr>
              <a:t>&lt;</a:t>
            </a:r>
            <a:r>
              <a:rPr b="1" lang="en-GB" sz="900">
                <a:solidFill>
                  <a:srgbClr val="00193A"/>
                </a:solidFill>
                <a:latin typeface="Consolas"/>
                <a:ea typeface="Consolas"/>
                <a:cs typeface="Consolas"/>
                <a:sym typeface="Consolas"/>
              </a:rPr>
              <a:t>int</a:t>
            </a:r>
            <a:r>
              <a:rPr lang="en-GB" sz="900">
                <a:solidFill>
                  <a:srgbClr val="00193A"/>
                </a:solidFill>
                <a:latin typeface="Consolas"/>
                <a:ea typeface="Consolas"/>
                <a:cs typeface="Consolas"/>
                <a:sym typeface="Consolas"/>
              </a:rPr>
              <a:t>&gt; v1, v2;</a:t>
            </a:r>
            <a:br>
              <a:rPr lang="en-GB" sz="900">
                <a:solidFill>
                  <a:srgbClr val="00193A"/>
                </a:solidFill>
                <a:latin typeface="Consolas"/>
                <a:ea typeface="Consolas"/>
                <a:cs typeface="Consolas"/>
                <a:sym typeface="Consolas"/>
              </a:rPr>
            </a:br>
            <a:r>
              <a:rPr lang="en-GB" sz="900">
                <a:solidFill>
                  <a:srgbClr val="00193A"/>
                </a:solidFill>
                <a:latin typeface="Consolas"/>
                <a:ea typeface="Consolas"/>
                <a:cs typeface="Consolas"/>
                <a:sym typeface="Consolas"/>
              </a:rPr>
              <a:t>v1.push_back(1);</a:t>
            </a:r>
            <a:br>
              <a:rPr lang="en-GB" sz="900">
                <a:solidFill>
                  <a:srgbClr val="00193A"/>
                </a:solidFill>
                <a:latin typeface="Consolas"/>
                <a:ea typeface="Consolas"/>
                <a:cs typeface="Consolas"/>
                <a:sym typeface="Consolas"/>
              </a:rPr>
            </a:br>
            <a:r>
              <a:rPr lang="en-GB" sz="900">
                <a:solidFill>
                  <a:srgbClr val="00193A"/>
                </a:solidFill>
                <a:latin typeface="Consolas"/>
                <a:ea typeface="Consolas"/>
                <a:cs typeface="Consolas"/>
                <a:sym typeface="Consolas"/>
              </a:rPr>
              <a:t>v1.push_back(2);</a:t>
            </a:r>
            <a:br>
              <a:rPr lang="en-GB" sz="900">
                <a:solidFill>
                  <a:srgbClr val="00193A"/>
                </a:solidFill>
                <a:latin typeface="Consolas"/>
                <a:ea typeface="Consolas"/>
                <a:cs typeface="Consolas"/>
                <a:sym typeface="Consolas"/>
              </a:rPr>
            </a:br>
            <a:r>
              <a:rPr lang="en-GB" sz="900">
                <a:solidFill>
                  <a:srgbClr val="00193A"/>
                </a:solidFill>
                <a:latin typeface="Consolas"/>
                <a:ea typeface="Consolas"/>
                <a:cs typeface="Consolas"/>
                <a:sym typeface="Consolas"/>
              </a:rPr>
              <a:t>v2.push_back(3);</a:t>
            </a:r>
            <a:br>
              <a:rPr lang="en-GB" sz="900">
                <a:solidFill>
                  <a:srgbClr val="00193A"/>
                </a:solidFill>
                <a:latin typeface="Consolas"/>
                <a:ea typeface="Consolas"/>
                <a:cs typeface="Consolas"/>
                <a:sym typeface="Consolas"/>
              </a:rPr>
            </a:br>
            <a:r>
              <a:rPr lang="en-GB" sz="900">
                <a:solidFill>
                  <a:srgbClr val="00193A"/>
                </a:solidFill>
                <a:latin typeface="Consolas"/>
                <a:ea typeface="Consolas"/>
                <a:cs typeface="Consolas"/>
                <a:sym typeface="Consolas"/>
              </a:rPr>
              <a:t>v2.push_back(4);</a:t>
            </a:r>
            <a:br>
              <a:rPr lang="en-GB" sz="900">
                <a:solidFill>
                  <a:srgbClr val="00193A"/>
                </a:solidFill>
                <a:latin typeface="Consolas"/>
                <a:ea typeface="Consolas"/>
                <a:cs typeface="Consolas"/>
                <a:sym typeface="Consolas"/>
              </a:rPr>
            </a:br>
            <a:endParaRPr sz="900"/>
          </a:p>
        </p:txBody>
      </p:sp>
      <p:sp>
        <p:nvSpPr>
          <p:cNvPr id="142" name="Google Shape;142;p25"/>
          <p:cNvSpPr txBox="1"/>
          <p:nvPr/>
        </p:nvSpPr>
        <p:spPr>
          <a:xfrm>
            <a:off x="6452250" y="-42200"/>
            <a:ext cx="2455800" cy="3190800"/>
          </a:xfrm>
          <a:prstGeom prst="rect">
            <a:avLst/>
          </a:prstGeom>
          <a:solidFill>
            <a:srgbClr val="FFF2CC"/>
          </a:solidFill>
          <a:ln cap="flat" cmpd="sng" w="9525">
            <a:solidFill>
              <a:srgbClr val="000000"/>
            </a:solidFill>
            <a:prstDash val="dashDot"/>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br>
              <a:rPr lang="en-GB" sz="900">
                <a:solidFill>
                  <a:srgbClr val="00193A"/>
                </a:solidFill>
                <a:latin typeface="Consolas"/>
                <a:ea typeface="Consolas"/>
                <a:cs typeface="Consolas"/>
                <a:sym typeface="Consolas"/>
              </a:rPr>
            </a:br>
            <a:r>
              <a:rPr lang="en-GB" sz="900">
                <a:solidFill>
                  <a:srgbClr val="0048AB"/>
                </a:solidFill>
                <a:latin typeface="Consolas"/>
                <a:ea typeface="Consolas"/>
                <a:cs typeface="Consolas"/>
                <a:sym typeface="Consolas"/>
              </a:rPr>
              <a:t>cout</a:t>
            </a:r>
            <a:r>
              <a:rPr lang="en-GB" sz="900">
                <a:solidFill>
                  <a:srgbClr val="00193A"/>
                </a:solidFill>
                <a:latin typeface="Consolas"/>
                <a:ea typeface="Consolas"/>
                <a:cs typeface="Consolas"/>
                <a:sym typeface="Consolas"/>
              </a:rPr>
              <a:t> &lt;&lt; </a:t>
            </a:r>
            <a:r>
              <a:rPr lang="en-GB" sz="900">
                <a:solidFill>
                  <a:srgbClr val="0048AB"/>
                </a:solidFill>
                <a:latin typeface="Consolas"/>
                <a:ea typeface="Consolas"/>
                <a:cs typeface="Consolas"/>
                <a:sym typeface="Consolas"/>
              </a:rPr>
              <a:t>"\n\nVector 1: "</a:t>
            </a:r>
            <a:r>
              <a:rPr lang="en-GB" sz="900">
                <a:solidFill>
                  <a:srgbClr val="00193A"/>
                </a:solidFill>
                <a:latin typeface="Consolas"/>
                <a:ea typeface="Consolas"/>
                <a:cs typeface="Consolas"/>
                <a:sym typeface="Consolas"/>
              </a:rPr>
              <a:t>;</a:t>
            </a:r>
            <a:br>
              <a:rPr lang="en-GB" sz="900">
                <a:solidFill>
                  <a:srgbClr val="00193A"/>
                </a:solidFill>
                <a:latin typeface="Consolas"/>
                <a:ea typeface="Consolas"/>
                <a:cs typeface="Consolas"/>
                <a:sym typeface="Consolas"/>
              </a:rPr>
            </a:br>
            <a:r>
              <a:rPr b="1" lang="en-GB" sz="900">
                <a:solidFill>
                  <a:srgbClr val="00193A"/>
                </a:solidFill>
                <a:latin typeface="Consolas"/>
                <a:ea typeface="Consolas"/>
                <a:cs typeface="Consolas"/>
                <a:sym typeface="Consolas"/>
              </a:rPr>
              <a:t>for</a:t>
            </a:r>
            <a:r>
              <a:rPr lang="en-GB" sz="900">
                <a:solidFill>
                  <a:srgbClr val="00193A"/>
                </a:solidFill>
                <a:latin typeface="Consolas"/>
                <a:ea typeface="Consolas"/>
                <a:cs typeface="Consolas"/>
                <a:sym typeface="Consolas"/>
              </a:rPr>
              <a:t> (</a:t>
            </a:r>
            <a:r>
              <a:rPr b="1" lang="en-GB" sz="900">
                <a:solidFill>
                  <a:srgbClr val="00193A"/>
                </a:solidFill>
                <a:latin typeface="Consolas"/>
                <a:ea typeface="Consolas"/>
                <a:cs typeface="Consolas"/>
                <a:sym typeface="Consolas"/>
              </a:rPr>
              <a:t>int</a:t>
            </a:r>
            <a:r>
              <a:rPr lang="en-GB" sz="900">
                <a:solidFill>
                  <a:srgbClr val="00193A"/>
                </a:solidFill>
                <a:latin typeface="Consolas"/>
                <a:ea typeface="Consolas"/>
                <a:cs typeface="Consolas"/>
                <a:sym typeface="Consolas"/>
              </a:rPr>
              <a:t> i = 0; i &lt; v1.size(); i++)</a:t>
            </a:r>
            <a:br>
              <a:rPr lang="en-GB" sz="900">
                <a:solidFill>
                  <a:srgbClr val="00193A"/>
                </a:solidFill>
                <a:latin typeface="Consolas"/>
                <a:ea typeface="Consolas"/>
                <a:cs typeface="Consolas"/>
                <a:sym typeface="Consolas"/>
              </a:rPr>
            </a:br>
            <a:r>
              <a:rPr lang="en-GB" sz="900">
                <a:solidFill>
                  <a:srgbClr val="0048AB"/>
                </a:solidFill>
                <a:latin typeface="Consolas"/>
                <a:ea typeface="Consolas"/>
                <a:cs typeface="Consolas"/>
                <a:sym typeface="Consolas"/>
              </a:rPr>
              <a:t>cout</a:t>
            </a:r>
            <a:r>
              <a:rPr lang="en-GB" sz="900">
                <a:solidFill>
                  <a:srgbClr val="00193A"/>
                </a:solidFill>
                <a:latin typeface="Consolas"/>
                <a:ea typeface="Consolas"/>
                <a:cs typeface="Consolas"/>
                <a:sym typeface="Consolas"/>
              </a:rPr>
              <a:t> &lt;&lt; v1[i] &lt;&lt; </a:t>
            </a:r>
            <a:r>
              <a:rPr lang="en-GB" sz="900">
                <a:solidFill>
                  <a:srgbClr val="0048AB"/>
                </a:solidFill>
                <a:latin typeface="Consolas"/>
                <a:ea typeface="Consolas"/>
                <a:cs typeface="Consolas"/>
                <a:sym typeface="Consolas"/>
              </a:rPr>
              <a:t>" "</a:t>
            </a:r>
            <a:r>
              <a:rPr lang="en-GB" sz="900">
                <a:solidFill>
                  <a:srgbClr val="00193A"/>
                </a:solidFill>
                <a:latin typeface="Consolas"/>
                <a:ea typeface="Consolas"/>
                <a:cs typeface="Consolas"/>
                <a:sym typeface="Consolas"/>
              </a:rPr>
              <a:t>;</a:t>
            </a:r>
            <a:br>
              <a:rPr lang="en-GB" sz="900">
                <a:solidFill>
                  <a:srgbClr val="00193A"/>
                </a:solidFill>
                <a:latin typeface="Consolas"/>
                <a:ea typeface="Consolas"/>
                <a:cs typeface="Consolas"/>
                <a:sym typeface="Consolas"/>
              </a:rPr>
            </a:br>
            <a:r>
              <a:rPr lang="en-GB" sz="900">
                <a:solidFill>
                  <a:srgbClr val="0048AB"/>
                </a:solidFill>
                <a:latin typeface="Consolas"/>
                <a:ea typeface="Consolas"/>
                <a:cs typeface="Consolas"/>
                <a:sym typeface="Consolas"/>
              </a:rPr>
              <a:t>cout</a:t>
            </a:r>
            <a:r>
              <a:rPr lang="en-GB" sz="900">
                <a:solidFill>
                  <a:srgbClr val="00193A"/>
                </a:solidFill>
                <a:latin typeface="Consolas"/>
                <a:ea typeface="Consolas"/>
                <a:cs typeface="Consolas"/>
                <a:sym typeface="Consolas"/>
              </a:rPr>
              <a:t> &lt;&lt; </a:t>
            </a:r>
            <a:r>
              <a:rPr lang="en-GB" sz="900">
                <a:solidFill>
                  <a:srgbClr val="0048AB"/>
                </a:solidFill>
                <a:latin typeface="Consolas"/>
                <a:ea typeface="Consolas"/>
                <a:cs typeface="Consolas"/>
                <a:sym typeface="Consolas"/>
              </a:rPr>
              <a:t>"\nVector 2: "</a:t>
            </a:r>
            <a:r>
              <a:rPr lang="en-GB" sz="900">
                <a:solidFill>
                  <a:srgbClr val="00193A"/>
                </a:solidFill>
                <a:latin typeface="Consolas"/>
                <a:ea typeface="Consolas"/>
                <a:cs typeface="Consolas"/>
                <a:sym typeface="Consolas"/>
              </a:rPr>
              <a:t>;</a:t>
            </a:r>
            <a:br>
              <a:rPr lang="en-GB" sz="900">
                <a:solidFill>
                  <a:srgbClr val="00193A"/>
                </a:solidFill>
                <a:latin typeface="Consolas"/>
                <a:ea typeface="Consolas"/>
                <a:cs typeface="Consolas"/>
                <a:sym typeface="Consolas"/>
              </a:rPr>
            </a:br>
            <a:r>
              <a:rPr b="1" lang="en-GB" sz="900">
                <a:solidFill>
                  <a:srgbClr val="00193A"/>
                </a:solidFill>
                <a:latin typeface="Consolas"/>
                <a:ea typeface="Consolas"/>
                <a:cs typeface="Consolas"/>
                <a:sym typeface="Consolas"/>
              </a:rPr>
              <a:t>for</a:t>
            </a:r>
            <a:r>
              <a:rPr lang="en-GB" sz="900">
                <a:solidFill>
                  <a:srgbClr val="00193A"/>
                </a:solidFill>
                <a:latin typeface="Consolas"/>
                <a:ea typeface="Consolas"/>
                <a:cs typeface="Consolas"/>
                <a:sym typeface="Consolas"/>
              </a:rPr>
              <a:t> (</a:t>
            </a:r>
            <a:r>
              <a:rPr b="1" lang="en-GB" sz="900">
                <a:solidFill>
                  <a:srgbClr val="00193A"/>
                </a:solidFill>
                <a:latin typeface="Consolas"/>
                <a:ea typeface="Consolas"/>
                <a:cs typeface="Consolas"/>
                <a:sym typeface="Consolas"/>
              </a:rPr>
              <a:t>int</a:t>
            </a:r>
            <a:r>
              <a:rPr lang="en-GB" sz="900">
                <a:solidFill>
                  <a:srgbClr val="00193A"/>
                </a:solidFill>
                <a:latin typeface="Consolas"/>
                <a:ea typeface="Consolas"/>
                <a:cs typeface="Consolas"/>
                <a:sym typeface="Consolas"/>
              </a:rPr>
              <a:t> i = 0; i &lt; v2.size(); i++)</a:t>
            </a:r>
            <a:br>
              <a:rPr lang="en-GB" sz="900">
                <a:solidFill>
                  <a:srgbClr val="00193A"/>
                </a:solidFill>
                <a:latin typeface="Consolas"/>
                <a:ea typeface="Consolas"/>
                <a:cs typeface="Consolas"/>
                <a:sym typeface="Consolas"/>
              </a:rPr>
            </a:br>
            <a:r>
              <a:rPr lang="en-GB" sz="900">
                <a:solidFill>
                  <a:srgbClr val="00193A"/>
                </a:solidFill>
                <a:latin typeface="Consolas"/>
                <a:ea typeface="Consolas"/>
                <a:cs typeface="Consolas"/>
                <a:sym typeface="Consolas"/>
              </a:rPr>
              <a:t>    </a:t>
            </a:r>
            <a:r>
              <a:rPr lang="en-GB" sz="900">
                <a:solidFill>
                  <a:srgbClr val="0048AB"/>
                </a:solidFill>
                <a:latin typeface="Consolas"/>
                <a:ea typeface="Consolas"/>
                <a:cs typeface="Consolas"/>
                <a:sym typeface="Consolas"/>
              </a:rPr>
              <a:t>cout</a:t>
            </a:r>
            <a:r>
              <a:rPr lang="en-GB" sz="900">
                <a:solidFill>
                  <a:srgbClr val="00193A"/>
                </a:solidFill>
                <a:latin typeface="Consolas"/>
                <a:ea typeface="Consolas"/>
                <a:cs typeface="Consolas"/>
                <a:sym typeface="Consolas"/>
              </a:rPr>
              <a:t> &lt;&lt; v2[i] &lt;&lt; </a:t>
            </a:r>
            <a:r>
              <a:rPr lang="en-GB" sz="900">
                <a:solidFill>
                  <a:srgbClr val="0048AB"/>
                </a:solidFill>
                <a:latin typeface="Consolas"/>
                <a:ea typeface="Consolas"/>
                <a:cs typeface="Consolas"/>
                <a:sym typeface="Consolas"/>
              </a:rPr>
              <a:t>" "</a:t>
            </a:r>
            <a:r>
              <a:rPr lang="en-GB" sz="900">
                <a:solidFill>
                  <a:srgbClr val="00193A"/>
                </a:solidFill>
                <a:latin typeface="Consolas"/>
                <a:ea typeface="Consolas"/>
                <a:cs typeface="Consolas"/>
                <a:sym typeface="Consolas"/>
              </a:rPr>
              <a:t>;</a:t>
            </a:r>
            <a:br>
              <a:rPr lang="en-GB" sz="900">
                <a:solidFill>
                  <a:srgbClr val="00193A"/>
                </a:solidFill>
                <a:latin typeface="Consolas"/>
                <a:ea typeface="Consolas"/>
                <a:cs typeface="Consolas"/>
                <a:sym typeface="Consolas"/>
              </a:rPr>
            </a:br>
            <a:br>
              <a:rPr lang="en-GB" sz="900">
                <a:solidFill>
                  <a:srgbClr val="00193A"/>
                </a:solidFill>
                <a:latin typeface="Consolas"/>
                <a:ea typeface="Consolas"/>
                <a:cs typeface="Consolas"/>
                <a:sym typeface="Consolas"/>
              </a:rPr>
            </a:br>
            <a:r>
              <a:rPr lang="en-GB" sz="900">
                <a:solidFill>
                  <a:srgbClr val="738191"/>
                </a:solidFill>
                <a:latin typeface="Consolas"/>
                <a:ea typeface="Consolas"/>
                <a:cs typeface="Consolas"/>
                <a:sym typeface="Consolas"/>
              </a:rPr>
              <a:t>// Swaps v1 and v2</a:t>
            </a:r>
            <a:br>
              <a:rPr lang="en-GB" sz="900">
                <a:solidFill>
                  <a:srgbClr val="00193A"/>
                </a:solidFill>
                <a:latin typeface="Consolas"/>
                <a:ea typeface="Consolas"/>
                <a:cs typeface="Consolas"/>
                <a:sym typeface="Consolas"/>
              </a:rPr>
            </a:br>
            <a:r>
              <a:rPr lang="en-GB" sz="900">
                <a:solidFill>
                  <a:srgbClr val="00193A"/>
                </a:solidFill>
                <a:latin typeface="Consolas"/>
                <a:ea typeface="Consolas"/>
                <a:cs typeface="Consolas"/>
                <a:sym typeface="Consolas"/>
              </a:rPr>
              <a:t>v1.swap(v2);</a:t>
            </a:r>
            <a:br>
              <a:rPr lang="en-GB" sz="900">
                <a:solidFill>
                  <a:srgbClr val="00193A"/>
                </a:solidFill>
                <a:latin typeface="Consolas"/>
                <a:ea typeface="Consolas"/>
                <a:cs typeface="Consolas"/>
                <a:sym typeface="Consolas"/>
              </a:rPr>
            </a:br>
            <a:br>
              <a:rPr lang="en-GB" sz="900">
                <a:solidFill>
                  <a:srgbClr val="00193A"/>
                </a:solidFill>
                <a:latin typeface="Consolas"/>
                <a:ea typeface="Consolas"/>
                <a:cs typeface="Consolas"/>
                <a:sym typeface="Consolas"/>
              </a:rPr>
            </a:br>
            <a:r>
              <a:rPr lang="en-GB" sz="900">
                <a:solidFill>
                  <a:srgbClr val="0048AB"/>
                </a:solidFill>
                <a:latin typeface="Consolas"/>
                <a:ea typeface="Consolas"/>
                <a:cs typeface="Consolas"/>
                <a:sym typeface="Consolas"/>
              </a:rPr>
              <a:t>cout</a:t>
            </a:r>
            <a:r>
              <a:rPr lang="en-GB" sz="900">
                <a:solidFill>
                  <a:srgbClr val="00193A"/>
                </a:solidFill>
                <a:latin typeface="Consolas"/>
                <a:ea typeface="Consolas"/>
                <a:cs typeface="Consolas"/>
                <a:sym typeface="Consolas"/>
              </a:rPr>
              <a:t> &lt;&lt; </a:t>
            </a:r>
            <a:r>
              <a:rPr lang="en-GB" sz="900">
                <a:solidFill>
                  <a:srgbClr val="0048AB"/>
                </a:solidFill>
                <a:latin typeface="Consolas"/>
                <a:ea typeface="Consolas"/>
                <a:cs typeface="Consolas"/>
                <a:sym typeface="Consolas"/>
              </a:rPr>
              <a:t>"\nAfter Swap \nVector 1: "</a:t>
            </a:r>
            <a:r>
              <a:rPr lang="en-GB" sz="900">
                <a:solidFill>
                  <a:srgbClr val="00193A"/>
                </a:solidFill>
                <a:latin typeface="Consolas"/>
                <a:ea typeface="Consolas"/>
                <a:cs typeface="Consolas"/>
                <a:sym typeface="Consolas"/>
              </a:rPr>
              <a:t>;</a:t>
            </a:r>
            <a:br>
              <a:rPr lang="en-GB" sz="900">
                <a:solidFill>
                  <a:srgbClr val="00193A"/>
                </a:solidFill>
                <a:latin typeface="Consolas"/>
                <a:ea typeface="Consolas"/>
                <a:cs typeface="Consolas"/>
                <a:sym typeface="Consolas"/>
              </a:rPr>
            </a:br>
            <a:r>
              <a:rPr b="1" lang="en-GB" sz="900">
                <a:solidFill>
                  <a:srgbClr val="00193A"/>
                </a:solidFill>
                <a:latin typeface="Consolas"/>
                <a:ea typeface="Consolas"/>
                <a:cs typeface="Consolas"/>
                <a:sym typeface="Consolas"/>
              </a:rPr>
              <a:t>for</a:t>
            </a:r>
            <a:r>
              <a:rPr lang="en-GB" sz="900">
                <a:solidFill>
                  <a:srgbClr val="00193A"/>
                </a:solidFill>
                <a:latin typeface="Consolas"/>
                <a:ea typeface="Consolas"/>
                <a:cs typeface="Consolas"/>
                <a:sym typeface="Consolas"/>
              </a:rPr>
              <a:t> (</a:t>
            </a:r>
            <a:r>
              <a:rPr b="1" lang="en-GB" sz="900">
                <a:solidFill>
                  <a:srgbClr val="00193A"/>
                </a:solidFill>
                <a:latin typeface="Consolas"/>
                <a:ea typeface="Consolas"/>
                <a:cs typeface="Consolas"/>
                <a:sym typeface="Consolas"/>
              </a:rPr>
              <a:t>int</a:t>
            </a:r>
            <a:r>
              <a:rPr lang="en-GB" sz="900">
                <a:solidFill>
                  <a:srgbClr val="00193A"/>
                </a:solidFill>
                <a:latin typeface="Consolas"/>
                <a:ea typeface="Consolas"/>
                <a:cs typeface="Consolas"/>
                <a:sym typeface="Consolas"/>
              </a:rPr>
              <a:t> i = 0; i &lt; v1.size(); i++)</a:t>
            </a:r>
            <a:br>
              <a:rPr lang="en-GB" sz="900">
                <a:solidFill>
                  <a:srgbClr val="00193A"/>
                </a:solidFill>
                <a:latin typeface="Consolas"/>
                <a:ea typeface="Consolas"/>
                <a:cs typeface="Consolas"/>
                <a:sym typeface="Consolas"/>
              </a:rPr>
            </a:br>
            <a:r>
              <a:rPr lang="en-GB" sz="900">
                <a:solidFill>
                  <a:srgbClr val="0048AB"/>
                </a:solidFill>
                <a:latin typeface="Consolas"/>
                <a:ea typeface="Consolas"/>
                <a:cs typeface="Consolas"/>
                <a:sym typeface="Consolas"/>
              </a:rPr>
              <a:t>cout</a:t>
            </a:r>
            <a:r>
              <a:rPr lang="en-GB" sz="900">
                <a:solidFill>
                  <a:srgbClr val="00193A"/>
                </a:solidFill>
                <a:latin typeface="Consolas"/>
                <a:ea typeface="Consolas"/>
                <a:cs typeface="Consolas"/>
                <a:sym typeface="Consolas"/>
              </a:rPr>
              <a:t> &lt;&lt; v1[i] &lt;&lt; </a:t>
            </a:r>
            <a:r>
              <a:rPr lang="en-GB" sz="900">
                <a:solidFill>
                  <a:srgbClr val="0048AB"/>
                </a:solidFill>
                <a:latin typeface="Consolas"/>
                <a:ea typeface="Consolas"/>
                <a:cs typeface="Consolas"/>
                <a:sym typeface="Consolas"/>
              </a:rPr>
              <a:t>" "</a:t>
            </a:r>
            <a:r>
              <a:rPr lang="en-GB" sz="900">
                <a:solidFill>
                  <a:srgbClr val="00193A"/>
                </a:solidFill>
                <a:latin typeface="Consolas"/>
                <a:ea typeface="Consolas"/>
                <a:cs typeface="Consolas"/>
                <a:sym typeface="Consolas"/>
              </a:rPr>
              <a:t>;</a:t>
            </a:r>
            <a:br>
              <a:rPr lang="en-GB" sz="900">
                <a:solidFill>
                  <a:srgbClr val="00193A"/>
                </a:solidFill>
                <a:latin typeface="Consolas"/>
                <a:ea typeface="Consolas"/>
                <a:cs typeface="Consolas"/>
                <a:sym typeface="Consolas"/>
              </a:rPr>
            </a:br>
            <a:br>
              <a:rPr lang="en-GB" sz="900">
                <a:solidFill>
                  <a:srgbClr val="00193A"/>
                </a:solidFill>
                <a:latin typeface="Consolas"/>
                <a:ea typeface="Consolas"/>
                <a:cs typeface="Consolas"/>
                <a:sym typeface="Consolas"/>
              </a:rPr>
            </a:br>
            <a:r>
              <a:rPr lang="en-GB" sz="900">
                <a:solidFill>
                  <a:srgbClr val="0048AB"/>
                </a:solidFill>
                <a:latin typeface="Consolas"/>
                <a:ea typeface="Consolas"/>
                <a:cs typeface="Consolas"/>
                <a:sym typeface="Consolas"/>
              </a:rPr>
              <a:t>cout</a:t>
            </a:r>
            <a:r>
              <a:rPr lang="en-GB" sz="900">
                <a:solidFill>
                  <a:srgbClr val="00193A"/>
                </a:solidFill>
                <a:latin typeface="Consolas"/>
                <a:ea typeface="Consolas"/>
                <a:cs typeface="Consolas"/>
                <a:sym typeface="Consolas"/>
              </a:rPr>
              <a:t> &lt;&lt; </a:t>
            </a:r>
            <a:r>
              <a:rPr lang="en-GB" sz="900">
                <a:solidFill>
                  <a:srgbClr val="0048AB"/>
                </a:solidFill>
                <a:latin typeface="Consolas"/>
                <a:ea typeface="Consolas"/>
                <a:cs typeface="Consolas"/>
                <a:sym typeface="Consolas"/>
              </a:rPr>
              <a:t>"\nVector 2: "</a:t>
            </a:r>
            <a:r>
              <a:rPr lang="en-GB" sz="900">
                <a:solidFill>
                  <a:srgbClr val="00193A"/>
                </a:solidFill>
                <a:latin typeface="Consolas"/>
                <a:ea typeface="Consolas"/>
                <a:cs typeface="Consolas"/>
                <a:sym typeface="Consolas"/>
              </a:rPr>
              <a:t>;</a:t>
            </a:r>
            <a:br>
              <a:rPr lang="en-GB" sz="900">
                <a:solidFill>
                  <a:srgbClr val="00193A"/>
                </a:solidFill>
                <a:latin typeface="Consolas"/>
                <a:ea typeface="Consolas"/>
                <a:cs typeface="Consolas"/>
                <a:sym typeface="Consolas"/>
              </a:rPr>
            </a:br>
            <a:r>
              <a:rPr b="1" lang="en-GB" sz="900">
                <a:solidFill>
                  <a:srgbClr val="00193A"/>
                </a:solidFill>
                <a:latin typeface="Consolas"/>
                <a:ea typeface="Consolas"/>
                <a:cs typeface="Consolas"/>
                <a:sym typeface="Consolas"/>
              </a:rPr>
              <a:t>for</a:t>
            </a:r>
            <a:r>
              <a:rPr lang="en-GB" sz="900">
                <a:solidFill>
                  <a:srgbClr val="00193A"/>
                </a:solidFill>
                <a:latin typeface="Consolas"/>
                <a:ea typeface="Consolas"/>
                <a:cs typeface="Consolas"/>
                <a:sym typeface="Consolas"/>
              </a:rPr>
              <a:t> (</a:t>
            </a:r>
            <a:r>
              <a:rPr b="1" lang="en-GB" sz="900">
                <a:solidFill>
                  <a:srgbClr val="00193A"/>
                </a:solidFill>
                <a:latin typeface="Consolas"/>
                <a:ea typeface="Consolas"/>
                <a:cs typeface="Consolas"/>
                <a:sym typeface="Consolas"/>
              </a:rPr>
              <a:t>int</a:t>
            </a:r>
            <a:r>
              <a:rPr lang="en-GB" sz="900">
                <a:solidFill>
                  <a:srgbClr val="00193A"/>
                </a:solidFill>
                <a:latin typeface="Consolas"/>
                <a:ea typeface="Consolas"/>
                <a:cs typeface="Consolas"/>
                <a:sym typeface="Consolas"/>
              </a:rPr>
              <a:t> i = 0; i &lt; v2.size(); i++)</a:t>
            </a:r>
            <a:br>
              <a:rPr lang="en-GB" sz="900">
                <a:solidFill>
                  <a:srgbClr val="00193A"/>
                </a:solidFill>
                <a:latin typeface="Consolas"/>
                <a:ea typeface="Consolas"/>
                <a:cs typeface="Consolas"/>
                <a:sym typeface="Consolas"/>
              </a:rPr>
            </a:br>
            <a:r>
              <a:rPr lang="en-GB" sz="900">
                <a:solidFill>
                  <a:srgbClr val="00193A"/>
                </a:solidFill>
                <a:latin typeface="Consolas"/>
                <a:ea typeface="Consolas"/>
                <a:cs typeface="Consolas"/>
                <a:sym typeface="Consolas"/>
              </a:rPr>
              <a:t>	</a:t>
            </a:r>
            <a:r>
              <a:rPr lang="en-GB" sz="900">
                <a:solidFill>
                  <a:srgbClr val="0048AB"/>
                </a:solidFill>
                <a:latin typeface="Consolas"/>
                <a:ea typeface="Consolas"/>
                <a:cs typeface="Consolas"/>
                <a:sym typeface="Consolas"/>
              </a:rPr>
              <a:t>cout</a:t>
            </a:r>
            <a:r>
              <a:rPr lang="en-GB" sz="900">
                <a:solidFill>
                  <a:srgbClr val="00193A"/>
                </a:solidFill>
                <a:latin typeface="Consolas"/>
                <a:ea typeface="Consolas"/>
                <a:cs typeface="Consolas"/>
                <a:sym typeface="Consolas"/>
              </a:rPr>
              <a:t> &lt;&lt; v2[i] &lt;&lt; </a:t>
            </a:r>
            <a:r>
              <a:rPr lang="en-GB" sz="900">
                <a:solidFill>
                  <a:srgbClr val="0048AB"/>
                </a:solidFill>
                <a:latin typeface="Consolas"/>
                <a:ea typeface="Consolas"/>
                <a:cs typeface="Consolas"/>
                <a:sym typeface="Consolas"/>
              </a:rPr>
              <a:t>" "</a:t>
            </a:r>
            <a:r>
              <a:rPr lang="en-GB" sz="900">
                <a:solidFill>
                  <a:srgbClr val="00193A"/>
                </a:solidFill>
                <a:latin typeface="Consolas"/>
                <a:ea typeface="Consolas"/>
                <a:cs typeface="Consolas"/>
                <a:sym typeface="Consolas"/>
              </a:rPr>
              <a:t>;</a:t>
            </a:r>
            <a:br>
              <a:rPr lang="en-GB" sz="900">
                <a:solidFill>
                  <a:srgbClr val="00193A"/>
                </a:solidFill>
                <a:latin typeface="Consolas"/>
                <a:ea typeface="Consolas"/>
                <a:cs typeface="Consolas"/>
                <a:sym typeface="Consolas"/>
              </a:rPr>
            </a:br>
            <a:r>
              <a:rPr lang="en-GB" sz="900">
                <a:solidFill>
                  <a:srgbClr val="00193A"/>
                </a:solidFill>
                <a:latin typeface="Consolas"/>
                <a:ea typeface="Consolas"/>
                <a:cs typeface="Consolas"/>
                <a:sym typeface="Consolas"/>
              </a:rPr>
              <a:t>}</a:t>
            </a:r>
            <a:endParaRPr sz="9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6"/>
          <p:cNvSpPr txBox="1"/>
          <p:nvPr>
            <p:ph type="title"/>
          </p:nvPr>
        </p:nvSpPr>
        <p:spPr>
          <a:xfrm>
            <a:off x="213200" y="-422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Output</a:t>
            </a:r>
            <a:endParaRPr/>
          </a:p>
        </p:txBody>
      </p:sp>
      <p:sp>
        <p:nvSpPr>
          <p:cNvPr id="148" name="Google Shape;148;p26"/>
          <p:cNvSpPr txBox="1"/>
          <p:nvPr>
            <p:ph idx="1" type="body"/>
          </p:nvPr>
        </p:nvSpPr>
        <p:spPr>
          <a:xfrm>
            <a:off x="213200" y="624750"/>
            <a:ext cx="4198500" cy="34164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GB" sz="1200">
                <a:solidFill>
                  <a:srgbClr val="00193A"/>
                </a:solidFill>
                <a:latin typeface="Consolas"/>
                <a:ea typeface="Consolas"/>
                <a:cs typeface="Consolas"/>
                <a:sym typeface="Consolas"/>
              </a:rPr>
              <a:t>The </a:t>
            </a:r>
            <a:r>
              <a:rPr lang="en-GB" sz="1200">
                <a:solidFill>
                  <a:srgbClr val="0048AB"/>
                </a:solidFill>
                <a:latin typeface="Consolas"/>
                <a:ea typeface="Consolas"/>
                <a:cs typeface="Consolas"/>
                <a:sym typeface="Consolas"/>
              </a:rPr>
              <a:t>vector</a:t>
            </a:r>
            <a:r>
              <a:rPr lang="en-GB" sz="1200">
                <a:solidFill>
                  <a:srgbClr val="00193A"/>
                </a:solidFill>
                <a:latin typeface="Consolas"/>
                <a:ea typeface="Consolas"/>
                <a:cs typeface="Consolas"/>
                <a:sym typeface="Consolas"/>
              </a:rPr>
              <a:t> elements are: 10 10 10 10 10 </a:t>
            </a:r>
            <a:br>
              <a:rPr lang="en-GB" sz="1200">
                <a:solidFill>
                  <a:srgbClr val="00193A"/>
                </a:solidFill>
                <a:latin typeface="Consolas"/>
                <a:ea typeface="Consolas"/>
                <a:cs typeface="Consolas"/>
                <a:sym typeface="Consolas"/>
              </a:rPr>
            </a:br>
            <a:r>
              <a:rPr lang="en-GB" sz="1200">
                <a:solidFill>
                  <a:srgbClr val="00193A"/>
                </a:solidFill>
                <a:latin typeface="Consolas"/>
                <a:ea typeface="Consolas"/>
                <a:cs typeface="Consolas"/>
                <a:sym typeface="Consolas"/>
              </a:rPr>
              <a:t>The last element is: 15</a:t>
            </a:r>
            <a:br>
              <a:rPr lang="en-GB" sz="1200">
                <a:solidFill>
                  <a:srgbClr val="00193A"/>
                </a:solidFill>
                <a:latin typeface="Consolas"/>
                <a:ea typeface="Consolas"/>
                <a:cs typeface="Consolas"/>
                <a:sym typeface="Consolas"/>
              </a:rPr>
            </a:br>
            <a:r>
              <a:rPr lang="en-GB" sz="1200">
                <a:solidFill>
                  <a:srgbClr val="00193A"/>
                </a:solidFill>
                <a:latin typeface="Consolas"/>
                <a:ea typeface="Consolas"/>
                <a:cs typeface="Consolas"/>
                <a:sym typeface="Consolas"/>
              </a:rPr>
              <a:t>The </a:t>
            </a:r>
            <a:r>
              <a:rPr lang="en-GB" sz="1200">
                <a:solidFill>
                  <a:srgbClr val="0048AB"/>
                </a:solidFill>
                <a:latin typeface="Consolas"/>
                <a:ea typeface="Consolas"/>
                <a:cs typeface="Consolas"/>
                <a:sym typeface="Consolas"/>
              </a:rPr>
              <a:t>vector</a:t>
            </a:r>
            <a:r>
              <a:rPr lang="en-GB" sz="1200">
                <a:solidFill>
                  <a:srgbClr val="00193A"/>
                </a:solidFill>
                <a:latin typeface="Consolas"/>
                <a:ea typeface="Consolas"/>
                <a:cs typeface="Consolas"/>
                <a:sym typeface="Consolas"/>
              </a:rPr>
              <a:t> elements are: 10 10 10 10 10 </a:t>
            </a:r>
            <a:br>
              <a:rPr lang="en-GB" sz="1200">
                <a:solidFill>
                  <a:srgbClr val="00193A"/>
                </a:solidFill>
                <a:latin typeface="Consolas"/>
                <a:ea typeface="Consolas"/>
                <a:cs typeface="Consolas"/>
                <a:sym typeface="Consolas"/>
              </a:rPr>
            </a:br>
            <a:r>
              <a:rPr lang="en-GB" sz="1200">
                <a:solidFill>
                  <a:srgbClr val="00193A"/>
                </a:solidFill>
                <a:latin typeface="Consolas"/>
                <a:ea typeface="Consolas"/>
                <a:cs typeface="Consolas"/>
                <a:sym typeface="Consolas"/>
              </a:rPr>
              <a:t>The first element is: 5</a:t>
            </a:r>
            <a:br>
              <a:rPr lang="en-GB" sz="1200">
                <a:solidFill>
                  <a:srgbClr val="00193A"/>
                </a:solidFill>
                <a:latin typeface="Consolas"/>
                <a:ea typeface="Consolas"/>
                <a:cs typeface="Consolas"/>
                <a:sym typeface="Consolas"/>
              </a:rPr>
            </a:br>
            <a:r>
              <a:rPr lang="en-GB" sz="1200">
                <a:solidFill>
                  <a:srgbClr val="00193A"/>
                </a:solidFill>
                <a:latin typeface="Consolas"/>
                <a:ea typeface="Consolas"/>
                <a:cs typeface="Consolas"/>
                <a:sym typeface="Consolas"/>
              </a:rPr>
              <a:t>The first element is: 10</a:t>
            </a:r>
            <a:br>
              <a:rPr lang="en-GB" sz="1200">
                <a:solidFill>
                  <a:srgbClr val="00193A"/>
                </a:solidFill>
                <a:latin typeface="Consolas"/>
                <a:ea typeface="Consolas"/>
                <a:cs typeface="Consolas"/>
                <a:sym typeface="Consolas"/>
              </a:rPr>
            </a:br>
            <a:r>
              <a:rPr lang="en-GB" sz="1200">
                <a:solidFill>
                  <a:srgbClr val="00193A"/>
                </a:solidFill>
                <a:latin typeface="Consolas"/>
                <a:ea typeface="Consolas"/>
                <a:cs typeface="Consolas"/>
                <a:sym typeface="Consolas"/>
              </a:rPr>
              <a:t>The first element is: 5</a:t>
            </a:r>
            <a:br>
              <a:rPr lang="en-GB" sz="1200">
                <a:solidFill>
                  <a:srgbClr val="00193A"/>
                </a:solidFill>
                <a:latin typeface="Consolas"/>
                <a:ea typeface="Consolas"/>
                <a:cs typeface="Consolas"/>
                <a:sym typeface="Consolas"/>
              </a:rPr>
            </a:br>
            <a:r>
              <a:rPr lang="en-GB" sz="1200">
                <a:solidFill>
                  <a:srgbClr val="00193A"/>
                </a:solidFill>
                <a:latin typeface="Consolas"/>
                <a:ea typeface="Consolas"/>
                <a:cs typeface="Consolas"/>
                <a:sym typeface="Consolas"/>
              </a:rPr>
              <a:t>The last element is: 20</a:t>
            </a:r>
            <a:br>
              <a:rPr lang="en-GB" sz="1200">
                <a:solidFill>
                  <a:srgbClr val="00193A"/>
                </a:solidFill>
                <a:latin typeface="Consolas"/>
                <a:ea typeface="Consolas"/>
                <a:cs typeface="Consolas"/>
                <a:sym typeface="Consolas"/>
              </a:rPr>
            </a:br>
            <a:r>
              <a:rPr lang="en-GB" sz="1200">
                <a:solidFill>
                  <a:srgbClr val="00193A"/>
                </a:solidFill>
                <a:latin typeface="Consolas"/>
                <a:ea typeface="Consolas"/>
                <a:cs typeface="Consolas"/>
                <a:sym typeface="Consolas"/>
              </a:rPr>
              <a:t>Vector size after </a:t>
            </a:r>
            <a:r>
              <a:rPr b="1" lang="en-GB" sz="1200">
                <a:solidFill>
                  <a:srgbClr val="0048AB"/>
                </a:solidFill>
                <a:latin typeface="Consolas"/>
                <a:ea typeface="Consolas"/>
                <a:cs typeface="Consolas"/>
                <a:sym typeface="Consolas"/>
              </a:rPr>
              <a:t>erase</a:t>
            </a:r>
            <a:r>
              <a:rPr lang="en-GB" sz="1200">
                <a:solidFill>
                  <a:srgbClr val="00193A"/>
                </a:solidFill>
                <a:latin typeface="Consolas"/>
                <a:ea typeface="Consolas"/>
                <a:cs typeface="Consolas"/>
                <a:sym typeface="Consolas"/>
              </a:rPr>
              <a:t>(): 0</a:t>
            </a:r>
            <a:br>
              <a:rPr lang="en-GB" sz="1200">
                <a:solidFill>
                  <a:srgbClr val="00193A"/>
                </a:solidFill>
                <a:latin typeface="Consolas"/>
                <a:ea typeface="Consolas"/>
                <a:cs typeface="Consolas"/>
                <a:sym typeface="Consolas"/>
              </a:rPr>
            </a:br>
            <a:r>
              <a:rPr lang="en-GB" sz="1200">
                <a:solidFill>
                  <a:srgbClr val="00193A"/>
                </a:solidFill>
                <a:latin typeface="Consolas"/>
                <a:ea typeface="Consolas"/>
                <a:cs typeface="Consolas"/>
                <a:sym typeface="Consolas"/>
              </a:rPr>
              <a:t>Vector 1: 1 2 </a:t>
            </a:r>
            <a:br>
              <a:rPr lang="en-GB" sz="1200">
                <a:solidFill>
                  <a:srgbClr val="00193A"/>
                </a:solidFill>
                <a:latin typeface="Consolas"/>
                <a:ea typeface="Consolas"/>
                <a:cs typeface="Consolas"/>
                <a:sym typeface="Consolas"/>
              </a:rPr>
            </a:br>
            <a:r>
              <a:rPr lang="en-GB" sz="1200">
                <a:solidFill>
                  <a:srgbClr val="00193A"/>
                </a:solidFill>
                <a:latin typeface="Consolas"/>
                <a:ea typeface="Consolas"/>
                <a:cs typeface="Consolas"/>
                <a:sym typeface="Consolas"/>
              </a:rPr>
              <a:t>Vector 2: 3 4 </a:t>
            </a:r>
            <a:br>
              <a:rPr lang="en-GB" sz="1200">
                <a:solidFill>
                  <a:srgbClr val="00193A"/>
                </a:solidFill>
                <a:latin typeface="Consolas"/>
                <a:ea typeface="Consolas"/>
                <a:cs typeface="Consolas"/>
                <a:sym typeface="Consolas"/>
              </a:rPr>
            </a:br>
            <a:r>
              <a:rPr lang="en-GB" sz="1200">
                <a:solidFill>
                  <a:srgbClr val="00193A"/>
                </a:solidFill>
                <a:latin typeface="Consolas"/>
                <a:ea typeface="Consolas"/>
                <a:cs typeface="Consolas"/>
                <a:sym typeface="Consolas"/>
              </a:rPr>
              <a:t>After Swap </a:t>
            </a:r>
            <a:br>
              <a:rPr lang="en-GB" sz="1200">
                <a:solidFill>
                  <a:srgbClr val="00193A"/>
                </a:solidFill>
                <a:latin typeface="Consolas"/>
                <a:ea typeface="Consolas"/>
                <a:cs typeface="Consolas"/>
                <a:sym typeface="Consolas"/>
              </a:rPr>
            </a:br>
            <a:r>
              <a:rPr lang="en-GB" sz="1200">
                <a:solidFill>
                  <a:srgbClr val="00193A"/>
                </a:solidFill>
                <a:latin typeface="Consolas"/>
                <a:ea typeface="Consolas"/>
                <a:cs typeface="Consolas"/>
                <a:sym typeface="Consolas"/>
              </a:rPr>
              <a:t>Vector 1: 3 4 </a:t>
            </a:r>
            <a:br>
              <a:rPr lang="en-GB" sz="1200">
                <a:solidFill>
                  <a:srgbClr val="00193A"/>
                </a:solidFill>
                <a:latin typeface="Consolas"/>
                <a:ea typeface="Consolas"/>
                <a:cs typeface="Consolas"/>
                <a:sym typeface="Consolas"/>
              </a:rPr>
            </a:br>
            <a:r>
              <a:rPr lang="en-GB" sz="1200">
                <a:solidFill>
                  <a:srgbClr val="00193A"/>
                </a:solidFill>
                <a:latin typeface="Consolas"/>
                <a:ea typeface="Consolas"/>
                <a:cs typeface="Consolas"/>
                <a:sym typeface="Consolas"/>
              </a:rPr>
              <a:t>Vector 2: 1 2</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7"/>
          <p:cNvSpPr txBox="1"/>
          <p:nvPr>
            <p:ph type="title"/>
          </p:nvPr>
        </p:nvSpPr>
        <p:spPr>
          <a:xfrm>
            <a:off x="311700" y="64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Return an array using vectors</a:t>
            </a:r>
            <a:endParaRPr b="1"/>
          </a:p>
        </p:txBody>
      </p:sp>
      <p:sp>
        <p:nvSpPr>
          <p:cNvPr id="154" name="Google Shape;154;p27"/>
          <p:cNvSpPr txBox="1"/>
          <p:nvPr>
            <p:ph idx="1" type="body"/>
          </p:nvPr>
        </p:nvSpPr>
        <p:spPr>
          <a:xfrm>
            <a:off x="669125" y="636725"/>
            <a:ext cx="8520600" cy="44118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Clr>
                <a:schemeClr val="dk1"/>
              </a:buClr>
              <a:buSzPts val="605"/>
              <a:buFont typeface="Arial"/>
              <a:buNone/>
            </a:pPr>
            <a:r>
              <a:rPr lang="en-GB" sz="1290"/>
              <a:t>#include&lt;iostream&gt;</a:t>
            </a:r>
            <a:endParaRPr sz="1290"/>
          </a:p>
          <a:p>
            <a:pPr indent="0" lvl="0" marL="0" rtl="0" algn="l">
              <a:lnSpc>
                <a:spcPct val="95000"/>
              </a:lnSpc>
              <a:spcBef>
                <a:spcPts val="0"/>
              </a:spcBef>
              <a:spcAft>
                <a:spcPts val="0"/>
              </a:spcAft>
              <a:buClr>
                <a:schemeClr val="dk1"/>
              </a:buClr>
              <a:buSzPts val="605"/>
              <a:buFont typeface="Arial"/>
              <a:buNone/>
            </a:pPr>
            <a:r>
              <a:rPr lang="en-GB" sz="1290"/>
              <a:t>#include&lt;vector&gt;</a:t>
            </a:r>
            <a:endParaRPr sz="1290"/>
          </a:p>
          <a:p>
            <a:pPr indent="0" lvl="0" marL="0" rtl="0" algn="l">
              <a:lnSpc>
                <a:spcPct val="95000"/>
              </a:lnSpc>
              <a:spcBef>
                <a:spcPts val="0"/>
              </a:spcBef>
              <a:spcAft>
                <a:spcPts val="0"/>
              </a:spcAft>
              <a:buClr>
                <a:schemeClr val="dk1"/>
              </a:buClr>
              <a:buSzPts val="605"/>
              <a:buFont typeface="Arial"/>
              <a:buNone/>
            </a:pPr>
            <a:r>
              <a:rPr lang="en-GB" sz="1290"/>
              <a:t>using namespace std;</a:t>
            </a:r>
            <a:endParaRPr sz="1290"/>
          </a:p>
          <a:p>
            <a:pPr indent="0" lvl="0" marL="0" rtl="0" algn="l">
              <a:lnSpc>
                <a:spcPct val="95000"/>
              </a:lnSpc>
              <a:spcBef>
                <a:spcPts val="0"/>
              </a:spcBef>
              <a:spcAft>
                <a:spcPts val="0"/>
              </a:spcAft>
              <a:buClr>
                <a:schemeClr val="dk1"/>
              </a:buClr>
              <a:buSzPts val="605"/>
              <a:buFont typeface="Arial"/>
              <a:buNone/>
            </a:pPr>
            <a:r>
              <a:rPr b="1" lang="en-GB" sz="1290"/>
              <a:t>vector&lt;int&gt;</a:t>
            </a:r>
            <a:r>
              <a:rPr lang="en-GB" sz="1290"/>
              <a:t> reversingArray(int *scores,int n){</a:t>
            </a:r>
            <a:endParaRPr sz="1290"/>
          </a:p>
          <a:p>
            <a:pPr indent="0" lvl="0" marL="0" rtl="0" algn="l">
              <a:lnSpc>
                <a:spcPct val="95000"/>
              </a:lnSpc>
              <a:spcBef>
                <a:spcPts val="0"/>
              </a:spcBef>
              <a:spcAft>
                <a:spcPts val="0"/>
              </a:spcAft>
              <a:buClr>
                <a:schemeClr val="dk1"/>
              </a:buClr>
              <a:buSzPts val="605"/>
              <a:buFont typeface="Arial"/>
              <a:buNone/>
            </a:pPr>
            <a:r>
              <a:rPr lang="en-GB" sz="1290"/>
              <a:t>  </a:t>
            </a:r>
            <a:r>
              <a:rPr b="1" lang="en-GB" sz="1290"/>
              <a:t>vector&lt;int&gt;</a:t>
            </a:r>
            <a:r>
              <a:rPr lang="en-GB" sz="1290"/>
              <a:t> reversedArray(n);</a:t>
            </a:r>
            <a:endParaRPr sz="1290"/>
          </a:p>
          <a:p>
            <a:pPr indent="0" lvl="0" marL="0" rtl="0" algn="l">
              <a:lnSpc>
                <a:spcPct val="95000"/>
              </a:lnSpc>
              <a:spcBef>
                <a:spcPts val="0"/>
              </a:spcBef>
              <a:spcAft>
                <a:spcPts val="0"/>
              </a:spcAft>
              <a:buClr>
                <a:schemeClr val="dk1"/>
              </a:buClr>
              <a:buSzPts val="605"/>
              <a:buFont typeface="Arial"/>
              <a:buNone/>
            </a:pPr>
            <a:r>
              <a:rPr lang="en-GB" sz="1290"/>
              <a:t>   for(int i=0;i&lt;n;i++){</a:t>
            </a:r>
            <a:endParaRPr sz="1290"/>
          </a:p>
          <a:p>
            <a:pPr indent="0" lvl="0" marL="0" rtl="0" algn="l">
              <a:lnSpc>
                <a:spcPct val="95000"/>
              </a:lnSpc>
              <a:spcBef>
                <a:spcPts val="0"/>
              </a:spcBef>
              <a:spcAft>
                <a:spcPts val="0"/>
              </a:spcAft>
              <a:buClr>
                <a:schemeClr val="dk1"/>
              </a:buClr>
              <a:buSzPts val="605"/>
              <a:buFont typeface="Arial"/>
              <a:buNone/>
            </a:pPr>
            <a:r>
              <a:rPr lang="en-GB" sz="1290"/>
              <a:t>   reversedArray[i]=scores[n-1-i];</a:t>
            </a:r>
            <a:endParaRPr sz="1290"/>
          </a:p>
          <a:p>
            <a:pPr indent="0" lvl="0" marL="0" rtl="0" algn="l">
              <a:lnSpc>
                <a:spcPct val="95000"/>
              </a:lnSpc>
              <a:spcBef>
                <a:spcPts val="0"/>
              </a:spcBef>
              <a:spcAft>
                <a:spcPts val="0"/>
              </a:spcAft>
              <a:buClr>
                <a:schemeClr val="dk1"/>
              </a:buClr>
              <a:buSzPts val="605"/>
              <a:buFont typeface="Arial"/>
              <a:buNone/>
            </a:pPr>
            <a:r>
              <a:rPr lang="en-GB" sz="1290"/>
              <a:t>   }</a:t>
            </a:r>
            <a:endParaRPr sz="1290"/>
          </a:p>
          <a:p>
            <a:pPr indent="0" lvl="0" marL="0" rtl="0" algn="l">
              <a:lnSpc>
                <a:spcPct val="95000"/>
              </a:lnSpc>
              <a:spcBef>
                <a:spcPts val="0"/>
              </a:spcBef>
              <a:spcAft>
                <a:spcPts val="0"/>
              </a:spcAft>
              <a:buClr>
                <a:schemeClr val="dk1"/>
              </a:buClr>
              <a:buSzPts val="605"/>
              <a:buFont typeface="Arial"/>
              <a:buNone/>
            </a:pPr>
            <a:r>
              <a:rPr lang="en-GB" sz="1290"/>
              <a:t>   return reversedArray;</a:t>
            </a:r>
            <a:endParaRPr sz="1290"/>
          </a:p>
          <a:p>
            <a:pPr indent="0" lvl="0" marL="0" rtl="0" algn="l">
              <a:lnSpc>
                <a:spcPct val="95000"/>
              </a:lnSpc>
              <a:spcBef>
                <a:spcPts val="0"/>
              </a:spcBef>
              <a:spcAft>
                <a:spcPts val="0"/>
              </a:spcAft>
              <a:buClr>
                <a:schemeClr val="dk1"/>
              </a:buClr>
              <a:buSzPts val="605"/>
              <a:buFont typeface="Arial"/>
              <a:buNone/>
            </a:pPr>
            <a:r>
              <a:rPr lang="en-GB" sz="1290"/>
              <a:t>   }</a:t>
            </a:r>
            <a:endParaRPr sz="1290"/>
          </a:p>
          <a:p>
            <a:pPr indent="0" lvl="0" marL="0" rtl="0" algn="l">
              <a:lnSpc>
                <a:spcPct val="95000"/>
              </a:lnSpc>
              <a:spcBef>
                <a:spcPts val="0"/>
              </a:spcBef>
              <a:spcAft>
                <a:spcPts val="0"/>
              </a:spcAft>
              <a:buClr>
                <a:schemeClr val="dk1"/>
              </a:buClr>
              <a:buSzPts val="605"/>
              <a:buFont typeface="Arial"/>
              <a:buNone/>
            </a:pPr>
            <a:r>
              <a:rPr lang="en-GB" sz="1290"/>
              <a:t>int main(){</a:t>
            </a:r>
            <a:endParaRPr sz="1290"/>
          </a:p>
          <a:p>
            <a:pPr indent="0" lvl="0" marL="0" rtl="0" algn="l">
              <a:lnSpc>
                <a:spcPct val="95000"/>
              </a:lnSpc>
              <a:spcBef>
                <a:spcPts val="0"/>
              </a:spcBef>
              <a:spcAft>
                <a:spcPts val="0"/>
              </a:spcAft>
              <a:buClr>
                <a:schemeClr val="dk1"/>
              </a:buClr>
              <a:buSzPts val="605"/>
              <a:buFont typeface="Arial"/>
              <a:buNone/>
            </a:pPr>
            <a:r>
              <a:rPr lang="en-GB" sz="1290"/>
              <a:t>int n=5;</a:t>
            </a:r>
            <a:endParaRPr sz="1290"/>
          </a:p>
          <a:p>
            <a:pPr indent="0" lvl="0" marL="0" rtl="0" algn="l">
              <a:lnSpc>
                <a:spcPct val="95000"/>
              </a:lnSpc>
              <a:spcBef>
                <a:spcPts val="0"/>
              </a:spcBef>
              <a:spcAft>
                <a:spcPts val="0"/>
              </a:spcAft>
              <a:buClr>
                <a:schemeClr val="dk1"/>
              </a:buClr>
              <a:buSzPts val="605"/>
              <a:buFont typeface="Arial"/>
              <a:buNone/>
            </a:pPr>
            <a:r>
              <a:rPr lang="en-GB" sz="1290"/>
              <a:t>int scores[n]={10,20,30,40,50};</a:t>
            </a:r>
            <a:endParaRPr sz="1290"/>
          </a:p>
          <a:p>
            <a:pPr indent="0" lvl="0" marL="0" rtl="0" algn="l">
              <a:lnSpc>
                <a:spcPct val="95000"/>
              </a:lnSpc>
              <a:spcBef>
                <a:spcPts val="0"/>
              </a:spcBef>
              <a:spcAft>
                <a:spcPts val="0"/>
              </a:spcAft>
              <a:buClr>
                <a:schemeClr val="dk1"/>
              </a:buClr>
              <a:buSzPts val="605"/>
              <a:buFont typeface="Arial"/>
              <a:buNone/>
            </a:pPr>
            <a:r>
              <a:rPr b="1" lang="en-GB" sz="1290"/>
              <a:t>vector&lt;int&gt; </a:t>
            </a:r>
            <a:r>
              <a:rPr lang="en-GB" sz="1290"/>
              <a:t>reversedScores=reversingArray(scores,n);</a:t>
            </a:r>
            <a:endParaRPr sz="1290"/>
          </a:p>
          <a:p>
            <a:pPr indent="0" lvl="0" marL="0" rtl="0" algn="l">
              <a:lnSpc>
                <a:spcPct val="95000"/>
              </a:lnSpc>
              <a:spcBef>
                <a:spcPts val="0"/>
              </a:spcBef>
              <a:spcAft>
                <a:spcPts val="0"/>
              </a:spcAft>
              <a:buClr>
                <a:schemeClr val="dk1"/>
              </a:buClr>
              <a:buSzPts val="605"/>
              <a:buFont typeface="Arial"/>
              <a:buNone/>
            </a:pPr>
            <a:r>
              <a:rPr lang="en-GB" sz="1290"/>
              <a:t>cout&lt;&lt;"The reversed array is";</a:t>
            </a:r>
            <a:endParaRPr sz="1290"/>
          </a:p>
          <a:p>
            <a:pPr indent="0" lvl="0" marL="0" rtl="0" algn="l">
              <a:lnSpc>
                <a:spcPct val="95000"/>
              </a:lnSpc>
              <a:spcBef>
                <a:spcPts val="0"/>
              </a:spcBef>
              <a:spcAft>
                <a:spcPts val="0"/>
              </a:spcAft>
              <a:buClr>
                <a:schemeClr val="dk1"/>
              </a:buClr>
              <a:buSzPts val="605"/>
              <a:buFont typeface="Arial"/>
              <a:buNone/>
            </a:pPr>
            <a:r>
              <a:rPr lang="en-GB" sz="1290"/>
              <a:t>for(int i=0;i&lt;n;i++)</a:t>
            </a:r>
            <a:endParaRPr sz="1290"/>
          </a:p>
          <a:p>
            <a:pPr indent="0" lvl="0" marL="0" rtl="0" algn="l">
              <a:lnSpc>
                <a:spcPct val="95000"/>
              </a:lnSpc>
              <a:spcBef>
                <a:spcPts val="0"/>
              </a:spcBef>
              <a:spcAft>
                <a:spcPts val="0"/>
              </a:spcAft>
              <a:buClr>
                <a:schemeClr val="dk1"/>
              </a:buClr>
              <a:buSzPts val="605"/>
              <a:buFont typeface="Arial"/>
              <a:buNone/>
            </a:pPr>
            <a:r>
              <a:rPr lang="en-GB" sz="1290"/>
              <a:t>{</a:t>
            </a:r>
            <a:endParaRPr sz="1290"/>
          </a:p>
          <a:p>
            <a:pPr indent="0" lvl="0" marL="0" rtl="0" algn="l">
              <a:lnSpc>
                <a:spcPct val="95000"/>
              </a:lnSpc>
              <a:spcBef>
                <a:spcPts val="0"/>
              </a:spcBef>
              <a:spcAft>
                <a:spcPts val="0"/>
              </a:spcAft>
              <a:buClr>
                <a:schemeClr val="dk1"/>
              </a:buClr>
              <a:buSzPts val="605"/>
              <a:buFont typeface="Arial"/>
              <a:buNone/>
            </a:pPr>
            <a:r>
              <a:rPr lang="en-GB" sz="1290"/>
              <a:t>cout&lt;&lt;reversedScores[i]&lt;&lt;" ";</a:t>
            </a:r>
            <a:endParaRPr sz="1290"/>
          </a:p>
          <a:p>
            <a:pPr indent="0" lvl="0" marL="0" rtl="0" algn="l">
              <a:lnSpc>
                <a:spcPct val="95000"/>
              </a:lnSpc>
              <a:spcBef>
                <a:spcPts val="0"/>
              </a:spcBef>
              <a:spcAft>
                <a:spcPts val="0"/>
              </a:spcAft>
              <a:buClr>
                <a:schemeClr val="dk1"/>
              </a:buClr>
              <a:buSzPts val="605"/>
              <a:buFont typeface="Arial"/>
              <a:buNone/>
            </a:pPr>
            <a:r>
              <a:rPr lang="en-GB" sz="1290"/>
              <a:t>}</a:t>
            </a:r>
            <a:endParaRPr sz="1290"/>
          </a:p>
          <a:p>
            <a:pPr indent="0" lvl="0" marL="0" rtl="0" algn="l">
              <a:lnSpc>
                <a:spcPct val="95000"/>
              </a:lnSpc>
              <a:spcBef>
                <a:spcPts val="0"/>
              </a:spcBef>
              <a:spcAft>
                <a:spcPts val="0"/>
              </a:spcAft>
              <a:buClr>
                <a:schemeClr val="dk1"/>
              </a:buClr>
              <a:buSzPts val="605"/>
              <a:buFont typeface="Arial"/>
              <a:buNone/>
            </a:pPr>
            <a:r>
              <a:rPr lang="en-GB" sz="1290"/>
              <a:t>cout&lt;&lt;endl;</a:t>
            </a:r>
            <a:endParaRPr sz="1290"/>
          </a:p>
          <a:p>
            <a:pPr indent="0" lvl="0" marL="0" rtl="0" algn="l">
              <a:lnSpc>
                <a:spcPct val="95000"/>
              </a:lnSpc>
              <a:spcBef>
                <a:spcPts val="0"/>
              </a:spcBef>
              <a:spcAft>
                <a:spcPts val="0"/>
              </a:spcAft>
              <a:buClr>
                <a:schemeClr val="dk1"/>
              </a:buClr>
              <a:buSzPts val="605"/>
              <a:buFont typeface="Arial"/>
              <a:buNone/>
            </a:pPr>
            <a:r>
              <a:rPr lang="en-GB" sz="1290"/>
              <a:t>return 0;</a:t>
            </a:r>
            <a:endParaRPr sz="1290"/>
          </a:p>
          <a:p>
            <a:pPr indent="0" lvl="0" marL="0" rtl="0" algn="l">
              <a:lnSpc>
                <a:spcPct val="95000"/>
              </a:lnSpc>
              <a:spcBef>
                <a:spcPts val="0"/>
              </a:spcBef>
              <a:spcAft>
                <a:spcPts val="0"/>
              </a:spcAft>
              <a:buClr>
                <a:schemeClr val="dk1"/>
              </a:buClr>
              <a:buSzPts val="605"/>
              <a:buFont typeface="Arial"/>
              <a:buNone/>
            </a:pPr>
            <a:r>
              <a:rPr lang="en-GB" sz="1290"/>
              <a:t>return 0;</a:t>
            </a:r>
            <a:endParaRPr sz="1290"/>
          </a:p>
          <a:p>
            <a:pPr indent="0" lvl="0" marL="0" rtl="0" algn="l">
              <a:lnSpc>
                <a:spcPct val="95000"/>
              </a:lnSpc>
              <a:spcBef>
                <a:spcPts val="0"/>
              </a:spcBef>
              <a:spcAft>
                <a:spcPts val="0"/>
              </a:spcAft>
              <a:buClr>
                <a:schemeClr val="dk1"/>
              </a:buClr>
              <a:buSzPts val="605"/>
              <a:buFont typeface="Arial"/>
              <a:buNone/>
            </a:pPr>
            <a:r>
              <a:rPr lang="en-GB" sz="1290"/>
              <a:t>}</a:t>
            </a:r>
            <a:endParaRPr sz="1290"/>
          </a:p>
          <a:p>
            <a:pPr indent="0" lvl="0" marL="0" rtl="0" algn="l">
              <a:lnSpc>
                <a:spcPct val="95000"/>
              </a:lnSpc>
              <a:spcBef>
                <a:spcPts val="0"/>
              </a:spcBef>
              <a:spcAft>
                <a:spcPts val="0"/>
              </a:spcAft>
              <a:buSzPts val="605"/>
              <a:buNone/>
            </a:pPr>
            <a:r>
              <a:t/>
            </a:r>
            <a:endParaRPr sz="129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Vector complexity</a:t>
            </a:r>
            <a:endParaRPr/>
          </a:p>
        </p:txBody>
      </p:sp>
      <p:sp>
        <p:nvSpPr>
          <p:cNvPr id="160" name="Google Shape;160;p2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700">
                <a:solidFill>
                  <a:srgbClr val="273239"/>
                </a:solidFill>
                <a:highlight>
                  <a:srgbClr val="FFFFFF"/>
                </a:highlight>
                <a:latin typeface="Nunito"/>
                <a:ea typeface="Nunito"/>
                <a:cs typeface="Nunito"/>
                <a:sym typeface="Nunito"/>
              </a:rPr>
              <a:t>The time complexity for doing various operations on vectors is-</a:t>
            </a:r>
            <a:endParaRPr sz="1700">
              <a:solidFill>
                <a:srgbClr val="273239"/>
              </a:solidFill>
              <a:highlight>
                <a:srgbClr val="FFFFFF"/>
              </a:highlight>
              <a:latin typeface="Nunito"/>
              <a:ea typeface="Nunito"/>
              <a:cs typeface="Nunito"/>
              <a:sym typeface="Nunito"/>
            </a:endParaRPr>
          </a:p>
          <a:p>
            <a:pPr indent="-336550" lvl="0" marL="685800" rtl="0" algn="l">
              <a:lnSpc>
                <a:spcPct val="158000"/>
              </a:lnSpc>
              <a:spcBef>
                <a:spcPts val="800"/>
              </a:spcBef>
              <a:spcAft>
                <a:spcPts val="0"/>
              </a:spcAft>
              <a:buClr>
                <a:srgbClr val="273239"/>
              </a:buClr>
              <a:buSzPts val="1700"/>
              <a:buFont typeface="Nunito"/>
              <a:buChar char="●"/>
            </a:pPr>
            <a:r>
              <a:rPr lang="en-GB" sz="1700">
                <a:solidFill>
                  <a:srgbClr val="273239"/>
                </a:solidFill>
                <a:highlight>
                  <a:srgbClr val="FFFFFF"/>
                </a:highlight>
                <a:latin typeface="Nunito"/>
                <a:ea typeface="Nunito"/>
                <a:cs typeface="Nunito"/>
                <a:sym typeface="Nunito"/>
              </a:rPr>
              <a:t>Random access – constant O(1)</a:t>
            </a:r>
            <a:endParaRPr sz="1700">
              <a:solidFill>
                <a:srgbClr val="273239"/>
              </a:solidFill>
              <a:highlight>
                <a:srgbClr val="FFFFFF"/>
              </a:highlight>
              <a:latin typeface="Nunito"/>
              <a:ea typeface="Nunito"/>
              <a:cs typeface="Nunito"/>
              <a:sym typeface="Nunito"/>
            </a:endParaRPr>
          </a:p>
          <a:p>
            <a:pPr indent="-336550" lvl="0" marL="685800" rtl="0" algn="l">
              <a:lnSpc>
                <a:spcPct val="158000"/>
              </a:lnSpc>
              <a:spcBef>
                <a:spcPts val="0"/>
              </a:spcBef>
              <a:spcAft>
                <a:spcPts val="0"/>
              </a:spcAft>
              <a:buClr>
                <a:srgbClr val="273239"/>
              </a:buClr>
              <a:buSzPts val="1700"/>
              <a:buFont typeface="Nunito"/>
              <a:buChar char="●"/>
            </a:pPr>
            <a:r>
              <a:rPr lang="en-GB" sz="1700">
                <a:solidFill>
                  <a:srgbClr val="273239"/>
                </a:solidFill>
                <a:highlight>
                  <a:srgbClr val="FFFFFF"/>
                </a:highlight>
                <a:latin typeface="Nunito"/>
                <a:ea typeface="Nunito"/>
                <a:cs typeface="Nunito"/>
                <a:sym typeface="Nunito"/>
              </a:rPr>
              <a:t>Insertion or removal of elements at the end – constant O(1)</a:t>
            </a:r>
            <a:endParaRPr sz="1700">
              <a:solidFill>
                <a:srgbClr val="273239"/>
              </a:solidFill>
              <a:highlight>
                <a:srgbClr val="FFFFFF"/>
              </a:highlight>
              <a:latin typeface="Nunito"/>
              <a:ea typeface="Nunito"/>
              <a:cs typeface="Nunito"/>
              <a:sym typeface="Nunito"/>
            </a:endParaRPr>
          </a:p>
          <a:p>
            <a:pPr indent="-336550" lvl="0" marL="685800" rtl="0" algn="l">
              <a:lnSpc>
                <a:spcPct val="158000"/>
              </a:lnSpc>
              <a:spcBef>
                <a:spcPts val="0"/>
              </a:spcBef>
              <a:spcAft>
                <a:spcPts val="0"/>
              </a:spcAft>
              <a:buClr>
                <a:srgbClr val="273239"/>
              </a:buClr>
              <a:buSzPts val="1700"/>
              <a:buFont typeface="Nunito"/>
              <a:buChar char="●"/>
            </a:pPr>
            <a:r>
              <a:rPr lang="en-GB" sz="1700">
                <a:solidFill>
                  <a:srgbClr val="273239"/>
                </a:solidFill>
                <a:highlight>
                  <a:srgbClr val="FFFFFF"/>
                </a:highlight>
                <a:latin typeface="Nunito"/>
                <a:ea typeface="Nunito"/>
                <a:cs typeface="Nunito"/>
                <a:sym typeface="Nunito"/>
              </a:rPr>
              <a:t>Insertion or removal of elements – linear in the distance to the end of the vector O(N)</a:t>
            </a:r>
            <a:endParaRPr sz="1700">
              <a:solidFill>
                <a:srgbClr val="273239"/>
              </a:solidFill>
              <a:highlight>
                <a:srgbClr val="FFFFFF"/>
              </a:highlight>
              <a:latin typeface="Nunito"/>
              <a:ea typeface="Nunito"/>
              <a:cs typeface="Nunito"/>
              <a:sym typeface="Nunito"/>
            </a:endParaRPr>
          </a:p>
          <a:p>
            <a:pPr indent="-336550" lvl="0" marL="685800" rtl="0" algn="l">
              <a:lnSpc>
                <a:spcPct val="158000"/>
              </a:lnSpc>
              <a:spcBef>
                <a:spcPts val="0"/>
              </a:spcBef>
              <a:spcAft>
                <a:spcPts val="0"/>
              </a:spcAft>
              <a:buClr>
                <a:srgbClr val="273239"/>
              </a:buClr>
              <a:buSzPts val="1700"/>
              <a:buFont typeface="Nunito"/>
              <a:buChar char="●"/>
            </a:pPr>
            <a:r>
              <a:rPr lang="en-GB" sz="1700">
                <a:solidFill>
                  <a:srgbClr val="273239"/>
                </a:solidFill>
                <a:highlight>
                  <a:srgbClr val="FFFFFF"/>
                </a:highlight>
                <a:latin typeface="Nunito"/>
                <a:ea typeface="Nunito"/>
                <a:cs typeface="Nunito"/>
                <a:sym typeface="Nunito"/>
              </a:rPr>
              <a:t>Knowing the size – constant O(1)</a:t>
            </a:r>
            <a:endParaRPr sz="1700">
              <a:solidFill>
                <a:srgbClr val="273239"/>
              </a:solidFill>
              <a:highlight>
                <a:srgbClr val="FFFFFF"/>
              </a:highlight>
              <a:latin typeface="Nunito"/>
              <a:ea typeface="Nunito"/>
              <a:cs typeface="Nunito"/>
              <a:sym typeface="Nunito"/>
            </a:endParaRPr>
          </a:p>
          <a:p>
            <a:pPr indent="-336550" lvl="0" marL="685800" rtl="0" algn="l">
              <a:lnSpc>
                <a:spcPct val="158000"/>
              </a:lnSpc>
              <a:spcBef>
                <a:spcPts val="0"/>
              </a:spcBef>
              <a:spcAft>
                <a:spcPts val="0"/>
              </a:spcAft>
              <a:buClr>
                <a:srgbClr val="273239"/>
              </a:buClr>
              <a:buSzPts val="1700"/>
              <a:buFont typeface="Nunito"/>
              <a:buChar char="●"/>
            </a:pPr>
            <a:r>
              <a:rPr lang="en-GB" sz="1700">
                <a:solidFill>
                  <a:srgbClr val="273239"/>
                </a:solidFill>
                <a:highlight>
                  <a:srgbClr val="FFFFFF"/>
                </a:highlight>
                <a:latin typeface="Nunito"/>
                <a:ea typeface="Nunito"/>
                <a:cs typeface="Nunito"/>
                <a:sym typeface="Nunito"/>
              </a:rPr>
              <a:t>Resizing the vector- Linear O(N)</a:t>
            </a:r>
            <a:endParaRPr sz="1700">
              <a:solidFill>
                <a:srgbClr val="273239"/>
              </a:solidFill>
              <a:highlight>
                <a:srgbClr val="FFFFFF"/>
              </a:highlight>
              <a:latin typeface="Nunito"/>
              <a:ea typeface="Nunito"/>
              <a:cs typeface="Nunito"/>
              <a:sym typeface="Nunito"/>
            </a:endParaRPr>
          </a:p>
          <a:p>
            <a:pPr indent="0" lvl="0" marL="0" rtl="0" algn="l">
              <a:spcBef>
                <a:spcPts val="1800"/>
              </a:spcBef>
              <a:spcAft>
                <a:spcPts val="1200"/>
              </a:spcAft>
              <a:buNone/>
            </a:pPr>
            <a:r>
              <a:t/>
            </a:r>
            <a:endParaRPr sz="22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