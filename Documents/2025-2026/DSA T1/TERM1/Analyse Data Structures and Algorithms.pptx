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Proxima Nova"/>
      <p:regular r:id="rId58"/>
      <p:bold r:id="rId59"/>
      <p:italic r:id="rId60"/>
      <p:boldItalic r:id="rId61"/>
    </p:embeddedFont>
    <p:embeddedFont>
      <p:font typeface="Roboto"/>
      <p:regular r:id="rId62"/>
      <p:bold r:id="rId63"/>
      <p:italic r:id="rId64"/>
      <p:boldItalic r:id="rId65"/>
    </p:embeddedFont>
    <p:embeddedFont>
      <p:font typeface="Nunito"/>
      <p:regular r:id="rId66"/>
      <p:bold r:id="rId67"/>
      <p:italic r:id="rId68"/>
      <p:boldItalic r:id="rId69"/>
    </p:embeddedFont>
    <p:embeddedFont>
      <p:font typeface="Playfair Display"/>
      <p:regular r:id="rId70"/>
      <p:bold r:id="rId71"/>
      <p:italic r:id="rId72"/>
      <p:boldItalic r:id="rId73"/>
    </p:embeddedFont>
    <p:embeddedFont>
      <p:font typeface="Century Gothic"/>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B5A428-2258-4F19-A221-D22E64A0F63F}">
  <a:tblStyle styleId="{46B5A428-2258-4F19-A221-D22E64A0F63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2C6DC54-6E07-45FE-A450-AA9DDC4D193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PlayfairDisplay-boldItalic.fntdata"/><Relationship Id="rId72" Type="http://schemas.openxmlformats.org/officeDocument/2006/relationships/font" Target="fonts/PlayfairDisplay-italic.fntdata"/><Relationship Id="rId31" Type="http://schemas.openxmlformats.org/officeDocument/2006/relationships/slide" Target="slides/slide25.xml"/><Relationship Id="rId75" Type="http://schemas.openxmlformats.org/officeDocument/2006/relationships/font" Target="fonts/CenturyGothic-bold.fntdata"/><Relationship Id="rId30" Type="http://schemas.openxmlformats.org/officeDocument/2006/relationships/slide" Target="slides/slide24.xml"/><Relationship Id="rId74" Type="http://schemas.openxmlformats.org/officeDocument/2006/relationships/font" Target="fonts/CenturyGothic-regular.fntdata"/><Relationship Id="rId33" Type="http://schemas.openxmlformats.org/officeDocument/2006/relationships/slide" Target="slides/slide27.xml"/><Relationship Id="rId77" Type="http://schemas.openxmlformats.org/officeDocument/2006/relationships/font" Target="fonts/CenturyGothic-boldItalic.fntdata"/><Relationship Id="rId32" Type="http://schemas.openxmlformats.org/officeDocument/2006/relationships/slide" Target="slides/slide26.xml"/><Relationship Id="rId76" Type="http://schemas.openxmlformats.org/officeDocument/2006/relationships/font" Target="fonts/CenturyGothic-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PlayfairDisplay-bold.fntdata"/><Relationship Id="rId70" Type="http://schemas.openxmlformats.org/officeDocument/2006/relationships/font" Target="fonts/PlayfairDisplay-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regular.fntdata"/><Relationship Id="rId61" Type="http://schemas.openxmlformats.org/officeDocument/2006/relationships/font" Target="fonts/ProximaNova-boldItalic.fntdata"/><Relationship Id="rId20" Type="http://schemas.openxmlformats.org/officeDocument/2006/relationships/slide" Target="slides/slide14.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6.xml"/><Relationship Id="rId66" Type="http://schemas.openxmlformats.org/officeDocument/2006/relationships/font" Target="fonts/Nunito-regular.fntdata"/><Relationship Id="rId21" Type="http://schemas.openxmlformats.org/officeDocument/2006/relationships/slide" Target="slides/slide15.xml"/><Relationship Id="rId65" Type="http://schemas.openxmlformats.org/officeDocument/2006/relationships/font" Target="fonts/Roboto-boldItalic.fntdata"/><Relationship Id="rId24" Type="http://schemas.openxmlformats.org/officeDocument/2006/relationships/slide" Target="slides/slide18.xml"/><Relationship Id="rId68" Type="http://schemas.openxmlformats.org/officeDocument/2006/relationships/font" Target="fonts/Nunito-italic.fntdata"/><Relationship Id="rId23" Type="http://schemas.openxmlformats.org/officeDocument/2006/relationships/slide" Target="slides/slide17.xml"/><Relationship Id="rId67" Type="http://schemas.openxmlformats.org/officeDocument/2006/relationships/font" Target="fonts/Nunito-bold.fntdata"/><Relationship Id="rId60" Type="http://schemas.openxmlformats.org/officeDocument/2006/relationships/font" Target="fonts/ProximaNova-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Nunito-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ProximaNova-bold.fntdata"/><Relationship Id="rId14" Type="http://schemas.openxmlformats.org/officeDocument/2006/relationships/slide" Target="slides/slide8.xml"/><Relationship Id="rId58" Type="http://schemas.openxmlformats.org/officeDocument/2006/relationships/font" Target="fonts/ProximaNova-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92ac5edbb4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92ac5edbb4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92ac5edbb4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92ac5edbb4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92ac5edbb4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92ac5edbb4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92ac5edbb4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92ac5edbb4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92ac5edbb4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92ac5edbb4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92ac5edbb4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92ac5edbb4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92ac5edbb4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92ac5edbb4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92ac5edbb4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92ac5edbb4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92ac5edbb4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92ac5edbb4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92ac5edbb4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92ac5edbb4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92ac5edbb4_0_4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292ac5edbb4_0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2ac5edbb4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292ac5edbb4_0_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92ac5edbb4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92ac5edbb4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92ac5edbb4_0_4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292ac5edbb4_0_4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92ac5edbb4_0_4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92ac5edbb4_0_4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92ac5edbb4_0_4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292ac5edbb4_0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92ac5edbb4_0_4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292ac5edbb4_0_4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92ac5edbb4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92ac5edbb4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92ac5edbb4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92ac5edbb4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92ac5edbb4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92ac5edbb4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92ac5edbb4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92ac5edbb4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92ac5edbb4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92ac5edbb4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92ac5edbb4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92ac5edbb4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92ac5edbb4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92ac5edbb4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931d46a902_5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931d46a902_5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931d46a902_5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931d46a902_5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92ac5edbb4_0_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92ac5edbb4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92ac5edbb4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92ac5edbb4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2ac5edbb4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92ac5edbb4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92ac5edbb4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92ac5edbb4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92ac5edbb4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92ac5edbb4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931d46a902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931d46a902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931d46a902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931d46a902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931d46a902_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931d46a902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931d46a902_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931d46a902_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931d46a902_5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931d46a902_5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d5bae1c8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d5bae1c8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92ac5edbb4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92ac5edbb4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92ac5edbb4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92ac5edbb4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92ac5edbb4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92ac5edbb4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92ac5edbb4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92ac5edbb4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92ac5edbb4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92ac5edbb4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92ac5edbb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92ac5edbb4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92ac5edbb4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92ac5edbb4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92ac5edbb4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92ac5edbb4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92ac5edbb4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92ac5edbb4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92ac5edbb4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92ac5edbb4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92ac5edbb4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92ac5edbb4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92ac5edbb4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92ac5edbb4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92ac5edbb4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92ac5edbb4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92ac5edbb4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292ac5edbb4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4" name="Shape 124"/>
        <p:cNvGrpSpPr/>
        <p:nvPr/>
      </p:nvGrpSpPr>
      <p:grpSpPr>
        <a:xfrm>
          <a:off x="0" y="0"/>
          <a:ext cx="0" cy="0"/>
          <a:chOff x="0" y="0"/>
          <a:chExt cx="0" cy="0"/>
        </a:xfrm>
      </p:grpSpPr>
      <p:sp>
        <p:nvSpPr>
          <p:cNvPr id="125" name="Google Shape;125;p13"/>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Autofit/>
          </a:bodyPr>
          <a:lstStyle>
            <a:lvl1pPr lvl="0" rtl="0" algn="l">
              <a:lnSpc>
                <a:spcPct val="100000"/>
              </a:lnSpc>
              <a:spcBef>
                <a:spcPts val="0"/>
              </a:spcBef>
              <a:spcAft>
                <a:spcPts val="0"/>
              </a:spcAft>
              <a:buClr>
                <a:schemeClr val="dk2"/>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26" name="Google Shape;126;p13"/>
          <p:cNvSpPr txBox="1"/>
          <p:nvPr>
            <p:ph idx="1" type="body"/>
          </p:nvPr>
        </p:nvSpPr>
        <p:spPr>
          <a:xfrm>
            <a:off x="827484" y="1539689"/>
            <a:ext cx="6710100" cy="3146700"/>
          </a:xfrm>
          <a:prstGeom prst="rect">
            <a:avLst/>
          </a:prstGeom>
          <a:noFill/>
          <a:ln>
            <a:noFill/>
          </a:ln>
        </p:spPr>
        <p:txBody>
          <a:bodyPr anchorCtr="0" anchor="t" bIns="34275" lIns="68575" spcFirstLastPara="1" rIns="68575" wrap="square" tIns="34275">
            <a:normAutofit/>
          </a:bodyPr>
          <a:lstStyle>
            <a:lvl1pPr indent="-298450" lvl="0" marL="457200" rtl="0" algn="l">
              <a:lnSpc>
                <a:spcPct val="100000"/>
              </a:lnSpc>
              <a:spcBef>
                <a:spcPts val="800"/>
              </a:spcBef>
              <a:spcAft>
                <a:spcPts val="0"/>
              </a:spcAft>
              <a:buSzPts val="1100"/>
              <a:buChar char="►"/>
              <a:defRPr/>
            </a:lvl1pPr>
            <a:lvl2pPr indent="-298450" lvl="1" marL="914400" rtl="0" algn="l">
              <a:lnSpc>
                <a:spcPct val="100000"/>
              </a:lnSpc>
              <a:spcBef>
                <a:spcPts val="800"/>
              </a:spcBef>
              <a:spcAft>
                <a:spcPts val="0"/>
              </a:spcAft>
              <a:buSzPts val="1100"/>
              <a:buChar char="►"/>
              <a:defRPr/>
            </a:lvl2pPr>
            <a:lvl3pPr indent="-298450" lvl="2" marL="1371600" rtl="0" algn="l">
              <a:lnSpc>
                <a:spcPct val="100000"/>
              </a:lnSpc>
              <a:spcBef>
                <a:spcPts val="800"/>
              </a:spcBef>
              <a:spcAft>
                <a:spcPts val="0"/>
              </a:spcAft>
              <a:buSzPts val="1100"/>
              <a:buChar char="►"/>
              <a:defRPr/>
            </a:lvl3pPr>
            <a:lvl4pPr indent="-298450" lvl="3" marL="1828800" rtl="0" algn="l">
              <a:lnSpc>
                <a:spcPct val="100000"/>
              </a:lnSpc>
              <a:spcBef>
                <a:spcPts val="800"/>
              </a:spcBef>
              <a:spcAft>
                <a:spcPts val="0"/>
              </a:spcAft>
              <a:buSzPts val="1100"/>
              <a:buChar char="►"/>
              <a:defRPr/>
            </a:lvl4pPr>
            <a:lvl5pPr indent="-298450" lvl="4" marL="2286000" rtl="0" algn="l">
              <a:lnSpc>
                <a:spcPct val="100000"/>
              </a:lnSpc>
              <a:spcBef>
                <a:spcPts val="800"/>
              </a:spcBef>
              <a:spcAft>
                <a:spcPts val="0"/>
              </a:spcAft>
              <a:buSzPts val="1100"/>
              <a:buChar char="►"/>
              <a:defRPr/>
            </a:lvl5pPr>
            <a:lvl6pPr indent="-298450" lvl="5" marL="2743200" rtl="0" algn="l">
              <a:lnSpc>
                <a:spcPct val="100000"/>
              </a:lnSpc>
              <a:spcBef>
                <a:spcPts val="800"/>
              </a:spcBef>
              <a:spcAft>
                <a:spcPts val="0"/>
              </a:spcAft>
              <a:buSzPts val="1100"/>
              <a:buChar char="►"/>
              <a:defRPr/>
            </a:lvl6pPr>
            <a:lvl7pPr indent="-298450" lvl="6" marL="3200400" rtl="0" algn="l">
              <a:lnSpc>
                <a:spcPct val="100000"/>
              </a:lnSpc>
              <a:spcBef>
                <a:spcPts val="800"/>
              </a:spcBef>
              <a:spcAft>
                <a:spcPts val="0"/>
              </a:spcAft>
              <a:buSzPts val="1100"/>
              <a:buChar char="►"/>
              <a:defRPr/>
            </a:lvl7pPr>
            <a:lvl8pPr indent="-298450" lvl="7" marL="3657600" rtl="0" algn="l">
              <a:lnSpc>
                <a:spcPct val="100000"/>
              </a:lnSpc>
              <a:spcBef>
                <a:spcPts val="800"/>
              </a:spcBef>
              <a:spcAft>
                <a:spcPts val="0"/>
              </a:spcAft>
              <a:buSzPts val="1100"/>
              <a:buChar char="►"/>
              <a:defRPr/>
            </a:lvl8pPr>
            <a:lvl9pPr indent="-298450" lvl="8" marL="4114800" rtl="0" algn="l">
              <a:lnSpc>
                <a:spcPct val="100000"/>
              </a:lnSpc>
              <a:spcBef>
                <a:spcPts val="800"/>
              </a:spcBef>
              <a:spcAft>
                <a:spcPts val="0"/>
              </a:spcAft>
              <a:buSzPts val="1100"/>
              <a:buChar char="►"/>
              <a:defRPr/>
            </a:lvl9pPr>
          </a:lstStyle>
          <a:p/>
        </p:txBody>
      </p:sp>
      <p:sp>
        <p:nvSpPr>
          <p:cNvPr id="127" name="Google Shape;127;p13"/>
          <p:cNvSpPr txBox="1"/>
          <p:nvPr>
            <p:ph idx="10" type="dt"/>
          </p:nvPr>
        </p:nvSpPr>
        <p:spPr>
          <a:xfrm rot="5400000">
            <a:off x="7616654" y="1343101"/>
            <a:ext cx="743100" cy="228600"/>
          </a:xfrm>
          <a:prstGeom prst="rect">
            <a:avLst/>
          </a:prstGeom>
          <a:noFill/>
          <a:ln>
            <a:noFill/>
          </a:ln>
        </p:spPr>
        <p:txBody>
          <a:bodyPr anchorCtr="0" anchor="t"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28" name="Google Shape;128;p13"/>
          <p:cNvSpPr txBox="1"/>
          <p:nvPr>
            <p:ph idx="11" type="ftr"/>
          </p:nvPr>
        </p:nvSpPr>
        <p:spPr>
          <a:xfrm rot="5400000">
            <a:off x="6713603" y="2419050"/>
            <a:ext cx="2895000" cy="228600"/>
          </a:xfrm>
          <a:prstGeom prst="rect">
            <a:avLst/>
          </a:prstGeom>
          <a:noFill/>
          <a:ln>
            <a:noFill/>
          </a:ln>
        </p:spPr>
        <p:txBody>
          <a:bodyPr anchorCtr="0" anchor="b"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29" name="Google Shape;129;p13"/>
          <p:cNvSpPr txBox="1"/>
          <p:nvPr>
            <p:ph idx="12" type="sldNum"/>
          </p:nvPr>
        </p:nvSpPr>
        <p:spPr>
          <a:xfrm>
            <a:off x="7764405" y="221797"/>
            <a:ext cx="628800" cy="575700"/>
          </a:xfrm>
          <a:prstGeom prst="rect">
            <a:avLst/>
          </a:prstGeom>
          <a:noFill/>
          <a:ln>
            <a:noFill/>
          </a:ln>
        </p:spPr>
        <p:txBody>
          <a:bodyPr anchorCtr="0" anchor="b"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100"/>
              <a:buFont typeface="Arial"/>
              <a:buNone/>
              <a:defRPr b="0" i="0" sz="21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simplilearn.com/tutorials/data-structure-tutorial/what-is-data-structure" TargetMode="Externa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hyperlink" Target="https://www.scholarhat.com/tutorial/datastructures/complexity-analysis-of-data-structures-and-algorithms" TargetMode="External"/><Relationship Id="rId4" Type="http://schemas.openxmlformats.org/officeDocument/2006/relationships/hyperlink" Target="https://www.geeksforgeeks.org/complete-guide-on-complexity-analysis/" TargetMode="External"/><Relationship Id="rId5" Type="http://schemas.openxmlformats.org/officeDocument/2006/relationships/hyperlink" Target="https://thegeekplanets.medium.com/the-ultimate-guide-to-complexity-analysis-in-data-structures-and-algorithms-c4f9be147a5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ctrTitle"/>
          </p:nvPr>
        </p:nvSpPr>
        <p:spPr>
          <a:xfrm>
            <a:off x="902150" y="893500"/>
            <a:ext cx="6362400" cy="878100"/>
          </a:xfrm>
          <a:prstGeom prst="rect">
            <a:avLst/>
          </a:prstGeom>
        </p:spPr>
        <p:txBody>
          <a:bodyPr anchorCtr="0" anchor="ctr" bIns="91425" lIns="91425" spcFirstLastPara="1" rIns="91425" wrap="square" tIns="91425">
            <a:normAutofit fontScale="90000"/>
          </a:bodyPr>
          <a:lstStyle/>
          <a:p>
            <a:pPr indent="0" lvl="0" marL="0" rtl="0" algn="l">
              <a:lnSpc>
                <a:spcPct val="107916"/>
              </a:lnSpc>
              <a:spcBef>
                <a:spcPts val="0"/>
              </a:spcBef>
              <a:spcAft>
                <a:spcPts val="0"/>
              </a:spcAft>
              <a:buClr>
                <a:schemeClr val="dk1"/>
              </a:buClr>
              <a:buSzPct val="44000"/>
              <a:buFont typeface="Arial"/>
              <a:buNone/>
            </a:pPr>
            <a:r>
              <a:rPr b="1" lang="en-GB" sz="2500"/>
              <a:t>Data Structures and Algorithms Using C++</a:t>
            </a:r>
            <a:endParaRPr b="1" sz="2500"/>
          </a:p>
        </p:txBody>
      </p:sp>
      <p:sp>
        <p:nvSpPr>
          <p:cNvPr id="135" name="Google Shape;135;p14"/>
          <p:cNvSpPr txBox="1"/>
          <p:nvPr>
            <p:ph idx="1" type="subTitle"/>
          </p:nvPr>
        </p:nvSpPr>
        <p:spPr>
          <a:xfrm>
            <a:off x="1446050" y="3308100"/>
            <a:ext cx="5818500" cy="792600"/>
          </a:xfrm>
          <a:prstGeom prst="rect">
            <a:avLst/>
          </a:prstGeom>
        </p:spPr>
        <p:txBody>
          <a:bodyPr anchorCtr="0" anchor="t" bIns="91425" lIns="91425" spcFirstLastPara="1" rIns="91425" wrap="square" tIns="91425">
            <a:normAutofit fontScale="92500"/>
          </a:bodyPr>
          <a:lstStyle/>
          <a:p>
            <a:pPr indent="0" lvl="0" marL="0" rtl="0" algn="l">
              <a:lnSpc>
                <a:spcPct val="107916"/>
              </a:lnSpc>
              <a:spcBef>
                <a:spcPts val="0"/>
              </a:spcBef>
              <a:spcAft>
                <a:spcPts val="0"/>
              </a:spcAft>
              <a:buClr>
                <a:schemeClr val="dk1"/>
              </a:buClr>
              <a:buSzPct val="44000"/>
              <a:buFont typeface="Arial"/>
              <a:buNone/>
            </a:pPr>
            <a:r>
              <a:rPr b="1" lang="en-GB" sz="2500">
                <a:solidFill>
                  <a:schemeClr val="dk2"/>
                </a:solidFill>
              </a:rPr>
              <a:t>LU2: Analyze Data Structures and algorithms</a:t>
            </a:r>
            <a:endParaRPr b="1">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2.1 Algorithm Analysis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6"/>
          <p:cNvSpPr txBox="1"/>
          <p:nvPr>
            <p:ph type="title"/>
          </p:nvPr>
        </p:nvSpPr>
        <p:spPr>
          <a:xfrm>
            <a:off x="446200" y="94925"/>
            <a:ext cx="7505700" cy="52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2.1.1 Introduction: What is an Algorithm?</a:t>
            </a:r>
            <a:endParaRPr/>
          </a:p>
        </p:txBody>
      </p:sp>
      <p:sp>
        <p:nvSpPr>
          <p:cNvPr id="146" name="Google Shape;146;p16"/>
          <p:cNvSpPr txBox="1"/>
          <p:nvPr>
            <p:ph idx="1" type="body"/>
          </p:nvPr>
        </p:nvSpPr>
        <p:spPr>
          <a:xfrm>
            <a:off x="303000" y="616925"/>
            <a:ext cx="8337000" cy="40710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GB" sz="1600">
                <a:solidFill>
                  <a:srgbClr val="000000"/>
                </a:solidFill>
                <a:latin typeface="Arial"/>
                <a:ea typeface="Arial"/>
                <a:cs typeface="Arial"/>
                <a:sym typeface="Arial"/>
              </a:rPr>
              <a:t>=&gt;</a:t>
            </a:r>
            <a:r>
              <a:rPr lang="en-GB" sz="1600">
                <a:solidFill>
                  <a:srgbClr val="000000"/>
                </a:solidFill>
                <a:latin typeface="Arial"/>
                <a:ea typeface="Arial"/>
                <a:cs typeface="Arial"/>
                <a:sym typeface="Arial"/>
              </a:rPr>
              <a:t>An </a:t>
            </a:r>
            <a:r>
              <a:rPr b="1" lang="en-GB" sz="1600">
                <a:solidFill>
                  <a:srgbClr val="000000"/>
                </a:solidFill>
                <a:latin typeface="Arial"/>
                <a:ea typeface="Arial"/>
                <a:cs typeface="Arial"/>
                <a:sym typeface="Arial"/>
              </a:rPr>
              <a:t>Algorithm </a:t>
            </a:r>
            <a:r>
              <a:rPr lang="en-GB" sz="1600">
                <a:solidFill>
                  <a:srgbClr val="000000"/>
                </a:solidFill>
                <a:latin typeface="Arial"/>
                <a:ea typeface="Arial"/>
                <a:cs typeface="Arial"/>
                <a:sym typeface="Arial"/>
              </a:rPr>
              <a:t>is a finite set of unambiguous steps or instructions to solve a given problem. </a:t>
            </a:r>
            <a:endParaRPr sz="1600">
              <a:solidFill>
                <a:srgbClr val="000000"/>
              </a:solidFill>
              <a:latin typeface="Arial"/>
              <a:ea typeface="Arial"/>
              <a:cs typeface="Arial"/>
              <a:sym typeface="Arial"/>
            </a:endParaRPr>
          </a:p>
          <a:p>
            <a:pPr indent="0" lvl="0" marL="0" rtl="0" algn="l">
              <a:spcBef>
                <a:spcPts val="0"/>
              </a:spcBef>
              <a:spcAft>
                <a:spcPts val="0"/>
              </a:spcAft>
              <a:buNone/>
            </a:pPr>
            <a:r>
              <a:rPr b="1" lang="en-GB" sz="1600">
                <a:solidFill>
                  <a:srgbClr val="000000"/>
                </a:solidFill>
                <a:latin typeface="Arial"/>
                <a:ea typeface="Arial"/>
                <a:cs typeface="Arial"/>
                <a:sym typeface="Arial"/>
              </a:rPr>
              <a:t>=&gt;</a:t>
            </a:r>
            <a:r>
              <a:rPr lang="en-GB" sz="1600">
                <a:solidFill>
                  <a:srgbClr val="000000"/>
                </a:solidFill>
                <a:latin typeface="Arial"/>
                <a:ea typeface="Arial"/>
                <a:cs typeface="Arial"/>
                <a:sym typeface="Arial"/>
              </a:rPr>
              <a:t>An algorithm is a </a:t>
            </a:r>
            <a:r>
              <a:rPr b="1" lang="en-GB" sz="1600">
                <a:solidFill>
                  <a:srgbClr val="000000"/>
                </a:solidFill>
                <a:latin typeface="Arial"/>
                <a:ea typeface="Arial"/>
                <a:cs typeface="Arial"/>
                <a:sym typeface="Arial"/>
              </a:rPr>
              <a:t>set of instructions for solving a problem </a:t>
            </a:r>
            <a:r>
              <a:rPr lang="en-GB" sz="1600">
                <a:solidFill>
                  <a:srgbClr val="000000"/>
                </a:solidFill>
                <a:latin typeface="Arial"/>
                <a:ea typeface="Arial"/>
                <a:cs typeface="Arial"/>
                <a:sym typeface="Arial"/>
              </a:rPr>
              <a:t>or accomplishing a task. </a:t>
            </a:r>
            <a:endParaRPr sz="1600">
              <a:solidFill>
                <a:srgbClr val="000000"/>
              </a:solidFill>
              <a:latin typeface="Arial"/>
              <a:ea typeface="Arial"/>
              <a:cs typeface="Arial"/>
              <a:sym typeface="Arial"/>
            </a:endParaRPr>
          </a:p>
          <a:p>
            <a:pPr indent="0" lvl="0" marL="0" rtl="0" algn="just">
              <a:lnSpc>
                <a:spcPct val="95000"/>
              </a:lnSpc>
              <a:spcBef>
                <a:spcPts val="0"/>
              </a:spcBef>
              <a:spcAft>
                <a:spcPts val="0"/>
              </a:spcAft>
              <a:buNone/>
            </a:pPr>
            <a:r>
              <a:rPr b="1" lang="en-GB" sz="1600">
                <a:solidFill>
                  <a:srgbClr val="000000"/>
                </a:solidFill>
                <a:latin typeface="Arial"/>
                <a:ea typeface="Arial"/>
                <a:cs typeface="Arial"/>
                <a:sym typeface="Arial"/>
              </a:rPr>
              <a:t>=&gt;</a:t>
            </a:r>
            <a:r>
              <a:rPr lang="en-GB" sz="1600">
                <a:solidFill>
                  <a:srgbClr val="000000"/>
                </a:solidFill>
                <a:latin typeface="Arial"/>
                <a:ea typeface="Arial"/>
                <a:cs typeface="Arial"/>
                <a:sym typeface="Arial"/>
              </a:rPr>
              <a:t>It can also be defined as  a process or </a:t>
            </a:r>
            <a:r>
              <a:rPr b="1" lang="en-GB" sz="1600">
                <a:solidFill>
                  <a:srgbClr val="000000"/>
                </a:solidFill>
                <a:latin typeface="Arial"/>
                <a:ea typeface="Arial"/>
                <a:cs typeface="Arial"/>
                <a:sym typeface="Arial"/>
              </a:rPr>
              <a:t>set of rules to be followed</a:t>
            </a:r>
            <a:r>
              <a:rPr lang="en-GB" sz="1600">
                <a:solidFill>
                  <a:srgbClr val="000000"/>
                </a:solidFill>
                <a:latin typeface="Arial"/>
                <a:ea typeface="Arial"/>
                <a:cs typeface="Arial"/>
                <a:sym typeface="Arial"/>
              </a:rPr>
              <a:t> in calculations or other problem-solving operations, especially by a computer</a:t>
            </a:r>
            <a:r>
              <a:rPr lang="en-GB" sz="1600">
                <a:solidFill>
                  <a:srgbClr val="212529"/>
                </a:solidFill>
                <a:latin typeface="Proxima Nova"/>
                <a:ea typeface="Proxima Nova"/>
                <a:cs typeface="Proxima Nova"/>
                <a:sym typeface="Proxima Nova"/>
              </a:rPr>
              <a:t>. </a:t>
            </a:r>
            <a:r>
              <a:rPr lang="en-GB" sz="1600">
                <a:solidFill>
                  <a:srgbClr val="000000"/>
                </a:solidFill>
                <a:latin typeface="Arial"/>
                <a:ea typeface="Arial"/>
                <a:cs typeface="Arial"/>
                <a:sym typeface="Arial"/>
              </a:rPr>
              <a:t>Knowledge of algorithms helps us to get desired results faster by applying the appropriate algorithm. We learn by experience. With experience, it becomes easy to solve new problems.</a:t>
            </a:r>
            <a:endParaRPr sz="1600">
              <a:solidFill>
                <a:srgbClr val="000000"/>
              </a:solidFill>
              <a:latin typeface="Arial"/>
              <a:ea typeface="Arial"/>
              <a:cs typeface="Arial"/>
              <a:sym typeface="Arial"/>
            </a:endParaRPr>
          </a:p>
          <a:p>
            <a:pPr indent="0" lvl="0" marL="0" rtl="0" algn="just">
              <a:lnSpc>
                <a:spcPct val="95000"/>
              </a:lnSpc>
              <a:spcBef>
                <a:spcPts val="0"/>
              </a:spcBef>
              <a:spcAft>
                <a:spcPts val="0"/>
              </a:spcAft>
              <a:buNone/>
            </a:pPr>
            <a:r>
              <a:t/>
            </a:r>
            <a:endParaRPr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rPr b="1" lang="en-GB" sz="1600">
                <a:solidFill>
                  <a:srgbClr val="000000"/>
                </a:solidFill>
                <a:highlight>
                  <a:srgbClr val="A4C2F4"/>
                </a:highlight>
                <a:latin typeface="Arial"/>
                <a:ea typeface="Arial"/>
                <a:cs typeface="Arial"/>
                <a:sym typeface="Arial"/>
              </a:rPr>
              <a:t>T</a:t>
            </a:r>
            <a:r>
              <a:rPr b="1" lang="en-GB" sz="1600">
                <a:solidFill>
                  <a:srgbClr val="000000"/>
                </a:solidFill>
                <a:highlight>
                  <a:srgbClr val="C9DAF8"/>
                </a:highlight>
                <a:latin typeface="Arial"/>
                <a:ea typeface="Arial"/>
                <a:cs typeface="Arial"/>
                <a:sym typeface="Arial"/>
              </a:rPr>
              <a:t>he properties of an algorithm are:</a:t>
            </a:r>
            <a:endParaRPr b="1" sz="1600">
              <a:solidFill>
                <a:srgbClr val="000000"/>
              </a:solidFill>
              <a:highlight>
                <a:srgbClr val="C9DAF8"/>
              </a:highlight>
              <a:latin typeface="Arial"/>
              <a:ea typeface="Arial"/>
              <a:cs typeface="Arial"/>
              <a:sym typeface="Arial"/>
            </a:endParaRPr>
          </a:p>
          <a:p>
            <a:pPr indent="0" lvl="0" marL="0" rtl="0" algn="l">
              <a:lnSpc>
                <a:spcPct val="95000"/>
              </a:lnSpc>
              <a:spcBef>
                <a:spcPts val="0"/>
              </a:spcBef>
              <a:spcAft>
                <a:spcPts val="0"/>
              </a:spcAft>
              <a:buNone/>
            </a:pPr>
            <a:r>
              <a:rPr lang="en-GB" sz="1600">
                <a:solidFill>
                  <a:srgbClr val="000000"/>
                </a:solidFill>
                <a:latin typeface="Arial"/>
                <a:ea typeface="Arial"/>
                <a:cs typeface="Arial"/>
                <a:sym typeface="Arial"/>
              </a:rPr>
              <a:t>1. It takes </a:t>
            </a:r>
            <a:r>
              <a:rPr b="1" lang="en-GB" sz="1600">
                <a:solidFill>
                  <a:srgbClr val="000000"/>
                </a:solidFill>
                <a:latin typeface="Arial"/>
                <a:ea typeface="Arial"/>
                <a:cs typeface="Arial"/>
                <a:sym typeface="Arial"/>
              </a:rPr>
              <a:t>zero or more inputs.</a:t>
            </a:r>
            <a:endParaRPr b="1"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rPr lang="en-GB" sz="1600">
                <a:solidFill>
                  <a:srgbClr val="000000"/>
                </a:solidFill>
                <a:latin typeface="Arial"/>
                <a:ea typeface="Arial"/>
                <a:cs typeface="Arial"/>
                <a:sym typeface="Arial"/>
              </a:rPr>
              <a:t>2. It should produce </a:t>
            </a:r>
            <a:r>
              <a:rPr b="1" lang="en-GB" sz="1600">
                <a:solidFill>
                  <a:srgbClr val="000000"/>
                </a:solidFill>
                <a:latin typeface="Arial"/>
                <a:ea typeface="Arial"/>
                <a:cs typeface="Arial"/>
                <a:sym typeface="Arial"/>
              </a:rPr>
              <a:t>one or more output.</a:t>
            </a:r>
            <a:endParaRPr b="1"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rPr lang="en-GB" sz="1600">
                <a:solidFill>
                  <a:srgbClr val="000000"/>
                </a:solidFill>
                <a:latin typeface="Arial"/>
                <a:ea typeface="Arial"/>
                <a:cs typeface="Arial"/>
                <a:sym typeface="Arial"/>
              </a:rPr>
              <a:t>3. It should be </a:t>
            </a:r>
            <a:r>
              <a:rPr b="1" lang="en-GB" sz="1600">
                <a:solidFill>
                  <a:srgbClr val="000000"/>
                </a:solidFill>
                <a:latin typeface="Arial"/>
                <a:ea typeface="Arial"/>
                <a:cs typeface="Arial"/>
                <a:sym typeface="Arial"/>
              </a:rPr>
              <a:t>Deterministic. </a:t>
            </a:r>
            <a:r>
              <a:rPr lang="en-GB" sz="1600">
                <a:solidFill>
                  <a:srgbClr val="000000"/>
                </a:solidFill>
                <a:latin typeface="Arial"/>
                <a:ea typeface="Arial"/>
                <a:cs typeface="Arial"/>
                <a:sym typeface="Arial"/>
              </a:rPr>
              <a:t>It produces the same output if the same input is provided again.</a:t>
            </a:r>
            <a:endParaRPr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rPr lang="en-GB" sz="1600">
                <a:solidFill>
                  <a:srgbClr val="000000"/>
                </a:solidFill>
                <a:latin typeface="Arial"/>
                <a:ea typeface="Arial"/>
                <a:cs typeface="Arial"/>
                <a:sym typeface="Arial"/>
              </a:rPr>
              <a:t>4. It should be </a:t>
            </a:r>
            <a:r>
              <a:rPr b="1" lang="en-GB" sz="1600">
                <a:solidFill>
                  <a:srgbClr val="000000"/>
                </a:solidFill>
                <a:latin typeface="Arial"/>
                <a:ea typeface="Arial"/>
                <a:cs typeface="Arial"/>
                <a:sym typeface="Arial"/>
              </a:rPr>
              <a:t>Correct.</a:t>
            </a:r>
            <a:r>
              <a:rPr lang="en-GB" sz="1600">
                <a:solidFill>
                  <a:srgbClr val="000000"/>
                </a:solidFill>
                <a:latin typeface="Arial"/>
                <a:ea typeface="Arial"/>
                <a:cs typeface="Arial"/>
                <a:sym typeface="Arial"/>
              </a:rPr>
              <a:t> It should be correct and able to process all the given inputs and provide the correct output.</a:t>
            </a:r>
            <a:endParaRPr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rPr lang="en-GB" sz="1600">
                <a:solidFill>
                  <a:srgbClr val="000000"/>
                </a:solidFill>
                <a:latin typeface="Arial"/>
                <a:ea typeface="Arial"/>
                <a:cs typeface="Arial"/>
                <a:sym typeface="Arial"/>
              </a:rPr>
              <a:t>5.It should </a:t>
            </a:r>
            <a:r>
              <a:rPr b="1" lang="en-GB" sz="1600">
                <a:solidFill>
                  <a:srgbClr val="000000"/>
                </a:solidFill>
                <a:latin typeface="Arial"/>
                <a:ea typeface="Arial"/>
                <a:cs typeface="Arial"/>
                <a:sym typeface="Arial"/>
              </a:rPr>
              <a:t>Terminate</a:t>
            </a:r>
            <a:r>
              <a:rPr lang="en-GB" sz="1600">
                <a:solidFill>
                  <a:srgbClr val="000000"/>
                </a:solidFill>
                <a:latin typeface="Arial"/>
                <a:ea typeface="Arial"/>
                <a:cs typeface="Arial"/>
                <a:sym typeface="Arial"/>
              </a:rPr>
              <a:t> in a finite time.</a:t>
            </a:r>
            <a:endParaRPr sz="1600">
              <a:solidFill>
                <a:srgbClr val="000000"/>
              </a:solidFill>
              <a:latin typeface="Arial"/>
              <a:ea typeface="Arial"/>
              <a:cs typeface="Arial"/>
              <a:sym typeface="Arial"/>
            </a:endParaRPr>
          </a:p>
          <a:p>
            <a:pPr indent="0" lvl="0" marL="0" rtl="0" algn="l">
              <a:lnSpc>
                <a:spcPct val="95000"/>
              </a:lnSpc>
              <a:spcBef>
                <a:spcPts val="0"/>
              </a:spcBef>
              <a:spcAft>
                <a:spcPts val="0"/>
              </a:spcAft>
              <a:buNone/>
            </a:pPr>
            <a:r>
              <a:rPr lang="en-GB" sz="1600">
                <a:solidFill>
                  <a:srgbClr val="000000"/>
                </a:solidFill>
                <a:latin typeface="Arial"/>
                <a:ea typeface="Arial"/>
                <a:cs typeface="Arial"/>
                <a:sym typeface="Arial"/>
              </a:rPr>
              <a:t>6. It should be </a:t>
            </a:r>
            <a:r>
              <a:rPr b="1" lang="en-GB" sz="1600">
                <a:solidFill>
                  <a:srgbClr val="000000"/>
                </a:solidFill>
                <a:latin typeface="Arial"/>
                <a:ea typeface="Arial"/>
                <a:cs typeface="Arial"/>
                <a:sym typeface="Arial"/>
              </a:rPr>
              <a:t>Efficient</a:t>
            </a:r>
            <a:r>
              <a:rPr lang="en-GB" sz="1600">
                <a:solidFill>
                  <a:srgbClr val="000000"/>
                </a:solidFill>
                <a:latin typeface="Arial"/>
                <a:ea typeface="Arial"/>
                <a:cs typeface="Arial"/>
                <a:sym typeface="Arial"/>
              </a:rPr>
              <a:t>. The algorithm should be efficient in solving problems.</a:t>
            </a:r>
            <a:endParaRPr sz="16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title"/>
          </p:nvPr>
        </p:nvSpPr>
        <p:spPr>
          <a:xfrm>
            <a:off x="446200" y="94925"/>
            <a:ext cx="7505700" cy="5220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GB" sz="2500">
                <a:solidFill>
                  <a:srgbClr val="212529"/>
                </a:solidFill>
                <a:latin typeface="Proxima Nova"/>
                <a:ea typeface="Proxima Nova"/>
                <a:cs typeface="Proxima Nova"/>
                <a:sym typeface="Proxima Nova"/>
              </a:rPr>
              <a:t>2.1.2 Algorithm representation:</a:t>
            </a:r>
            <a:endParaRPr/>
          </a:p>
        </p:txBody>
      </p:sp>
      <p:sp>
        <p:nvSpPr>
          <p:cNvPr id="152" name="Google Shape;152;p17"/>
          <p:cNvSpPr txBox="1"/>
          <p:nvPr>
            <p:ph idx="1" type="body"/>
          </p:nvPr>
        </p:nvSpPr>
        <p:spPr>
          <a:xfrm>
            <a:off x="264150" y="710175"/>
            <a:ext cx="8337000" cy="40710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Clr>
                <a:srgbClr val="212529"/>
              </a:buClr>
              <a:buSzPts val="2500"/>
              <a:buFont typeface="Proxima Nova"/>
              <a:buChar char="●"/>
            </a:pPr>
            <a:r>
              <a:rPr lang="en-GB" sz="2500">
                <a:solidFill>
                  <a:srgbClr val="212529"/>
                </a:solidFill>
                <a:latin typeface="Proxima Nova"/>
                <a:ea typeface="Proxima Nova"/>
                <a:cs typeface="Proxima Nova"/>
                <a:sym typeface="Proxima Nova"/>
              </a:rPr>
              <a:t>Natural Language</a:t>
            </a:r>
            <a:endParaRPr sz="2500">
              <a:solidFill>
                <a:srgbClr val="212529"/>
              </a:solidFill>
              <a:latin typeface="Proxima Nova"/>
              <a:ea typeface="Proxima Nova"/>
              <a:cs typeface="Proxima Nova"/>
              <a:sym typeface="Proxima Nova"/>
            </a:endParaRPr>
          </a:p>
          <a:p>
            <a:pPr indent="-387350" lvl="0" marL="457200" rtl="0" algn="l">
              <a:spcBef>
                <a:spcPts val="0"/>
              </a:spcBef>
              <a:spcAft>
                <a:spcPts val="0"/>
              </a:spcAft>
              <a:buClr>
                <a:srgbClr val="212529"/>
              </a:buClr>
              <a:buSzPts val="2500"/>
              <a:buFont typeface="Proxima Nova"/>
              <a:buChar char="●"/>
            </a:pPr>
            <a:r>
              <a:rPr lang="en-GB" sz="2500">
                <a:solidFill>
                  <a:srgbClr val="212529"/>
                </a:solidFill>
                <a:latin typeface="Proxima Nova"/>
                <a:ea typeface="Proxima Nova"/>
                <a:cs typeface="Proxima Nova"/>
                <a:sym typeface="Proxima Nova"/>
              </a:rPr>
              <a:t>Pseudocode</a:t>
            </a:r>
            <a:endParaRPr sz="2500">
              <a:solidFill>
                <a:srgbClr val="212529"/>
              </a:solidFill>
              <a:latin typeface="Proxima Nova"/>
              <a:ea typeface="Proxima Nova"/>
              <a:cs typeface="Proxima Nova"/>
              <a:sym typeface="Proxima Nova"/>
            </a:endParaRPr>
          </a:p>
          <a:p>
            <a:pPr indent="-387350" lvl="0" marL="457200" rtl="0" algn="l">
              <a:spcBef>
                <a:spcPts val="0"/>
              </a:spcBef>
              <a:spcAft>
                <a:spcPts val="0"/>
              </a:spcAft>
              <a:buClr>
                <a:srgbClr val="212529"/>
              </a:buClr>
              <a:buSzPts val="2500"/>
              <a:buFont typeface="Proxima Nova"/>
              <a:buChar char="●"/>
            </a:pPr>
            <a:r>
              <a:rPr lang="en-GB" sz="2500">
                <a:solidFill>
                  <a:srgbClr val="212529"/>
                </a:solidFill>
                <a:latin typeface="Proxima Nova"/>
                <a:ea typeface="Proxima Nova"/>
                <a:cs typeface="Proxima Nova"/>
                <a:sym typeface="Proxima Nova"/>
              </a:rPr>
              <a:t>Flowchart</a:t>
            </a:r>
            <a:endParaRPr sz="19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ph type="title"/>
          </p:nvPr>
        </p:nvSpPr>
        <p:spPr>
          <a:xfrm>
            <a:off x="446200" y="323525"/>
            <a:ext cx="7505700" cy="52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800"/>
              <a:t> 2.1.3 Algorithm Complexity</a:t>
            </a:r>
            <a:endParaRPr sz="2800"/>
          </a:p>
        </p:txBody>
      </p:sp>
      <p:sp>
        <p:nvSpPr>
          <p:cNvPr id="158" name="Google Shape;158;p18"/>
          <p:cNvSpPr txBox="1"/>
          <p:nvPr>
            <p:ph idx="1" type="body"/>
          </p:nvPr>
        </p:nvSpPr>
        <p:spPr>
          <a:xfrm>
            <a:off x="318550" y="955675"/>
            <a:ext cx="8337000" cy="3884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500">
                <a:solidFill>
                  <a:srgbClr val="000000"/>
                </a:solidFill>
                <a:latin typeface="Arial"/>
                <a:ea typeface="Arial"/>
                <a:cs typeface="Arial"/>
                <a:sym typeface="Arial"/>
              </a:rPr>
              <a:t>The </a:t>
            </a:r>
            <a:r>
              <a:rPr b="1" lang="en-GB" sz="1500">
                <a:solidFill>
                  <a:srgbClr val="000000"/>
                </a:solidFill>
                <a:latin typeface="Arial"/>
                <a:ea typeface="Arial"/>
                <a:cs typeface="Arial"/>
                <a:sym typeface="Arial"/>
              </a:rPr>
              <a:t>complexity of an algorithm</a:t>
            </a:r>
            <a:r>
              <a:rPr lang="en-GB" sz="1500">
                <a:solidFill>
                  <a:srgbClr val="000000"/>
                </a:solidFill>
                <a:latin typeface="Arial"/>
                <a:ea typeface="Arial"/>
                <a:cs typeface="Arial"/>
                <a:sym typeface="Arial"/>
              </a:rPr>
              <a:t> is the amount of </a:t>
            </a:r>
            <a:r>
              <a:rPr b="1" lang="en-GB" sz="1500">
                <a:solidFill>
                  <a:srgbClr val="000000"/>
                </a:solidFill>
                <a:latin typeface="Arial"/>
                <a:ea typeface="Arial"/>
                <a:cs typeface="Arial"/>
                <a:sym typeface="Arial"/>
              </a:rPr>
              <a:t>Time</a:t>
            </a:r>
            <a:r>
              <a:rPr lang="en-GB" sz="1500">
                <a:solidFill>
                  <a:srgbClr val="000000"/>
                </a:solidFill>
                <a:latin typeface="Arial"/>
                <a:ea typeface="Arial"/>
                <a:cs typeface="Arial"/>
                <a:sym typeface="Arial"/>
              </a:rPr>
              <a:t> or </a:t>
            </a:r>
            <a:r>
              <a:rPr b="1" lang="en-GB" sz="1500">
                <a:solidFill>
                  <a:srgbClr val="000000"/>
                </a:solidFill>
                <a:latin typeface="Arial"/>
                <a:ea typeface="Arial"/>
                <a:cs typeface="Arial"/>
                <a:sym typeface="Arial"/>
              </a:rPr>
              <a:t>Space</a:t>
            </a:r>
            <a:r>
              <a:rPr lang="en-GB" sz="1500">
                <a:solidFill>
                  <a:srgbClr val="000000"/>
                </a:solidFill>
                <a:latin typeface="Arial"/>
                <a:ea typeface="Arial"/>
                <a:cs typeface="Arial"/>
                <a:sym typeface="Arial"/>
              </a:rPr>
              <a:t> required by the algorithm to process the input and produce the output. Algorithm designers strive to develop algorithms with the lowest possible time and space/memory complexities, since this makes them more efficient and scalable.</a:t>
            </a:r>
            <a:endParaRPr>
              <a:solidFill>
                <a:srgbClr val="273239"/>
              </a:solidFill>
              <a:highlight>
                <a:srgbClr val="FFFFFF"/>
              </a:highlight>
              <a:latin typeface="Nunito"/>
              <a:ea typeface="Nunito"/>
              <a:cs typeface="Nunito"/>
              <a:sym typeface="Nunito"/>
            </a:endParaRPr>
          </a:p>
          <a:p>
            <a:pPr indent="0" lvl="0" marL="0" rtl="0" algn="l">
              <a:spcBef>
                <a:spcPts val="0"/>
              </a:spcBef>
              <a:spcAft>
                <a:spcPts val="0"/>
              </a:spcAft>
              <a:buNone/>
            </a:pPr>
            <a:r>
              <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GB" sz="1500">
                <a:solidFill>
                  <a:srgbClr val="000000"/>
                </a:solidFill>
                <a:latin typeface="Arial"/>
                <a:ea typeface="Arial"/>
                <a:cs typeface="Arial"/>
                <a:sym typeface="Arial"/>
              </a:rPr>
              <a:t>There are </a:t>
            </a:r>
            <a:r>
              <a:rPr b="1" lang="en-GB" sz="1500">
                <a:solidFill>
                  <a:srgbClr val="000000"/>
                </a:solidFill>
                <a:latin typeface="Arial"/>
                <a:ea typeface="Arial"/>
                <a:cs typeface="Arial"/>
                <a:sym typeface="Arial"/>
              </a:rPr>
              <a:t>two types of Complexity:</a:t>
            </a:r>
            <a:endParaRPr b="1" sz="1500">
              <a:solidFill>
                <a:srgbClr val="000000"/>
              </a:solidFill>
              <a:latin typeface="Arial"/>
              <a:ea typeface="Arial"/>
              <a:cs typeface="Arial"/>
              <a:sym typeface="Arial"/>
            </a:endParaRPr>
          </a:p>
          <a:p>
            <a:pPr indent="0" lvl="0" marL="0" rtl="0" algn="l">
              <a:spcBef>
                <a:spcPts val="0"/>
              </a:spcBef>
              <a:spcAft>
                <a:spcPts val="0"/>
              </a:spcAft>
              <a:buNone/>
            </a:pPr>
            <a:r>
              <a:rPr lang="en-GB" sz="1500">
                <a:solidFill>
                  <a:srgbClr val="000000"/>
                </a:solidFill>
                <a:latin typeface="Arial"/>
                <a:ea typeface="Arial"/>
                <a:cs typeface="Arial"/>
                <a:sym typeface="Arial"/>
              </a:rPr>
              <a:t>1. First is </a:t>
            </a:r>
            <a:r>
              <a:rPr b="1" lang="en-GB" sz="1500">
                <a:solidFill>
                  <a:srgbClr val="000000"/>
                </a:solidFill>
                <a:latin typeface="Arial"/>
                <a:ea typeface="Arial"/>
                <a:cs typeface="Arial"/>
                <a:sym typeface="Arial"/>
              </a:rPr>
              <a:t>Time-Complexity</a:t>
            </a:r>
            <a:r>
              <a:rPr lang="en-GB" sz="1500">
                <a:solidFill>
                  <a:srgbClr val="000000"/>
                </a:solidFill>
                <a:latin typeface="Arial"/>
                <a:ea typeface="Arial"/>
                <a:cs typeface="Arial"/>
                <a:sym typeface="Arial"/>
              </a:rPr>
              <a:t>, how much time is required by an algorithm to produce output for an input of size 'n'.</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GB" sz="1500">
                <a:solidFill>
                  <a:srgbClr val="000000"/>
                </a:solidFill>
                <a:latin typeface="Arial"/>
                <a:ea typeface="Arial"/>
                <a:cs typeface="Arial"/>
                <a:sym typeface="Arial"/>
              </a:rPr>
              <a:t>Time-Complexity is represented by function T(n) - time required versus the input size n.</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GB" sz="1500">
                <a:solidFill>
                  <a:srgbClr val="000000"/>
                </a:solidFill>
                <a:latin typeface="Arial"/>
                <a:ea typeface="Arial"/>
                <a:cs typeface="Arial"/>
                <a:sym typeface="Arial"/>
              </a:rPr>
              <a:t>2. Second is</a:t>
            </a:r>
            <a:r>
              <a:rPr b="1" lang="en-GB" sz="1500">
                <a:solidFill>
                  <a:srgbClr val="000000"/>
                </a:solidFill>
                <a:latin typeface="Arial"/>
                <a:ea typeface="Arial"/>
                <a:cs typeface="Arial"/>
                <a:sym typeface="Arial"/>
              </a:rPr>
              <a:t> Space-Complexity</a:t>
            </a:r>
            <a:r>
              <a:rPr lang="en-GB" sz="1500">
                <a:solidFill>
                  <a:srgbClr val="000000"/>
                </a:solidFill>
                <a:latin typeface="Arial"/>
                <a:ea typeface="Arial"/>
                <a:cs typeface="Arial"/>
                <a:sym typeface="Arial"/>
              </a:rPr>
              <a:t>, how much RAM or memory that an algorithm is going to</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GB" sz="1500">
                <a:solidFill>
                  <a:srgbClr val="000000"/>
                </a:solidFill>
                <a:latin typeface="Arial"/>
                <a:ea typeface="Arial"/>
                <a:cs typeface="Arial"/>
                <a:sym typeface="Arial"/>
              </a:rPr>
              <a:t>consume to produce output for an input of size 'n'.</a:t>
            </a:r>
            <a:endParaRPr sz="1500">
              <a:solidFill>
                <a:srgbClr val="000000"/>
              </a:solidFill>
              <a:latin typeface="Arial"/>
              <a:ea typeface="Arial"/>
              <a:cs typeface="Arial"/>
              <a:sym typeface="Arial"/>
            </a:endParaRPr>
          </a:p>
          <a:p>
            <a:pPr indent="0" lvl="0" marL="0" rtl="0" algn="l">
              <a:spcBef>
                <a:spcPts val="0"/>
              </a:spcBef>
              <a:spcAft>
                <a:spcPts val="0"/>
              </a:spcAft>
              <a:buNone/>
            </a:pPr>
            <a:r>
              <a:t/>
            </a:r>
            <a:endParaRPr sz="1500">
              <a:solidFill>
                <a:srgbClr val="000000"/>
              </a:solidFill>
              <a:latin typeface="Arial"/>
              <a:ea typeface="Arial"/>
              <a:cs typeface="Arial"/>
              <a:sym typeface="Arial"/>
            </a:endParaRPr>
          </a:p>
          <a:p>
            <a:pPr indent="0" lvl="0" marL="0" rtl="0" algn="l">
              <a:spcBef>
                <a:spcPts val="0"/>
              </a:spcBef>
              <a:spcAft>
                <a:spcPts val="0"/>
              </a:spcAft>
              <a:buNone/>
            </a:pPr>
            <a:r>
              <a:rPr lang="en-GB" sz="1500">
                <a:solidFill>
                  <a:srgbClr val="000000"/>
                </a:solidFill>
                <a:latin typeface="Arial"/>
                <a:ea typeface="Arial"/>
                <a:cs typeface="Arial"/>
                <a:sym typeface="Arial"/>
              </a:rPr>
              <a:t>Space-Complexity is represented by function S(n) - memory used versus the input size n.</a:t>
            </a:r>
            <a:endParaRPr sz="1500">
              <a:solidFill>
                <a:srgbClr val="000000"/>
              </a:solidFill>
              <a:latin typeface="Arial"/>
              <a:ea typeface="Arial"/>
              <a:cs typeface="Arial"/>
              <a:sym typeface="Arial"/>
            </a:endParaRPr>
          </a:p>
          <a:p>
            <a:pPr indent="0" lvl="0" marL="0" rtl="0" algn="l">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rPr lang="en-GB" sz="1500">
                <a:solidFill>
                  <a:srgbClr val="000000"/>
                </a:solidFill>
                <a:latin typeface="Arial"/>
                <a:ea typeface="Arial"/>
                <a:cs typeface="Arial"/>
                <a:sym typeface="Arial"/>
              </a:rPr>
              <a:t>An algorithm is analyzed using Time Complexity and Space Complexity. Writing an efficient algorithm help to consume the minimum amount of time for processing the logic.</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446200" y="323525"/>
            <a:ext cx="7505700" cy="52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700"/>
              <a:t>Experimental Analysis</a:t>
            </a:r>
            <a:endParaRPr b="1" sz="2700"/>
          </a:p>
        </p:txBody>
      </p:sp>
      <p:sp>
        <p:nvSpPr>
          <p:cNvPr id="164" name="Google Shape;164;p19"/>
          <p:cNvSpPr txBox="1"/>
          <p:nvPr>
            <p:ph idx="1" type="body"/>
          </p:nvPr>
        </p:nvSpPr>
        <p:spPr>
          <a:xfrm>
            <a:off x="318550" y="955675"/>
            <a:ext cx="8825400" cy="4093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GB" sz="2100">
                <a:solidFill>
                  <a:srgbClr val="000000"/>
                </a:solidFill>
                <a:latin typeface="Arial"/>
                <a:ea typeface="Arial"/>
                <a:cs typeface="Arial"/>
                <a:sym typeface="Arial"/>
              </a:rPr>
              <a:t>Write code  for every solution, record the time and plot the time on the graph. Compile and run the following program for both Merge Sort and selection sort for 10 million elements:</a:t>
            </a:r>
            <a:endParaRPr sz="21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i="1" lang="en-GB">
                <a:solidFill>
                  <a:srgbClr val="000000"/>
                </a:solidFill>
                <a:latin typeface="Arial"/>
                <a:ea typeface="Arial"/>
                <a:cs typeface="Arial"/>
                <a:sym typeface="Arial"/>
              </a:rPr>
              <a:t>https://shorturl.at/Lb53K</a:t>
            </a:r>
            <a:endParaRPr b="1" i="1" sz="2100">
              <a:solidFill>
                <a:srgbClr val="000000"/>
              </a:solidFill>
              <a:latin typeface="Arial"/>
              <a:ea typeface="Arial"/>
              <a:cs typeface="Arial"/>
              <a:sym typeface="Arial"/>
            </a:endParaRPr>
          </a:p>
          <a:p>
            <a:pPr indent="0" lvl="0" marL="0" rtl="0" algn="just">
              <a:spcBef>
                <a:spcPts val="0"/>
              </a:spcBef>
              <a:spcAft>
                <a:spcPts val="0"/>
              </a:spcAft>
              <a:buNone/>
            </a:pPr>
            <a:r>
              <a:t/>
            </a:r>
            <a:endParaRPr sz="2100">
              <a:solidFill>
                <a:srgbClr val="000000"/>
              </a:solidFill>
              <a:latin typeface="Arial"/>
              <a:ea typeface="Arial"/>
              <a:cs typeface="Arial"/>
              <a:sym typeface="Arial"/>
            </a:endParaRPr>
          </a:p>
          <a:p>
            <a:pPr indent="0" lvl="0" marL="0" rtl="0" algn="just">
              <a:spcBef>
                <a:spcPts val="0"/>
              </a:spcBef>
              <a:spcAft>
                <a:spcPts val="0"/>
              </a:spcAft>
              <a:buNone/>
            </a:pPr>
            <a:r>
              <a:t/>
            </a:r>
            <a:endParaRPr b="1" sz="2100">
              <a:solidFill>
                <a:srgbClr val="000000"/>
              </a:solidFill>
              <a:latin typeface="Arial"/>
              <a:ea typeface="Arial"/>
              <a:cs typeface="Arial"/>
              <a:sym typeface="Arial"/>
            </a:endParaRPr>
          </a:p>
        </p:txBody>
      </p:sp>
      <p:pic>
        <p:nvPicPr>
          <p:cNvPr id="165" name="Google Shape;165;p19"/>
          <p:cNvPicPr preferRelativeResize="0"/>
          <p:nvPr/>
        </p:nvPicPr>
        <p:blipFill>
          <a:blip r:embed="rId3">
            <a:alphaModFix/>
          </a:blip>
          <a:stretch>
            <a:fillRect/>
          </a:stretch>
        </p:blipFill>
        <p:spPr>
          <a:xfrm>
            <a:off x="4534375" y="2357963"/>
            <a:ext cx="4369651" cy="1503900"/>
          </a:xfrm>
          <a:prstGeom prst="rect">
            <a:avLst/>
          </a:prstGeom>
          <a:noFill/>
          <a:ln>
            <a:noFill/>
          </a:ln>
        </p:spPr>
      </p:pic>
      <p:pic>
        <p:nvPicPr>
          <p:cNvPr id="166" name="Google Shape;166;p19"/>
          <p:cNvPicPr preferRelativeResize="0"/>
          <p:nvPr/>
        </p:nvPicPr>
        <p:blipFill>
          <a:blip r:embed="rId4">
            <a:alphaModFix/>
          </a:blip>
          <a:stretch>
            <a:fillRect/>
          </a:stretch>
        </p:blipFill>
        <p:spPr>
          <a:xfrm>
            <a:off x="446200" y="3207575"/>
            <a:ext cx="3785375" cy="1403425"/>
          </a:xfrm>
          <a:prstGeom prst="rect">
            <a:avLst/>
          </a:prstGeom>
          <a:noFill/>
          <a:ln>
            <a:noFill/>
          </a:ln>
        </p:spPr>
      </p:pic>
      <p:sp>
        <p:nvSpPr>
          <p:cNvPr id="167" name="Google Shape;167;p19"/>
          <p:cNvSpPr txBox="1"/>
          <p:nvPr/>
        </p:nvSpPr>
        <p:spPr>
          <a:xfrm>
            <a:off x="446200" y="2796450"/>
            <a:ext cx="31356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highlight>
                  <a:srgbClr val="C9DAF8"/>
                </a:highlight>
                <a:latin typeface="Calibri"/>
                <a:ea typeface="Calibri"/>
                <a:cs typeface="Calibri"/>
                <a:sym typeface="Calibri"/>
              </a:rPr>
              <a:t>Merge Sort for 10.000.000 elements</a:t>
            </a:r>
            <a:endParaRPr b="1">
              <a:highlight>
                <a:srgbClr val="C9DAF8"/>
              </a:highlight>
              <a:latin typeface="Calibri"/>
              <a:ea typeface="Calibri"/>
              <a:cs typeface="Calibri"/>
              <a:sym typeface="Calibri"/>
            </a:endParaRPr>
          </a:p>
        </p:txBody>
      </p:sp>
      <p:sp>
        <p:nvSpPr>
          <p:cNvPr id="168" name="Google Shape;168;p19"/>
          <p:cNvSpPr txBox="1"/>
          <p:nvPr/>
        </p:nvSpPr>
        <p:spPr>
          <a:xfrm>
            <a:off x="4913850" y="2008475"/>
            <a:ext cx="31899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highlight>
                  <a:srgbClr val="C9DAF8"/>
                </a:highlight>
                <a:latin typeface="Calibri"/>
                <a:ea typeface="Calibri"/>
                <a:cs typeface="Calibri"/>
                <a:sym typeface="Calibri"/>
              </a:rPr>
              <a:t>Selection sort: 10.000.000 elements</a:t>
            </a:r>
            <a:endParaRPr b="1">
              <a:highlight>
                <a:srgbClr val="C9DAF8"/>
              </a:highlight>
              <a:latin typeface="Calibri"/>
              <a:ea typeface="Calibri"/>
              <a:cs typeface="Calibri"/>
              <a:sym typeface="Calibri"/>
            </a:endParaRPr>
          </a:p>
        </p:txBody>
      </p:sp>
      <p:sp>
        <p:nvSpPr>
          <p:cNvPr id="169" name="Google Shape;169;p19"/>
          <p:cNvSpPr txBox="1"/>
          <p:nvPr/>
        </p:nvSpPr>
        <p:spPr>
          <a:xfrm>
            <a:off x="4692850" y="3985825"/>
            <a:ext cx="4006500" cy="916800"/>
          </a:xfrm>
          <a:prstGeom prst="rect">
            <a:avLst/>
          </a:prstGeom>
          <a:solidFill>
            <a:srgbClr val="FF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Calibri"/>
                <a:ea typeface="Calibri"/>
                <a:cs typeface="Calibri"/>
                <a:sym typeface="Calibri"/>
              </a:rPr>
              <a:t>The selection sort to finish sorting 10 Million elements will take 8-10 hours which is very difficult to wait or handle.  Experimental analysis is difficult to use.</a:t>
            </a:r>
            <a:endParaRPr>
              <a:latin typeface="Calibri"/>
              <a:ea typeface="Calibri"/>
              <a:cs typeface="Calibri"/>
              <a:sym typeface="Calibri"/>
            </a:endParaRPr>
          </a:p>
        </p:txBody>
      </p:sp>
      <p:cxnSp>
        <p:nvCxnSpPr>
          <p:cNvPr id="170" name="Google Shape;170;p19"/>
          <p:cNvCxnSpPr>
            <a:endCxn id="169" idx="0"/>
          </p:cNvCxnSpPr>
          <p:nvPr/>
        </p:nvCxnSpPr>
        <p:spPr>
          <a:xfrm>
            <a:off x="6050800" y="3596425"/>
            <a:ext cx="645300" cy="389400"/>
          </a:xfrm>
          <a:prstGeom prst="straightConnector1">
            <a:avLst/>
          </a:prstGeom>
          <a:noFill/>
          <a:ln cap="flat" cmpd="sng" w="38100">
            <a:solidFill>
              <a:srgbClr val="FF9900"/>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446200" y="323525"/>
            <a:ext cx="7505700" cy="5220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GB" sz="2200">
                <a:solidFill>
                  <a:srgbClr val="FF9900"/>
                </a:solidFill>
                <a:latin typeface="Arial"/>
                <a:ea typeface="Arial"/>
                <a:cs typeface="Arial"/>
                <a:sym typeface="Arial"/>
              </a:rPr>
              <a:t>Theoretical analysis of an Algorithm</a:t>
            </a:r>
            <a:endParaRPr b="1" sz="2200">
              <a:solidFill>
                <a:srgbClr val="FF9900"/>
              </a:solidFill>
              <a:latin typeface="Arial"/>
              <a:ea typeface="Arial"/>
              <a:cs typeface="Arial"/>
              <a:sym typeface="Arial"/>
            </a:endParaRPr>
          </a:p>
          <a:p>
            <a:pPr indent="0" lvl="0" marL="0" rtl="0" algn="l">
              <a:spcBef>
                <a:spcPts val="0"/>
              </a:spcBef>
              <a:spcAft>
                <a:spcPts val="0"/>
              </a:spcAft>
              <a:buSzPts val="990"/>
              <a:buNone/>
            </a:pPr>
            <a:r>
              <a:t/>
            </a:r>
            <a:endParaRPr b="1" sz="2700"/>
          </a:p>
        </p:txBody>
      </p:sp>
      <p:sp>
        <p:nvSpPr>
          <p:cNvPr id="176" name="Google Shape;176;p20"/>
          <p:cNvSpPr txBox="1"/>
          <p:nvPr>
            <p:ph idx="1" type="body"/>
          </p:nvPr>
        </p:nvSpPr>
        <p:spPr>
          <a:xfrm>
            <a:off x="318550" y="955675"/>
            <a:ext cx="8608800" cy="3884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2800">
                <a:solidFill>
                  <a:srgbClr val="000000"/>
                </a:solidFill>
                <a:latin typeface="Arial"/>
                <a:ea typeface="Arial"/>
                <a:cs typeface="Arial"/>
                <a:sym typeface="Arial"/>
              </a:rPr>
              <a:t>They are 3 solutions. Without writing the code, you should be able to tell which is the best and the time complexity of every solution as well as the time function:</a:t>
            </a:r>
            <a:r>
              <a:rPr b="1" lang="en-GB" sz="2800">
                <a:solidFill>
                  <a:schemeClr val="lt1"/>
                </a:solidFill>
                <a:latin typeface="Nunito"/>
                <a:ea typeface="Nunito"/>
                <a:cs typeface="Nunito"/>
                <a:sym typeface="Nunito"/>
              </a:rPr>
              <a:t> Asymptotic Analysis or Asymptotic notations</a:t>
            </a:r>
            <a:endParaRPr sz="2800">
              <a:solidFill>
                <a:srgbClr val="000000"/>
              </a:solidFill>
              <a:latin typeface="Arial"/>
              <a:ea typeface="Arial"/>
              <a:cs typeface="Arial"/>
              <a:sym typeface="Arial"/>
            </a:endParaRPr>
          </a:p>
          <a:p>
            <a:pPr indent="0" lvl="0" marL="0" rtl="0" algn="just">
              <a:spcBef>
                <a:spcPts val="0"/>
              </a:spcBef>
              <a:spcAft>
                <a:spcPts val="0"/>
              </a:spcAft>
              <a:buNone/>
            </a:pPr>
            <a:r>
              <a:t/>
            </a:r>
            <a:endParaRPr sz="3400">
              <a:solidFill>
                <a:srgbClr val="000000"/>
              </a:solidFill>
              <a:latin typeface="Arial"/>
              <a:ea typeface="Arial"/>
              <a:cs typeface="Arial"/>
              <a:sym typeface="Arial"/>
            </a:endParaRPr>
          </a:p>
          <a:p>
            <a:pPr indent="0" lvl="0" marL="0" rtl="0" algn="just">
              <a:spcBef>
                <a:spcPts val="0"/>
              </a:spcBef>
              <a:spcAft>
                <a:spcPts val="0"/>
              </a:spcAft>
              <a:buNone/>
            </a:pPr>
            <a:r>
              <a:t/>
            </a:r>
            <a:endParaRPr b="1" sz="34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446200" y="323525"/>
            <a:ext cx="7505700" cy="52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sz="2700"/>
              <a:t>Asymptotic Analysis or Asymptotic notations</a:t>
            </a:r>
            <a:endParaRPr b="1" sz="2700"/>
          </a:p>
        </p:txBody>
      </p:sp>
      <p:sp>
        <p:nvSpPr>
          <p:cNvPr id="182" name="Google Shape;182;p21"/>
          <p:cNvSpPr txBox="1"/>
          <p:nvPr>
            <p:ph idx="1" type="body"/>
          </p:nvPr>
        </p:nvSpPr>
        <p:spPr>
          <a:xfrm>
            <a:off x="318550" y="955675"/>
            <a:ext cx="8337000" cy="3884700"/>
          </a:xfrm>
          <a:prstGeom prst="rect">
            <a:avLst/>
          </a:prstGeom>
        </p:spPr>
        <p:txBody>
          <a:bodyPr anchorCtr="0" anchor="t" bIns="91425" lIns="91425" spcFirstLastPara="1" rIns="91425" wrap="square" tIns="91425">
            <a:normAutofit fontScale="77500" lnSpcReduction="10000"/>
          </a:bodyPr>
          <a:lstStyle/>
          <a:p>
            <a:pPr indent="0" lvl="0" marL="0" rtl="0" algn="just">
              <a:spcBef>
                <a:spcPts val="0"/>
              </a:spcBef>
              <a:spcAft>
                <a:spcPts val="0"/>
              </a:spcAft>
              <a:buNone/>
            </a:pPr>
            <a:r>
              <a:rPr lang="en-GB" sz="2200">
                <a:solidFill>
                  <a:srgbClr val="000000"/>
                </a:solidFill>
                <a:latin typeface="Arial"/>
                <a:ea typeface="Arial"/>
                <a:cs typeface="Arial"/>
                <a:sym typeface="Arial"/>
              </a:rPr>
              <a:t>Calculating the running time of any algorithm in mathematical units of computation is known as Asymptotic Analysis. The efficiency of algorithms is calculated using asymptotic analysis, independent of the given data set or programming language.</a:t>
            </a:r>
            <a:endParaRPr sz="2200">
              <a:solidFill>
                <a:srgbClr val="000000"/>
              </a:solidFill>
              <a:latin typeface="Arial"/>
              <a:ea typeface="Arial"/>
              <a:cs typeface="Arial"/>
              <a:sym typeface="Arial"/>
            </a:endParaRPr>
          </a:p>
          <a:p>
            <a:pPr indent="0" lvl="0" marL="0" rtl="0" algn="just">
              <a:spcBef>
                <a:spcPts val="0"/>
              </a:spcBef>
              <a:spcAft>
                <a:spcPts val="0"/>
              </a:spcAft>
              <a:buNone/>
            </a:pPr>
            <a:r>
              <a:t/>
            </a:r>
            <a:endParaRPr sz="2200">
              <a:solidFill>
                <a:srgbClr val="000000"/>
              </a:solidFill>
              <a:latin typeface="Arial"/>
              <a:ea typeface="Arial"/>
              <a:cs typeface="Arial"/>
              <a:sym typeface="Arial"/>
            </a:endParaRPr>
          </a:p>
          <a:p>
            <a:pPr indent="0" lvl="0" marL="0" rtl="0" algn="just">
              <a:spcBef>
                <a:spcPts val="0"/>
              </a:spcBef>
              <a:spcAft>
                <a:spcPts val="0"/>
              </a:spcAft>
              <a:buNone/>
            </a:pPr>
            <a:r>
              <a:rPr lang="en-GB" sz="2200">
                <a:solidFill>
                  <a:srgbClr val="000000"/>
                </a:solidFill>
                <a:latin typeface="Arial"/>
                <a:ea typeface="Arial"/>
                <a:cs typeface="Arial"/>
                <a:sym typeface="Arial"/>
              </a:rPr>
              <a:t>In most cases, we are interested in the order of growth of the algorithm instead of the exact time required for running an algorithm. This time is also known as Asymptotic Running Time.</a:t>
            </a:r>
            <a:endParaRPr sz="2200">
              <a:solidFill>
                <a:srgbClr val="000000"/>
              </a:solidFill>
              <a:latin typeface="Arial"/>
              <a:ea typeface="Arial"/>
              <a:cs typeface="Arial"/>
              <a:sym typeface="Arial"/>
            </a:endParaRPr>
          </a:p>
          <a:p>
            <a:pPr indent="0" lvl="0" marL="0" rtl="0" algn="just">
              <a:spcBef>
                <a:spcPts val="0"/>
              </a:spcBef>
              <a:spcAft>
                <a:spcPts val="0"/>
              </a:spcAft>
              <a:buNone/>
            </a:pPr>
            <a:r>
              <a:t/>
            </a:r>
            <a:endParaRPr sz="2200">
              <a:solidFill>
                <a:srgbClr val="000000"/>
              </a:solidFill>
              <a:latin typeface="Arial"/>
              <a:ea typeface="Arial"/>
              <a:cs typeface="Arial"/>
              <a:sym typeface="Arial"/>
            </a:endParaRPr>
          </a:p>
          <a:p>
            <a:pPr indent="0" lvl="0" marL="0" rtl="0" algn="just">
              <a:spcBef>
                <a:spcPts val="0"/>
              </a:spcBef>
              <a:spcAft>
                <a:spcPts val="0"/>
              </a:spcAft>
              <a:buNone/>
            </a:pPr>
            <a:r>
              <a:rPr lang="en-GB" sz="2200">
                <a:solidFill>
                  <a:srgbClr val="000000"/>
                </a:solidFill>
                <a:latin typeface="Arial"/>
                <a:ea typeface="Arial"/>
                <a:cs typeface="Arial"/>
                <a:sym typeface="Arial"/>
              </a:rPr>
              <a:t>The performance of an algorithm can change with a change in the input size. That is where </a:t>
            </a:r>
            <a:r>
              <a:rPr b="1" lang="en-GB" sz="2200">
                <a:solidFill>
                  <a:srgbClr val="000000"/>
                </a:solidFill>
                <a:latin typeface="Arial"/>
                <a:ea typeface="Arial"/>
                <a:cs typeface="Arial"/>
                <a:sym typeface="Arial"/>
              </a:rPr>
              <a:t>Asymptotic Notations</a:t>
            </a:r>
            <a:r>
              <a:rPr lang="en-GB" sz="2200">
                <a:solidFill>
                  <a:srgbClr val="000000"/>
                </a:solidFill>
                <a:latin typeface="Arial"/>
                <a:ea typeface="Arial"/>
                <a:cs typeface="Arial"/>
                <a:sym typeface="Arial"/>
              </a:rPr>
              <a:t> like </a:t>
            </a:r>
            <a:r>
              <a:rPr b="1" lang="en-GB" sz="2200">
                <a:solidFill>
                  <a:srgbClr val="000000"/>
                </a:solidFill>
                <a:latin typeface="Arial"/>
                <a:ea typeface="Arial"/>
                <a:cs typeface="Arial"/>
                <a:sym typeface="Arial"/>
              </a:rPr>
              <a:t>Big O Notation</a:t>
            </a:r>
            <a:r>
              <a:rPr lang="en-GB" sz="2200">
                <a:solidFill>
                  <a:srgbClr val="000000"/>
                </a:solidFill>
                <a:latin typeface="Arial"/>
                <a:ea typeface="Arial"/>
                <a:cs typeface="Arial"/>
                <a:sym typeface="Arial"/>
              </a:rPr>
              <a:t> comes into play. Asymptotic Notations can describe an algorithm's run time when the input tends toward a specific or limiting value. Asymptotic analysis helps to analyze the algorithm performance change in the order of input size. </a:t>
            </a:r>
            <a:endParaRPr sz="22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539425" y="279700"/>
            <a:ext cx="7505700" cy="52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800"/>
              <a:t>Big O Notation</a:t>
            </a:r>
            <a:endParaRPr sz="2800"/>
          </a:p>
        </p:txBody>
      </p:sp>
      <p:sp>
        <p:nvSpPr>
          <p:cNvPr id="188" name="Google Shape;188;p22"/>
          <p:cNvSpPr txBox="1"/>
          <p:nvPr>
            <p:ph idx="1" type="body"/>
          </p:nvPr>
        </p:nvSpPr>
        <p:spPr>
          <a:xfrm>
            <a:off x="326325" y="831350"/>
            <a:ext cx="6052500" cy="388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700">
                <a:solidFill>
                  <a:srgbClr val="000000"/>
                </a:solidFill>
                <a:latin typeface="Arial"/>
                <a:ea typeface="Arial"/>
                <a:cs typeface="Arial"/>
                <a:sym typeface="Arial"/>
              </a:rPr>
              <a:t>Formal definition</a:t>
            </a:r>
            <a:r>
              <a:rPr lang="en-GB" sz="1700">
                <a:solidFill>
                  <a:srgbClr val="000000"/>
                </a:solidFill>
                <a:latin typeface="Arial"/>
                <a:ea typeface="Arial"/>
                <a:cs typeface="Arial"/>
                <a:sym typeface="Arial"/>
              </a:rPr>
              <a:t>: "f(n) is big-O of g(n)" or f(n) = O(g(n)), if there are two  constants </a:t>
            </a:r>
            <a:r>
              <a:rPr b="1" lang="en-GB" sz="1700">
                <a:solidFill>
                  <a:srgbClr val="000000"/>
                </a:solidFill>
                <a:latin typeface="Arial"/>
                <a:ea typeface="Arial"/>
                <a:cs typeface="Arial"/>
                <a:sym typeface="Arial"/>
              </a:rPr>
              <a:t>c</a:t>
            </a:r>
            <a:r>
              <a:rPr lang="en-GB" sz="1700">
                <a:solidFill>
                  <a:srgbClr val="000000"/>
                </a:solidFill>
                <a:latin typeface="Arial"/>
                <a:ea typeface="Arial"/>
                <a:cs typeface="Arial"/>
                <a:sym typeface="Arial"/>
              </a:rPr>
              <a:t> and </a:t>
            </a:r>
            <a:r>
              <a:rPr b="1" lang="en-GB" sz="1700">
                <a:solidFill>
                  <a:srgbClr val="000000"/>
                </a:solidFill>
                <a:latin typeface="Arial"/>
                <a:ea typeface="Arial"/>
                <a:cs typeface="Arial"/>
                <a:sym typeface="Arial"/>
              </a:rPr>
              <a:t>n1</a:t>
            </a:r>
            <a:r>
              <a:rPr lang="en-GB" sz="1700">
                <a:solidFill>
                  <a:srgbClr val="000000"/>
                </a:solidFill>
                <a:latin typeface="Arial"/>
                <a:ea typeface="Arial"/>
                <a:cs typeface="Arial"/>
                <a:sym typeface="Arial"/>
              </a:rPr>
              <a:t> such that f(n) &lt;=c.g(n) for all n &gt;= n1; in other words, c.g(n) is an upper bound for f(n) for all n&gt;= n</a:t>
            </a:r>
            <a:r>
              <a:rPr baseline="-25000" lang="en-GB" sz="1700">
                <a:solidFill>
                  <a:srgbClr val="000000"/>
                </a:solidFill>
                <a:latin typeface="Arial"/>
                <a:ea typeface="Arial"/>
                <a:cs typeface="Arial"/>
                <a:sym typeface="Arial"/>
              </a:rPr>
              <a:t>0</a:t>
            </a:r>
            <a:r>
              <a:rPr lang="en-GB" sz="1700">
                <a:solidFill>
                  <a:srgbClr val="000000"/>
                </a:solidFill>
                <a:latin typeface="Arial"/>
                <a:ea typeface="Arial"/>
                <a:cs typeface="Arial"/>
                <a:sym typeface="Arial"/>
              </a:rPr>
              <a:t>. The function f(n) growth is slower than c.g(n). For a sufficiently large value of input n, the (c.g(n)) will always be greater than f(n).</a:t>
            </a:r>
            <a:endParaRPr sz="1700">
              <a:solidFill>
                <a:srgbClr val="000000"/>
              </a:solidFill>
              <a:latin typeface="Arial"/>
              <a:ea typeface="Arial"/>
              <a:cs typeface="Arial"/>
              <a:sym typeface="Arial"/>
            </a:endParaRPr>
          </a:p>
          <a:p>
            <a:pPr indent="0" lvl="0" marL="0" rtl="0" algn="l">
              <a:spcBef>
                <a:spcPts val="0"/>
              </a:spcBef>
              <a:spcAft>
                <a:spcPts val="0"/>
              </a:spcAft>
              <a:buNone/>
            </a:pPr>
            <a:r>
              <a:t/>
            </a:r>
            <a:endParaRPr sz="1700">
              <a:solidFill>
                <a:srgbClr val="000000"/>
              </a:solidFill>
              <a:latin typeface="Arial"/>
              <a:ea typeface="Arial"/>
              <a:cs typeface="Arial"/>
              <a:sym typeface="Arial"/>
            </a:endParaRPr>
          </a:p>
          <a:p>
            <a:pPr indent="0" lvl="0" marL="0" rtl="0" algn="l">
              <a:spcBef>
                <a:spcPts val="0"/>
              </a:spcBef>
              <a:spcAft>
                <a:spcPts val="0"/>
              </a:spcAft>
              <a:buNone/>
            </a:pPr>
            <a:r>
              <a:rPr b="1" lang="en-GB" sz="1700">
                <a:solidFill>
                  <a:srgbClr val="000000"/>
                </a:solidFill>
                <a:latin typeface="Arial"/>
                <a:ea typeface="Arial"/>
                <a:cs typeface="Arial"/>
                <a:sym typeface="Arial"/>
              </a:rPr>
              <a:t>Big-O notation</a:t>
            </a:r>
            <a:r>
              <a:rPr lang="en-GB" sz="1700">
                <a:solidFill>
                  <a:srgbClr val="000000"/>
                </a:solidFill>
                <a:latin typeface="Arial"/>
                <a:ea typeface="Arial"/>
                <a:cs typeface="Arial"/>
                <a:sym typeface="Arial"/>
              </a:rPr>
              <a:t>  in</a:t>
            </a:r>
            <a:r>
              <a:rPr lang="en-GB" sz="1700">
                <a:solidFill>
                  <a:srgbClr val="000000"/>
                </a:solidFill>
                <a:uFill>
                  <a:noFill/>
                </a:uFill>
                <a:latin typeface="Arial"/>
                <a:ea typeface="Arial"/>
                <a:cs typeface="Arial"/>
                <a:sym typeface="Arial"/>
                <a:hlinkClick r:id="rId3">
                  <a:extLst>
                    <a:ext uri="{A12FA001-AC4F-418D-AE19-62706E023703}">
                      <ahyp:hlinkClr val="tx"/>
                    </a:ext>
                  </a:extLst>
                </a:hlinkClick>
              </a:rPr>
              <a:t> </a:t>
            </a:r>
            <a:r>
              <a:rPr lang="en-GB" sz="1700">
                <a:solidFill>
                  <a:srgbClr val="000000"/>
                </a:solidFill>
                <a:latin typeface="Arial"/>
                <a:ea typeface="Arial"/>
                <a:cs typeface="Arial"/>
                <a:sym typeface="Arial"/>
              </a:rPr>
              <a:t> Data Structure represents the upper bound of the running time of an algorithm or the Worst case complexity. </a:t>
            </a:r>
            <a:endParaRPr sz="17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lang="en-GB" sz="1700">
                <a:solidFill>
                  <a:srgbClr val="000000"/>
                </a:solidFill>
                <a:latin typeface="Arial"/>
                <a:ea typeface="Arial"/>
                <a:cs typeface="Arial"/>
                <a:sym typeface="Arial"/>
              </a:rPr>
              <a:t>Big O Notation is a tool used to describe the time complexity of algorithms. It calculates the time taken to run an algorithm as the input grows. </a:t>
            </a:r>
            <a:endParaRPr sz="1700">
              <a:solidFill>
                <a:srgbClr val="000000"/>
              </a:solidFill>
              <a:latin typeface="Arial"/>
              <a:ea typeface="Arial"/>
              <a:cs typeface="Arial"/>
              <a:sym typeface="Arial"/>
            </a:endParaRPr>
          </a:p>
        </p:txBody>
      </p:sp>
      <p:pic>
        <p:nvPicPr>
          <p:cNvPr id="189" name="Google Shape;189;p22"/>
          <p:cNvPicPr preferRelativeResize="0"/>
          <p:nvPr/>
        </p:nvPicPr>
        <p:blipFill>
          <a:blip r:embed="rId4">
            <a:alphaModFix/>
          </a:blip>
          <a:stretch>
            <a:fillRect/>
          </a:stretch>
        </p:blipFill>
        <p:spPr>
          <a:xfrm>
            <a:off x="6492525" y="1177925"/>
            <a:ext cx="2400300" cy="2486025"/>
          </a:xfrm>
          <a:prstGeom prst="rect">
            <a:avLst/>
          </a:prstGeom>
          <a:noFill/>
          <a:ln>
            <a:noFill/>
          </a:ln>
        </p:spPr>
      </p:pic>
      <p:sp>
        <p:nvSpPr>
          <p:cNvPr id="190" name="Google Shape;190;p22"/>
          <p:cNvSpPr txBox="1"/>
          <p:nvPr/>
        </p:nvSpPr>
        <p:spPr>
          <a:xfrm>
            <a:off x="6621975" y="3703825"/>
            <a:ext cx="2141400" cy="895800"/>
          </a:xfrm>
          <a:prstGeom prst="rect">
            <a:avLst/>
          </a:prstGeom>
          <a:solidFill>
            <a:srgbClr val="D9EAD3"/>
          </a:solid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1800"/>
              </a:spcAft>
              <a:buNone/>
            </a:pPr>
            <a:r>
              <a:rPr b="1" i="1" lang="en-GB">
                <a:solidFill>
                  <a:srgbClr val="273239"/>
                </a:solidFill>
                <a:latin typeface="Nunito"/>
                <a:ea typeface="Nunito"/>
                <a:cs typeface="Nunito"/>
                <a:sym typeface="Nunito"/>
              </a:rPr>
              <a:t>Mathematical Representation of Big-O </a:t>
            </a:r>
            <a:endParaRPr b="1" i="1">
              <a:solidFill>
                <a:srgbClr val="273239"/>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539425" y="279700"/>
            <a:ext cx="7505700" cy="52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800"/>
              <a:t>Big O Notation(next)</a:t>
            </a:r>
            <a:endParaRPr sz="2800"/>
          </a:p>
        </p:txBody>
      </p:sp>
      <p:sp>
        <p:nvSpPr>
          <p:cNvPr id="196" name="Google Shape;196;p23"/>
          <p:cNvSpPr txBox="1"/>
          <p:nvPr>
            <p:ph idx="1" type="body"/>
          </p:nvPr>
        </p:nvSpPr>
        <p:spPr>
          <a:xfrm>
            <a:off x="326325" y="831350"/>
            <a:ext cx="8569800" cy="38847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0A0A23"/>
                </a:solidFill>
                <a:latin typeface="Arial"/>
                <a:ea typeface="Arial"/>
                <a:cs typeface="Arial"/>
                <a:sym typeface="Arial"/>
              </a:rPr>
              <a:t>The formal definition is useful when you need to perform a math proof. For example, the time complexity for selection sort can be defined by the function f(n) = n²/2-n/2 as we have discussed in the previous section.</a:t>
            </a:r>
            <a:endParaRPr>
              <a:solidFill>
                <a:srgbClr val="0A0A23"/>
              </a:solidFill>
              <a:latin typeface="Arial"/>
              <a:ea typeface="Arial"/>
              <a:cs typeface="Arial"/>
              <a:sym typeface="Arial"/>
            </a:endParaRPr>
          </a:p>
          <a:p>
            <a:pPr indent="0" lvl="0" marL="0" rtl="0" algn="l">
              <a:spcBef>
                <a:spcPts val="0"/>
              </a:spcBef>
              <a:spcAft>
                <a:spcPts val="0"/>
              </a:spcAft>
              <a:buNone/>
            </a:pPr>
            <a:r>
              <a:t/>
            </a:r>
            <a:endParaRPr>
              <a:solidFill>
                <a:srgbClr val="0A0A23"/>
              </a:solidFill>
              <a:latin typeface="Arial"/>
              <a:ea typeface="Arial"/>
              <a:cs typeface="Arial"/>
              <a:sym typeface="Arial"/>
            </a:endParaRPr>
          </a:p>
          <a:p>
            <a:pPr indent="0" lvl="0" marL="0" rtl="0" algn="l">
              <a:spcBef>
                <a:spcPts val="0"/>
              </a:spcBef>
              <a:spcAft>
                <a:spcPts val="0"/>
              </a:spcAft>
              <a:buNone/>
            </a:pPr>
            <a:r>
              <a:rPr lang="en-GB">
                <a:solidFill>
                  <a:srgbClr val="0A0A23"/>
                </a:solidFill>
                <a:latin typeface="Arial"/>
                <a:ea typeface="Arial"/>
                <a:cs typeface="Arial"/>
                <a:sym typeface="Arial"/>
              </a:rPr>
              <a:t>If we allow our function g(n) to be n², we can find a constant c = 1, and a N₀ = 0, and so long as N &gt; N₀, N² will always be greater than N²/2-N/2. We can easily prove this by subtracting N²/2 from both functions, then we can easily see N²/2 &gt; -N/2 to be true when N &gt; 0. Therefore, we can come up with the conclusion that f(n) = O(n²), in the other selection</a:t>
            </a:r>
            <a:r>
              <a:rPr i="1" lang="en-GB">
                <a:solidFill>
                  <a:srgbClr val="0A0A23"/>
                </a:solidFill>
                <a:latin typeface="Arial"/>
                <a:ea typeface="Arial"/>
                <a:cs typeface="Arial"/>
                <a:sym typeface="Arial"/>
              </a:rPr>
              <a:t> sort is “big O</a:t>
            </a:r>
            <a:r>
              <a:rPr lang="en-GB">
                <a:solidFill>
                  <a:srgbClr val="0A0A23"/>
                </a:solidFill>
                <a:latin typeface="Arial"/>
                <a:ea typeface="Arial"/>
                <a:cs typeface="Arial"/>
                <a:sym typeface="Arial"/>
              </a:rPr>
              <a:t> squared”.</a:t>
            </a:r>
            <a:endParaRPr>
              <a:solidFill>
                <a:srgbClr val="0A0A23"/>
              </a:solidFill>
              <a:latin typeface="Arial"/>
              <a:ea typeface="Arial"/>
              <a:cs typeface="Arial"/>
              <a:sym typeface="Arial"/>
            </a:endParaRPr>
          </a:p>
          <a:p>
            <a:pPr indent="0" lvl="0" marL="0" rtl="0" algn="l">
              <a:spcBef>
                <a:spcPts val="0"/>
              </a:spcBef>
              <a:spcAft>
                <a:spcPts val="0"/>
              </a:spcAft>
              <a:buNone/>
            </a:pPr>
            <a:r>
              <a:t/>
            </a:r>
            <a:endParaRPr>
              <a:solidFill>
                <a:srgbClr val="0A0A23"/>
              </a:solidFill>
              <a:latin typeface="Arial"/>
              <a:ea typeface="Arial"/>
              <a:cs typeface="Arial"/>
              <a:sym typeface="Arial"/>
            </a:endParaRPr>
          </a:p>
          <a:p>
            <a:pPr indent="0" lvl="0" marL="0" rtl="0" algn="l">
              <a:spcBef>
                <a:spcPts val="0"/>
              </a:spcBef>
              <a:spcAft>
                <a:spcPts val="0"/>
              </a:spcAft>
              <a:buNone/>
            </a:pPr>
            <a:r>
              <a:rPr lang="en-GB">
                <a:solidFill>
                  <a:srgbClr val="0A0A23"/>
                </a:solidFill>
                <a:latin typeface="Arial"/>
                <a:ea typeface="Arial"/>
                <a:cs typeface="Arial"/>
                <a:sym typeface="Arial"/>
              </a:rPr>
              <a:t>You might have noticed a little trick here. That is, if you make g(n) grow super fast, way faster than anything, O(g(n)) will always be great enough. For example, for any polynomial function, you can always be right by saying that they are O(2ⁿ) because 2ⁿ will eventually outgrow any polynomials.</a:t>
            </a:r>
            <a:endParaRPr>
              <a:solidFill>
                <a:srgbClr val="0A0A23"/>
              </a:solidFill>
              <a:latin typeface="Arial"/>
              <a:ea typeface="Arial"/>
              <a:cs typeface="Arial"/>
              <a:sym typeface="Arial"/>
            </a:endParaRPr>
          </a:p>
          <a:p>
            <a:pPr indent="0" lvl="0" marL="0" rtl="0" algn="l">
              <a:spcBef>
                <a:spcPts val="0"/>
              </a:spcBef>
              <a:spcAft>
                <a:spcPts val="0"/>
              </a:spcAft>
              <a:buNone/>
            </a:pPr>
            <a:r>
              <a:t/>
            </a:r>
            <a:endParaRPr>
              <a:solidFill>
                <a:srgbClr val="0A0A23"/>
              </a:solidFill>
              <a:latin typeface="Arial"/>
              <a:ea typeface="Arial"/>
              <a:cs typeface="Arial"/>
              <a:sym typeface="Arial"/>
            </a:endParaRPr>
          </a:p>
          <a:p>
            <a:pPr indent="0" lvl="0" marL="0" rtl="0" algn="l">
              <a:spcBef>
                <a:spcPts val="0"/>
              </a:spcBef>
              <a:spcAft>
                <a:spcPts val="0"/>
              </a:spcAft>
              <a:buNone/>
            </a:pPr>
            <a:r>
              <a:rPr lang="en-GB">
                <a:solidFill>
                  <a:srgbClr val="0A0A23"/>
                </a:solidFill>
                <a:latin typeface="Arial"/>
                <a:ea typeface="Arial"/>
                <a:cs typeface="Arial"/>
                <a:sym typeface="Arial"/>
              </a:rPr>
              <a:t>Mathematically, you are right, but generally when we talk about Big O, we want to know the </a:t>
            </a:r>
            <a:r>
              <a:rPr b="1" lang="en-GB">
                <a:solidFill>
                  <a:srgbClr val="0A0A23"/>
                </a:solidFill>
                <a:latin typeface="Arial"/>
                <a:ea typeface="Arial"/>
                <a:cs typeface="Arial"/>
                <a:sym typeface="Arial"/>
              </a:rPr>
              <a:t>tight bound</a:t>
            </a:r>
            <a:r>
              <a:rPr lang="en-GB">
                <a:solidFill>
                  <a:srgbClr val="0A0A23"/>
                </a:solidFill>
                <a:latin typeface="Arial"/>
                <a:ea typeface="Arial"/>
                <a:cs typeface="Arial"/>
                <a:sym typeface="Arial"/>
              </a:rPr>
              <a:t> of the function. </a:t>
            </a:r>
            <a:endParaRPr>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ph type="title"/>
          </p:nvPr>
        </p:nvSpPr>
        <p:spPr>
          <a:xfrm>
            <a:off x="484575" y="168100"/>
            <a:ext cx="8036700" cy="5472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lang="en-GB"/>
              <a:t>Big O Notation for Time Complexity: Example</a:t>
            </a:r>
            <a:endParaRPr/>
          </a:p>
        </p:txBody>
      </p:sp>
      <p:sp>
        <p:nvSpPr>
          <p:cNvPr id="202" name="Google Shape;202;p24"/>
          <p:cNvSpPr txBox="1"/>
          <p:nvPr>
            <p:ph idx="1" type="body"/>
          </p:nvPr>
        </p:nvSpPr>
        <p:spPr>
          <a:xfrm>
            <a:off x="451444" y="855525"/>
            <a:ext cx="8069700" cy="4162800"/>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800"/>
              </a:spcBef>
              <a:spcAft>
                <a:spcPts val="0"/>
              </a:spcAft>
              <a:buSzPts val="1100"/>
              <a:buNone/>
            </a:pPr>
            <a:r>
              <a:rPr lang="en-GB" sz="1700"/>
              <a:t>Consider the case of Bubble Sort. If the array of </a:t>
            </a:r>
            <a:r>
              <a:rPr b="1" lang="en-GB" sz="1700"/>
              <a:t>N</a:t>
            </a:r>
            <a:r>
              <a:rPr lang="en-GB" sz="1700"/>
              <a:t> is not sorted, To swap two elements it take k amount of time, and this must happen N-1 time; the first element will be swapped with N-1  and take  k(N-1) time, the second must be swapped with N-2 elements which means k(N-2), the last element will be swapped with N-N=0=K amount of time. </a:t>
            </a:r>
            <a:endParaRPr sz="1700"/>
          </a:p>
          <a:p>
            <a:pPr indent="0" lvl="0" marL="0" rtl="0" algn="l">
              <a:lnSpc>
                <a:spcPct val="100000"/>
              </a:lnSpc>
              <a:spcBef>
                <a:spcPts val="800"/>
              </a:spcBef>
              <a:spcAft>
                <a:spcPts val="0"/>
              </a:spcAft>
              <a:buSzPts val="1100"/>
              <a:buNone/>
            </a:pPr>
            <a:r>
              <a:t/>
            </a:r>
            <a:endParaRPr sz="1700"/>
          </a:p>
          <a:p>
            <a:pPr indent="0" lvl="0" marL="0" rtl="0" algn="l">
              <a:lnSpc>
                <a:spcPct val="100000"/>
              </a:lnSpc>
              <a:spcBef>
                <a:spcPts val="800"/>
              </a:spcBef>
              <a:spcAft>
                <a:spcPts val="0"/>
              </a:spcAft>
              <a:buSzPts val="1100"/>
              <a:buNone/>
            </a:pPr>
            <a:r>
              <a:rPr lang="en-GB" sz="1700"/>
              <a:t>T(N)=k(N-1)+k(N-2)+k(N-3)+.....+K</a:t>
            </a:r>
            <a:endParaRPr sz="1700"/>
          </a:p>
          <a:p>
            <a:pPr indent="0" lvl="0" marL="0" rtl="0" algn="l">
              <a:lnSpc>
                <a:spcPct val="100000"/>
              </a:lnSpc>
              <a:spcBef>
                <a:spcPts val="800"/>
              </a:spcBef>
              <a:spcAft>
                <a:spcPts val="0"/>
              </a:spcAft>
              <a:buSzPts val="1100"/>
              <a:buNone/>
            </a:pPr>
            <a:r>
              <a:rPr lang="en-GB" sz="1700"/>
              <a:t>T(N)=K(1+2+3+4+.......+n-1) </a:t>
            </a:r>
            <a:r>
              <a:rPr lang="en-GB" sz="1700">
                <a:highlight>
                  <a:srgbClr val="FCE5CD"/>
                </a:highlight>
              </a:rPr>
              <a:t>// As per PMI, the sum of n first numbers is </a:t>
            </a:r>
            <a:r>
              <a:rPr lang="en-GB" sz="1500">
                <a:solidFill>
                  <a:srgbClr val="595959"/>
                </a:solidFill>
                <a:highlight>
                  <a:srgbClr val="FCE5CD"/>
                </a:highlight>
                <a:latin typeface="Arial"/>
                <a:ea typeface="Arial"/>
                <a:cs typeface="Arial"/>
                <a:sym typeface="Arial"/>
              </a:rPr>
              <a:t>∑n=n(n+1)/2</a:t>
            </a:r>
            <a:endParaRPr sz="1700">
              <a:highlight>
                <a:srgbClr val="FCE5CD"/>
              </a:highlight>
            </a:endParaRPr>
          </a:p>
          <a:p>
            <a:pPr indent="0" lvl="0" marL="0" rtl="0" algn="l">
              <a:lnSpc>
                <a:spcPct val="100000"/>
              </a:lnSpc>
              <a:spcBef>
                <a:spcPts val="800"/>
              </a:spcBef>
              <a:spcAft>
                <a:spcPts val="0"/>
              </a:spcAft>
              <a:buSzPts val="1100"/>
              <a:buNone/>
            </a:pPr>
            <a:r>
              <a:rPr lang="en-GB" sz="1700"/>
              <a:t>T(N)=K(N-1)*N/2</a:t>
            </a:r>
            <a:endParaRPr sz="1700"/>
          </a:p>
          <a:p>
            <a:pPr indent="0" lvl="0" marL="0" rtl="0" algn="l">
              <a:lnSpc>
                <a:spcPct val="100000"/>
              </a:lnSpc>
              <a:spcBef>
                <a:spcPts val="800"/>
              </a:spcBef>
              <a:spcAft>
                <a:spcPts val="0"/>
              </a:spcAft>
              <a:buSzPts val="1100"/>
              <a:buNone/>
            </a:pPr>
            <a:r>
              <a:rPr lang="en-GB" sz="1700"/>
              <a:t>T(N)=KN</a:t>
            </a:r>
            <a:r>
              <a:rPr baseline="30000" lang="en-GB" sz="1700"/>
              <a:t>2</a:t>
            </a:r>
            <a:r>
              <a:rPr lang="en-GB" sz="1700"/>
              <a:t>/2-K(N)</a:t>
            </a:r>
            <a:endParaRPr sz="1700"/>
          </a:p>
          <a:p>
            <a:pPr indent="0" lvl="0" marL="0" rtl="0" algn="l">
              <a:lnSpc>
                <a:spcPct val="100000"/>
              </a:lnSpc>
              <a:spcBef>
                <a:spcPts val="800"/>
              </a:spcBef>
              <a:spcAft>
                <a:spcPts val="0"/>
              </a:spcAft>
              <a:buSzPts val="1100"/>
              <a:buNone/>
            </a:pPr>
            <a:r>
              <a:rPr lang="en-GB" sz="1700"/>
              <a:t>The constant K/2 will be ignored.  And keep N</a:t>
            </a:r>
            <a:r>
              <a:rPr baseline="30000" lang="en-GB" sz="1700"/>
              <a:t>2</a:t>
            </a:r>
            <a:r>
              <a:rPr lang="en-GB" sz="1700"/>
              <a:t>,  </a:t>
            </a:r>
            <a:endParaRPr sz="1700"/>
          </a:p>
          <a:p>
            <a:pPr indent="0" lvl="0" marL="0" rtl="0" algn="l">
              <a:lnSpc>
                <a:spcPct val="100000"/>
              </a:lnSpc>
              <a:spcBef>
                <a:spcPts val="800"/>
              </a:spcBef>
              <a:spcAft>
                <a:spcPts val="0"/>
              </a:spcAft>
              <a:buSzPts val="1100"/>
              <a:buNone/>
            </a:pPr>
            <a:r>
              <a:rPr lang="en-GB" sz="1700"/>
              <a:t>This means that the time complexity for Bubble Sort is O(N</a:t>
            </a:r>
            <a:r>
              <a:rPr baseline="30000" lang="en-GB" sz="1700"/>
              <a:t>2</a:t>
            </a:r>
            <a:r>
              <a:rPr lang="en-GB" sz="1700"/>
              <a:t>).</a:t>
            </a:r>
            <a:endParaRPr sz="1700"/>
          </a:p>
        </p:txBody>
      </p:sp>
      <p:graphicFrame>
        <p:nvGraphicFramePr>
          <p:cNvPr id="203" name="Google Shape;203;p24"/>
          <p:cNvGraphicFramePr/>
          <p:nvPr/>
        </p:nvGraphicFramePr>
        <p:xfrm>
          <a:off x="5357875" y="2101525"/>
          <a:ext cx="3000000" cy="3000000"/>
        </p:xfrm>
        <a:graphic>
          <a:graphicData uri="http://schemas.openxmlformats.org/drawingml/2006/table">
            <a:tbl>
              <a:tblPr>
                <a:noFill/>
                <a:tableStyleId>{46B5A428-2258-4F19-A221-D22E64A0F63F}</a:tableStyleId>
              </a:tblPr>
              <a:tblGrid>
                <a:gridCol w="386175"/>
                <a:gridCol w="386175"/>
                <a:gridCol w="386175"/>
                <a:gridCol w="386175"/>
                <a:gridCol w="386175"/>
                <a:gridCol w="386175"/>
                <a:gridCol w="386175"/>
                <a:gridCol w="386175"/>
              </a:tblGrid>
              <a:tr h="155350">
                <a:tc>
                  <a:txBody>
                    <a:bodyPr/>
                    <a:lstStyle/>
                    <a:p>
                      <a:pPr indent="0" lvl="0" marL="0" rtl="0" algn="l">
                        <a:spcBef>
                          <a:spcPts val="0"/>
                        </a:spcBef>
                        <a:spcAft>
                          <a:spcPts val="0"/>
                        </a:spcAft>
                        <a:buNone/>
                      </a:pPr>
                      <a:r>
                        <a:rPr b="1" lang="en-GB"/>
                        <a:t>1</a:t>
                      </a:r>
                      <a:endParaRPr b="1"/>
                    </a:p>
                  </a:txBody>
                  <a:tcPr marT="91425" marB="91425" marR="91425" marL="91425">
                    <a:solidFill>
                      <a:srgbClr val="FCE5CD"/>
                    </a:solidFill>
                  </a:tcPr>
                </a:tc>
                <a:tc>
                  <a:txBody>
                    <a:bodyPr/>
                    <a:lstStyle/>
                    <a:p>
                      <a:pPr indent="0" lvl="0" marL="0" rtl="0" algn="l">
                        <a:spcBef>
                          <a:spcPts val="0"/>
                        </a:spcBef>
                        <a:spcAft>
                          <a:spcPts val="0"/>
                        </a:spcAft>
                        <a:buNone/>
                      </a:pPr>
                      <a:r>
                        <a:rPr b="1" lang="en-GB"/>
                        <a:t>2</a:t>
                      </a:r>
                      <a:endParaRPr b="1"/>
                    </a:p>
                  </a:txBody>
                  <a:tcPr marT="91425" marB="91425" marR="91425" marL="91425">
                    <a:solidFill>
                      <a:srgbClr val="FCE5CD"/>
                    </a:solidFill>
                  </a:tcPr>
                </a:tc>
                <a:tc>
                  <a:txBody>
                    <a:bodyPr/>
                    <a:lstStyle/>
                    <a:p>
                      <a:pPr indent="0" lvl="0" marL="0" rtl="0" algn="l">
                        <a:spcBef>
                          <a:spcPts val="0"/>
                        </a:spcBef>
                        <a:spcAft>
                          <a:spcPts val="0"/>
                        </a:spcAft>
                        <a:buNone/>
                      </a:pPr>
                      <a:r>
                        <a:rPr b="1" lang="en-GB"/>
                        <a:t>3</a:t>
                      </a:r>
                      <a:endParaRPr b="1"/>
                    </a:p>
                  </a:txBody>
                  <a:tcPr marT="91425" marB="91425" marR="91425" marL="91425">
                    <a:solidFill>
                      <a:srgbClr val="FCE5CD"/>
                    </a:solidFill>
                  </a:tcPr>
                </a:tc>
                <a:tc>
                  <a:txBody>
                    <a:bodyPr/>
                    <a:lstStyle/>
                    <a:p>
                      <a:pPr indent="0" lvl="0" marL="0" rtl="0" algn="l">
                        <a:spcBef>
                          <a:spcPts val="0"/>
                        </a:spcBef>
                        <a:spcAft>
                          <a:spcPts val="0"/>
                        </a:spcAft>
                        <a:buNone/>
                      </a:pPr>
                      <a:r>
                        <a:rPr b="1" lang="en-GB"/>
                        <a:t>4</a:t>
                      </a:r>
                      <a:endParaRPr b="1"/>
                    </a:p>
                  </a:txBody>
                  <a:tcPr marT="91425" marB="91425" marR="91425" marL="91425">
                    <a:solidFill>
                      <a:srgbClr val="FCE5CD"/>
                    </a:solidFill>
                  </a:tcPr>
                </a:tc>
                <a:tc>
                  <a:txBody>
                    <a:bodyPr/>
                    <a:lstStyle/>
                    <a:p>
                      <a:pPr indent="0" lvl="0" marL="0" rtl="0" algn="l">
                        <a:spcBef>
                          <a:spcPts val="0"/>
                        </a:spcBef>
                        <a:spcAft>
                          <a:spcPts val="0"/>
                        </a:spcAft>
                        <a:buNone/>
                      </a:pPr>
                      <a:r>
                        <a:rPr b="1" lang="en-GB"/>
                        <a:t>5</a:t>
                      </a:r>
                      <a:endParaRPr b="1"/>
                    </a:p>
                  </a:txBody>
                  <a:tcPr marT="91425" marB="91425" marR="91425" marL="91425">
                    <a:solidFill>
                      <a:srgbClr val="FCE5CD"/>
                    </a:solidFill>
                  </a:tcPr>
                </a:tc>
                <a:tc>
                  <a:txBody>
                    <a:bodyPr/>
                    <a:lstStyle/>
                    <a:p>
                      <a:pPr indent="0" lvl="0" marL="0" rtl="0" algn="l">
                        <a:spcBef>
                          <a:spcPts val="0"/>
                        </a:spcBef>
                        <a:spcAft>
                          <a:spcPts val="0"/>
                        </a:spcAft>
                        <a:buNone/>
                      </a:pPr>
                      <a:r>
                        <a:rPr b="1" lang="en-GB"/>
                        <a:t>…</a:t>
                      </a:r>
                      <a:endParaRPr b="1"/>
                    </a:p>
                  </a:txBody>
                  <a:tcPr marT="91425" marB="91425" marR="91425" marL="91425">
                    <a:solidFill>
                      <a:srgbClr val="FCE5CD"/>
                    </a:solidFill>
                  </a:tcPr>
                </a:tc>
                <a:tc>
                  <a:txBody>
                    <a:bodyPr/>
                    <a:lstStyle/>
                    <a:p>
                      <a:pPr indent="0" lvl="0" marL="0" rtl="0" algn="l">
                        <a:spcBef>
                          <a:spcPts val="0"/>
                        </a:spcBef>
                        <a:spcAft>
                          <a:spcPts val="0"/>
                        </a:spcAft>
                        <a:buNone/>
                      </a:pPr>
                      <a:r>
                        <a:rPr b="1" lang="en-GB"/>
                        <a:t>..</a:t>
                      </a:r>
                      <a:endParaRPr b="1"/>
                    </a:p>
                  </a:txBody>
                  <a:tcPr marT="91425" marB="91425" marR="91425" marL="91425">
                    <a:solidFill>
                      <a:srgbClr val="FCE5CD"/>
                    </a:solidFill>
                  </a:tcPr>
                </a:tc>
                <a:tc>
                  <a:txBody>
                    <a:bodyPr/>
                    <a:lstStyle/>
                    <a:p>
                      <a:pPr indent="0" lvl="0" marL="0" rtl="0" algn="l">
                        <a:spcBef>
                          <a:spcPts val="0"/>
                        </a:spcBef>
                        <a:spcAft>
                          <a:spcPts val="0"/>
                        </a:spcAft>
                        <a:buNone/>
                      </a:pPr>
                      <a:r>
                        <a:rPr b="1" lang="en-GB"/>
                        <a:t>N</a:t>
                      </a:r>
                      <a:endParaRPr b="1"/>
                    </a:p>
                  </a:txBody>
                  <a:tcPr marT="91425" marB="91425" marR="91425" marL="91425">
                    <a:solidFill>
                      <a:srgbClr val="FCE5CD"/>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type="title"/>
          </p:nvPr>
        </p:nvSpPr>
        <p:spPr>
          <a:xfrm>
            <a:off x="484575" y="168100"/>
            <a:ext cx="8036700" cy="5472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GB" sz="2000">
                <a:latin typeface="Calibri"/>
                <a:ea typeface="Calibri"/>
                <a:cs typeface="Calibri"/>
                <a:sym typeface="Calibri"/>
              </a:rPr>
              <a:t>Complexity analysis of algorithms</a:t>
            </a:r>
            <a:endParaRPr sz="3400"/>
          </a:p>
        </p:txBody>
      </p:sp>
      <p:sp>
        <p:nvSpPr>
          <p:cNvPr id="209" name="Google Shape;209;p25"/>
          <p:cNvSpPr txBox="1"/>
          <p:nvPr>
            <p:ph idx="1" type="body"/>
          </p:nvPr>
        </p:nvSpPr>
        <p:spPr>
          <a:xfrm>
            <a:off x="156200" y="582700"/>
            <a:ext cx="8639100" cy="43656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spcBef>
                <a:spcPts val="0"/>
              </a:spcBef>
              <a:spcAft>
                <a:spcPts val="0"/>
              </a:spcAft>
              <a:buNone/>
            </a:pPr>
            <a:r>
              <a:rPr lang="en-GB" sz="2000">
                <a:solidFill>
                  <a:srgbClr val="000000"/>
                </a:solidFill>
              </a:rPr>
              <a:t>The complexity of an algorithm are analysed in three categories:</a:t>
            </a:r>
            <a:endParaRPr sz="2000">
              <a:solidFill>
                <a:srgbClr val="000000"/>
              </a:solidFill>
            </a:endParaRPr>
          </a:p>
          <a:p>
            <a:pPr indent="0" lvl="0" marL="0" rtl="0" algn="l">
              <a:spcBef>
                <a:spcPts val="0"/>
              </a:spcBef>
              <a:spcAft>
                <a:spcPts val="0"/>
              </a:spcAft>
              <a:buNone/>
            </a:pPr>
            <a:r>
              <a:t/>
            </a:r>
            <a:endParaRPr sz="2000">
              <a:solidFill>
                <a:srgbClr val="000000"/>
              </a:solidFill>
            </a:endParaRPr>
          </a:p>
          <a:p>
            <a:pPr indent="0" lvl="0" marL="0" rtl="0" algn="l">
              <a:spcBef>
                <a:spcPts val="0"/>
              </a:spcBef>
              <a:spcAft>
                <a:spcPts val="0"/>
              </a:spcAft>
              <a:buNone/>
            </a:pPr>
            <a:r>
              <a:rPr b="1" lang="en-GB" sz="2000">
                <a:solidFill>
                  <a:srgbClr val="000000"/>
                </a:solidFill>
              </a:rPr>
              <a:t>➤ Worst-Case Complexity: </a:t>
            </a:r>
            <a:r>
              <a:rPr lang="en-GB" sz="2000">
                <a:solidFill>
                  <a:srgbClr val="000000"/>
                </a:solidFill>
              </a:rPr>
              <a:t>The worst-case complexity represents the maximum number of steps required to execute an algorithm. It provides us with the upper bound of an algorithm. Usually, we use this complexity to judge algorithm performance.</a:t>
            </a:r>
            <a:endParaRPr sz="2000">
              <a:solidFill>
                <a:srgbClr val="000000"/>
              </a:solidFill>
            </a:endParaRPr>
          </a:p>
          <a:p>
            <a:pPr indent="0" lvl="0" marL="0" rtl="0" algn="l">
              <a:spcBef>
                <a:spcPts val="0"/>
              </a:spcBef>
              <a:spcAft>
                <a:spcPts val="0"/>
              </a:spcAft>
              <a:buNone/>
            </a:pPr>
            <a:r>
              <a:t/>
            </a:r>
            <a:endParaRPr sz="2000">
              <a:solidFill>
                <a:srgbClr val="000000"/>
              </a:solidFill>
            </a:endParaRPr>
          </a:p>
          <a:p>
            <a:pPr indent="0" lvl="0" marL="0" rtl="0" algn="l">
              <a:spcBef>
                <a:spcPts val="0"/>
              </a:spcBef>
              <a:spcAft>
                <a:spcPts val="0"/>
              </a:spcAft>
              <a:buNone/>
            </a:pPr>
            <a:r>
              <a:rPr b="1" lang="en-GB" sz="2000">
                <a:solidFill>
                  <a:srgbClr val="000000"/>
                </a:solidFill>
              </a:rPr>
              <a:t>➤Best-Case Complexity: </a:t>
            </a:r>
            <a:r>
              <a:rPr lang="en-GB" sz="2000">
                <a:solidFill>
                  <a:srgbClr val="000000"/>
                </a:solidFill>
              </a:rPr>
              <a:t>The best-case complexity represents the minimum number of steps required to execute an algorithm. It provides us with the lower bound of an algorithm.</a:t>
            </a:r>
            <a:endParaRPr sz="2000">
              <a:solidFill>
                <a:srgbClr val="000000"/>
              </a:solidFill>
            </a:endParaRPr>
          </a:p>
          <a:p>
            <a:pPr indent="0" lvl="0" marL="0" rtl="0" algn="l">
              <a:spcBef>
                <a:spcPts val="0"/>
              </a:spcBef>
              <a:spcAft>
                <a:spcPts val="0"/>
              </a:spcAft>
              <a:buNone/>
            </a:pPr>
            <a:r>
              <a:t/>
            </a:r>
            <a:endParaRPr sz="2000">
              <a:solidFill>
                <a:srgbClr val="000000"/>
              </a:solidFill>
            </a:endParaRPr>
          </a:p>
          <a:p>
            <a:pPr indent="0" lvl="0" marL="0" rtl="0" algn="l">
              <a:spcBef>
                <a:spcPts val="0"/>
              </a:spcBef>
              <a:spcAft>
                <a:spcPts val="0"/>
              </a:spcAft>
              <a:buNone/>
            </a:pPr>
            <a:r>
              <a:rPr b="1" lang="en-GB" sz="2000">
                <a:solidFill>
                  <a:srgbClr val="000000"/>
                </a:solidFill>
              </a:rPr>
              <a:t>➤ Average-Case Complexity: </a:t>
            </a:r>
            <a:r>
              <a:rPr lang="en-GB" sz="2000">
                <a:solidFill>
                  <a:srgbClr val="000000"/>
                </a:solidFill>
              </a:rPr>
              <a:t>The average-case complexity represents the average number of steps required to execute an algorithm. We take the average of the steps executed in all the cases to calculate average-case complexity.</a:t>
            </a:r>
            <a:endParaRPr sz="2000">
              <a:solidFill>
                <a:srgbClr val="000000"/>
              </a:solidFill>
            </a:endParaRPr>
          </a:p>
          <a:p>
            <a:pPr indent="0" lvl="0" marL="0" rtl="0" algn="l">
              <a:spcBef>
                <a:spcPts val="0"/>
              </a:spcBef>
              <a:spcAft>
                <a:spcPts val="0"/>
              </a:spcAft>
              <a:buNone/>
            </a:pPr>
            <a:r>
              <a:t/>
            </a:r>
            <a:endParaRPr sz="2000">
              <a:solidFill>
                <a:srgbClr val="000000"/>
              </a:solidFill>
            </a:endParaRPr>
          </a:p>
          <a:p>
            <a:pPr indent="0" lvl="0" marL="0" rtl="0" algn="l">
              <a:spcBef>
                <a:spcPts val="0"/>
              </a:spcBef>
              <a:spcAft>
                <a:spcPts val="0"/>
              </a:spcAft>
              <a:buNone/>
            </a:pPr>
            <a:r>
              <a:rPr b="1" lang="en-GB" sz="2000">
                <a:solidFill>
                  <a:srgbClr val="000000"/>
                </a:solidFill>
              </a:rPr>
              <a:t>Note:</a:t>
            </a:r>
            <a:r>
              <a:rPr lang="en-GB" sz="2000">
                <a:solidFill>
                  <a:srgbClr val="000000"/>
                </a:solidFill>
              </a:rPr>
              <a:t> </a:t>
            </a:r>
            <a:r>
              <a:rPr b="1" lang="en-GB" sz="2000">
                <a:solidFill>
                  <a:srgbClr val="000000"/>
                </a:solidFill>
              </a:rPr>
              <a:t>Worst-case complexity </a:t>
            </a:r>
            <a:r>
              <a:rPr lang="en-GB" sz="2000">
                <a:solidFill>
                  <a:srgbClr val="000000"/>
                </a:solidFill>
              </a:rPr>
              <a:t>is used to find the guarantee in how much time some particular algorithm will finish. This is the </a:t>
            </a:r>
            <a:r>
              <a:rPr b="1" lang="en-GB" sz="2000">
                <a:solidFill>
                  <a:srgbClr val="000000"/>
                </a:solidFill>
              </a:rPr>
              <a:t>most important time complexity</a:t>
            </a:r>
            <a:r>
              <a:rPr lang="en-GB" sz="2000">
                <a:solidFill>
                  <a:srgbClr val="000000"/>
                </a:solidFill>
              </a:rPr>
              <a:t>. If the type of complexity is not mentioned, then always consider Worst-Case time complexity.</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6"/>
          <p:cNvSpPr txBox="1"/>
          <p:nvPr>
            <p:ph type="title"/>
          </p:nvPr>
        </p:nvSpPr>
        <p:spPr>
          <a:xfrm>
            <a:off x="484575" y="339544"/>
            <a:ext cx="7053600" cy="476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sz="2000">
                <a:solidFill>
                  <a:srgbClr val="000000"/>
                </a:solidFill>
                <a:latin typeface="Calibri"/>
                <a:ea typeface="Calibri"/>
                <a:cs typeface="Calibri"/>
                <a:sym typeface="Calibri"/>
              </a:rPr>
              <a:t>Graphical representation of the Three categories </a:t>
            </a:r>
            <a:endParaRPr/>
          </a:p>
        </p:txBody>
      </p:sp>
      <p:pic>
        <p:nvPicPr>
          <p:cNvPr id="215" name="Google Shape;215;p26"/>
          <p:cNvPicPr preferRelativeResize="0"/>
          <p:nvPr/>
        </p:nvPicPr>
        <p:blipFill>
          <a:blip r:embed="rId3">
            <a:alphaModFix/>
          </a:blip>
          <a:stretch>
            <a:fillRect/>
          </a:stretch>
        </p:blipFill>
        <p:spPr>
          <a:xfrm>
            <a:off x="785600" y="746025"/>
            <a:ext cx="7170525" cy="40334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7"/>
          <p:cNvSpPr txBox="1"/>
          <p:nvPr>
            <p:ph type="title"/>
          </p:nvPr>
        </p:nvSpPr>
        <p:spPr>
          <a:xfrm>
            <a:off x="484575" y="168100"/>
            <a:ext cx="8036700" cy="5472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GB" sz="2000">
                <a:solidFill>
                  <a:srgbClr val="FF9900"/>
                </a:solidFill>
                <a:latin typeface="Calibri"/>
                <a:ea typeface="Calibri"/>
                <a:cs typeface="Calibri"/>
                <a:sym typeface="Calibri"/>
              </a:rPr>
              <a:t>Growth Functions</a:t>
            </a:r>
            <a:endParaRPr sz="3400">
              <a:solidFill>
                <a:srgbClr val="FF9900"/>
              </a:solidFill>
            </a:endParaRPr>
          </a:p>
        </p:txBody>
      </p:sp>
      <p:sp>
        <p:nvSpPr>
          <p:cNvPr id="221" name="Google Shape;221;p27"/>
          <p:cNvSpPr txBox="1"/>
          <p:nvPr>
            <p:ph idx="1" type="body"/>
          </p:nvPr>
        </p:nvSpPr>
        <p:spPr>
          <a:xfrm>
            <a:off x="178700" y="652650"/>
            <a:ext cx="8865300" cy="4365600"/>
          </a:xfrm>
          <a:prstGeom prst="rect">
            <a:avLst/>
          </a:prstGeom>
          <a:noFill/>
          <a:ln>
            <a:noFill/>
          </a:ln>
        </p:spPr>
        <p:txBody>
          <a:bodyPr anchorCtr="0" anchor="t" bIns="34275" lIns="68575" spcFirstLastPara="1" rIns="68575" wrap="square" tIns="34275">
            <a:normAutofit lnSpcReduction="10000"/>
          </a:bodyPr>
          <a:lstStyle/>
          <a:p>
            <a:pPr indent="0" lvl="0" marL="0" rtl="0" algn="l">
              <a:spcBef>
                <a:spcPts val="0"/>
              </a:spcBef>
              <a:spcAft>
                <a:spcPts val="0"/>
              </a:spcAft>
              <a:buNone/>
            </a:pPr>
            <a:r>
              <a:rPr lang="en-GB" sz="2000">
                <a:solidFill>
                  <a:srgbClr val="000000"/>
                </a:solidFill>
              </a:rPr>
              <a:t>Let us look at these growth rates of various functions. The size of input is n</a:t>
            </a:r>
            <a:endParaRPr sz="2000">
              <a:solidFill>
                <a:srgbClr val="000000"/>
              </a:solidFill>
            </a:endParaRPr>
          </a:p>
          <a:p>
            <a:pPr indent="0" lvl="0" marL="0" rtl="0" algn="l">
              <a:spcBef>
                <a:spcPts val="0"/>
              </a:spcBef>
              <a:spcAft>
                <a:spcPts val="0"/>
              </a:spcAft>
              <a:buNone/>
            </a:pPr>
            <a:r>
              <a:rPr b="1" lang="en-GB" sz="2000">
                <a:solidFill>
                  <a:srgbClr val="000000"/>
                </a:solidFill>
                <a:highlight>
                  <a:srgbClr val="D9EAD3"/>
                </a:highlight>
              </a:rPr>
              <a:t>Constant Time, O(1)</a:t>
            </a:r>
            <a:endParaRPr b="1" sz="2000">
              <a:solidFill>
                <a:srgbClr val="000000"/>
              </a:solidFill>
              <a:highlight>
                <a:srgbClr val="D9EAD3"/>
              </a:highlight>
            </a:endParaRPr>
          </a:p>
          <a:p>
            <a:pPr indent="0" lvl="0" marL="0" rtl="0" algn="l">
              <a:spcBef>
                <a:spcPts val="0"/>
              </a:spcBef>
              <a:spcAft>
                <a:spcPts val="0"/>
              </a:spcAft>
              <a:buNone/>
            </a:pPr>
            <a:r>
              <a:rPr lang="en-GB" sz="2000">
                <a:solidFill>
                  <a:srgbClr val="000000"/>
                </a:solidFill>
              </a:rPr>
              <a:t>An algorithm is said to run in constant time if the output is produced in constant time, regardless of the input size.</a:t>
            </a:r>
            <a:endParaRPr sz="2000">
              <a:solidFill>
                <a:srgbClr val="000000"/>
              </a:solidFill>
            </a:endParaRPr>
          </a:p>
          <a:p>
            <a:pPr indent="0" lvl="0" marL="0" rtl="0" algn="l">
              <a:spcBef>
                <a:spcPts val="0"/>
              </a:spcBef>
              <a:spcAft>
                <a:spcPts val="0"/>
              </a:spcAft>
              <a:buNone/>
            </a:pPr>
            <a:r>
              <a:rPr lang="en-GB" sz="2000">
                <a:solidFill>
                  <a:srgbClr val="000000"/>
                </a:solidFill>
              </a:rPr>
              <a:t>Examples:    Accessing an n</a:t>
            </a:r>
            <a:r>
              <a:rPr baseline="30000" lang="en-GB" sz="2661">
                <a:solidFill>
                  <a:srgbClr val="000000"/>
                </a:solidFill>
              </a:rPr>
              <a:t>th</a:t>
            </a:r>
            <a:r>
              <a:rPr lang="en-GB" sz="2000">
                <a:solidFill>
                  <a:srgbClr val="000000"/>
                </a:solidFill>
              </a:rPr>
              <a:t> element of an Array</a:t>
            </a:r>
            <a:endParaRPr sz="2000">
              <a:solidFill>
                <a:srgbClr val="000000"/>
              </a:solidFill>
            </a:endParaRPr>
          </a:p>
          <a:p>
            <a:pPr indent="0" lvl="0" marL="0" rtl="0" algn="l">
              <a:spcBef>
                <a:spcPts val="0"/>
              </a:spcBef>
              <a:spcAft>
                <a:spcPts val="0"/>
              </a:spcAft>
              <a:buNone/>
            </a:pPr>
            <a:r>
              <a:rPr b="1" lang="en-GB" sz="2000">
                <a:solidFill>
                  <a:srgbClr val="000000"/>
                </a:solidFill>
                <a:highlight>
                  <a:srgbClr val="D9EAD3"/>
                </a:highlight>
              </a:rPr>
              <a:t>Linear Time, O(n)</a:t>
            </a:r>
            <a:endParaRPr b="1" sz="2000">
              <a:solidFill>
                <a:srgbClr val="000000"/>
              </a:solidFill>
              <a:highlight>
                <a:srgbClr val="D9EAD3"/>
              </a:highlight>
            </a:endParaRPr>
          </a:p>
          <a:p>
            <a:pPr indent="0" lvl="0" marL="0" rtl="0" algn="l">
              <a:spcBef>
                <a:spcPts val="0"/>
              </a:spcBef>
              <a:spcAft>
                <a:spcPts val="0"/>
              </a:spcAft>
              <a:buNone/>
            </a:pPr>
            <a:r>
              <a:rPr lang="en-GB" sz="2000">
                <a:solidFill>
                  <a:srgbClr val="000000"/>
                </a:solidFill>
              </a:rPr>
              <a:t>An algorithm is said to run in linear time if the execution time of the algorithm is directly proportional to the input size.</a:t>
            </a:r>
            <a:endParaRPr sz="2000">
              <a:solidFill>
                <a:srgbClr val="000000"/>
              </a:solidFill>
            </a:endParaRPr>
          </a:p>
          <a:p>
            <a:pPr indent="0" lvl="0" marL="0" rtl="0" algn="l">
              <a:spcBef>
                <a:spcPts val="0"/>
              </a:spcBef>
              <a:spcAft>
                <a:spcPts val="0"/>
              </a:spcAft>
              <a:buNone/>
            </a:pPr>
            <a:r>
              <a:rPr b="1" lang="en-GB" sz="2000">
                <a:solidFill>
                  <a:srgbClr val="000000"/>
                </a:solidFill>
              </a:rPr>
              <a:t>Examples:  </a:t>
            </a:r>
            <a:endParaRPr b="1" sz="2000">
              <a:solidFill>
                <a:srgbClr val="000000"/>
              </a:solidFill>
            </a:endParaRPr>
          </a:p>
          <a:p>
            <a:pPr indent="0" lvl="0" marL="0" rtl="0" algn="l">
              <a:spcBef>
                <a:spcPts val="0"/>
              </a:spcBef>
              <a:spcAft>
                <a:spcPts val="0"/>
              </a:spcAft>
              <a:buNone/>
            </a:pPr>
            <a:r>
              <a:rPr lang="en-GB" sz="2000">
                <a:solidFill>
                  <a:srgbClr val="000000"/>
                </a:solidFill>
              </a:rPr>
              <a:t>1. Array operations like search element, find min, find max etc.</a:t>
            </a:r>
            <a:endParaRPr sz="2000">
              <a:solidFill>
                <a:srgbClr val="000000"/>
              </a:solidFill>
            </a:endParaRPr>
          </a:p>
          <a:p>
            <a:pPr indent="0" lvl="0" marL="0" rtl="0" algn="l">
              <a:spcBef>
                <a:spcPts val="0"/>
              </a:spcBef>
              <a:spcAft>
                <a:spcPts val="0"/>
              </a:spcAft>
              <a:buNone/>
            </a:pPr>
            <a:r>
              <a:rPr lang="en-GB" sz="2000">
                <a:solidFill>
                  <a:srgbClr val="000000"/>
                </a:solidFill>
              </a:rPr>
              <a:t>2.Linked list operations like traversal, find min, find max etc.</a:t>
            </a:r>
            <a:endParaRPr sz="2000">
              <a:solidFill>
                <a:srgbClr val="000000"/>
              </a:solidFill>
            </a:endParaRPr>
          </a:p>
          <a:p>
            <a:pPr indent="0" lvl="0" marL="0" rtl="0" algn="l">
              <a:spcBef>
                <a:spcPts val="0"/>
              </a:spcBef>
              <a:spcAft>
                <a:spcPts val="0"/>
              </a:spcAft>
              <a:buNone/>
            </a:pPr>
            <a:r>
              <a:rPr b="1" lang="en-GB" sz="2000">
                <a:solidFill>
                  <a:srgbClr val="000000"/>
                </a:solidFill>
              </a:rPr>
              <a:t>Note: I</a:t>
            </a:r>
            <a:r>
              <a:rPr lang="en-GB" sz="2000">
                <a:solidFill>
                  <a:srgbClr val="000000"/>
                </a:solidFill>
              </a:rPr>
              <a:t>f we need to traverse all the nodes of a data structure for some task, then complexity cant be</a:t>
            </a:r>
            <a:endParaRPr sz="2000">
              <a:solidFill>
                <a:srgbClr val="000000"/>
              </a:solidFill>
            </a:endParaRPr>
          </a:p>
          <a:p>
            <a:pPr indent="0" lvl="0" marL="0" rtl="0" algn="l">
              <a:spcBef>
                <a:spcPts val="0"/>
              </a:spcBef>
              <a:spcAft>
                <a:spcPts val="0"/>
              </a:spcAft>
              <a:buNone/>
            </a:pPr>
            <a:r>
              <a:rPr lang="en-GB" sz="2000">
                <a:solidFill>
                  <a:srgbClr val="000000"/>
                </a:solidFill>
              </a:rPr>
              <a:t>less than O(n)</a:t>
            </a:r>
            <a:endParaRPr sz="20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484575" y="168100"/>
            <a:ext cx="8036700" cy="5472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GB" sz="2000">
                <a:solidFill>
                  <a:srgbClr val="FF9900"/>
                </a:solidFill>
                <a:latin typeface="Calibri"/>
                <a:ea typeface="Calibri"/>
                <a:cs typeface="Calibri"/>
                <a:sym typeface="Calibri"/>
              </a:rPr>
              <a:t>Growth Functions</a:t>
            </a:r>
            <a:endParaRPr sz="3400">
              <a:solidFill>
                <a:srgbClr val="FF9900"/>
              </a:solidFill>
            </a:endParaRPr>
          </a:p>
        </p:txBody>
      </p:sp>
      <p:sp>
        <p:nvSpPr>
          <p:cNvPr id="227" name="Google Shape;227;p28"/>
          <p:cNvSpPr txBox="1"/>
          <p:nvPr>
            <p:ph idx="1" type="body"/>
          </p:nvPr>
        </p:nvSpPr>
        <p:spPr>
          <a:xfrm>
            <a:off x="178700" y="652650"/>
            <a:ext cx="8865300" cy="43656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None/>
            </a:pPr>
            <a:r>
              <a:rPr b="1" lang="en-GB" sz="2000">
                <a:solidFill>
                  <a:srgbClr val="273239"/>
                </a:solidFill>
                <a:highlight>
                  <a:srgbClr val="D9EAD3"/>
                </a:highlight>
              </a:rPr>
              <a:t>Logarithmic Time, O(log(n))</a:t>
            </a:r>
            <a:endParaRPr b="1" sz="2000">
              <a:solidFill>
                <a:srgbClr val="273239"/>
              </a:solidFill>
              <a:highlight>
                <a:srgbClr val="D9EAD3"/>
              </a:highlight>
            </a:endParaRPr>
          </a:p>
          <a:p>
            <a:pPr indent="0" lvl="0" marL="0" rtl="0" algn="l">
              <a:spcBef>
                <a:spcPts val="0"/>
              </a:spcBef>
              <a:spcAft>
                <a:spcPts val="0"/>
              </a:spcAft>
              <a:buNone/>
            </a:pPr>
            <a:r>
              <a:t/>
            </a:r>
            <a:endParaRPr b="1" sz="2000">
              <a:solidFill>
                <a:srgbClr val="273239"/>
              </a:solidFill>
              <a:highlight>
                <a:srgbClr val="D9EAD3"/>
              </a:highlight>
            </a:endParaRPr>
          </a:p>
          <a:p>
            <a:pPr indent="0" lvl="0" marL="0" rtl="0" algn="l">
              <a:spcBef>
                <a:spcPts val="0"/>
              </a:spcBef>
              <a:spcAft>
                <a:spcPts val="0"/>
              </a:spcAft>
              <a:buNone/>
            </a:pPr>
            <a:r>
              <a:rPr lang="en-GB" sz="2000">
                <a:solidFill>
                  <a:srgbClr val="000000"/>
                </a:solidFill>
              </a:rPr>
              <a:t>An algorithm is said to run in logarithmic time if the execution time of the algorithm is proportional to  the logarithm of the input size. In each step of an algorithm, a significant portion (e.g. half portion) of the input is pruned/rejected out without traversing it.</a:t>
            </a:r>
            <a:endParaRPr sz="2000">
              <a:solidFill>
                <a:srgbClr val="000000"/>
              </a:solidFill>
            </a:endParaRPr>
          </a:p>
          <a:p>
            <a:pPr indent="0" lvl="0" marL="0" rtl="0" algn="l">
              <a:spcBef>
                <a:spcPts val="0"/>
              </a:spcBef>
              <a:spcAft>
                <a:spcPts val="0"/>
              </a:spcAft>
              <a:buNone/>
            </a:pPr>
            <a:r>
              <a:rPr lang="en-GB" sz="2000">
                <a:solidFill>
                  <a:srgbClr val="000000"/>
                </a:solidFill>
              </a:rPr>
              <a:t>An example is the </a:t>
            </a:r>
            <a:r>
              <a:rPr b="1" lang="en-GB" sz="2000">
                <a:solidFill>
                  <a:srgbClr val="000000"/>
                </a:solidFill>
              </a:rPr>
              <a:t>Binary search algorithm</a:t>
            </a:r>
            <a:r>
              <a:rPr lang="en-GB" sz="2000">
                <a:solidFill>
                  <a:srgbClr val="000000"/>
                </a:solidFill>
              </a:rPr>
              <a:t>. We will read about this algorithm later.</a:t>
            </a:r>
            <a:endParaRPr sz="2000">
              <a:solidFill>
                <a:srgbClr val="000000"/>
              </a:solidFill>
            </a:endParaRPr>
          </a:p>
          <a:p>
            <a:pPr indent="0" lvl="0" marL="0" rtl="0" algn="l">
              <a:spcBef>
                <a:spcPts val="0"/>
              </a:spcBef>
              <a:spcAft>
                <a:spcPts val="0"/>
              </a:spcAft>
              <a:buNone/>
            </a:pPr>
            <a:r>
              <a:rPr b="1" lang="en-GB" sz="2000">
                <a:solidFill>
                  <a:srgbClr val="000000"/>
                </a:solidFill>
                <a:highlight>
                  <a:srgbClr val="D9EAD3"/>
                </a:highlight>
              </a:rPr>
              <a:t>n.log(n) Time, O(n.log(n))</a:t>
            </a:r>
            <a:endParaRPr b="1" sz="2000">
              <a:solidFill>
                <a:srgbClr val="000000"/>
              </a:solidFill>
              <a:highlight>
                <a:srgbClr val="D9EAD3"/>
              </a:highlight>
            </a:endParaRPr>
          </a:p>
          <a:p>
            <a:pPr indent="0" lvl="0" marL="0" rtl="0" algn="l">
              <a:spcBef>
                <a:spcPts val="0"/>
              </a:spcBef>
              <a:spcAft>
                <a:spcPts val="0"/>
              </a:spcAft>
              <a:buNone/>
            </a:pPr>
            <a:r>
              <a:rPr lang="en-GB" sz="2000">
                <a:solidFill>
                  <a:srgbClr val="000000"/>
                </a:solidFill>
              </a:rPr>
              <a:t>An algorithm is said to run in </a:t>
            </a:r>
            <a:r>
              <a:rPr lang="en-GB" sz="2000">
                <a:solidFill>
                  <a:srgbClr val="000000"/>
                </a:solidFill>
                <a:highlight>
                  <a:srgbClr val="D9EAD3"/>
                </a:highlight>
              </a:rPr>
              <a:t>n*log(n</a:t>
            </a:r>
            <a:r>
              <a:rPr lang="en-GB" sz="2000">
                <a:solidFill>
                  <a:srgbClr val="000000"/>
                </a:solidFill>
              </a:rPr>
              <a:t>) time if the execution time of an algorithm is proportional to the product of input size and logarithm of the input size. In these algorithms, each time the input is divided into half (or some proportion) and each portion is processed independently.</a:t>
            </a:r>
            <a:endParaRPr sz="2000">
              <a:solidFill>
                <a:srgbClr val="000000"/>
              </a:solidFill>
            </a:endParaRPr>
          </a:p>
          <a:p>
            <a:pPr indent="0" lvl="0" marL="0" rtl="0" algn="l">
              <a:spcBef>
                <a:spcPts val="0"/>
              </a:spcBef>
              <a:spcAft>
                <a:spcPts val="0"/>
              </a:spcAft>
              <a:buNone/>
            </a:pPr>
            <a:r>
              <a:rPr b="1" lang="en-GB" sz="2000">
                <a:solidFill>
                  <a:srgbClr val="000000"/>
                </a:solidFill>
              </a:rPr>
              <a:t>Examples: </a:t>
            </a:r>
            <a:r>
              <a:rPr lang="en-GB" sz="2000">
                <a:solidFill>
                  <a:srgbClr val="000000"/>
                </a:solidFill>
              </a:rPr>
              <a:t> Merge-Sort, Quick-Sort (average case), Heap-Sort etc.</a:t>
            </a:r>
            <a:endParaRPr sz="2000">
              <a:solidFill>
                <a:srgbClr val="000000"/>
              </a:solidFill>
            </a:endParaRPr>
          </a:p>
          <a:p>
            <a:pPr indent="0" lvl="0" marL="0" rtl="0" algn="l">
              <a:spcBef>
                <a:spcPts val="0"/>
              </a:spcBef>
              <a:spcAft>
                <a:spcPts val="0"/>
              </a:spcAft>
              <a:buNone/>
            </a:pPr>
            <a:r>
              <a:t/>
            </a:r>
            <a:endParaRPr sz="20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type="title"/>
          </p:nvPr>
        </p:nvSpPr>
        <p:spPr>
          <a:xfrm>
            <a:off x="484575" y="168100"/>
            <a:ext cx="8036700" cy="5472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GB" sz="2000">
                <a:solidFill>
                  <a:srgbClr val="FF9900"/>
                </a:solidFill>
                <a:latin typeface="Calibri"/>
                <a:ea typeface="Calibri"/>
                <a:cs typeface="Calibri"/>
                <a:sym typeface="Calibri"/>
              </a:rPr>
              <a:t>Growth Functions</a:t>
            </a:r>
            <a:endParaRPr sz="3400">
              <a:solidFill>
                <a:srgbClr val="FF9900"/>
              </a:solidFill>
            </a:endParaRPr>
          </a:p>
        </p:txBody>
      </p:sp>
      <p:sp>
        <p:nvSpPr>
          <p:cNvPr id="233" name="Google Shape;233;p29"/>
          <p:cNvSpPr txBox="1"/>
          <p:nvPr>
            <p:ph idx="1" type="body"/>
          </p:nvPr>
        </p:nvSpPr>
        <p:spPr>
          <a:xfrm>
            <a:off x="178700" y="652650"/>
            <a:ext cx="8865300" cy="4365600"/>
          </a:xfrm>
          <a:prstGeom prst="rect">
            <a:avLst/>
          </a:prstGeom>
          <a:noFill/>
          <a:ln>
            <a:noFill/>
          </a:ln>
        </p:spPr>
        <p:txBody>
          <a:bodyPr anchorCtr="0" anchor="t" bIns="34275" lIns="68575" spcFirstLastPara="1" rIns="68575" wrap="square" tIns="34275">
            <a:normAutofit lnSpcReduction="10000"/>
          </a:bodyPr>
          <a:lstStyle/>
          <a:p>
            <a:pPr indent="0" lvl="0" marL="0" rtl="0" algn="l">
              <a:spcBef>
                <a:spcPts val="0"/>
              </a:spcBef>
              <a:spcAft>
                <a:spcPts val="0"/>
              </a:spcAft>
              <a:buNone/>
            </a:pPr>
            <a:r>
              <a:rPr b="1" lang="en-GB" sz="2000">
                <a:solidFill>
                  <a:srgbClr val="000000"/>
                </a:solidFill>
                <a:highlight>
                  <a:srgbClr val="D9EAD3"/>
                </a:highlight>
              </a:rPr>
              <a:t>Quadratic Time, O(n^2)</a:t>
            </a:r>
            <a:endParaRPr b="1" sz="2000">
              <a:solidFill>
                <a:srgbClr val="000000"/>
              </a:solidFill>
              <a:highlight>
                <a:srgbClr val="D9EAD3"/>
              </a:highlight>
            </a:endParaRPr>
          </a:p>
          <a:p>
            <a:pPr indent="0" lvl="0" marL="0" rtl="0" algn="l">
              <a:spcBef>
                <a:spcPts val="0"/>
              </a:spcBef>
              <a:spcAft>
                <a:spcPts val="0"/>
              </a:spcAft>
              <a:buNone/>
            </a:pPr>
            <a:r>
              <a:rPr lang="en-GB" sz="2000">
                <a:solidFill>
                  <a:srgbClr val="000000"/>
                </a:solidFill>
              </a:rPr>
              <a:t>An algorithm is said to run in quadratic time if the execution time of an algorithm is proportional to th square of the input size. In these algorithms, each element is compared with all the other elements. </a:t>
            </a:r>
            <a:endParaRPr sz="2000">
              <a:solidFill>
                <a:srgbClr val="000000"/>
              </a:solidFill>
            </a:endParaRPr>
          </a:p>
          <a:p>
            <a:pPr indent="0" lvl="0" marL="0" rtl="0" algn="l">
              <a:spcBef>
                <a:spcPts val="0"/>
              </a:spcBef>
              <a:spcAft>
                <a:spcPts val="0"/>
              </a:spcAft>
              <a:buNone/>
            </a:pPr>
            <a:r>
              <a:rPr lang="en-GB" sz="2000">
                <a:solidFill>
                  <a:srgbClr val="000000"/>
                </a:solidFill>
              </a:rPr>
              <a:t>Examples: Bubble-Sort, Selection-Sort, Insertion-Sort</a:t>
            </a:r>
            <a:endParaRPr sz="2000">
              <a:solidFill>
                <a:srgbClr val="000000"/>
              </a:solidFill>
            </a:endParaRPr>
          </a:p>
          <a:p>
            <a:pPr indent="0" lvl="0" marL="0" rtl="0" algn="l">
              <a:spcBef>
                <a:spcPts val="0"/>
              </a:spcBef>
              <a:spcAft>
                <a:spcPts val="0"/>
              </a:spcAft>
              <a:buNone/>
            </a:pPr>
            <a:r>
              <a:t/>
            </a:r>
            <a:endParaRPr sz="2000">
              <a:solidFill>
                <a:srgbClr val="000000"/>
              </a:solidFill>
            </a:endParaRPr>
          </a:p>
          <a:p>
            <a:pPr indent="0" lvl="0" marL="0" rtl="0" algn="l">
              <a:spcBef>
                <a:spcPts val="0"/>
              </a:spcBef>
              <a:spcAft>
                <a:spcPts val="0"/>
              </a:spcAft>
              <a:buNone/>
            </a:pPr>
            <a:r>
              <a:rPr b="1" lang="en-GB" sz="2000">
                <a:solidFill>
                  <a:srgbClr val="000000"/>
                </a:solidFill>
                <a:highlight>
                  <a:srgbClr val="D9EAD3"/>
                </a:highlight>
              </a:rPr>
              <a:t>Exponential Time O(2^n)</a:t>
            </a:r>
            <a:endParaRPr b="1" sz="2000">
              <a:solidFill>
                <a:srgbClr val="000000"/>
              </a:solidFill>
              <a:highlight>
                <a:srgbClr val="D9EAD3"/>
              </a:highlight>
            </a:endParaRPr>
          </a:p>
          <a:p>
            <a:pPr indent="0" lvl="0" marL="0" rtl="0" algn="l">
              <a:spcBef>
                <a:spcPts val="0"/>
              </a:spcBef>
              <a:spcAft>
                <a:spcPts val="0"/>
              </a:spcAft>
              <a:buNone/>
            </a:pPr>
            <a:r>
              <a:rPr lang="en-GB" sz="2000">
                <a:solidFill>
                  <a:srgbClr val="000000"/>
                </a:solidFill>
              </a:rPr>
              <a:t>In these algorithms, all possible subsets of elements of input data are generated. Its common example</a:t>
            </a:r>
            <a:endParaRPr sz="2000">
              <a:solidFill>
                <a:srgbClr val="000000"/>
              </a:solidFill>
            </a:endParaRPr>
          </a:p>
          <a:p>
            <a:pPr indent="0" lvl="0" marL="0" rtl="0" algn="l">
              <a:spcBef>
                <a:spcPts val="0"/>
              </a:spcBef>
              <a:spcAft>
                <a:spcPts val="0"/>
              </a:spcAft>
              <a:buNone/>
            </a:pPr>
            <a:r>
              <a:rPr lang="en-GB" sz="2000">
                <a:solidFill>
                  <a:srgbClr val="000000"/>
                </a:solidFill>
              </a:rPr>
              <a:t>is the power set.</a:t>
            </a:r>
            <a:endParaRPr sz="2000">
              <a:solidFill>
                <a:srgbClr val="000000"/>
              </a:solidFill>
            </a:endParaRPr>
          </a:p>
          <a:p>
            <a:pPr indent="0" lvl="0" marL="0" rtl="0" algn="l">
              <a:spcBef>
                <a:spcPts val="0"/>
              </a:spcBef>
              <a:spcAft>
                <a:spcPts val="0"/>
              </a:spcAft>
              <a:buNone/>
            </a:pPr>
            <a:r>
              <a:rPr b="1" lang="en-GB" sz="2000">
                <a:solidFill>
                  <a:srgbClr val="273239"/>
                </a:solidFill>
                <a:highlight>
                  <a:srgbClr val="D9EAD3"/>
                </a:highlight>
              </a:rPr>
              <a:t>Factorial Time O(n!)</a:t>
            </a:r>
            <a:endParaRPr b="1" sz="2000">
              <a:solidFill>
                <a:srgbClr val="273239"/>
              </a:solidFill>
              <a:highlight>
                <a:srgbClr val="D9EAD3"/>
              </a:highlight>
            </a:endParaRPr>
          </a:p>
          <a:p>
            <a:pPr indent="0" lvl="0" marL="0" rtl="0" algn="l">
              <a:spcBef>
                <a:spcPts val="0"/>
              </a:spcBef>
              <a:spcAft>
                <a:spcPts val="0"/>
              </a:spcAft>
              <a:buNone/>
            </a:pPr>
            <a:r>
              <a:rPr lang="en-GB" sz="2000">
                <a:solidFill>
                  <a:srgbClr val="000000"/>
                </a:solidFill>
              </a:rPr>
              <a:t>In these algorithms, all possible permutations of the elements of input data are generated. Finding permutations is a common example of factorial time.</a:t>
            </a:r>
            <a:endParaRPr sz="2000">
              <a:solidFill>
                <a:srgbClr val="000000"/>
              </a:solidFill>
            </a:endParaRPr>
          </a:p>
          <a:p>
            <a:pPr indent="0" lvl="0" marL="0" rtl="0" algn="l">
              <a:spcBef>
                <a:spcPts val="0"/>
              </a:spcBef>
              <a:spcAft>
                <a:spcPts val="0"/>
              </a:spcAft>
              <a:buNone/>
            </a:pPr>
            <a:r>
              <a:rPr lang="en-GB" sz="2000">
                <a:solidFill>
                  <a:srgbClr val="000000"/>
                </a:solidFill>
              </a:rPr>
              <a:t>A list of commonly occurring algorithm Time Complexity in incronin</a:t>
            </a:r>
            <a:endParaRPr sz="2000">
              <a:solidFill>
                <a:srgbClr val="000000"/>
              </a:solidFill>
            </a:endParaRPr>
          </a:p>
          <a:p>
            <a:pPr indent="0" lvl="0" marL="0" rtl="0" algn="l">
              <a:spcBef>
                <a:spcPts val="0"/>
              </a:spcBef>
              <a:spcAft>
                <a:spcPts val="0"/>
              </a:spcAft>
              <a:buNone/>
            </a:pPr>
            <a:r>
              <a:t/>
            </a:r>
            <a:endParaRPr sz="20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484575" y="168100"/>
            <a:ext cx="8036700" cy="5472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rPr lang="en-GB" sz="2000">
                <a:solidFill>
                  <a:srgbClr val="FF9900"/>
                </a:solidFill>
                <a:latin typeface="Calibri"/>
                <a:ea typeface="Calibri"/>
                <a:cs typeface="Calibri"/>
                <a:sym typeface="Calibri"/>
              </a:rPr>
              <a:t>Commonly encountered time complexities in increasing order</a:t>
            </a:r>
            <a:endParaRPr sz="3400">
              <a:solidFill>
                <a:srgbClr val="FF9900"/>
              </a:solidFill>
            </a:endParaRPr>
          </a:p>
        </p:txBody>
      </p:sp>
      <p:graphicFrame>
        <p:nvGraphicFramePr>
          <p:cNvPr id="239" name="Google Shape;239;p30"/>
          <p:cNvGraphicFramePr/>
          <p:nvPr/>
        </p:nvGraphicFramePr>
        <p:xfrm>
          <a:off x="400850" y="857250"/>
          <a:ext cx="3000000" cy="3000000"/>
        </p:xfrm>
        <a:graphic>
          <a:graphicData uri="http://schemas.openxmlformats.org/drawingml/2006/table">
            <a:tbl>
              <a:tblPr>
                <a:noFill/>
                <a:tableStyleId>{46B5A428-2258-4F19-A221-D22E64A0F63F}</a:tableStyleId>
              </a:tblPr>
              <a:tblGrid>
                <a:gridCol w="1542825"/>
                <a:gridCol w="2824775"/>
              </a:tblGrid>
              <a:tr h="381000">
                <a:tc>
                  <a:txBody>
                    <a:bodyPr/>
                    <a:lstStyle/>
                    <a:p>
                      <a:pPr indent="0" lvl="0" marL="0" rtl="0" algn="l">
                        <a:spcBef>
                          <a:spcPts val="0"/>
                        </a:spcBef>
                        <a:spcAft>
                          <a:spcPts val="0"/>
                        </a:spcAft>
                        <a:buNone/>
                      </a:pPr>
                      <a:r>
                        <a:rPr lang="en-GB"/>
                        <a:t>Name</a:t>
                      </a:r>
                      <a:endParaRPr/>
                    </a:p>
                  </a:txBody>
                  <a:tcPr marT="91425" marB="91425" marR="91425" marL="91425"/>
                </a:tc>
                <a:tc>
                  <a:txBody>
                    <a:bodyPr/>
                    <a:lstStyle/>
                    <a:p>
                      <a:pPr indent="0" lvl="0" marL="0" rtl="0" algn="l">
                        <a:spcBef>
                          <a:spcPts val="0"/>
                        </a:spcBef>
                        <a:spcAft>
                          <a:spcPts val="0"/>
                        </a:spcAft>
                        <a:buNone/>
                      </a:pPr>
                      <a:r>
                        <a:rPr lang="en-GB"/>
                        <a:t>Running Time(Tn)</a:t>
                      </a:r>
                      <a:endParaRPr/>
                    </a:p>
                  </a:txBody>
                  <a:tcPr marT="91425" marB="91425" marR="91425" marL="91425"/>
                </a:tc>
              </a:tr>
              <a:tr h="381000">
                <a:tc>
                  <a:txBody>
                    <a:bodyPr/>
                    <a:lstStyle/>
                    <a:p>
                      <a:pPr indent="0" lvl="0" marL="0" rtl="0" algn="l">
                        <a:spcBef>
                          <a:spcPts val="0"/>
                        </a:spcBef>
                        <a:spcAft>
                          <a:spcPts val="0"/>
                        </a:spcAft>
                        <a:buNone/>
                      </a:pPr>
                      <a:r>
                        <a:rPr lang="en-GB"/>
                        <a:t>Constant</a:t>
                      </a:r>
                      <a:endParaRPr/>
                    </a:p>
                  </a:txBody>
                  <a:tcPr marT="91425" marB="91425" marR="91425" marL="91425"/>
                </a:tc>
                <a:tc>
                  <a:txBody>
                    <a:bodyPr/>
                    <a:lstStyle/>
                    <a:p>
                      <a:pPr indent="0" lvl="0" marL="0" rtl="0" algn="l">
                        <a:spcBef>
                          <a:spcPts val="0"/>
                        </a:spcBef>
                        <a:spcAft>
                          <a:spcPts val="0"/>
                        </a:spcAft>
                        <a:buNone/>
                      </a:pPr>
                      <a:r>
                        <a:rPr lang="en-GB"/>
                        <a:t>O(1)</a:t>
                      </a:r>
                      <a:endParaRPr/>
                    </a:p>
                  </a:txBody>
                  <a:tcPr marT="91425" marB="91425" marR="91425" marL="91425"/>
                </a:tc>
              </a:tr>
              <a:tr h="381000">
                <a:tc>
                  <a:txBody>
                    <a:bodyPr/>
                    <a:lstStyle/>
                    <a:p>
                      <a:pPr indent="0" lvl="0" marL="0" rtl="0" algn="l">
                        <a:spcBef>
                          <a:spcPts val="0"/>
                        </a:spcBef>
                        <a:spcAft>
                          <a:spcPts val="0"/>
                        </a:spcAft>
                        <a:buNone/>
                      </a:pPr>
                      <a:r>
                        <a:rPr lang="en-GB"/>
                        <a:t>Logarithmic</a:t>
                      </a:r>
                      <a:endParaRPr/>
                    </a:p>
                  </a:txBody>
                  <a:tcPr marT="91425" marB="91425" marR="91425" marL="91425"/>
                </a:tc>
                <a:tc>
                  <a:txBody>
                    <a:bodyPr/>
                    <a:lstStyle/>
                    <a:p>
                      <a:pPr indent="0" lvl="0" marL="0" rtl="0" algn="l">
                        <a:spcBef>
                          <a:spcPts val="0"/>
                        </a:spcBef>
                        <a:spcAft>
                          <a:spcPts val="0"/>
                        </a:spcAft>
                        <a:buNone/>
                      </a:pPr>
                      <a:r>
                        <a:rPr lang="en-GB"/>
                        <a:t>O(log(n))</a:t>
                      </a:r>
                      <a:endParaRPr/>
                    </a:p>
                  </a:txBody>
                  <a:tcPr marT="91425" marB="91425" marR="91425" marL="91425"/>
                </a:tc>
              </a:tr>
              <a:tr h="100000">
                <a:tc>
                  <a:txBody>
                    <a:bodyPr/>
                    <a:lstStyle/>
                    <a:p>
                      <a:pPr indent="0" lvl="0" marL="0" rtl="0" algn="l">
                        <a:spcBef>
                          <a:spcPts val="0"/>
                        </a:spcBef>
                        <a:spcAft>
                          <a:spcPts val="0"/>
                        </a:spcAft>
                        <a:buNone/>
                      </a:pPr>
                      <a:r>
                        <a:rPr lang="en-GB"/>
                        <a:t>Linear</a:t>
                      </a:r>
                      <a:endParaRPr/>
                    </a:p>
                  </a:txBody>
                  <a:tcPr marT="91425" marB="91425" marR="91425" marL="91425"/>
                </a:tc>
                <a:tc>
                  <a:txBody>
                    <a:bodyPr/>
                    <a:lstStyle/>
                    <a:p>
                      <a:pPr indent="0" lvl="0" marL="0" rtl="0" algn="l">
                        <a:spcBef>
                          <a:spcPts val="0"/>
                        </a:spcBef>
                        <a:spcAft>
                          <a:spcPts val="0"/>
                        </a:spcAft>
                        <a:buNone/>
                      </a:pPr>
                      <a:r>
                        <a:rPr lang="en-GB"/>
                        <a:t>O(n)</a:t>
                      </a:r>
                      <a:endParaRPr/>
                    </a:p>
                  </a:txBody>
                  <a:tcPr marT="91425" marB="91425" marR="91425" marL="91425"/>
                </a:tc>
              </a:tr>
              <a:tr h="381000">
                <a:tc>
                  <a:txBody>
                    <a:bodyPr/>
                    <a:lstStyle/>
                    <a:p>
                      <a:pPr indent="0" lvl="0" marL="0" rtl="0" algn="l">
                        <a:spcBef>
                          <a:spcPts val="0"/>
                        </a:spcBef>
                        <a:spcAft>
                          <a:spcPts val="0"/>
                        </a:spcAft>
                        <a:buNone/>
                      </a:pPr>
                      <a:r>
                        <a:rPr lang="en-GB"/>
                        <a:t>n.log(n)</a:t>
                      </a:r>
                      <a:endParaRPr/>
                    </a:p>
                  </a:txBody>
                  <a:tcPr marT="91425" marB="91425" marR="91425" marL="91425"/>
                </a:tc>
                <a:tc>
                  <a:txBody>
                    <a:bodyPr/>
                    <a:lstStyle/>
                    <a:p>
                      <a:pPr indent="0" lvl="0" marL="0" rtl="0" algn="l">
                        <a:spcBef>
                          <a:spcPts val="0"/>
                        </a:spcBef>
                        <a:spcAft>
                          <a:spcPts val="0"/>
                        </a:spcAft>
                        <a:buNone/>
                      </a:pPr>
                      <a:r>
                        <a:rPr lang="en-GB"/>
                        <a:t>O(n.log(n))</a:t>
                      </a:r>
                      <a:endParaRPr/>
                    </a:p>
                  </a:txBody>
                  <a:tcPr marT="91425" marB="91425" marR="91425" marL="91425"/>
                </a:tc>
              </a:tr>
              <a:tr h="381000">
                <a:tc>
                  <a:txBody>
                    <a:bodyPr/>
                    <a:lstStyle/>
                    <a:p>
                      <a:pPr indent="0" lvl="0" marL="0" rtl="0" algn="l">
                        <a:spcBef>
                          <a:spcPts val="0"/>
                        </a:spcBef>
                        <a:spcAft>
                          <a:spcPts val="0"/>
                        </a:spcAft>
                        <a:buNone/>
                      </a:pPr>
                      <a:r>
                        <a:rPr lang="en-GB"/>
                        <a:t>Quadratic</a:t>
                      </a:r>
                      <a:endParaRPr/>
                    </a:p>
                  </a:txBody>
                  <a:tcPr marT="91425" marB="91425" marR="91425" marL="91425"/>
                </a:tc>
                <a:tc>
                  <a:txBody>
                    <a:bodyPr/>
                    <a:lstStyle/>
                    <a:p>
                      <a:pPr indent="0" lvl="0" marL="0" rtl="0" algn="l">
                        <a:spcBef>
                          <a:spcPts val="0"/>
                        </a:spcBef>
                        <a:spcAft>
                          <a:spcPts val="0"/>
                        </a:spcAft>
                        <a:buNone/>
                      </a:pPr>
                      <a:r>
                        <a:rPr lang="en-GB"/>
                        <a:t>O(n^2)</a:t>
                      </a:r>
                      <a:endParaRPr/>
                    </a:p>
                  </a:txBody>
                  <a:tcPr marT="91425" marB="91425" marR="91425" marL="91425"/>
                </a:tc>
              </a:tr>
              <a:tr h="381000">
                <a:tc>
                  <a:txBody>
                    <a:bodyPr/>
                    <a:lstStyle/>
                    <a:p>
                      <a:pPr indent="0" lvl="0" marL="0" rtl="0" algn="l">
                        <a:spcBef>
                          <a:spcPts val="0"/>
                        </a:spcBef>
                        <a:spcAft>
                          <a:spcPts val="0"/>
                        </a:spcAft>
                        <a:buNone/>
                      </a:pPr>
                      <a:r>
                        <a:rPr lang="en-GB"/>
                        <a:t>Polynomial</a:t>
                      </a:r>
                      <a:endParaRPr/>
                    </a:p>
                  </a:txBody>
                  <a:tcPr marT="91425" marB="91425" marR="91425" marL="91425"/>
                </a:tc>
                <a:tc>
                  <a:txBody>
                    <a:bodyPr/>
                    <a:lstStyle/>
                    <a:p>
                      <a:pPr indent="0" lvl="0" marL="0" rtl="0" algn="l">
                        <a:spcBef>
                          <a:spcPts val="0"/>
                        </a:spcBef>
                        <a:spcAft>
                          <a:spcPts val="0"/>
                        </a:spcAft>
                        <a:buNone/>
                      </a:pPr>
                      <a:r>
                        <a:rPr lang="en-GB"/>
                        <a:t>O(n^c) c is a constant  and c&gt;1</a:t>
                      </a:r>
                      <a:endParaRPr/>
                    </a:p>
                  </a:txBody>
                  <a:tcPr marT="91425" marB="91425" marR="91425" marL="91425"/>
                </a:tc>
              </a:tr>
              <a:tr h="381000">
                <a:tc>
                  <a:txBody>
                    <a:bodyPr/>
                    <a:lstStyle/>
                    <a:p>
                      <a:pPr indent="0" lvl="0" marL="0" rtl="0" algn="l">
                        <a:spcBef>
                          <a:spcPts val="0"/>
                        </a:spcBef>
                        <a:spcAft>
                          <a:spcPts val="0"/>
                        </a:spcAft>
                        <a:buNone/>
                      </a:pPr>
                      <a:r>
                        <a:rPr lang="en-GB"/>
                        <a:t>Exponential</a:t>
                      </a:r>
                      <a:endParaRPr/>
                    </a:p>
                  </a:txBody>
                  <a:tcPr marT="91425" marB="91425" marR="91425" marL="91425"/>
                </a:tc>
                <a:tc>
                  <a:txBody>
                    <a:bodyPr/>
                    <a:lstStyle/>
                    <a:p>
                      <a:pPr indent="0" lvl="0" marL="0" rtl="0" algn="l">
                        <a:spcBef>
                          <a:spcPts val="0"/>
                        </a:spcBef>
                        <a:spcAft>
                          <a:spcPts val="0"/>
                        </a:spcAft>
                        <a:buNone/>
                      </a:pPr>
                      <a:r>
                        <a:rPr lang="en-GB"/>
                        <a:t>O(c^m) c is a constant  and c&gt;1</a:t>
                      </a:r>
                      <a:endParaRPr/>
                    </a:p>
                  </a:txBody>
                  <a:tcPr marT="91425" marB="91425" marR="91425" marL="91425"/>
                </a:tc>
              </a:tr>
              <a:tr h="381000">
                <a:tc>
                  <a:txBody>
                    <a:bodyPr/>
                    <a:lstStyle/>
                    <a:p>
                      <a:pPr indent="0" lvl="0" marL="0" rtl="0" algn="l">
                        <a:spcBef>
                          <a:spcPts val="0"/>
                        </a:spcBef>
                        <a:spcAft>
                          <a:spcPts val="0"/>
                        </a:spcAft>
                        <a:buNone/>
                      </a:pPr>
                      <a:r>
                        <a:rPr lang="en-GB"/>
                        <a:t>Factorial</a:t>
                      </a:r>
                      <a:endParaRPr/>
                    </a:p>
                  </a:txBody>
                  <a:tcPr marT="91425" marB="91425" marR="91425" marL="91425"/>
                </a:tc>
                <a:tc>
                  <a:txBody>
                    <a:bodyPr/>
                    <a:lstStyle/>
                    <a:p>
                      <a:pPr indent="0" lvl="0" marL="0" rtl="0" algn="l">
                        <a:spcBef>
                          <a:spcPts val="0"/>
                        </a:spcBef>
                        <a:spcAft>
                          <a:spcPts val="0"/>
                        </a:spcAft>
                        <a:buNone/>
                      </a:pPr>
                      <a:r>
                        <a:rPr lang="en-GB"/>
                        <a:t>O(n!)</a:t>
                      </a:r>
                      <a:endParaRPr/>
                    </a:p>
                  </a:txBody>
                  <a:tcPr marT="91425" marB="91425" marR="91425" marL="91425"/>
                </a:tc>
              </a:tr>
              <a:tr h="381000">
                <a:tc>
                  <a:txBody>
                    <a:bodyPr/>
                    <a:lstStyle/>
                    <a:p>
                      <a:pPr indent="0" lvl="0" marL="0" rtl="0" algn="l">
                        <a:spcBef>
                          <a:spcPts val="0"/>
                        </a:spcBef>
                        <a:spcAft>
                          <a:spcPts val="0"/>
                        </a:spcAft>
                        <a:buNone/>
                      </a:pPr>
                      <a:r>
                        <a:rPr lang="en-GB"/>
                        <a:t>N power N</a:t>
                      </a:r>
                      <a:endParaRPr/>
                    </a:p>
                  </a:txBody>
                  <a:tcPr marT="91425" marB="91425" marR="91425" marL="91425"/>
                </a:tc>
                <a:tc>
                  <a:txBody>
                    <a:bodyPr/>
                    <a:lstStyle/>
                    <a:p>
                      <a:pPr indent="0" lvl="0" marL="0" rtl="0" algn="l">
                        <a:spcBef>
                          <a:spcPts val="0"/>
                        </a:spcBef>
                        <a:spcAft>
                          <a:spcPts val="0"/>
                        </a:spcAft>
                        <a:buNone/>
                      </a:pPr>
                      <a:r>
                        <a:rPr lang="en-GB"/>
                        <a:t>O(n*n)</a:t>
                      </a:r>
                      <a:endParaRPr/>
                    </a:p>
                  </a:txBody>
                  <a:tcPr marT="91425" marB="91425" marR="91425" marL="91425"/>
                </a:tc>
              </a:tr>
            </a:tbl>
          </a:graphicData>
        </a:graphic>
      </p:graphicFrame>
      <p:sp>
        <p:nvSpPr>
          <p:cNvPr id="240" name="Google Shape;240;p30"/>
          <p:cNvSpPr txBox="1"/>
          <p:nvPr/>
        </p:nvSpPr>
        <p:spPr>
          <a:xfrm>
            <a:off x="5166825" y="10340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latin typeface="Calibri"/>
                <a:ea typeface="Calibri"/>
                <a:cs typeface="Calibri"/>
                <a:sym typeface="Calibri"/>
              </a:rPr>
              <a:t>With Big O Notation:</a:t>
            </a:r>
            <a:endParaRPr b="1">
              <a:latin typeface="Calibri"/>
              <a:ea typeface="Calibri"/>
              <a:cs typeface="Calibri"/>
              <a:sym typeface="Calibri"/>
            </a:endParaRPr>
          </a:p>
          <a:p>
            <a:pPr indent="-317500" lvl="0" marL="457200" rtl="0" algn="l">
              <a:spcBef>
                <a:spcPts val="0"/>
              </a:spcBef>
              <a:spcAft>
                <a:spcPts val="0"/>
              </a:spcAft>
              <a:buClr>
                <a:srgbClr val="000000"/>
              </a:buClr>
              <a:buSzPts val="1400"/>
              <a:buFont typeface="Calibri"/>
              <a:buAutoNum type="arabicPeriod"/>
            </a:pPr>
            <a:r>
              <a:rPr lang="en-GB">
                <a:latin typeface="Calibri"/>
                <a:ea typeface="Calibri"/>
                <a:cs typeface="Calibri"/>
                <a:sym typeface="Calibri"/>
              </a:rPr>
              <a:t>We ignore constants</a:t>
            </a:r>
            <a:endParaRPr>
              <a:latin typeface="Calibri"/>
              <a:ea typeface="Calibri"/>
              <a:cs typeface="Calibri"/>
              <a:sym typeface="Calibri"/>
            </a:endParaRPr>
          </a:p>
          <a:p>
            <a:pPr indent="-317500" lvl="0" marL="457200" rtl="0" algn="l">
              <a:spcBef>
                <a:spcPts val="0"/>
              </a:spcBef>
              <a:spcAft>
                <a:spcPts val="0"/>
              </a:spcAft>
              <a:buClr>
                <a:srgbClr val="000000"/>
              </a:buClr>
              <a:buSzPts val="1400"/>
              <a:buFont typeface="Calibri"/>
              <a:buAutoNum type="arabicPeriod"/>
            </a:pPr>
            <a:r>
              <a:rPr lang="en-GB">
                <a:latin typeface="Calibri"/>
                <a:ea typeface="Calibri"/>
                <a:cs typeface="Calibri"/>
                <a:sym typeface="Calibri"/>
              </a:rPr>
              <a:t>Focus on the highest power</a:t>
            </a:r>
            <a:endParaRPr>
              <a:latin typeface="Calibri"/>
              <a:ea typeface="Calibri"/>
              <a:cs typeface="Calibri"/>
              <a:sym typeface="Calibri"/>
            </a:endParaRPr>
          </a:p>
          <a:p>
            <a:pPr indent="0" lvl="0" marL="457200" rtl="0" algn="l">
              <a:spcBef>
                <a:spcPts val="0"/>
              </a:spcBef>
              <a:spcAft>
                <a:spcPts val="0"/>
              </a:spcAft>
              <a:buNone/>
            </a:pPr>
            <a:r>
              <a:t/>
            </a:r>
            <a:endParaRPr>
              <a:latin typeface="Calibri"/>
              <a:ea typeface="Calibri"/>
              <a:cs typeface="Calibri"/>
              <a:sym typeface="Calibri"/>
            </a:endParaRPr>
          </a:p>
        </p:txBody>
      </p:sp>
      <p:sp>
        <p:nvSpPr>
          <p:cNvPr id="241" name="Google Shape;241;p30"/>
          <p:cNvSpPr txBox="1"/>
          <p:nvPr/>
        </p:nvSpPr>
        <p:spPr>
          <a:xfrm>
            <a:off x="5026975" y="2011025"/>
            <a:ext cx="3869400" cy="2808300"/>
          </a:xfrm>
          <a:prstGeom prst="rect">
            <a:avLst/>
          </a:prstGeom>
          <a:solidFill>
            <a:srgbClr val="FCE5CD"/>
          </a:solid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GB" sz="2200">
                <a:latin typeface="Calibri"/>
                <a:ea typeface="Calibri"/>
                <a:cs typeface="Calibri"/>
                <a:sym typeface="Calibri"/>
              </a:rPr>
              <a:t>Examples</a:t>
            </a:r>
            <a:endParaRPr b="1" sz="2200">
              <a:latin typeface="Calibri"/>
              <a:ea typeface="Calibri"/>
              <a:cs typeface="Calibri"/>
              <a:sym typeface="Calibri"/>
            </a:endParaRPr>
          </a:p>
          <a:p>
            <a:pPr indent="-368300" lvl="0" marL="457200" rtl="0" algn="l">
              <a:spcBef>
                <a:spcPts val="0"/>
              </a:spcBef>
              <a:spcAft>
                <a:spcPts val="0"/>
              </a:spcAft>
              <a:buSzPts val="2200"/>
              <a:buFont typeface="Calibri"/>
              <a:buAutoNum type="arabicPeriod"/>
            </a:pPr>
            <a:r>
              <a:rPr lang="en-GB" sz="2200">
                <a:latin typeface="Calibri"/>
                <a:ea typeface="Calibri"/>
                <a:cs typeface="Calibri"/>
                <a:sym typeface="Calibri"/>
              </a:rPr>
              <a:t>7n</a:t>
            </a:r>
            <a:r>
              <a:rPr baseline="30000" lang="en-GB" sz="2200">
                <a:latin typeface="Calibri"/>
                <a:ea typeface="Calibri"/>
                <a:cs typeface="Calibri"/>
                <a:sym typeface="Calibri"/>
              </a:rPr>
              <a:t>2</a:t>
            </a:r>
            <a:r>
              <a:rPr lang="en-GB" sz="2200">
                <a:latin typeface="Calibri"/>
                <a:ea typeface="Calibri"/>
                <a:cs typeface="Calibri"/>
                <a:sym typeface="Calibri"/>
              </a:rPr>
              <a:t>+5n+8=&gt;O(n</a:t>
            </a:r>
            <a:r>
              <a:rPr baseline="30000" lang="en-GB" sz="2200">
                <a:latin typeface="Calibri"/>
                <a:ea typeface="Calibri"/>
                <a:cs typeface="Calibri"/>
                <a:sym typeface="Calibri"/>
              </a:rPr>
              <a:t>2</a:t>
            </a:r>
            <a:r>
              <a:rPr lang="en-GB" sz="2200">
                <a:latin typeface="Calibri"/>
                <a:ea typeface="Calibri"/>
                <a:cs typeface="Calibri"/>
                <a:sym typeface="Calibri"/>
              </a:rPr>
              <a:t>)</a:t>
            </a:r>
            <a:endParaRPr sz="2200">
              <a:latin typeface="Calibri"/>
              <a:ea typeface="Calibri"/>
              <a:cs typeface="Calibri"/>
              <a:sym typeface="Calibri"/>
            </a:endParaRPr>
          </a:p>
          <a:p>
            <a:pPr indent="0" lvl="0" marL="457200" rtl="0" algn="l">
              <a:spcBef>
                <a:spcPts val="0"/>
              </a:spcBef>
              <a:spcAft>
                <a:spcPts val="0"/>
              </a:spcAft>
              <a:buNone/>
            </a:pPr>
            <a:r>
              <a:rPr lang="en-GB" sz="2200">
                <a:latin typeface="Calibri"/>
                <a:ea typeface="Calibri"/>
                <a:cs typeface="Calibri"/>
                <a:sym typeface="Calibri"/>
              </a:rPr>
              <a:t>Because n</a:t>
            </a:r>
            <a:r>
              <a:rPr baseline="30000" lang="en-GB" sz="2200">
                <a:latin typeface="Calibri"/>
                <a:ea typeface="Calibri"/>
                <a:cs typeface="Calibri"/>
                <a:sym typeface="Calibri"/>
              </a:rPr>
              <a:t>2</a:t>
            </a:r>
            <a:r>
              <a:rPr lang="en-GB" sz="2200">
                <a:latin typeface="Calibri"/>
                <a:ea typeface="Calibri"/>
                <a:cs typeface="Calibri"/>
                <a:sym typeface="Calibri"/>
              </a:rPr>
              <a:t>&gt;&gt;&gt;&gt;n</a:t>
            </a:r>
            <a:endParaRPr sz="2200">
              <a:latin typeface="Calibri"/>
              <a:ea typeface="Calibri"/>
              <a:cs typeface="Calibri"/>
              <a:sym typeface="Calibri"/>
            </a:endParaRPr>
          </a:p>
          <a:p>
            <a:pPr indent="-368300" lvl="0" marL="457200" rtl="0" algn="l">
              <a:spcBef>
                <a:spcPts val="0"/>
              </a:spcBef>
              <a:spcAft>
                <a:spcPts val="0"/>
              </a:spcAft>
              <a:buSzPts val="2200"/>
              <a:buFont typeface="Calibri"/>
              <a:buAutoNum type="arabicPeriod"/>
            </a:pPr>
            <a:r>
              <a:rPr lang="en-GB" sz="2200">
                <a:latin typeface="Calibri"/>
                <a:ea typeface="Calibri"/>
                <a:cs typeface="Calibri"/>
                <a:sym typeface="Calibri"/>
              </a:rPr>
              <a:t>n</a:t>
            </a:r>
            <a:r>
              <a:rPr baseline="30000" lang="en-GB" sz="2200">
                <a:latin typeface="Calibri"/>
                <a:ea typeface="Calibri"/>
                <a:cs typeface="Calibri"/>
                <a:sym typeface="Calibri"/>
              </a:rPr>
              <a:t>3</a:t>
            </a:r>
            <a:r>
              <a:rPr lang="en-GB" sz="2200">
                <a:latin typeface="Calibri"/>
                <a:ea typeface="Calibri"/>
                <a:cs typeface="Calibri"/>
                <a:sym typeface="Calibri"/>
              </a:rPr>
              <a:t>+n</a:t>
            </a:r>
            <a:r>
              <a:rPr baseline="30000" lang="en-GB" sz="2200">
                <a:latin typeface="Calibri"/>
                <a:ea typeface="Calibri"/>
                <a:cs typeface="Calibri"/>
                <a:sym typeface="Calibri"/>
              </a:rPr>
              <a:t>2</a:t>
            </a:r>
            <a:r>
              <a:rPr lang="en-GB" sz="2200">
                <a:latin typeface="Calibri"/>
                <a:ea typeface="Calibri"/>
                <a:cs typeface="Calibri"/>
                <a:sym typeface="Calibri"/>
              </a:rPr>
              <a:t>=&gt; O(n</a:t>
            </a:r>
            <a:r>
              <a:rPr baseline="30000" lang="en-GB" sz="2200">
                <a:latin typeface="Calibri"/>
                <a:ea typeface="Calibri"/>
                <a:cs typeface="Calibri"/>
                <a:sym typeface="Calibri"/>
              </a:rPr>
              <a:t>3</a:t>
            </a:r>
            <a:r>
              <a:rPr lang="en-GB" sz="2200">
                <a:latin typeface="Calibri"/>
                <a:ea typeface="Calibri"/>
                <a:cs typeface="Calibri"/>
                <a:sym typeface="Calibri"/>
              </a:rPr>
              <a:t>)</a:t>
            </a:r>
            <a:endParaRPr sz="2200">
              <a:latin typeface="Calibri"/>
              <a:ea typeface="Calibri"/>
              <a:cs typeface="Calibri"/>
              <a:sym typeface="Calibri"/>
            </a:endParaRPr>
          </a:p>
          <a:p>
            <a:pPr indent="-368300" lvl="0" marL="457200" rtl="0" algn="l">
              <a:spcBef>
                <a:spcPts val="0"/>
              </a:spcBef>
              <a:spcAft>
                <a:spcPts val="0"/>
              </a:spcAft>
              <a:buSzPts val="2200"/>
              <a:buFont typeface="Calibri"/>
              <a:buAutoNum type="arabicPeriod"/>
            </a:pPr>
            <a:r>
              <a:rPr lang="en-GB" sz="2200">
                <a:latin typeface="Calibri"/>
                <a:ea typeface="Calibri"/>
                <a:cs typeface="Calibri"/>
                <a:sym typeface="Calibri"/>
              </a:rPr>
              <a:t>5n</a:t>
            </a:r>
            <a:r>
              <a:rPr baseline="30000" lang="en-GB" sz="2200">
                <a:latin typeface="Calibri"/>
                <a:ea typeface="Calibri"/>
                <a:cs typeface="Calibri"/>
                <a:sym typeface="Calibri"/>
              </a:rPr>
              <a:t>n</a:t>
            </a:r>
            <a:r>
              <a:rPr lang="en-GB" sz="2200">
                <a:latin typeface="Calibri"/>
                <a:ea typeface="Calibri"/>
                <a:cs typeface="Calibri"/>
                <a:sym typeface="Calibri"/>
              </a:rPr>
              <a:t>+n</a:t>
            </a:r>
            <a:r>
              <a:rPr baseline="30000" lang="en-GB" sz="2200">
                <a:latin typeface="Calibri"/>
                <a:ea typeface="Calibri"/>
                <a:cs typeface="Calibri"/>
                <a:sym typeface="Calibri"/>
              </a:rPr>
              <a:t>3</a:t>
            </a:r>
            <a:r>
              <a:rPr lang="en-GB" sz="2200">
                <a:latin typeface="Calibri"/>
                <a:ea typeface="Calibri"/>
                <a:cs typeface="Calibri"/>
                <a:sym typeface="Calibri"/>
              </a:rPr>
              <a:t>=&gt;O(n</a:t>
            </a:r>
            <a:r>
              <a:rPr baseline="30000" lang="en-GB" sz="2200">
                <a:latin typeface="Calibri"/>
                <a:ea typeface="Calibri"/>
                <a:cs typeface="Calibri"/>
                <a:sym typeface="Calibri"/>
              </a:rPr>
              <a:t>n</a:t>
            </a:r>
            <a:r>
              <a:rPr lang="en-GB" sz="2200">
                <a:latin typeface="Calibri"/>
                <a:ea typeface="Calibri"/>
                <a:cs typeface="Calibri"/>
                <a:sym typeface="Calibri"/>
              </a:rPr>
              <a:t>)</a:t>
            </a:r>
            <a:endParaRPr sz="2200">
              <a:latin typeface="Calibri"/>
              <a:ea typeface="Calibri"/>
              <a:cs typeface="Calibri"/>
              <a:sym typeface="Calibri"/>
            </a:endParaRPr>
          </a:p>
          <a:p>
            <a:pPr indent="-368300" lvl="0" marL="457200" rtl="0" algn="l">
              <a:spcBef>
                <a:spcPts val="0"/>
              </a:spcBef>
              <a:spcAft>
                <a:spcPts val="0"/>
              </a:spcAft>
              <a:buSzPts val="2200"/>
              <a:buFont typeface="Calibri"/>
              <a:buAutoNum type="arabicPeriod"/>
            </a:pPr>
            <a:r>
              <a:rPr lang="en-GB" sz="2200">
                <a:latin typeface="Calibri"/>
                <a:ea typeface="Calibri"/>
                <a:cs typeface="Calibri"/>
                <a:sym typeface="Calibri"/>
              </a:rPr>
              <a:t>5n</a:t>
            </a:r>
            <a:r>
              <a:rPr baseline="30000" lang="en-GB" sz="2200">
                <a:latin typeface="Calibri"/>
                <a:ea typeface="Calibri"/>
                <a:cs typeface="Calibri"/>
                <a:sym typeface="Calibri"/>
              </a:rPr>
              <a:t>2</a:t>
            </a:r>
            <a:r>
              <a:rPr lang="en-GB" sz="2200">
                <a:latin typeface="Calibri"/>
                <a:ea typeface="Calibri"/>
                <a:cs typeface="Calibri"/>
                <a:sym typeface="Calibri"/>
              </a:rPr>
              <a:t>+</a:t>
            </a:r>
            <a:r>
              <a:rPr lang="en-GB" sz="2200"/>
              <a:t>n.log(n)=&gt;O(n</a:t>
            </a:r>
            <a:r>
              <a:rPr baseline="30000" lang="en-GB" sz="2200"/>
              <a:t>2</a:t>
            </a:r>
            <a:r>
              <a:rPr lang="en-GB" sz="2200"/>
              <a:t>)</a:t>
            </a:r>
            <a:endParaRPr sz="2200"/>
          </a:p>
          <a:p>
            <a:pPr indent="-368300" lvl="0" marL="457200" rtl="0" algn="l">
              <a:spcBef>
                <a:spcPts val="0"/>
              </a:spcBef>
              <a:spcAft>
                <a:spcPts val="0"/>
              </a:spcAft>
              <a:buSzPts val="2200"/>
              <a:buAutoNum type="arabicPeriod"/>
            </a:pPr>
            <a:r>
              <a:rPr lang="en-GB" sz="2200"/>
              <a:t>n+n log(n)=&gt;O(n.log(n))</a:t>
            </a:r>
            <a:endParaRPr sz="2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399100" y="137544"/>
            <a:ext cx="7053600" cy="4917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Functions Growth Rate( Approximation)</a:t>
            </a:r>
            <a:endParaRPr/>
          </a:p>
        </p:txBody>
      </p:sp>
      <p:sp>
        <p:nvSpPr>
          <p:cNvPr id="247" name="Google Shape;247;p31"/>
          <p:cNvSpPr txBox="1"/>
          <p:nvPr>
            <p:ph idx="1" type="body"/>
          </p:nvPr>
        </p:nvSpPr>
        <p:spPr>
          <a:xfrm>
            <a:off x="77700" y="668200"/>
            <a:ext cx="8538900" cy="17250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rPr lang="en-GB" sz="2000"/>
              <a:t>The time taken by certain algorithms to run varies dramatically with the size of the input. Some algorithms take minutes or even seconds to run on huge input, whereas others may take days to complete their execution. To understand how the rate of growth changes with the size of the input in different functions, the following table presents the approximate number of steps required to run an algorithm</a:t>
            </a:r>
            <a:endParaRPr sz="2000"/>
          </a:p>
        </p:txBody>
      </p:sp>
      <p:pic>
        <p:nvPicPr>
          <p:cNvPr id="248" name="Google Shape;248;p31"/>
          <p:cNvPicPr preferRelativeResize="0"/>
          <p:nvPr/>
        </p:nvPicPr>
        <p:blipFill>
          <a:blip r:embed="rId3">
            <a:alphaModFix/>
          </a:blip>
          <a:stretch>
            <a:fillRect/>
          </a:stretch>
        </p:blipFill>
        <p:spPr>
          <a:xfrm rot="-6">
            <a:off x="272449" y="2621815"/>
            <a:ext cx="8344150" cy="23100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422425" y="98694"/>
            <a:ext cx="7053600" cy="4917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Deriving/Hints an Algorithm's Runtime Function</a:t>
            </a:r>
            <a:endParaRPr b="1" sz="3100">
              <a:solidFill>
                <a:srgbClr val="FF9900"/>
              </a:solidFill>
            </a:endParaRPr>
          </a:p>
        </p:txBody>
      </p:sp>
      <p:sp>
        <p:nvSpPr>
          <p:cNvPr id="254" name="Google Shape;254;p32"/>
          <p:cNvSpPr txBox="1"/>
          <p:nvPr>
            <p:ph idx="1" type="body"/>
          </p:nvPr>
        </p:nvSpPr>
        <p:spPr>
          <a:xfrm>
            <a:off x="77700" y="668200"/>
            <a:ext cx="8538900" cy="4389900"/>
          </a:xfrm>
          <a:prstGeom prst="rect">
            <a:avLst/>
          </a:prstGeom>
        </p:spPr>
        <p:txBody>
          <a:bodyPr anchorCtr="0" anchor="t" bIns="34275" lIns="68575" spcFirstLastPara="1" rIns="68575" wrap="square" tIns="34275">
            <a:normAutofit fontScale="62500" lnSpcReduction="20000"/>
          </a:bodyPr>
          <a:lstStyle/>
          <a:p>
            <a:pPr indent="0" lvl="0" marL="0" rtl="0" algn="l">
              <a:spcBef>
                <a:spcPts val="800"/>
              </a:spcBef>
              <a:spcAft>
                <a:spcPts val="0"/>
              </a:spcAft>
              <a:buNone/>
            </a:pPr>
            <a:r>
              <a:t/>
            </a:r>
            <a:endParaRPr sz="2000"/>
          </a:p>
          <a:p>
            <a:pPr indent="0" lvl="0" marL="0" rtl="0" algn="l">
              <a:spcBef>
                <a:spcPts val="800"/>
              </a:spcBef>
              <a:spcAft>
                <a:spcPts val="0"/>
              </a:spcAft>
              <a:buNone/>
            </a:pPr>
            <a:r>
              <a:rPr b="1" lang="en-GB" sz="2000">
                <a:highlight>
                  <a:srgbClr val="D9EAD3"/>
                </a:highlight>
              </a:rPr>
              <a:t>Constants</a:t>
            </a:r>
            <a:endParaRPr b="1" sz="2000">
              <a:highlight>
                <a:srgbClr val="D9EAD3"/>
              </a:highlight>
            </a:endParaRPr>
          </a:p>
          <a:p>
            <a:pPr indent="0" lvl="0" marL="0" rtl="0" algn="l">
              <a:spcBef>
                <a:spcPts val="800"/>
              </a:spcBef>
              <a:spcAft>
                <a:spcPts val="0"/>
              </a:spcAft>
              <a:buNone/>
            </a:pPr>
            <a:r>
              <a:rPr lang="en-GB" sz="2000"/>
              <a:t>If any line of code is a statement with basic operations, e.g., comparisons, assignments, or reading a variable, they take constant time each. Thus, the time complexity of each statement is O(1).</a:t>
            </a:r>
            <a:endParaRPr sz="2000"/>
          </a:p>
          <a:p>
            <a:pPr indent="0" lvl="0" marL="0" rtl="0" algn="l">
              <a:spcBef>
                <a:spcPts val="800"/>
              </a:spcBef>
              <a:spcAft>
                <a:spcPts val="0"/>
              </a:spcAft>
              <a:buNone/>
            </a:pPr>
            <a:r>
              <a:rPr b="1" lang="en-GB" sz="2000">
                <a:highlight>
                  <a:srgbClr val="D9EAD3"/>
                </a:highlight>
              </a:rPr>
              <a:t>Loops</a:t>
            </a:r>
            <a:endParaRPr b="1" sz="2000">
              <a:highlight>
                <a:srgbClr val="D9EAD3"/>
              </a:highlight>
            </a:endParaRPr>
          </a:p>
          <a:p>
            <a:pPr indent="0" lvl="0" marL="0" rtl="0" algn="l">
              <a:spcBef>
                <a:spcPts val="800"/>
              </a:spcBef>
              <a:spcAft>
                <a:spcPts val="0"/>
              </a:spcAft>
              <a:buNone/>
            </a:pPr>
            <a:r>
              <a:rPr lang="en-GB" sz="2000"/>
              <a:t>In loop, a repetition of a particular code for n times, where n is the size of the loop. Every statement inside the loop has a runtime of O(1). The running time of a loop is a product of the running time of the statement inside a loop and the number of iterations in the loop. Time Complexity is O(n)</a:t>
            </a:r>
            <a:endParaRPr sz="2000"/>
          </a:p>
          <a:p>
            <a:pPr indent="0" lvl="0" marL="0" rtl="0" algn="l">
              <a:spcBef>
                <a:spcPts val="800"/>
              </a:spcBef>
              <a:spcAft>
                <a:spcPts val="0"/>
              </a:spcAft>
              <a:buNone/>
            </a:pPr>
            <a:r>
              <a:rPr b="1" lang="en-GB" sz="2000">
                <a:highlight>
                  <a:srgbClr val="D9EAD3"/>
                </a:highlight>
              </a:rPr>
              <a:t>Nested Loops</a:t>
            </a:r>
            <a:endParaRPr b="1" sz="2000">
              <a:highlight>
                <a:srgbClr val="D9EAD3"/>
              </a:highlight>
            </a:endParaRPr>
          </a:p>
          <a:p>
            <a:pPr indent="0" lvl="0" marL="0" rtl="0" algn="l">
              <a:spcBef>
                <a:spcPts val="800"/>
              </a:spcBef>
              <a:spcAft>
                <a:spcPts val="0"/>
              </a:spcAft>
              <a:buNone/>
            </a:pPr>
            <a:r>
              <a:rPr lang="en-GB" sz="2000"/>
              <a:t>The running time of nested loops is a product of the running time of the statements inside the loop multiplied by a product of the size of all the loops. Time Complexity is O(n^c). Where c is the number of loops. For two loops, it will be O(n^2)</a:t>
            </a:r>
            <a:endParaRPr sz="2000"/>
          </a:p>
          <a:p>
            <a:pPr indent="0" lvl="0" marL="0" rtl="0" algn="l">
              <a:spcBef>
                <a:spcPts val="800"/>
              </a:spcBef>
              <a:spcAft>
                <a:spcPts val="0"/>
              </a:spcAft>
              <a:buNone/>
            </a:pPr>
            <a:r>
              <a:rPr b="1" lang="en-GB" sz="2000">
                <a:highlight>
                  <a:srgbClr val="D9EAD3"/>
                </a:highlight>
              </a:rPr>
              <a:t>Consecutive Statements</a:t>
            </a:r>
            <a:endParaRPr b="1" sz="2000">
              <a:highlight>
                <a:srgbClr val="D9EAD3"/>
              </a:highlight>
            </a:endParaRPr>
          </a:p>
          <a:p>
            <a:pPr indent="0" lvl="0" marL="0" rtl="0" algn="l">
              <a:spcBef>
                <a:spcPts val="800"/>
              </a:spcBef>
              <a:spcAft>
                <a:spcPts val="0"/>
              </a:spcAft>
              <a:buNone/>
            </a:pPr>
            <a:r>
              <a:rPr lang="en-GB" sz="2000"/>
              <a:t>In this case, we add the running time of all the consecutive lines of code.</a:t>
            </a:r>
            <a:endParaRPr sz="2000"/>
          </a:p>
          <a:p>
            <a:pPr indent="0" lvl="0" marL="0" rtl="0" algn="l">
              <a:spcBef>
                <a:spcPts val="800"/>
              </a:spcBef>
              <a:spcAft>
                <a:spcPts val="0"/>
              </a:spcAft>
              <a:buNone/>
            </a:pPr>
            <a:r>
              <a:rPr b="1" lang="en-GB" sz="2000">
                <a:highlight>
                  <a:srgbClr val="D9EAD3"/>
                </a:highlight>
              </a:rPr>
              <a:t>If-Else Statement</a:t>
            </a:r>
            <a:endParaRPr b="1" sz="2000">
              <a:highlight>
                <a:srgbClr val="D9EAD3"/>
              </a:highlight>
            </a:endParaRPr>
          </a:p>
          <a:p>
            <a:pPr indent="0" lvl="0" marL="0" rtl="0" algn="l">
              <a:spcBef>
                <a:spcPts val="800"/>
              </a:spcBef>
              <a:spcAft>
                <a:spcPts val="0"/>
              </a:spcAft>
              <a:buNone/>
            </a:pPr>
            <a:r>
              <a:rPr lang="en-GB" sz="2000"/>
              <a:t>In this case, either "if" will run or "else" will run. So, the block with larger runtime will be considered.</a:t>
            </a:r>
            <a:endParaRPr sz="2000"/>
          </a:p>
          <a:p>
            <a:pPr indent="0" lvl="0" marL="0" rtl="0" algn="l">
              <a:spcBef>
                <a:spcPts val="800"/>
              </a:spcBef>
              <a:spcAft>
                <a:spcPts val="0"/>
              </a:spcAft>
              <a:buNone/>
            </a:pPr>
            <a:r>
              <a:rPr lang="en-GB" sz="2000"/>
              <a:t>Deriving an Algorithm's Runtime Function</a:t>
            </a:r>
            <a:endParaRPr sz="2000"/>
          </a:p>
          <a:p>
            <a:pPr indent="0" lvl="0" marL="0" rtl="0" algn="l">
              <a:spcBef>
                <a:spcPts val="800"/>
              </a:spcBef>
              <a:spcAft>
                <a:spcPts val="0"/>
              </a:spcAft>
              <a:buNone/>
            </a:pPr>
            <a:r>
              <a:rPr b="1" lang="en-GB" sz="2000">
                <a:highlight>
                  <a:srgbClr val="D9EAD3"/>
                </a:highlight>
              </a:rPr>
              <a:t>Logarithmic Statement</a:t>
            </a:r>
            <a:endParaRPr b="1" sz="2000">
              <a:highlight>
                <a:srgbClr val="D9EAD3"/>
              </a:highlight>
            </a:endParaRPr>
          </a:p>
          <a:p>
            <a:pPr indent="0" lvl="0" marL="0" rtl="0" algn="l">
              <a:spcBef>
                <a:spcPts val="800"/>
              </a:spcBef>
              <a:spcAft>
                <a:spcPts val="0"/>
              </a:spcAft>
              <a:buNone/>
            </a:pPr>
            <a:r>
              <a:rPr lang="en-GB" sz="2000"/>
              <a:t>In this case, each iteration will cut the input size into b pieces and consider one of the pieces for the next iteration. Time complexity in this situation will be O(log(n)).</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3"/>
          <p:cNvSpPr txBox="1"/>
          <p:nvPr>
            <p:ph type="title"/>
          </p:nvPr>
        </p:nvSpPr>
        <p:spPr>
          <a:xfrm>
            <a:off x="422425" y="98699"/>
            <a:ext cx="7053600" cy="3909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Time Complexity Examples</a:t>
            </a:r>
            <a:endParaRPr b="1" sz="3100">
              <a:solidFill>
                <a:srgbClr val="FF9900"/>
              </a:solidFill>
            </a:endParaRPr>
          </a:p>
        </p:txBody>
      </p:sp>
      <p:sp>
        <p:nvSpPr>
          <p:cNvPr id="260" name="Google Shape;260;p33"/>
          <p:cNvSpPr txBox="1"/>
          <p:nvPr>
            <p:ph idx="1" type="body"/>
          </p:nvPr>
        </p:nvSpPr>
        <p:spPr>
          <a:xfrm>
            <a:off x="77700" y="668200"/>
            <a:ext cx="4382100" cy="4389900"/>
          </a:xfrm>
          <a:prstGeom prst="rect">
            <a:avLst/>
          </a:prstGeom>
          <a:ln cap="flat" cmpd="sng" w="9525">
            <a:solidFill>
              <a:srgbClr val="000000"/>
            </a:solidFill>
            <a:prstDash val="dashDot"/>
            <a:round/>
            <a:headEnd len="sm" w="sm" type="none"/>
            <a:tailEnd len="sm" w="sm" type="none"/>
          </a:ln>
        </p:spPr>
        <p:txBody>
          <a:bodyPr anchorCtr="0" anchor="t" bIns="34275" lIns="68575" spcFirstLastPara="1" rIns="68575" wrap="square" tIns="34275">
            <a:normAutofit fontScale="55000" lnSpcReduction="10000"/>
          </a:bodyPr>
          <a:lstStyle/>
          <a:p>
            <a:pPr indent="0" lvl="0" marL="0" rtl="0" algn="l">
              <a:spcBef>
                <a:spcPts val="800"/>
              </a:spcBef>
              <a:spcAft>
                <a:spcPts val="0"/>
              </a:spcAft>
              <a:buNone/>
            </a:pPr>
            <a:r>
              <a:rPr b="1" lang="en-GB" sz="2000"/>
              <a:t>Example 2.1: Single loop</a:t>
            </a:r>
            <a:endParaRPr b="1" sz="2000"/>
          </a:p>
          <a:p>
            <a:pPr indent="0" lvl="0" marL="0" rtl="0" algn="l">
              <a:spcBef>
                <a:spcPts val="800"/>
              </a:spcBef>
              <a:spcAft>
                <a:spcPts val="0"/>
              </a:spcAft>
              <a:buNone/>
            </a:pPr>
            <a:r>
              <a:rPr b="1" lang="en-GB" sz="2000"/>
              <a:t>int fun1(int n) </a:t>
            </a:r>
            <a:r>
              <a:rPr lang="en-GB" sz="2000"/>
              <a:t>{</a:t>
            </a:r>
            <a:endParaRPr sz="2000"/>
          </a:p>
          <a:p>
            <a:pPr indent="0" lvl="0" marL="0" rtl="0" algn="l">
              <a:spcBef>
                <a:spcPts val="800"/>
              </a:spcBef>
              <a:spcAft>
                <a:spcPts val="0"/>
              </a:spcAft>
              <a:buNone/>
            </a:pPr>
            <a:r>
              <a:rPr lang="en-GB" sz="2000"/>
              <a:t>int m= : 0;</a:t>
            </a:r>
            <a:endParaRPr sz="2000"/>
          </a:p>
          <a:p>
            <a:pPr indent="0" lvl="0" marL="0" rtl="0" algn="l">
              <a:spcBef>
                <a:spcPts val="800"/>
              </a:spcBef>
              <a:spcAft>
                <a:spcPts val="0"/>
              </a:spcAft>
              <a:buNone/>
            </a:pPr>
            <a:r>
              <a:rPr lang="en-GB" sz="2000"/>
              <a:t>for (int i = 0; i&lt;n; i++) {</a:t>
            </a:r>
            <a:endParaRPr sz="2000"/>
          </a:p>
          <a:p>
            <a:pPr indent="0" lvl="0" marL="0" rtl="0" algn="l">
              <a:spcBef>
                <a:spcPts val="800"/>
              </a:spcBef>
              <a:spcAft>
                <a:spcPts val="0"/>
              </a:spcAft>
              <a:buNone/>
            </a:pPr>
            <a:r>
              <a:rPr lang="en-GB" sz="2000"/>
              <a:t>m += 1;</a:t>
            </a:r>
            <a:endParaRPr sz="2000"/>
          </a:p>
          <a:p>
            <a:pPr indent="0" lvl="0" marL="0" rtl="0" algn="l">
              <a:spcBef>
                <a:spcPts val="800"/>
              </a:spcBef>
              <a:spcAft>
                <a:spcPts val="0"/>
              </a:spcAft>
              <a:buNone/>
            </a:pPr>
            <a:r>
              <a:rPr lang="en-GB" sz="2000"/>
              <a:t>}</a:t>
            </a:r>
            <a:endParaRPr sz="2000"/>
          </a:p>
          <a:p>
            <a:pPr indent="0" lvl="0" marL="0" rtl="0" algn="l">
              <a:spcBef>
                <a:spcPts val="800"/>
              </a:spcBef>
              <a:spcAft>
                <a:spcPts val="0"/>
              </a:spcAft>
              <a:buNone/>
            </a:pPr>
            <a:r>
              <a:rPr lang="en-GB" sz="2000"/>
              <a:t>}</a:t>
            </a:r>
            <a:endParaRPr sz="2000"/>
          </a:p>
          <a:p>
            <a:pPr indent="0" lvl="0" marL="0" rtl="0" algn="l">
              <a:spcBef>
                <a:spcPts val="800"/>
              </a:spcBef>
              <a:spcAft>
                <a:spcPts val="0"/>
              </a:spcAft>
              <a:buNone/>
            </a:pPr>
            <a:r>
              <a:rPr lang="en-GB" sz="2000"/>
              <a:t>return m;</a:t>
            </a:r>
            <a:endParaRPr sz="2000"/>
          </a:p>
          <a:p>
            <a:pPr indent="0" lvl="0" marL="0" rtl="0" algn="l">
              <a:spcBef>
                <a:spcPts val="800"/>
              </a:spcBef>
              <a:spcAft>
                <a:spcPts val="0"/>
              </a:spcAft>
              <a:buNone/>
            </a:pPr>
            <a:r>
              <a:rPr lang="en-GB" sz="2000"/>
              <a:t>}</a:t>
            </a:r>
            <a:endParaRPr sz="2000"/>
          </a:p>
          <a:p>
            <a:pPr indent="0" lvl="0" marL="0" rtl="0" algn="l">
              <a:spcBef>
                <a:spcPts val="800"/>
              </a:spcBef>
              <a:spcAft>
                <a:spcPts val="0"/>
              </a:spcAft>
              <a:buNone/>
            </a:pPr>
            <a:r>
              <a:rPr lang="en-GB" sz="2000"/>
              <a:t>// Testing Code</a:t>
            </a:r>
            <a:endParaRPr sz="2000"/>
          </a:p>
          <a:p>
            <a:pPr indent="0" lvl="0" marL="0" rtl="0" algn="l">
              <a:spcBef>
                <a:spcPts val="800"/>
              </a:spcBef>
              <a:spcAft>
                <a:spcPts val="0"/>
              </a:spcAft>
              <a:buNone/>
            </a:pPr>
            <a:r>
              <a:rPr b="1" lang="en-GB" sz="2000"/>
              <a:t>int main() </a:t>
            </a:r>
            <a:r>
              <a:rPr lang="en-GB" sz="2000"/>
              <a:t>{</a:t>
            </a:r>
            <a:endParaRPr sz="2000"/>
          </a:p>
          <a:p>
            <a:pPr indent="0" lvl="0" marL="0" rtl="0" algn="l">
              <a:spcBef>
                <a:spcPts val="800"/>
              </a:spcBef>
              <a:spcAft>
                <a:spcPts val="0"/>
              </a:spcAft>
              <a:buNone/>
            </a:pPr>
            <a:r>
              <a:rPr lang="en-GB" sz="2000"/>
              <a:t>std::cout&lt;&lt;"N = 100, Number of instructions 0(n) :: " &lt;&lt; fun1(100); </a:t>
            </a:r>
            <a:endParaRPr sz="2000"/>
          </a:p>
          <a:p>
            <a:pPr indent="0" lvl="0" marL="0" rtl="0" algn="l">
              <a:spcBef>
                <a:spcPts val="800"/>
              </a:spcBef>
              <a:spcAft>
                <a:spcPts val="0"/>
              </a:spcAft>
              <a:buNone/>
            </a:pPr>
            <a:r>
              <a:rPr lang="en-GB" sz="2000"/>
              <a:t>return 0;</a:t>
            </a:r>
            <a:endParaRPr sz="2000"/>
          </a:p>
          <a:p>
            <a:pPr indent="0" lvl="0" marL="0" rtl="0" algn="l">
              <a:spcBef>
                <a:spcPts val="800"/>
              </a:spcBef>
              <a:spcAft>
                <a:spcPts val="0"/>
              </a:spcAft>
              <a:buNone/>
            </a:pPr>
            <a:r>
              <a:rPr lang="en-GB" sz="2000"/>
              <a:t>}</a:t>
            </a:r>
            <a:endParaRPr sz="2000"/>
          </a:p>
          <a:p>
            <a:pPr indent="0" lvl="0" marL="0" rtl="0" algn="l">
              <a:spcBef>
                <a:spcPts val="800"/>
              </a:spcBef>
              <a:spcAft>
                <a:spcPts val="0"/>
              </a:spcAft>
              <a:buNone/>
            </a:pPr>
            <a:r>
              <a:rPr b="1" lang="en-GB" sz="2000"/>
              <a:t>Output:</a:t>
            </a:r>
            <a:endParaRPr b="1" sz="2000"/>
          </a:p>
          <a:p>
            <a:pPr indent="0" lvl="0" marL="0" rtl="0" algn="l">
              <a:spcBef>
                <a:spcPts val="800"/>
              </a:spcBef>
              <a:spcAft>
                <a:spcPts val="0"/>
              </a:spcAft>
              <a:buNone/>
            </a:pPr>
            <a:r>
              <a:rPr lang="en-GB" sz="2000"/>
              <a:t>N = 100, Number of instructions in 0(n): :100</a:t>
            </a:r>
            <a:endParaRPr sz="2000"/>
          </a:p>
          <a:p>
            <a:pPr indent="0" lvl="0" marL="0" rtl="0" algn="l">
              <a:spcBef>
                <a:spcPts val="800"/>
              </a:spcBef>
              <a:spcAft>
                <a:spcPts val="0"/>
              </a:spcAft>
              <a:buNone/>
            </a:pPr>
            <a:r>
              <a:rPr b="1" lang="en-GB" sz="2000"/>
              <a:t>Time Complexity: </a:t>
            </a:r>
            <a:r>
              <a:rPr lang="en-GB" sz="2000"/>
              <a:t>O(n), single loop takes linear time</a:t>
            </a:r>
            <a:endParaRPr sz="2000"/>
          </a:p>
        </p:txBody>
      </p:sp>
      <p:sp>
        <p:nvSpPr>
          <p:cNvPr id="261" name="Google Shape;261;p33"/>
          <p:cNvSpPr txBox="1"/>
          <p:nvPr/>
        </p:nvSpPr>
        <p:spPr>
          <a:xfrm>
            <a:off x="4572000" y="78150"/>
            <a:ext cx="4320000" cy="49872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t>Example 2.2: Nested loops</a:t>
            </a:r>
            <a:endParaRPr b="1" sz="1300"/>
          </a:p>
          <a:p>
            <a:pPr indent="0" lvl="0" marL="0" rtl="0" algn="l">
              <a:spcBef>
                <a:spcPts val="0"/>
              </a:spcBef>
              <a:spcAft>
                <a:spcPts val="0"/>
              </a:spcAft>
              <a:buNone/>
            </a:pPr>
            <a:r>
              <a:rPr lang="en-GB" sz="1300"/>
              <a:t>#include &lt;iostream&gt;</a:t>
            </a:r>
            <a:endParaRPr sz="1300"/>
          </a:p>
          <a:p>
            <a:pPr indent="0" lvl="0" marL="0" rtl="0" algn="l">
              <a:spcBef>
                <a:spcPts val="0"/>
              </a:spcBef>
              <a:spcAft>
                <a:spcPts val="0"/>
              </a:spcAft>
              <a:buNone/>
            </a:pPr>
            <a:r>
              <a:rPr lang="en-GB" sz="1300"/>
              <a:t>using namespace std;</a:t>
            </a:r>
            <a:endParaRPr sz="1300"/>
          </a:p>
          <a:p>
            <a:pPr indent="0" lvl="0" marL="0" rtl="0" algn="l">
              <a:spcBef>
                <a:spcPts val="0"/>
              </a:spcBef>
              <a:spcAft>
                <a:spcPts val="0"/>
              </a:spcAft>
              <a:buNone/>
            </a:pPr>
            <a:r>
              <a:rPr lang="en-GB" sz="1300"/>
              <a:t>int fun6 (int n) {</a:t>
            </a:r>
            <a:endParaRPr sz="1300"/>
          </a:p>
          <a:p>
            <a:pPr indent="0" lvl="0" marL="0" rtl="0" algn="l">
              <a:spcBef>
                <a:spcPts val="0"/>
              </a:spcBef>
              <a:spcAft>
                <a:spcPts val="0"/>
              </a:spcAft>
              <a:buNone/>
            </a:pPr>
            <a:r>
              <a:rPr lang="en-GB" sz="1300"/>
              <a:t>int  m = 0; </a:t>
            </a:r>
            <a:endParaRPr sz="1300"/>
          </a:p>
          <a:p>
            <a:pPr indent="0" lvl="0" marL="0" rtl="0" algn="l">
              <a:spcBef>
                <a:spcPts val="0"/>
              </a:spcBef>
              <a:spcAft>
                <a:spcPts val="0"/>
              </a:spcAft>
              <a:buNone/>
            </a:pPr>
            <a:r>
              <a:rPr lang="en-GB" sz="1300"/>
              <a:t>for(int i=0;i&lt;n;i++){</a:t>
            </a:r>
            <a:endParaRPr sz="1300"/>
          </a:p>
          <a:p>
            <a:pPr indent="0" lvl="0" marL="0" rtl="0" algn="l">
              <a:spcBef>
                <a:spcPts val="0"/>
              </a:spcBef>
              <a:spcAft>
                <a:spcPts val="0"/>
              </a:spcAft>
              <a:buNone/>
            </a:pPr>
            <a:r>
              <a:rPr lang="en-GB" sz="1300"/>
              <a:t>for(int j=0;j&lt;n;j++){</a:t>
            </a:r>
            <a:endParaRPr sz="1300"/>
          </a:p>
          <a:p>
            <a:pPr indent="0" lvl="0" marL="0" rtl="0" algn="l">
              <a:spcBef>
                <a:spcPts val="0"/>
              </a:spcBef>
              <a:spcAft>
                <a:spcPts val="0"/>
              </a:spcAft>
              <a:buNone/>
            </a:pPr>
            <a:r>
              <a:rPr lang="en-GB" sz="1300"/>
              <a:t>m += 1;</a:t>
            </a:r>
            <a:endParaRPr sz="1300"/>
          </a:p>
          <a:p>
            <a:pPr indent="0" lvl="0" marL="0" rtl="0" algn="l">
              <a:spcBef>
                <a:spcPts val="0"/>
              </a:spcBef>
              <a:spcAft>
                <a:spcPts val="0"/>
              </a:spcAft>
              <a:buNone/>
            </a:pPr>
            <a:r>
              <a:rPr lang="en-GB" sz="1300"/>
              <a:t>   }</a:t>
            </a:r>
            <a:endParaRPr sz="1300"/>
          </a:p>
          <a:p>
            <a:pPr indent="0" lvl="0" marL="0" rtl="0" algn="l">
              <a:spcBef>
                <a:spcPts val="0"/>
              </a:spcBef>
              <a:spcAft>
                <a:spcPts val="0"/>
              </a:spcAft>
              <a:buNone/>
            </a:pPr>
            <a:r>
              <a:rPr lang="en-GB" sz="1300"/>
              <a:t>   }</a:t>
            </a:r>
            <a:endParaRPr sz="1300"/>
          </a:p>
          <a:p>
            <a:pPr indent="0" lvl="0" marL="0" rtl="0" algn="l">
              <a:spcBef>
                <a:spcPts val="0"/>
              </a:spcBef>
              <a:spcAft>
                <a:spcPts val="0"/>
              </a:spcAft>
              <a:buNone/>
            </a:pPr>
            <a:r>
              <a:rPr lang="en-GB" sz="1300"/>
              <a:t>return m;</a:t>
            </a:r>
            <a:endParaRPr sz="1300"/>
          </a:p>
          <a:p>
            <a:pPr indent="0" lvl="0" marL="0" rtl="0" algn="l">
              <a:spcBef>
                <a:spcPts val="0"/>
              </a:spcBef>
              <a:spcAft>
                <a:spcPts val="0"/>
              </a:spcAft>
              <a:buNone/>
            </a:pPr>
            <a:r>
              <a:rPr lang="en-GB" sz="1300"/>
              <a:t>}</a:t>
            </a:r>
            <a:endParaRPr sz="1300"/>
          </a:p>
          <a:p>
            <a:pPr indent="0" lvl="0" marL="0" rtl="0" algn="l">
              <a:spcBef>
                <a:spcPts val="0"/>
              </a:spcBef>
              <a:spcAft>
                <a:spcPts val="0"/>
              </a:spcAft>
              <a:buNone/>
            </a:pPr>
            <a:r>
              <a:rPr lang="en-GB" sz="1300"/>
              <a:t>// Testing Code</a:t>
            </a:r>
            <a:endParaRPr sz="1300"/>
          </a:p>
          <a:p>
            <a:pPr indent="0" lvl="0" marL="0" rtl="0" algn="l">
              <a:spcBef>
                <a:spcPts val="0"/>
              </a:spcBef>
              <a:spcAft>
                <a:spcPts val="0"/>
              </a:spcAft>
              <a:buNone/>
            </a:pPr>
            <a:r>
              <a:rPr b="1" lang="en-GB" sz="1300"/>
              <a:t>int main() </a:t>
            </a:r>
            <a:r>
              <a:rPr lang="en-GB" sz="1300"/>
              <a:t>{</a:t>
            </a:r>
            <a:endParaRPr sz="1300"/>
          </a:p>
          <a:p>
            <a:pPr indent="0" lvl="0" marL="0" rtl="0" algn="l">
              <a:spcBef>
                <a:spcPts val="0"/>
              </a:spcBef>
              <a:spcAft>
                <a:spcPts val="0"/>
              </a:spcAft>
              <a:buNone/>
            </a:pPr>
            <a:r>
              <a:rPr lang="en-GB" sz="1300"/>
              <a:t>std::cout &lt;&lt; "N = 100, Number of instructions O(n^2)::fun2(100);</a:t>
            </a:r>
            <a:endParaRPr sz="1300"/>
          </a:p>
          <a:p>
            <a:pPr indent="0" lvl="0" marL="0" rtl="0" algn="l">
              <a:spcBef>
                <a:spcPts val="0"/>
              </a:spcBef>
              <a:spcAft>
                <a:spcPts val="0"/>
              </a:spcAft>
              <a:buNone/>
            </a:pPr>
            <a:r>
              <a:rPr lang="en-GB" sz="1300"/>
              <a:t>return 0;</a:t>
            </a:r>
            <a:endParaRPr sz="1300"/>
          </a:p>
          <a:p>
            <a:pPr indent="0" lvl="0" marL="0" rtl="0" algn="l">
              <a:spcBef>
                <a:spcPts val="0"/>
              </a:spcBef>
              <a:spcAft>
                <a:spcPts val="0"/>
              </a:spcAft>
              <a:buNone/>
            </a:pPr>
            <a:r>
              <a:rPr lang="en-GB" sz="1300"/>
              <a:t>}</a:t>
            </a:r>
            <a:endParaRPr sz="1300"/>
          </a:p>
          <a:p>
            <a:pPr indent="0" lvl="0" marL="0" rtl="0" algn="l">
              <a:spcBef>
                <a:spcPts val="0"/>
              </a:spcBef>
              <a:spcAft>
                <a:spcPts val="0"/>
              </a:spcAft>
              <a:buNone/>
            </a:pPr>
            <a:r>
              <a:rPr b="1" lang="en-GB" sz="1300"/>
              <a:t>Output:</a:t>
            </a:r>
            <a:endParaRPr b="1" sz="1300"/>
          </a:p>
          <a:p>
            <a:pPr indent="0" lvl="0" marL="0" rtl="0" algn="l">
              <a:spcBef>
                <a:spcPts val="0"/>
              </a:spcBef>
              <a:spcAft>
                <a:spcPts val="0"/>
              </a:spcAft>
              <a:buNone/>
            </a:pPr>
            <a:r>
              <a:rPr lang="en-GB" sz="1300"/>
              <a:t>N = 100, Number of instructions in 0(n^2)::10000</a:t>
            </a:r>
            <a:endParaRPr sz="1300"/>
          </a:p>
          <a:p>
            <a:pPr indent="0" lvl="0" marL="0" rtl="0" algn="l">
              <a:spcBef>
                <a:spcPts val="0"/>
              </a:spcBef>
              <a:spcAft>
                <a:spcPts val="0"/>
              </a:spcAft>
              <a:buNone/>
            </a:pPr>
            <a:r>
              <a:rPr b="1" lang="en-GB" sz="1300"/>
              <a:t>Time Complexity: </a:t>
            </a:r>
            <a:r>
              <a:rPr lang="en-GB" sz="1300"/>
              <a:t>O(n^2), two nested loop, takes quadratic time. Both the loop is executed in number</a:t>
            </a:r>
            <a:endParaRPr sz="1300"/>
          </a:p>
          <a:p>
            <a:pPr indent="0" lvl="0" marL="0" rtl="0" algn="l">
              <a:spcBef>
                <a:spcPts val="0"/>
              </a:spcBef>
              <a:spcAft>
                <a:spcPts val="0"/>
              </a:spcAft>
              <a:buNone/>
            </a:pPr>
            <a:r>
              <a:rPr lang="en-GB" sz="1300"/>
              <a:t>of times, so the internal statement executed n^2 number of times</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type="title"/>
          </p:nvPr>
        </p:nvSpPr>
        <p:spPr>
          <a:xfrm>
            <a:off x="422425" y="98699"/>
            <a:ext cx="7053600" cy="3909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Time Complexity Examples</a:t>
            </a:r>
            <a:endParaRPr b="1" sz="3100">
              <a:solidFill>
                <a:srgbClr val="FF9900"/>
              </a:solidFill>
            </a:endParaRPr>
          </a:p>
        </p:txBody>
      </p:sp>
      <p:sp>
        <p:nvSpPr>
          <p:cNvPr id="267" name="Google Shape;267;p34"/>
          <p:cNvSpPr txBox="1"/>
          <p:nvPr>
            <p:ph idx="1" type="body"/>
          </p:nvPr>
        </p:nvSpPr>
        <p:spPr>
          <a:xfrm>
            <a:off x="77700" y="668200"/>
            <a:ext cx="4382100" cy="4389900"/>
          </a:xfrm>
          <a:prstGeom prst="rect">
            <a:avLst/>
          </a:prstGeom>
          <a:ln cap="flat" cmpd="sng" w="9525">
            <a:solidFill>
              <a:srgbClr val="000000"/>
            </a:solidFill>
            <a:prstDash val="dashDot"/>
            <a:round/>
            <a:headEnd len="sm" w="sm" type="none"/>
            <a:tailEnd len="sm" w="sm" type="none"/>
          </a:ln>
        </p:spPr>
        <p:txBody>
          <a:bodyPr anchorCtr="0" anchor="t" bIns="34275" lIns="68575" spcFirstLastPara="1" rIns="68575" wrap="square" tIns="34275">
            <a:normAutofit fontScale="70000" lnSpcReduction="20000"/>
          </a:bodyPr>
          <a:lstStyle/>
          <a:p>
            <a:pPr indent="0" lvl="0" marL="0" rtl="0" algn="l">
              <a:spcBef>
                <a:spcPts val="800"/>
              </a:spcBef>
              <a:spcAft>
                <a:spcPts val="0"/>
              </a:spcAft>
              <a:buNone/>
            </a:pPr>
            <a:r>
              <a:rPr b="1" lang="en-GB" sz="2000"/>
              <a:t>Example 2.3: Nested Loop</a:t>
            </a:r>
            <a:endParaRPr b="1" sz="2000"/>
          </a:p>
          <a:p>
            <a:pPr indent="0" lvl="0" marL="0" rtl="0" algn="l">
              <a:spcBef>
                <a:spcPts val="0"/>
              </a:spcBef>
              <a:spcAft>
                <a:spcPts val="0"/>
              </a:spcAft>
              <a:buNone/>
            </a:pPr>
            <a:r>
              <a:rPr lang="en-GB" sz="2000"/>
              <a:t>Example 1.3: Nested loops</a:t>
            </a:r>
            <a:endParaRPr sz="2000"/>
          </a:p>
          <a:p>
            <a:pPr indent="0" lvl="0" marL="0" rtl="0" algn="l">
              <a:spcBef>
                <a:spcPts val="0"/>
              </a:spcBef>
              <a:spcAft>
                <a:spcPts val="0"/>
              </a:spcAft>
              <a:buNone/>
            </a:pPr>
            <a:r>
              <a:rPr lang="en-GB" sz="2000"/>
              <a:t>int fun3(int n) {</a:t>
            </a:r>
            <a:endParaRPr sz="2000"/>
          </a:p>
          <a:p>
            <a:pPr indent="0" lvl="0" marL="0" rtl="0" algn="l">
              <a:spcBef>
                <a:spcPts val="0"/>
              </a:spcBef>
              <a:spcAft>
                <a:spcPts val="0"/>
              </a:spcAft>
              <a:buNone/>
            </a:pPr>
            <a:r>
              <a:rPr lang="en-GB" sz="2000"/>
              <a:t>}</a:t>
            </a:r>
            <a:endParaRPr sz="2000"/>
          </a:p>
          <a:p>
            <a:pPr indent="0" lvl="0" marL="0" rtl="0" algn="l">
              <a:spcBef>
                <a:spcPts val="0"/>
              </a:spcBef>
              <a:spcAft>
                <a:spcPts val="0"/>
              </a:spcAft>
              <a:buNone/>
            </a:pPr>
            <a:r>
              <a:rPr lang="en-GB" sz="2000"/>
              <a:t>int i, j, k, m = 0;</a:t>
            </a:r>
            <a:endParaRPr sz="2000"/>
          </a:p>
          <a:p>
            <a:pPr indent="0" lvl="0" marL="0" rtl="0" algn="l">
              <a:spcBef>
                <a:spcPts val="0"/>
              </a:spcBef>
              <a:spcAft>
                <a:spcPts val="0"/>
              </a:spcAft>
              <a:buNone/>
            </a:pPr>
            <a:r>
              <a:rPr lang="en-GB" sz="2000"/>
              <a:t>for (i = 0; i &lt; n; i++) {</a:t>
            </a:r>
            <a:endParaRPr sz="2000"/>
          </a:p>
          <a:p>
            <a:pPr indent="0" lvl="0" marL="0" rtl="0" algn="l">
              <a:spcBef>
                <a:spcPts val="0"/>
              </a:spcBef>
              <a:spcAft>
                <a:spcPts val="0"/>
              </a:spcAft>
              <a:buNone/>
            </a:pPr>
            <a:r>
              <a:rPr lang="en-GB" sz="2000"/>
              <a:t>for (j= 0; j &lt; n; j++) {</a:t>
            </a:r>
            <a:endParaRPr sz="2000"/>
          </a:p>
          <a:p>
            <a:pPr indent="0" lvl="0" marL="0" rtl="0" algn="l">
              <a:spcBef>
                <a:spcPts val="0"/>
              </a:spcBef>
              <a:spcAft>
                <a:spcPts val="0"/>
              </a:spcAft>
              <a:buNone/>
            </a:pPr>
            <a:r>
              <a:rPr lang="en-GB" sz="2000"/>
              <a:t>}</a:t>
            </a:r>
            <a:endParaRPr sz="2000"/>
          </a:p>
          <a:p>
            <a:pPr indent="0" lvl="0" marL="0" rtl="0" algn="l">
              <a:spcBef>
                <a:spcPts val="0"/>
              </a:spcBef>
              <a:spcAft>
                <a:spcPts val="0"/>
              </a:spcAft>
              <a:buNone/>
            </a:pPr>
            <a:r>
              <a:rPr lang="en-GB" sz="2000"/>
              <a:t>for (k = 0; k &lt; n; k++) {</a:t>
            </a:r>
            <a:endParaRPr sz="2000"/>
          </a:p>
          <a:p>
            <a:pPr indent="0" lvl="0" marL="0" rtl="0" algn="l">
              <a:spcBef>
                <a:spcPts val="0"/>
              </a:spcBef>
              <a:spcAft>
                <a:spcPts val="0"/>
              </a:spcAft>
              <a:buNone/>
            </a:pPr>
            <a:r>
              <a:rPr lang="en-GB" sz="2000"/>
              <a:t>m += 1;</a:t>
            </a:r>
            <a:endParaRPr sz="2000"/>
          </a:p>
          <a:p>
            <a:pPr indent="0" lvl="0" marL="0" rtl="0" algn="l">
              <a:spcBef>
                <a:spcPts val="0"/>
              </a:spcBef>
              <a:spcAft>
                <a:spcPts val="0"/>
              </a:spcAft>
              <a:buNone/>
            </a:pPr>
            <a:r>
              <a:rPr lang="en-GB" sz="2000"/>
              <a:t>}</a:t>
            </a:r>
            <a:endParaRPr sz="2000"/>
          </a:p>
          <a:p>
            <a:pPr indent="0" lvl="0" marL="0" rtl="0" algn="l">
              <a:spcBef>
                <a:spcPts val="0"/>
              </a:spcBef>
              <a:spcAft>
                <a:spcPts val="0"/>
              </a:spcAft>
              <a:buNone/>
            </a:pPr>
            <a:r>
              <a:rPr lang="en-GB" sz="2000"/>
              <a:t>return m;</a:t>
            </a:r>
            <a:endParaRPr sz="2000"/>
          </a:p>
          <a:p>
            <a:pPr indent="0" lvl="0" marL="0" rtl="0" algn="l">
              <a:spcBef>
                <a:spcPts val="0"/>
              </a:spcBef>
              <a:spcAft>
                <a:spcPts val="0"/>
              </a:spcAft>
              <a:buNone/>
            </a:pPr>
            <a:r>
              <a:rPr lang="en-GB" sz="2000"/>
              <a:t>}</a:t>
            </a:r>
            <a:endParaRPr sz="2000"/>
          </a:p>
          <a:p>
            <a:pPr indent="0" lvl="0" marL="0" rtl="0" algn="l">
              <a:spcBef>
                <a:spcPts val="0"/>
              </a:spcBef>
              <a:spcAft>
                <a:spcPts val="0"/>
              </a:spcAft>
              <a:buNone/>
            </a:pPr>
            <a:r>
              <a:rPr lang="en-GB" sz="2000"/>
              <a:t>// Testing Code</a:t>
            </a:r>
            <a:endParaRPr sz="2000"/>
          </a:p>
          <a:p>
            <a:pPr indent="0" lvl="0" marL="0" rtl="0" algn="l">
              <a:spcBef>
                <a:spcPts val="0"/>
              </a:spcBef>
              <a:spcAft>
                <a:spcPts val="0"/>
              </a:spcAft>
              <a:buNone/>
            </a:pPr>
            <a:r>
              <a:rPr lang="en-GB" sz="2000"/>
              <a:t>int main() {</a:t>
            </a:r>
            <a:endParaRPr sz="2000"/>
          </a:p>
          <a:p>
            <a:pPr indent="0" lvl="0" marL="0" rtl="0" algn="l">
              <a:spcBef>
                <a:spcPts val="0"/>
              </a:spcBef>
              <a:spcAft>
                <a:spcPts val="0"/>
              </a:spcAft>
              <a:buNone/>
            </a:pPr>
            <a:r>
              <a:rPr lang="en-GB" sz="2000"/>
              <a:t>std::cout &lt;&lt; "N = 100, Number of instructions 0(n^3) :: " &lt;&lt; fun3(100);</a:t>
            </a:r>
            <a:endParaRPr sz="2000"/>
          </a:p>
          <a:p>
            <a:pPr indent="0" lvl="0" marL="0" rtl="0" algn="l">
              <a:spcBef>
                <a:spcPts val="0"/>
              </a:spcBef>
              <a:spcAft>
                <a:spcPts val="0"/>
              </a:spcAft>
              <a:buNone/>
            </a:pPr>
            <a:r>
              <a:rPr lang="en-GB" sz="2000"/>
              <a:t>return 0;</a:t>
            </a:r>
            <a:endParaRPr sz="2000"/>
          </a:p>
          <a:p>
            <a:pPr indent="0" lvl="0" marL="0" rtl="0" algn="l">
              <a:spcBef>
                <a:spcPts val="0"/>
              </a:spcBef>
              <a:spcAft>
                <a:spcPts val="0"/>
              </a:spcAft>
              <a:buNone/>
            </a:pPr>
            <a:r>
              <a:rPr lang="en-GB" sz="2000"/>
              <a:t>Output:</a:t>
            </a:r>
            <a:endParaRPr sz="2000"/>
          </a:p>
          <a:p>
            <a:pPr indent="0" lvl="0" marL="0" rtl="0" algn="l">
              <a:spcBef>
                <a:spcPts val="0"/>
              </a:spcBef>
              <a:spcAft>
                <a:spcPts val="0"/>
              </a:spcAft>
              <a:buNone/>
            </a:pPr>
            <a:r>
              <a:rPr lang="en-GB" sz="2000"/>
              <a:t>N = 100, Number of instructions in 0(n^3) ::1000000</a:t>
            </a:r>
            <a:endParaRPr sz="2000"/>
          </a:p>
          <a:p>
            <a:pPr indent="0" lvl="0" marL="0" rtl="0" algn="l">
              <a:spcBef>
                <a:spcPts val="0"/>
              </a:spcBef>
              <a:spcAft>
                <a:spcPts val="0"/>
              </a:spcAft>
              <a:buNone/>
            </a:pPr>
            <a:r>
              <a:rPr lang="en-GB" sz="2000"/>
              <a:t>&lt;&lt; fun2(100);</a:t>
            </a:r>
            <a:endParaRPr sz="2000"/>
          </a:p>
          <a:p>
            <a:pPr indent="0" lvl="0" marL="0" rtl="0" algn="l">
              <a:spcBef>
                <a:spcPts val="0"/>
              </a:spcBef>
              <a:spcAft>
                <a:spcPts val="0"/>
              </a:spcAft>
              <a:buNone/>
            </a:pPr>
            <a:r>
              <a:rPr b="1" lang="en-GB" sz="2000"/>
              <a:t>Time Complexity: </a:t>
            </a:r>
            <a:r>
              <a:rPr lang="en-GB" sz="2000"/>
              <a:t>O(n^3), All the three nested loops run for n number of iterations. So the statement</a:t>
            </a:r>
            <a:endParaRPr sz="2000"/>
          </a:p>
          <a:p>
            <a:pPr indent="0" lvl="0" marL="0" rtl="0" algn="l">
              <a:spcBef>
                <a:spcPts val="0"/>
              </a:spcBef>
              <a:spcAft>
                <a:spcPts val="0"/>
              </a:spcAft>
              <a:buNone/>
            </a:pPr>
            <a:r>
              <a:rPr lang="en-GB" sz="2000"/>
              <a:t>inside the innermost loop will run for n^3 number of times.</a:t>
            </a:r>
            <a:endParaRPr sz="2000"/>
          </a:p>
        </p:txBody>
      </p:sp>
      <p:sp>
        <p:nvSpPr>
          <p:cNvPr id="268" name="Google Shape;268;p34"/>
          <p:cNvSpPr txBox="1"/>
          <p:nvPr/>
        </p:nvSpPr>
        <p:spPr>
          <a:xfrm>
            <a:off x="4421650" y="333425"/>
            <a:ext cx="4584000" cy="47562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t>Example 2.4: Arithmetic Progression</a:t>
            </a:r>
            <a:endParaRPr sz="1100"/>
          </a:p>
          <a:p>
            <a:pPr indent="0" lvl="0" marL="0" rtl="0" algn="l">
              <a:spcBef>
                <a:spcPts val="0"/>
              </a:spcBef>
              <a:spcAft>
                <a:spcPts val="0"/>
              </a:spcAft>
              <a:buNone/>
            </a:pPr>
            <a:r>
              <a:rPr lang="en-GB" sz="1100"/>
              <a:t>#include &lt;iostream&gt;</a:t>
            </a:r>
            <a:endParaRPr sz="1100"/>
          </a:p>
          <a:p>
            <a:pPr indent="0" lvl="0" marL="0" rtl="0" algn="l">
              <a:spcBef>
                <a:spcPts val="0"/>
              </a:spcBef>
              <a:spcAft>
                <a:spcPts val="0"/>
              </a:spcAft>
              <a:buNone/>
            </a:pPr>
            <a:r>
              <a:rPr lang="en-GB" sz="1100"/>
              <a:t>using namespace std;</a:t>
            </a:r>
            <a:endParaRPr sz="1100"/>
          </a:p>
          <a:p>
            <a:pPr indent="0" lvl="0" marL="0" rtl="0" algn="l">
              <a:spcBef>
                <a:spcPts val="0"/>
              </a:spcBef>
              <a:spcAft>
                <a:spcPts val="0"/>
              </a:spcAft>
              <a:buNone/>
            </a:pPr>
            <a:r>
              <a:rPr lang="en-GB" sz="1100"/>
              <a:t>int fun6 (int n) {</a:t>
            </a:r>
            <a:endParaRPr sz="1100"/>
          </a:p>
          <a:p>
            <a:pPr indent="0" lvl="0" marL="0" rtl="0" algn="l">
              <a:spcBef>
                <a:spcPts val="0"/>
              </a:spcBef>
              <a:spcAft>
                <a:spcPts val="0"/>
              </a:spcAft>
              <a:buNone/>
            </a:pPr>
            <a:r>
              <a:rPr lang="en-GB" sz="1100"/>
              <a:t>int i,j, m = 0; </a:t>
            </a:r>
            <a:endParaRPr sz="1100"/>
          </a:p>
          <a:p>
            <a:pPr indent="0" lvl="0" marL="0" rtl="0" algn="l">
              <a:spcBef>
                <a:spcPts val="0"/>
              </a:spcBef>
              <a:spcAft>
                <a:spcPts val="0"/>
              </a:spcAft>
              <a:buNone/>
            </a:pPr>
            <a:r>
              <a:rPr lang="en-GB" sz="1100"/>
              <a:t>for(i=0;i&lt;n;i++){</a:t>
            </a:r>
            <a:endParaRPr sz="1100"/>
          </a:p>
          <a:p>
            <a:pPr indent="0" lvl="0" marL="0" rtl="0" algn="l">
              <a:spcBef>
                <a:spcPts val="0"/>
              </a:spcBef>
              <a:spcAft>
                <a:spcPts val="0"/>
              </a:spcAft>
              <a:buNone/>
            </a:pPr>
            <a:r>
              <a:rPr lang="en-GB" sz="1100"/>
              <a:t>for(j=0;j&lt;i;j++){</a:t>
            </a:r>
            <a:endParaRPr sz="1100"/>
          </a:p>
          <a:p>
            <a:pPr indent="0" lvl="0" marL="0" rtl="0" algn="l">
              <a:spcBef>
                <a:spcPts val="0"/>
              </a:spcBef>
              <a:spcAft>
                <a:spcPts val="0"/>
              </a:spcAft>
              <a:buNone/>
            </a:pPr>
            <a:r>
              <a:rPr lang="en-GB" sz="1100"/>
              <a:t>m += 1;</a:t>
            </a:r>
            <a:endParaRPr sz="1100"/>
          </a:p>
          <a:p>
            <a:pPr indent="0" lvl="0" marL="0" rtl="0" algn="l">
              <a:spcBef>
                <a:spcPts val="0"/>
              </a:spcBef>
              <a:spcAft>
                <a:spcPts val="0"/>
              </a:spcAft>
              <a:buNone/>
            </a:pPr>
            <a:r>
              <a:rPr lang="en-GB" sz="1100"/>
              <a:t>   }</a:t>
            </a:r>
            <a:endParaRPr sz="1100"/>
          </a:p>
          <a:p>
            <a:pPr indent="0" lvl="0" marL="0" rtl="0" algn="l">
              <a:spcBef>
                <a:spcPts val="0"/>
              </a:spcBef>
              <a:spcAft>
                <a:spcPts val="0"/>
              </a:spcAft>
              <a:buNone/>
            </a:pPr>
            <a:r>
              <a:rPr lang="en-GB" sz="1100"/>
              <a:t>   }</a:t>
            </a:r>
            <a:endParaRPr sz="1100"/>
          </a:p>
          <a:p>
            <a:pPr indent="0" lvl="0" marL="0" rtl="0" algn="l">
              <a:spcBef>
                <a:spcPts val="0"/>
              </a:spcBef>
              <a:spcAft>
                <a:spcPts val="0"/>
              </a:spcAft>
              <a:buNone/>
            </a:pPr>
            <a:r>
              <a:rPr lang="en-GB" sz="1100"/>
              <a:t>return m;</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lang="en-GB" sz="1100"/>
              <a:t>// Testing Code</a:t>
            </a:r>
            <a:endParaRPr sz="1100"/>
          </a:p>
          <a:p>
            <a:pPr indent="0" lvl="0" marL="0" rtl="0" algn="l">
              <a:spcBef>
                <a:spcPts val="0"/>
              </a:spcBef>
              <a:spcAft>
                <a:spcPts val="0"/>
              </a:spcAft>
              <a:buNone/>
            </a:pPr>
            <a:r>
              <a:rPr lang="en-GB" sz="1100"/>
              <a:t>int main() {</a:t>
            </a:r>
            <a:endParaRPr sz="1100"/>
          </a:p>
          <a:p>
            <a:pPr indent="0" lvl="0" marL="0" rtl="0" algn="l">
              <a:spcBef>
                <a:spcPts val="0"/>
              </a:spcBef>
              <a:spcAft>
                <a:spcPts val="0"/>
              </a:spcAft>
              <a:buNone/>
            </a:pPr>
            <a:r>
              <a:rPr lang="en-GB" sz="1100"/>
              <a:t>std::cout &lt;&lt; "N = 100, Number of instructions O(n^2) :: &lt;&lt; fun4 (100);</a:t>
            </a:r>
            <a:endParaRPr sz="1100"/>
          </a:p>
          <a:p>
            <a:pPr indent="0" lvl="0" marL="0" rtl="0" algn="l">
              <a:spcBef>
                <a:spcPts val="0"/>
              </a:spcBef>
              <a:spcAft>
                <a:spcPts val="0"/>
              </a:spcAft>
              <a:buNone/>
            </a:pPr>
            <a:r>
              <a:rPr lang="en-GB" sz="1100"/>
              <a:t>return 0;</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b="1" lang="en-GB" sz="1100"/>
              <a:t>Output:</a:t>
            </a:r>
            <a:endParaRPr b="1" sz="1100"/>
          </a:p>
          <a:p>
            <a:pPr indent="0" lvl="0" marL="0" rtl="0" algn="l">
              <a:spcBef>
                <a:spcPts val="0"/>
              </a:spcBef>
              <a:spcAft>
                <a:spcPts val="0"/>
              </a:spcAft>
              <a:buNone/>
            </a:pPr>
            <a:r>
              <a:rPr lang="en-GB" sz="1100"/>
              <a:t>N = 100, Number of instructions in O(n^2)::4950</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GB" sz="1100"/>
              <a:t>Time Complexity: </a:t>
            </a:r>
            <a:r>
              <a:rPr lang="en-GB" sz="1100"/>
              <a:t>Statement inside inner loop executes for 1 time in first iteration then 2 times then 3 times and so on for n iterations. Total number of times the inner statement is executed = 1+ 2+ 3 +..... + n.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This series is an arithmetic progression, which sums to n(n+1)/2. So the final time complexity is O(n(n+1)/2) ignoring the constant factors, time complexity will be O(n^2).</a:t>
            </a:r>
            <a:endParaRPr b="1"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5"/>
          <p:cNvSpPr txBox="1"/>
          <p:nvPr>
            <p:ph type="title"/>
          </p:nvPr>
        </p:nvSpPr>
        <p:spPr>
          <a:xfrm>
            <a:off x="422425" y="98699"/>
            <a:ext cx="7053600" cy="3909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Time Complexity Examples</a:t>
            </a:r>
            <a:endParaRPr b="1" sz="3100">
              <a:solidFill>
                <a:srgbClr val="FF9900"/>
              </a:solidFill>
            </a:endParaRPr>
          </a:p>
        </p:txBody>
      </p:sp>
      <p:sp>
        <p:nvSpPr>
          <p:cNvPr id="274" name="Google Shape;274;p35"/>
          <p:cNvSpPr txBox="1"/>
          <p:nvPr>
            <p:ph idx="1" type="body"/>
          </p:nvPr>
        </p:nvSpPr>
        <p:spPr>
          <a:xfrm>
            <a:off x="77700" y="668200"/>
            <a:ext cx="4382100" cy="4389900"/>
          </a:xfrm>
          <a:prstGeom prst="rect">
            <a:avLst/>
          </a:prstGeom>
          <a:ln cap="flat" cmpd="sng" w="9525">
            <a:solidFill>
              <a:srgbClr val="000000"/>
            </a:solidFill>
            <a:prstDash val="dashDot"/>
            <a:round/>
            <a:headEnd len="sm" w="sm" type="none"/>
            <a:tailEnd len="sm" w="sm" type="none"/>
          </a:ln>
        </p:spPr>
        <p:txBody>
          <a:bodyPr anchorCtr="0" anchor="t" bIns="34275" lIns="68575" spcFirstLastPara="1" rIns="68575" wrap="square" tIns="34275">
            <a:normAutofit lnSpcReduction="10000"/>
          </a:bodyPr>
          <a:lstStyle/>
          <a:p>
            <a:pPr indent="0" lvl="0" marL="0" rtl="0" algn="l">
              <a:lnSpc>
                <a:spcPct val="80000"/>
              </a:lnSpc>
              <a:spcBef>
                <a:spcPts val="0"/>
              </a:spcBef>
              <a:spcAft>
                <a:spcPts val="0"/>
              </a:spcAft>
              <a:buSzPts val="1018"/>
              <a:buNone/>
            </a:pPr>
            <a:r>
              <a:rPr b="1" lang="en-GB" sz="1450"/>
              <a:t>Example 2.5 Geometric Progression</a:t>
            </a:r>
            <a:endParaRPr b="1" sz="1450"/>
          </a:p>
          <a:p>
            <a:pPr indent="0" lvl="0" marL="0" rtl="0" algn="l">
              <a:lnSpc>
                <a:spcPct val="80000"/>
              </a:lnSpc>
              <a:spcBef>
                <a:spcPts val="0"/>
              </a:spcBef>
              <a:spcAft>
                <a:spcPts val="0"/>
              </a:spcAft>
              <a:buSzPts val="1018"/>
              <a:buNone/>
            </a:pPr>
            <a:r>
              <a:rPr lang="en-GB" sz="1450"/>
              <a:t> int fun5(int n) {</a:t>
            </a:r>
            <a:endParaRPr sz="1450"/>
          </a:p>
          <a:p>
            <a:pPr indent="0" lvl="0" marL="0" rtl="0" algn="l">
              <a:lnSpc>
                <a:spcPct val="80000"/>
              </a:lnSpc>
              <a:spcBef>
                <a:spcPts val="0"/>
              </a:spcBef>
              <a:spcAft>
                <a:spcPts val="0"/>
              </a:spcAft>
              <a:buSzPts val="1018"/>
              <a:buNone/>
            </a:pPr>
            <a:r>
              <a:rPr lang="en-GB" sz="1450"/>
              <a:t>int i, j, m = 0;</a:t>
            </a:r>
            <a:endParaRPr sz="1450"/>
          </a:p>
          <a:p>
            <a:pPr indent="0" lvl="0" marL="0" rtl="0" algn="l">
              <a:lnSpc>
                <a:spcPct val="80000"/>
              </a:lnSpc>
              <a:spcBef>
                <a:spcPts val="0"/>
              </a:spcBef>
              <a:spcAft>
                <a:spcPts val="0"/>
              </a:spcAft>
              <a:buSzPts val="1018"/>
              <a:buNone/>
            </a:pPr>
            <a:r>
              <a:rPr lang="en-GB" sz="1450"/>
              <a:t>for (i = 1; i &lt;= n; i *= 2) {</a:t>
            </a:r>
            <a:endParaRPr sz="1450"/>
          </a:p>
          <a:p>
            <a:pPr indent="0" lvl="0" marL="0" rtl="0" algn="l">
              <a:lnSpc>
                <a:spcPct val="80000"/>
              </a:lnSpc>
              <a:spcBef>
                <a:spcPts val="0"/>
              </a:spcBef>
              <a:spcAft>
                <a:spcPts val="0"/>
              </a:spcAft>
              <a:buSzPts val="1018"/>
              <a:buNone/>
            </a:pPr>
            <a:r>
              <a:rPr lang="en-GB" sz="1450"/>
              <a:t> for (j = 0; j &lt;= i; j++) {</a:t>
            </a:r>
            <a:endParaRPr sz="1450"/>
          </a:p>
          <a:p>
            <a:pPr indent="0" lvl="0" marL="0" rtl="0" algn="l">
              <a:lnSpc>
                <a:spcPct val="80000"/>
              </a:lnSpc>
              <a:spcBef>
                <a:spcPts val="0"/>
              </a:spcBef>
              <a:spcAft>
                <a:spcPts val="0"/>
              </a:spcAft>
              <a:buSzPts val="1018"/>
              <a:buNone/>
            </a:pPr>
            <a:r>
              <a:rPr lang="en-GB" sz="1450"/>
              <a:t>m += 1;</a:t>
            </a:r>
            <a:endParaRPr sz="1450"/>
          </a:p>
          <a:p>
            <a:pPr indent="0" lvl="0" marL="0" rtl="0" algn="l">
              <a:lnSpc>
                <a:spcPct val="80000"/>
              </a:lnSpc>
              <a:spcBef>
                <a:spcPts val="0"/>
              </a:spcBef>
              <a:spcAft>
                <a:spcPts val="0"/>
              </a:spcAft>
              <a:buSzPts val="1018"/>
              <a:buNone/>
            </a:pPr>
            <a:r>
              <a:rPr lang="en-GB" sz="1450"/>
              <a:t>}</a:t>
            </a:r>
            <a:endParaRPr sz="1450"/>
          </a:p>
          <a:p>
            <a:pPr indent="0" lvl="0" marL="0" rtl="0" algn="l">
              <a:lnSpc>
                <a:spcPct val="80000"/>
              </a:lnSpc>
              <a:spcBef>
                <a:spcPts val="0"/>
              </a:spcBef>
              <a:spcAft>
                <a:spcPts val="0"/>
              </a:spcAft>
              <a:buSzPts val="1018"/>
              <a:buNone/>
            </a:pPr>
            <a:r>
              <a:rPr lang="en-GB" sz="1450"/>
              <a:t>return m;</a:t>
            </a:r>
            <a:endParaRPr sz="1450"/>
          </a:p>
          <a:p>
            <a:pPr indent="0" lvl="0" marL="0" rtl="0" algn="l">
              <a:lnSpc>
                <a:spcPct val="80000"/>
              </a:lnSpc>
              <a:spcBef>
                <a:spcPts val="0"/>
              </a:spcBef>
              <a:spcAft>
                <a:spcPts val="0"/>
              </a:spcAft>
              <a:buSzPts val="1018"/>
              <a:buNone/>
            </a:pPr>
            <a:r>
              <a:rPr lang="en-GB" sz="1450"/>
              <a:t>}</a:t>
            </a:r>
            <a:endParaRPr sz="1450"/>
          </a:p>
          <a:p>
            <a:pPr indent="0" lvl="0" marL="0" rtl="0" algn="l">
              <a:lnSpc>
                <a:spcPct val="80000"/>
              </a:lnSpc>
              <a:spcBef>
                <a:spcPts val="0"/>
              </a:spcBef>
              <a:spcAft>
                <a:spcPts val="0"/>
              </a:spcAft>
              <a:buSzPts val="1018"/>
              <a:buNone/>
            </a:pPr>
            <a:r>
              <a:t/>
            </a:r>
            <a:endParaRPr sz="1450"/>
          </a:p>
          <a:p>
            <a:pPr indent="0" lvl="0" marL="0" rtl="0" algn="l">
              <a:lnSpc>
                <a:spcPct val="80000"/>
              </a:lnSpc>
              <a:spcBef>
                <a:spcPts val="0"/>
              </a:spcBef>
              <a:spcAft>
                <a:spcPts val="0"/>
              </a:spcAft>
              <a:buSzPts val="1018"/>
              <a:buNone/>
            </a:pPr>
            <a:r>
              <a:rPr lang="en-GB" sz="1450"/>
              <a:t>0122</a:t>
            </a:r>
            <a:endParaRPr sz="1450"/>
          </a:p>
          <a:p>
            <a:pPr indent="0" lvl="0" marL="0" rtl="0" algn="l">
              <a:lnSpc>
                <a:spcPct val="80000"/>
              </a:lnSpc>
              <a:spcBef>
                <a:spcPts val="0"/>
              </a:spcBef>
              <a:spcAft>
                <a:spcPts val="0"/>
              </a:spcAft>
              <a:buSzPts val="1018"/>
              <a:buNone/>
            </a:pPr>
            <a:r>
              <a:rPr lang="en-GB" sz="1450"/>
              <a:t>}</a:t>
            </a:r>
            <a:endParaRPr sz="1450"/>
          </a:p>
          <a:p>
            <a:pPr indent="0" lvl="0" marL="0" rtl="0" algn="l">
              <a:lnSpc>
                <a:spcPct val="80000"/>
              </a:lnSpc>
              <a:spcBef>
                <a:spcPts val="0"/>
              </a:spcBef>
              <a:spcAft>
                <a:spcPts val="0"/>
              </a:spcAft>
              <a:buSzPts val="1018"/>
              <a:buNone/>
            </a:pPr>
            <a:r>
              <a:rPr lang="en-GB" sz="1450"/>
              <a:t>// Testing Code</a:t>
            </a:r>
            <a:endParaRPr sz="1450"/>
          </a:p>
          <a:p>
            <a:pPr indent="0" lvl="0" marL="0" rtl="0" algn="l">
              <a:lnSpc>
                <a:spcPct val="80000"/>
              </a:lnSpc>
              <a:spcBef>
                <a:spcPts val="0"/>
              </a:spcBef>
              <a:spcAft>
                <a:spcPts val="0"/>
              </a:spcAft>
              <a:buSzPts val="1018"/>
              <a:buNone/>
            </a:pPr>
            <a:r>
              <a:rPr lang="en-GB" sz="1450"/>
              <a:t>int main() {</a:t>
            </a:r>
            <a:endParaRPr sz="1450"/>
          </a:p>
          <a:p>
            <a:pPr indent="0" lvl="0" marL="0" rtl="0" algn="l">
              <a:lnSpc>
                <a:spcPct val="80000"/>
              </a:lnSpc>
              <a:spcBef>
                <a:spcPts val="0"/>
              </a:spcBef>
              <a:spcAft>
                <a:spcPts val="0"/>
              </a:spcAft>
              <a:buSzPts val="1018"/>
              <a:buNone/>
            </a:pPr>
            <a:r>
              <a:rPr lang="en-GB" sz="1450"/>
              <a:t>std::cout &lt;&lt; "N = 100, Number of instructions::”&lt;&lt; fun5 (100); 0(n) </a:t>
            </a:r>
            <a:endParaRPr sz="1450"/>
          </a:p>
          <a:p>
            <a:pPr indent="0" lvl="0" marL="0" rtl="0" algn="l">
              <a:lnSpc>
                <a:spcPct val="80000"/>
              </a:lnSpc>
              <a:spcBef>
                <a:spcPts val="0"/>
              </a:spcBef>
              <a:spcAft>
                <a:spcPts val="0"/>
              </a:spcAft>
              <a:buSzPts val="1018"/>
              <a:buNone/>
            </a:pPr>
            <a:r>
              <a:rPr lang="en-GB" sz="1450"/>
              <a:t>return 0;</a:t>
            </a:r>
            <a:endParaRPr sz="1450"/>
          </a:p>
          <a:p>
            <a:pPr indent="0" lvl="0" marL="0" rtl="0" algn="l">
              <a:lnSpc>
                <a:spcPct val="80000"/>
              </a:lnSpc>
              <a:spcBef>
                <a:spcPts val="0"/>
              </a:spcBef>
              <a:spcAft>
                <a:spcPts val="0"/>
              </a:spcAft>
              <a:buSzPts val="1018"/>
              <a:buNone/>
            </a:pPr>
            <a:r>
              <a:rPr lang="en-GB" sz="1450"/>
              <a:t>}</a:t>
            </a:r>
            <a:endParaRPr sz="1450"/>
          </a:p>
          <a:p>
            <a:pPr indent="0" lvl="0" marL="0" rtl="0" algn="l">
              <a:lnSpc>
                <a:spcPct val="80000"/>
              </a:lnSpc>
              <a:spcBef>
                <a:spcPts val="0"/>
              </a:spcBef>
              <a:spcAft>
                <a:spcPts val="0"/>
              </a:spcAft>
              <a:buSzPts val="1018"/>
              <a:buNone/>
            </a:pPr>
            <a:r>
              <a:t/>
            </a:r>
            <a:endParaRPr sz="1450"/>
          </a:p>
          <a:p>
            <a:pPr indent="0" lvl="0" marL="0" rtl="0" algn="l">
              <a:lnSpc>
                <a:spcPct val="80000"/>
              </a:lnSpc>
              <a:spcBef>
                <a:spcPts val="0"/>
              </a:spcBef>
              <a:spcAft>
                <a:spcPts val="0"/>
              </a:spcAft>
              <a:buNone/>
            </a:pPr>
            <a:r>
              <a:rPr b="1" lang="en-GB" sz="1450"/>
              <a:t>Output:</a:t>
            </a:r>
            <a:endParaRPr b="1" sz="1450"/>
          </a:p>
          <a:p>
            <a:pPr indent="0" lvl="0" marL="0" rtl="0" algn="l">
              <a:lnSpc>
                <a:spcPct val="80000"/>
              </a:lnSpc>
              <a:spcBef>
                <a:spcPts val="0"/>
              </a:spcBef>
              <a:spcAft>
                <a:spcPts val="0"/>
              </a:spcAft>
              <a:buNone/>
            </a:pPr>
            <a:r>
              <a:rPr lang="en-GB" sz="1450"/>
              <a:t>N = 100, Number of instructions in 0(n):: 134</a:t>
            </a:r>
            <a:endParaRPr sz="1450"/>
          </a:p>
          <a:p>
            <a:pPr indent="0" lvl="0" marL="0" rtl="0" algn="l">
              <a:lnSpc>
                <a:spcPct val="80000"/>
              </a:lnSpc>
              <a:spcBef>
                <a:spcPts val="0"/>
              </a:spcBef>
              <a:spcAft>
                <a:spcPts val="0"/>
              </a:spcAft>
              <a:buNone/>
            </a:pPr>
            <a:r>
              <a:t/>
            </a:r>
            <a:endParaRPr sz="1450"/>
          </a:p>
          <a:p>
            <a:pPr indent="0" lvl="0" marL="0" rtl="0" algn="l">
              <a:lnSpc>
                <a:spcPct val="80000"/>
              </a:lnSpc>
              <a:spcBef>
                <a:spcPts val="0"/>
              </a:spcBef>
              <a:spcAft>
                <a:spcPts val="0"/>
              </a:spcAft>
              <a:buNone/>
            </a:pPr>
            <a:r>
              <a:rPr b="1" lang="en-GB" sz="1450"/>
              <a:t>Time Complexity: </a:t>
            </a:r>
            <a:r>
              <a:rPr lang="en-GB" sz="1450"/>
              <a:t>The inner loop will run for 1, 2, 4, 8,... n times in successive iteration of the outer loop.</a:t>
            </a:r>
            <a:endParaRPr sz="1450"/>
          </a:p>
          <a:p>
            <a:pPr indent="0" lvl="0" marL="0" rtl="0" algn="l">
              <a:lnSpc>
                <a:spcPct val="80000"/>
              </a:lnSpc>
              <a:spcBef>
                <a:spcPts val="0"/>
              </a:spcBef>
              <a:spcAft>
                <a:spcPts val="0"/>
              </a:spcAft>
              <a:buNone/>
            </a:pPr>
            <a:r>
              <a:rPr lang="en-GB" sz="1450"/>
              <a:t>T(n) = 0(1+ 2+ 4+...+n/2+n) = O(n)</a:t>
            </a:r>
            <a:endParaRPr sz="1450"/>
          </a:p>
        </p:txBody>
      </p:sp>
      <p:sp>
        <p:nvSpPr>
          <p:cNvPr id="275" name="Google Shape;275;p35"/>
          <p:cNvSpPr txBox="1"/>
          <p:nvPr/>
        </p:nvSpPr>
        <p:spPr>
          <a:xfrm>
            <a:off x="4636200" y="141900"/>
            <a:ext cx="4584000" cy="49872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GB" sz="1200"/>
              <a:t>Example 2.6: Double the iteration variable</a:t>
            </a:r>
            <a:endParaRPr b="1" sz="1200"/>
          </a:p>
          <a:p>
            <a:pPr indent="0" lvl="0" marL="0" rtl="0" algn="l">
              <a:spcBef>
                <a:spcPts val="0"/>
              </a:spcBef>
              <a:spcAft>
                <a:spcPts val="0"/>
              </a:spcAft>
              <a:buNone/>
            </a:pPr>
            <a:r>
              <a:rPr lang="en-GB" sz="1200"/>
              <a:t>#include &lt;iostream&gt;</a:t>
            </a:r>
            <a:endParaRPr sz="1200"/>
          </a:p>
          <a:p>
            <a:pPr indent="0" lvl="0" marL="0" rtl="0" algn="l">
              <a:spcBef>
                <a:spcPts val="0"/>
              </a:spcBef>
              <a:spcAft>
                <a:spcPts val="0"/>
              </a:spcAft>
              <a:buNone/>
            </a:pPr>
            <a:r>
              <a:rPr lang="en-GB" sz="1200"/>
              <a:t>using namespace std;</a:t>
            </a:r>
            <a:endParaRPr sz="1200"/>
          </a:p>
          <a:p>
            <a:pPr indent="0" lvl="0" marL="0" rtl="0" algn="l">
              <a:spcBef>
                <a:spcPts val="0"/>
              </a:spcBef>
              <a:spcAft>
                <a:spcPts val="0"/>
              </a:spcAft>
              <a:buNone/>
            </a:pPr>
            <a:r>
              <a:rPr lang="en-GB" sz="1200"/>
              <a:t>int fun6 (int n) {</a:t>
            </a:r>
            <a:endParaRPr sz="1200"/>
          </a:p>
          <a:p>
            <a:pPr indent="0" lvl="0" marL="0" rtl="0" algn="l">
              <a:spcBef>
                <a:spcPts val="0"/>
              </a:spcBef>
              <a:spcAft>
                <a:spcPts val="0"/>
              </a:spcAft>
              <a:buNone/>
            </a:pPr>
            <a:r>
              <a:rPr lang="en-GB" sz="1200"/>
              <a:t>int i = 1, m = 0; </a:t>
            </a:r>
            <a:endParaRPr sz="1200"/>
          </a:p>
          <a:p>
            <a:pPr indent="0" lvl="0" marL="0" rtl="0" algn="l">
              <a:spcBef>
                <a:spcPts val="0"/>
              </a:spcBef>
              <a:spcAft>
                <a:spcPts val="0"/>
              </a:spcAft>
              <a:buNone/>
            </a:pPr>
            <a:r>
              <a:rPr lang="en-GB" sz="1200"/>
              <a:t>while (i &lt; n) {</a:t>
            </a:r>
            <a:endParaRPr sz="1200"/>
          </a:p>
          <a:p>
            <a:pPr indent="0" lvl="0" marL="0" rtl="0" algn="l">
              <a:spcBef>
                <a:spcPts val="0"/>
              </a:spcBef>
              <a:spcAft>
                <a:spcPts val="0"/>
              </a:spcAft>
              <a:buNone/>
            </a:pPr>
            <a:r>
              <a:rPr lang="en-GB" sz="1200"/>
              <a:t>m += 1;</a:t>
            </a:r>
            <a:endParaRPr sz="1200"/>
          </a:p>
          <a:p>
            <a:pPr indent="0" lvl="0" marL="0" rtl="0" algn="l">
              <a:spcBef>
                <a:spcPts val="0"/>
              </a:spcBef>
              <a:spcAft>
                <a:spcPts val="0"/>
              </a:spcAft>
              <a:buNone/>
            </a:pPr>
            <a:r>
              <a:rPr lang="en-GB" sz="1200"/>
              <a:t>i = i* 2;</a:t>
            </a:r>
            <a:endParaRPr sz="1200"/>
          </a:p>
          <a:p>
            <a:pPr indent="0" lvl="0" marL="0" rtl="0" algn="l">
              <a:spcBef>
                <a:spcPts val="0"/>
              </a:spcBef>
              <a:spcAft>
                <a:spcPts val="0"/>
              </a:spcAft>
              <a:buNone/>
            </a:pPr>
            <a:r>
              <a:rPr lang="en-GB" sz="1200"/>
              <a:t>   }</a:t>
            </a:r>
            <a:endParaRPr sz="1200"/>
          </a:p>
          <a:p>
            <a:pPr indent="0" lvl="0" marL="0" rtl="0" algn="l">
              <a:spcBef>
                <a:spcPts val="0"/>
              </a:spcBef>
              <a:spcAft>
                <a:spcPts val="0"/>
              </a:spcAft>
              <a:buNone/>
            </a:pPr>
            <a:r>
              <a:rPr lang="en-GB" sz="1200"/>
              <a:t>return m;</a:t>
            </a:r>
            <a:endParaRPr sz="1200"/>
          </a:p>
          <a:p>
            <a:pPr indent="0" lvl="0" marL="0" rtl="0" algn="l">
              <a:spcBef>
                <a:spcPts val="0"/>
              </a:spcBef>
              <a:spcAft>
                <a:spcPts val="0"/>
              </a:spcAft>
              <a:buNone/>
            </a:pPr>
            <a:r>
              <a:rPr lang="en-GB" sz="1200"/>
              <a:t>}</a:t>
            </a:r>
            <a:endParaRPr sz="1200"/>
          </a:p>
          <a:p>
            <a:pPr indent="0" lvl="0" marL="0" rtl="0" algn="l">
              <a:spcBef>
                <a:spcPts val="0"/>
              </a:spcBef>
              <a:spcAft>
                <a:spcPts val="0"/>
              </a:spcAft>
              <a:buNone/>
            </a:pPr>
            <a:r>
              <a:rPr lang="en-GB" sz="1200"/>
              <a:t>// Testing Code</a:t>
            </a:r>
            <a:endParaRPr sz="1200"/>
          </a:p>
          <a:p>
            <a:pPr indent="0" lvl="0" marL="0" rtl="0" algn="l">
              <a:spcBef>
                <a:spcPts val="0"/>
              </a:spcBef>
              <a:spcAft>
                <a:spcPts val="0"/>
              </a:spcAft>
              <a:buNone/>
            </a:pPr>
            <a:r>
              <a:rPr lang="en-GB" sz="1200"/>
              <a:t>int main() {</a:t>
            </a:r>
            <a:endParaRPr sz="1200"/>
          </a:p>
          <a:p>
            <a:pPr indent="0" lvl="0" marL="0" rtl="0" algn="l">
              <a:spcBef>
                <a:spcPts val="0"/>
              </a:spcBef>
              <a:spcAft>
                <a:spcPts val="0"/>
              </a:spcAft>
              <a:buNone/>
            </a:pPr>
            <a:r>
              <a:rPr lang="en-GB" sz="1200"/>
              <a:t>printf("N = 100, Number of instructions 0(log(n)) :: %d \n", fun6 (100));</a:t>
            </a:r>
            <a:endParaRPr sz="1200"/>
          </a:p>
          <a:p>
            <a:pPr indent="0" lvl="0" marL="0" rtl="0" algn="l">
              <a:spcBef>
                <a:spcPts val="0"/>
              </a:spcBef>
              <a:spcAft>
                <a:spcPts val="0"/>
              </a:spcAft>
              <a:buNone/>
            </a:pPr>
            <a:r>
              <a:rPr lang="en-GB" sz="1200"/>
              <a:t>return 0;</a:t>
            </a:r>
            <a:endParaRPr sz="1200"/>
          </a:p>
          <a:p>
            <a:pPr indent="0" lvl="0" marL="0" rtl="0" algn="l">
              <a:spcBef>
                <a:spcPts val="0"/>
              </a:spcBef>
              <a:spcAft>
                <a:spcPts val="0"/>
              </a:spcAft>
              <a:buNone/>
            </a:pPr>
            <a:r>
              <a:rPr lang="en-GB" sz="1200"/>
              <a:t>}</a:t>
            </a:r>
            <a:endParaRPr b="1" sz="1200"/>
          </a:p>
          <a:p>
            <a:pPr indent="0" lvl="0" marL="0" rtl="0" algn="l">
              <a:spcBef>
                <a:spcPts val="0"/>
              </a:spcBef>
              <a:spcAft>
                <a:spcPts val="0"/>
              </a:spcAft>
              <a:buNone/>
            </a:pPr>
            <a:r>
              <a:rPr b="1" lang="en-GB" sz="1200"/>
              <a:t>Output:</a:t>
            </a:r>
            <a:endParaRPr b="1" sz="1200"/>
          </a:p>
          <a:p>
            <a:pPr indent="0" lvl="0" marL="0" rtl="0" algn="l">
              <a:spcBef>
                <a:spcPts val="0"/>
              </a:spcBef>
              <a:spcAft>
                <a:spcPts val="0"/>
              </a:spcAft>
              <a:buNone/>
            </a:pPr>
            <a:r>
              <a:rPr lang="en-GB" sz="1200"/>
              <a:t>N = 100, Number of inst in 0(log(n)) ::7</a:t>
            </a:r>
            <a:endParaRPr sz="1200"/>
          </a:p>
          <a:p>
            <a:pPr indent="0" lvl="0" marL="0" rtl="0" algn="l">
              <a:spcBef>
                <a:spcPts val="0"/>
              </a:spcBef>
              <a:spcAft>
                <a:spcPts val="0"/>
              </a:spcAft>
              <a:buNone/>
            </a:pPr>
            <a:r>
              <a:rPr lang="en-GB" sz="1200"/>
              <a:t>In each iteration, i value is doubled. So the value of i after k iterations will be 2^k.</a:t>
            </a:r>
            <a:endParaRPr sz="1200"/>
          </a:p>
          <a:p>
            <a:pPr indent="0" lvl="0" marL="0" rtl="0" algn="l">
              <a:spcBef>
                <a:spcPts val="0"/>
              </a:spcBef>
              <a:spcAft>
                <a:spcPts val="0"/>
              </a:spcAft>
              <a:buNone/>
            </a:pPr>
            <a:r>
              <a:rPr lang="en-GB" sz="1200"/>
              <a:t>2^k = n... Will be the condition at the time of exit.</a:t>
            </a:r>
            <a:endParaRPr sz="1200"/>
          </a:p>
          <a:p>
            <a:pPr indent="0" lvl="0" marL="0" rtl="0" algn="l">
              <a:spcBef>
                <a:spcPts val="0"/>
              </a:spcBef>
              <a:spcAft>
                <a:spcPts val="0"/>
              </a:spcAft>
              <a:buNone/>
            </a:pPr>
            <a:r>
              <a:rPr lang="en-GB" sz="1200"/>
              <a:t>log(2^k) = log(n) ....Taking log both sides.</a:t>
            </a:r>
            <a:endParaRPr sz="1200"/>
          </a:p>
          <a:p>
            <a:pPr indent="0" lvl="0" marL="0" rtl="0" algn="l">
              <a:spcBef>
                <a:spcPts val="0"/>
              </a:spcBef>
              <a:spcAft>
                <a:spcPts val="0"/>
              </a:spcAft>
              <a:buNone/>
            </a:pPr>
            <a:r>
              <a:rPr lang="en-GB" sz="1200"/>
              <a:t>k = log(n)</a:t>
            </a:r>
            <a:endParaRPr sz="1200"/>
          </a:p>
          <a:p>
            <a:pPr indent="0" lvl="0" marL="0" rtl="0" algn="l">
              <a:spcBef>
                <a:spcPts val="0"/>
              </a:spcBef>
              <a:spcAft>
                <a:spcPts val="0"/>
              </a:spcAft>
              <a:buNone/>
            </a:pPr>
            <a:r>
              <a:rPr b="1" lang="en-GB" sz="1200"/>
              <a:t>Time Complexity: </a:t>
            </a:r>
            <a:r>
              <a:rPr lang="en-GB" sz="1200"/>
              <a:t>O(log(n))</a:t>
            </a:r>
            <a:endParaRPr sz="1200"/>
          </a:p>
          <a:p>
            <a:pPr indent="0" lvl="0" marL="0" rtl="0" algn="l">
              <a:spcBef>
                <a:spcPts val="0"/>
              </a:spcBef>
              <a:spcAft>
                <a:spcPts val="0"/>
              </a:spcAft>
              <a:buNone/>
            </a:pPr>
            <a:r>
              <a:t/>
            </a:r>
            <a:endParaRPr b="1" sz="1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422425" y="98699"/>
            <a:ext cx="7053600" cy="3909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Time Complexity Examples</a:t>
            </a:r>
            <a:endParaRPr b="1" sz="3100">
              <a:solidFill>
                <a:srgbClr val="FF9900"/>
              </a:solidFill>
            </a:endParaRPr>
          </a:p>
        </p:txBody>
      </p:sp>
      <p:sp>
        <p:nvSpPr>
          <p:cNvPr id="281" name="Google Shape;281;p36"/>
          <p:cNvSpPr txBox="1"/>
          <p:nvPr>
            <p:ph idx="1" type="body"/>
          </p:nvPr>
        </p:nvSpPr>
        <p:spPr>
          <a:xfrm>
            <a:off x="69925" y="489600"/>
            <a:ext cx="4382100" cy="4389900"/>
          </a:xfrm>
          <a:prstGeom prst="rect">
            <a:avLst/>
          </a:prstGeom>
          <a:ln cap="flat" cmpd="sng" w="9525">
            <a:solidFill>
              <a:srgbClr val="000000"/>
            </a:solidFill>
            <a:prstDash val="dashDot"/>
            <a:round/>
            <a:headEnd len="sm" w="sm" type="none"/>
            <a:tailEnd len="sm" w="sm" type="none"/>
          </a:ln>
        </p:spPr>
        <p:txBody>
          <a:bodyPr anchorCtr="0" anchor="t" bIns="34275" lIns="68575" spcFirstLastPara="1" rIns="68575" wrap="square" tIns="34275">
            <a:normAutofit lnSpcReduction="20000"/>
          </a:bodyPr>
          <a:lstStyle/>
          <a:p>
            <a:pPr indent="0" lvl="0" marL="0" rtl="0" algn="l">
              <a:lnSpc>
                <a:spcPct val="80000"/>
              </a:lnSpc>
              <a:spcBef>
                <a:spcPts val="0"/>
              </a:spcBef>
              <a:spcAft>
                <a:spcPts val="0"/>
              </a:spcAft>
              <a:buNone/>
            </a:pPr>
            <a:r>
              <a:rPr b="1" lang="en-GB" sz="1450"/>
              <a:t>Example 2.7: Consecutive Statements</a:t>
            </a:r>
            <a:endParaRPr b="1" sz="1450"/>
          </a:p>
          <a:p>
            <a:pPr indent="0" lvl="0" marL="0" rtl="0" algn="l">
              <a:lnSpc>
                <a:spcPct val="80000"/>
              </a:lnSpc>
              <a:spcBef>
                <a:spcPts val="0"/>
              </a:spcBef>
              <a:spcAft>
                <a:spcPts val="0"/>
              </a:spcAft>
              <a:buNone/>
            </a:pPr>
            <a:r>
              <a:t/>
            </a:r>
            <a:endParaRPr b="1" sz="1450"/>
          </a:p>
          <a:p>
            <a:pPr indent="0" lvl="0" marL="0" rtl="0" algn="l">
              <a:lnSpc>
                <a:spcPct val="80000"/>
              </a:lnSpc>
              <a:spcBef>
                <a:spcPts val="0"/>
              </a:spcBef>
              <a:spcAft>
                <a:spcPts val="0"/>
              </a:spcAft>
              <a:buNone/>
            </a:pPr>
            <a:r>
              <a:rPr lang="en-GB" sz="1450"/>
              <a:t>int fun7(int n) {</a:t>
            </a:r>
            <a:endParaRPr sz="1450"/>
          </a:p>
          <a:p>
            <a:pPr indent="0" lvl="0" marL="0" rtl="0" algn="l">
              <a:lnSpc>
                <a:spcPct val="80000"/>
              </a:lnSpc>
              <a:spcBef>
                <a:spcPts val="0"/>
              </a:spcBef>
              <a:spcAft>
                <a:spcPts val="0"/>
              </a:spcAft>
              <a:buNone/>
            </a:pPr>
            <a:r>
              <a:rPr lang="en-GB" sz="1450"/>
              <a:t>int i, j, k, m = 0;</a:t>
            </a:r>
            <a:endParaRPr sz="1450"/>
          </a:p>
          <a:p>
            <a:pPr indent="0" lvl="0" marL="0" rtl="0" algn="l">
              <a:lnSpc>
                <a:spcPct val="80000"/>
              </a:lnSpc>
              <a:spcBef>
                <a:spcPts val="0"/>
              </a:spcBef>
              <a:spcAft>
                <a:spcPts val="0"/>
              </a:spcAft>
              <a:buNone/>
            </a:pPr>
            <a:r>
              <a:rPr lang="en-GB" sz="1450"/>
              <a:t>for (i = 0; i&lt;n; i++) {</a:t>
            </a:r>
            <a:endParaRPr sz="1450"/>
          </a:p>
          <a:p>
            <a:pPr indent="0" lvl="0" marL="0" rtl="0" algn="l">
              <a:lnSpc>
                <a:spcPct val="80000"/>
              </a:lnSpc>
              <a:spcBef>
                <a:spcPts val="0"/>
              </a:spcBef>
              <a:spcAft>
                <a:spcPts val="0"/>
              </a:spcAft>
              <a:buNone/>
            </a:pPr>
            <a:r>
              <a:t/>
            </a:r>
            <a:endParaRPr sz="1450"/>
          </a:p>
          <a:p>
            <a:pPr indent="0" lvl="0" marL="0" rtl="0" algn="l">
              <a:lnSpc>
                <a:spcPct val="80000"/>
              </a:lnSpc>
              <a:spcBef>
                <a:spcPts val="0"/>
              </a:spcBef>
              <a:spcAft>
                <a:spcPts val="0"/>
              </a:spcAft>
              <a:buNone/>
            </a:pPr>
            <a:r>
              <a:rPr lang="en-GB" sz="1450"/>
              <a:t>for (j = 0; j&lt;n; j++) {</a:t>
            </a:r>
            <a:endParaRPr sz="1450"/>
          </a:p>
          <a:p>
            <a:pPr indent="0" lvl="0" marL="0" rtl="0" algn="l">
              <a:lnSpc>
                <a:spcPct val="80000"/>
              </a:lnSpc>
              <a:spcBef>
                <a:spcPts val="0"/>
              </a:spcBef>
              <a:spcAft>
                <a:spcPts val="0"/>
              </a:spcAft>
              <a:buNone/>
            </a:pPr>
            <a:r>
              <a:rPr lang="en-GB" sz="1450"/>
              <a:t>m += 1;</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lang="en-GB" sz="1450"/>
              <a:t>for(i = 0; i &lt; n; i++) { </a:t>
            </a:r>
            <a:endParaRPr sz="1450"/>
          </a:p>
          <a:p>
            <a:pPr indent="0" lvl="0" marL="0" rtl="0" algn="l">
              <a:lnSpc>
                <a:spcPct val="80000"/>
              </a:lnSpc>
              <a:spcBef>
                <a:spcPts val="0"/>
              </a:spcBef>
              <a:spcAft>
                <a:spcPts val="0"/>
              </a:spcAft>
              <a:buNone/>
            </a:pPr>
            <a:r>
              <a:rPr lang="en-GB" sz="1450"/>
              <a:t>for (k= 0; k &lt;n; k++) {</a:t>
            </a:r>
            <a:endParaRPr sz="1450"/>
          </a:p>
          <a:p>
            <a:pPr indent="0" lvl="0" marL="0" rtl="0" algn="l">
              <a:lnSpc>
                <a:spcPct val="80000"/>
              </a:lnSpc>
              <a:spcBef>
                <a:spcPts val="0"/>
              </a:spcBef>
              <a:spcAft>
                <a:spcPts val="0"/>
              </a:spcAft>
              <a:buNone/>
            </a:pPr>
            <a:r>
              <a:rPr lang="en-GB" sz="1450"/>
              <a:t>m += 1;</a:t>
            </a:r>
            <a:endParaRPr sz="1450"/>
          </a:p>
          <a:p>
            <a:pPr indent="0" lvl="0" marL="0" rtl="0" algn="l">
              <a:lnSpc>
                <a:spcPct val="80000"/>
              </a:lnSpc>
              <a:spcBef>
                <a:spcPts val="0"/>
              </a:spcBef>
              <a:spcAft>
                <a:spcPts val="0"/>
              </a:spcAft>
              <a:buNone/>
            </a:pPr>
            <a:r>
              <a:rPr lang="en-GB" sz="1450"/>
              <a:t> }</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lang="en-GB" sz="1450"/>
              <a:t>return m;</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lang="en-GB" sz="1450"/>
              <a:t>// Testing Code</a:t>
            </a:r>
            <a:endParaRPr sz="1450"/>
          </a:p>
          <a:p>
            <a:pPr indent="0" lvl="0" marL="0" rtl="0" algn="l">
              <a:lnSpc>
                <a:spcPct val="80000"/>
              </a:lnSpc>
              <a:spcBef>
                <a:spcPts val="0"/>
              </a:spcBef>
              <a:spcAft>
                <a:spcPts val="0"/>
              </a:spcAft>
              <a:buNone/>
            </a:pPr>
            <a:r>
              <a:rPr lang="en-GB" sz="1450"/>
              <a:t>int main() {</a:t>
            </a:r>
            <a:endParaRPr sz="1450"/>
          </a:p>
          <a:p>
            <a:pPr indent="0" lvl="0" marL="0" rtl="0" algn="l">
              <a:lnSpc>
                <a:spcPct val="80000"/>
              </a:lnSpc>
              <a:spcBef>
                <a:spcPts val="0"/>
              </a:spcBef>
              <a:spcAft>
                <a:spcPts val="0"/>
              </a:spcAft>
              <a:buNone/>
            </a:pPr>
            <a:r>
              <a:rPr lang="en-GB" sz="1450"/>
              <a:t>std::cout &lt;&lt; "N = 100, Number of instructions 0(n^2):: “&lt;&lt;  fun7(100);</a:t>
            </a:r>
            <a:endParaRPr sz="1450"/>
          </a:p>
          <a:p>
            <a:pPr indent="0" lvl="0" marL="0" rtl="0" algn="l">
              <a:lnSpc>
                <a:spcPct val="80000"/>
              </a:lnSpc>
              <a:spcBef>
                <a:spcPts val="0"/>
              </a:spcBef>
              <a:spcAft>
                <a:spcPts val="0"/>
              </a:spcAft>
              <a:buNone/>
            </a:pPr>
            <a:r>
              <a:rPr lang="en-GB" sz="1450"/>
              <a:t>return 0;</a:t>
            </a:r>
            <a:endParaRPr sz="1450"/>
          </a:p>
          <a:p>
            <a:pPr indent="0" lvl="0" marL="0" rtl="0" algn="l">
              <a:lnSpc>
                <a:spcPct val="80000"/>
              </a:lnSpc>
              <a:spcBef>
                <a:spcPts val="0"/>
              </a:spcBef>
              <a:spcAft>
                <a:spcPts val="0"/>
              </a:spcAft>
              <a:buNone/>
            </a:pPr>
            <a:r>
              <a:rPr b="1" lang="en-GB" sz="1450"/>
              <a:t>Output:</a:t>
            </a:r>
            <a:endParaRPr b="1" sz="1450"/>
          </a:p>
          <a:p>
            <a:pPr indent="0" lvl="0" marL="0" rtl="0" algn="l">
              <a:lnSpc>
                <a:spcPct val="80000"/>
              </a:lnSpc>
              <a:spcBef>
                <a:spcPts val="0"/>
              </a:spcBef>
              <a:spcAft>
                <a:spcPts val="0"/>
              </a:spcAft>
              <a:buNone/>
            </a:pPr>
            <a:r>
              <a:rPr lang="en-GB" sz="1450"/>
              <a:t>N = 100, Number of instructions in O(n^2)::20000</a:t>
            </a:r>
            <a:endParaRPr sz="1450"/>
          </a:p>
          <a:p>
            <a:pPr indent="0" lvl="0" marL="0" rtl="0" algn="l">
              <a:lnSpc>
                <a:spcPct val="80000"/>
              </a:lnSpc>
              <a:spcBef>
                <a:spcPts val="0"/>
              </a:spcBef>
              <a:spcAft>
                <a:spcPts val="0"/>
              </a:spcAft>
              <a:buNone/>
            </a:pPr>
            <a:r>
              <a:t/>
            </a:r>
            <a:endParaRPr sz="1450"/>
          </a:p>
          <a:p>
            <a:pPr indent="0" lvl="0" marL="0" rtl="0" algn="l">
              <a:lnSpc>
                <a:spcPct val="80000"/>
              </a:lnSpc>
              <a:spcBef>
                <a:spcPts val="0"/>
              </a:spcBef>
              <a:spcAft>
                <a:spcPts val="0"/>
              </a:spcAft>
              <a:buNone/>
            </a:pPr>
            <a:r>
              <a:rPr lang="en-GB" sz="1450"/>
              <a:t>These two groups of loops are consecutive, so their </a:t>
            </a:r>
            <a:endParaRPr sz="1450"/>
          </a:p>
          <a:p>
            <a:pPr indent="0" lvl="0" marL="0" rtl="0" algn="l">
              <a:lnSpc>
                <a:spcPct val="80000"/>
              </a:lnSpc>
              <a:spcBef>
                <a:spcPts val="0"/>
              </a:spcBef>
              <a:spcAft>
                <a:spcPts val="0"/>
              </a:spcAft>
              <a:buNone/>
            </a:pPr>
            <a:r>
              <a:t/>
            </a:r>
            <a:endParaRPr sz="1450"/>
          </a:p>
          <a:p>
            <a:pPr indent="0" lvl="0" marL="0" rtl="0" algn="l">
              <a:lnSpc>
                <a:spcPct val="80000"/>
              </a:lnSpc>
              <a:spcBef>
                <a:spcPts val="0"/>
              </a:spcBef>
              <a:spcAft>
                <a:spcPts val="0"/>
              </a:spcAft>
              <a:buNone/>
            </a:pPr>
            <a:r>
              <a:rPr lang="en-GB" sz="1450"/>
              <a:t>complexity will add up to form the final complexity of the program.</a:t>
            </a:r>
            <a:endParaRPr sz="1450"/>
          </a:p>
          <a:p>
            <a:pPr indent="0" lvl="0" marL="0" rtl="0" algn="l">
              <a:lnSpc>
                <a:spcPct val="80000"/>
              </a:lnSpc>
              <a:spcBef>
                <a:spcPts val="0"/>
              </a:spcBef>
              <a:spcAft>
                <a:spcPts val="0"/>
              </a:spcAft>
              <a:buNone/>
            </a:pPr>
            <a:r>
              <a:rPr b="1" lang="en-GB" sz="1450"/>
              <a:t>Time Complexity: </a:t>
            </a:r>
            <a:r>
              <a:rPr lang="en-GB" sz="1450"/>
              <a:t>O(n^2)+ O(n^2) =</a:t>
            </a:r>
            <a:r>
              <a:rPr b="1" lang="en-GB" sz="1450"/>
              <a:t>O(n^2)</a:t>
            </a:r>
            <a:endParaRPr b="1" sz="1450"/>
          </a:p>
          <a:p>
            <a:pPr indent="0" lvl="0" marL="0" rtl="0" algn="l">
              <a:lnSpc>
                <a:spcPct val="80000"/>
              </a:lnSpc>
              <a:spcBef>
                <a:spcPts val="0"/>
              </a:spcBef>
              <a:spcAft>
                <a:spcPts val="0"/>
              </a:spcAft>
              <a:buNone/>
            </a:pPr>
            <a:r>
              <a:t/>
            </a:r>
            <a:endParaRPr b="1" sz="1450"/>
          </a:p>
        </p:txBody>
      </p:sp>
      <p:sp>
        <p:nvSpPr>
          <p:cNvPr id="282" name="Google Shape;282;p36"/>
          <p:cNvSpPr txBox="1"/>
          <p:nvPr/>
        </p:nvSpPr>
        <p:spPr>
          <a:xfrm>
            <a:off x="4483800" y="294300"/>
            <a:ext cx="4584000" cy="47562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t>Problem:</a:t>
            </a:r>
            <a:r>
              <a:rPr lang="en-GB" sz="1100"/>
              <a:t> Given a value N find N!. Where N! = N* (N-1).... 2*1. Use recursion to solve the problem.</a:t>
            </a:r>
            <a:endParaRPr sz="1100"/>
          </a:p>
          <a:p>
            <a:pPr indent="0" lvl="0" marL="0" rtl="0" algn="l">
              <a:spcBef>
                <a:spcPts val="0"/>
              </a:spcBef>
              <a:spcAft>
                <a:spcPts val="0"/>
              </a:spcAft>
              <a:buNone/>
            </a:pPr>
            <a:r>
              <a:rPr b="1" lang="en-GB" sz="1100"/>
              <a:t>Example 2. 8: Factorial Calculation.</a:t>
            </a:r>
            <a:endParaRPr b="1" sz="1100"/>
          </a:p>
          <a:p>
            <a:pPr indent="0" lvl="0" marL="0" rtl="0" algn="l">
              <a:spcBef>
                <a:spcPts val="0"/>
              </a:spcBef>
              <a:spcAft>
                <a:spcPts val="0"/>
              </a:spcAft>
              <a:buNone/>
            </a:pPr>
            <a:r>
              <a:rPr b="1" lang="en-GB" sz="1100"/>
              <a:t>int factorial (int i) </a:t>
            </a:r>
            <a:r>
              <a:rPr lang="en-GB" sz="1100"/>
              <a:t>{</a:t>
            </a:r>
            <a:endParaRPr sz="1100"/>
          </a:p>
          <a:p>
            <a:pPr indent="0" lvl="0" marL="0" rtl="0" algn="l">
              <a:spcBef>
                <a:spcPts val="0"/>
              </a:spcBef>
              <a:spcAft>
                <a:spcPts val="0"/>
              </a:spcAft>
              <a:buNone/>
            </a:pPr>
            <a:r>
              <a:rPr lang="en-GB" sz="1100"/>
              <a:t>/* Base Case or  Termination Condition */</a:t>
            </a:r>
            <a:endParaRPr sz="1100"/>
          </a:p>
          <a:p>
            <a:pPr indent="0" lvl="0" marL="0" rtl="0" algn="l">
              <a:spcBef>
                <a:spcPts val="0"/>
              </a:spcBef>
              <a:spcAft>
                <a:spcPts val="0"/>
              </a:spcAft>
              <a:buNone/>
            </a:pPr>
            <a:r>
              <a:rPr lang="en-GB" sz="1100"/>
              <a:t>if (i &lt;= 1)</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lang="en-GB" sz="1100"/>
              <a:t>return 1;</a:t>
            </a:r>
            <a:endParaRPr sz="1100"/>
          </a:p>
          <a:p>
            <a:pPr indent="0" lvl="0" marL="0" rtl="0" algn="l">
              <a:spcBef>
                <a:spcPts val="0"/>
              </a:spcBef>
              <a:spcAft>
                <a:spcPts val="0"/>
              </a:spcAft>
              <a:buNone/>
            </a:pPr>
            <a:r>
              <a:rPr lang="en-GB" sz="1100"/>
              <a:t>/* Body, Recursive Expansion */ </a:t>
            </a:r>
            <a:endParaRPr sz="1100"/>
          </a:p>
          <a:p>
            <a:pPr indent="0" lvl="0" marL="0" rtl="0" algn="l">
              <a:spcBef>
                <a:spcPts val="0"/>
              </a:spcBef>
              <a:spcAft>
                <a:spcPts val="0"/>
              </a:spcAft>
              <a:buNone/>
            </a:pPr>
            <a:r>
              <a:rPr lang="en-GB" sz="1100"/>
              <a:t>return i *factorial (i - 1);</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b="1" lang="en-GB" sz="1100"/>
              <a:t>int main() {</a:t>
            </a:r>
            <a:endParaRPr b="1" sz="1100"/>
          </a:p>
          <a:p>
            <a:pPr indent="0" lvl="0" marL="0" rtl="0" algn="l">
              <a:spcBef>
                <a:spcPts val="0"/>
              </a:spcBef>
              <a:spcAft>
                <a:spcPts val="0"/>
              </a:spcAft>
              <a:buNone/>
            </a:pPr>
            <a:r>
              <a:rPr lang="en-GB" sz="1100"/>
              <a:t>std::cout &lt;&lt; "Factorial: " &lt;&lt; factorial (5) &lt;&lt; std::endl;</a:t>
            </a:r>
            <a:endParaRPr sz="1100"/>
          </a:p>
          <a:p>
            <a:pPr indent="0" lvl="0" marL="0" rtl="0" algn="l">
              <a:spcBef>
                <a:spcPts val="0"/>
              </a:spcBef>
              <a:spcAft>
                <a:spcPts val="0"/>
              </a:spcAft>
              <a:buNone/>
            </a:pPr>
            <a:r>
              <a:rPr lang="en-GB" sz="1100"/>
              <a:t> return 0;</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b="1" lang="en-GB" sz="1100"/>
              <a:t>Output:</a:t>
            </a:r>
            <a:endParaRPr b="1" sz="1100"/>
          </a:p>
          <a:p>
            <a:pPr indent="0" lvl="0" marL="0" rtl="0" algn="l">
              <a:spcBef>
                <a:spcPts val="0"/>
              </a:spcBef>
              <a:spcAft>
                <a:spcPts val="0"/>
              </a:spcAft>
              <a:buNone/>
            </a:pPr>
            <a:r>
              <a:rPr lang="en-GB" sz="1100"/>
              <a:t>Factorial:120</a:t>
            </a:r>
            <a:endParaRPr sz="1100"/>
          </a:p>
          <a:p>
            <a:pPr indent="0" lvl="0" marL="0" rtl="0" algn="l">
              <a:spcBef>
                <a:spcPts val="0"/>
              </a:spcBef>
              <a:spcAft>
                <a:spcPts val="0"/>
              </a:spcAft>
              <a:buNone/>
            </a:pPr>
            <a:r>
              <a:rPr b="1" lang="en-GB" sz="1100"/>
              <a:t>Analysis: We calculate factorial(i) as i*factorial (i-1) recursively.</a:t>
            </a:r>
            <a:endParaRPr b="1" sz="1100"/>
          </a:p>
          <a:p>
            <a:pPr indent="0" lvl="0" marL="0" rtl="0" algn="l">
              <a:spcBef>
                <a:spcPts val="0"/>
              </a:spcBef>
              <a:spcAft>
                <a:spcPts val="0"/>
              </a:spcAft>
              <a:buNone/>
            </a:pPr>
            <a:r>
              <a:rPr lang="en-GB" sz="1100"/>
              <a:t>Function F(n) calls F(n-1)</a:t>
            </a:r>
            <a:endParaRPr sz="1100"/>
          </a:p>
          <a:p>
            <a:pPr indent="0" lvl="0" marL="0" rtl="0" algn="l">
              <a:spcBef>
                <a:spcPts val="0"/>
              </a:spcBef>
              <a:spcAft>
                <a:spcPts val="0"/>
              </a:spcAft>
              <a:buNone/>
            </a:pPr>
            <a:r>
              <a:rPr lang="en-GB" sz="1100"/>
              <a:t>T(n) = T(n-1) + 1</a:t>
            </a:r>
            <a:endParaRPr sz="1100"/>
          </a:p>
          <a:p>
            <a:pPr indent="0" lvl="0" marL="0" rtl="0" algn="l">
              <a:spcBef>
                <a:spcPts val="0"/>
              </a:spcBef>
              <a:spcAft>
                <a:spcPts val="0"/>
              </a:spcAft>
              <a:buNone/>
            </a:pPr>
            <a:r>
              <a:rPr lang="en-GB" sz="1100"/>
              <a:t>T(n-1) = T(n-2) + 1</a:t>
            </a:r>
            <a:endParaRPr sz="1100"/>
          </a:p>
          <a:p>
            <a:pPr indent="0" lvl="0" marL="0" rtl="0" algn="l">
              <a:spcBef>
                <a:spcPts val="0"/>
              </a:spcBef>
              <a:spcAft>
                <a:spcPts val="0"/>
              </a:spcAft>
              <a:buNone/>
            </a:pPr>
            <a:r>
              <a:rPr lang="en-GB" sz="1100"/>
              <a:t>T(n-2) = T(n-3) + 1</a:t>
            </a:r>
            <a:endParaRPr sz="1100"/>
          </a:p>
          <a:p>
            <a:pPr indent="0" lvl="0" marL="0" rtl="0" algn="l">
              <a:spcBef>
                <a:spcPts val="0"/>
              </a:spcBef>
              <a:spcAft>
                <a:spcPts val="0"/>
              </a:spcAft>
              <a:buNone/>
            </a:pPr>
            <a:r>
              <a:rPr lang="en-GB" sz="1100"/>
              <a:t>T(n) = T(n-1) + 1 = (T(n-2) + 1) + 1 = T(n-2) + 2 = (T(n-3) + 1) + 2 = T(n-3) + 3 Similarly, for k</a:t>
            </a:r>
            <a:r>
              <a:rPr baseline="30000" lang="en-GB" sz="1100"/>
              <a:t>th</a:t>
            </a:r>
            <a:r>
              <a:rPr lang="en-GB" sz="1100"/>
              <a:t> term T(n) = T(n-k) + k</a:t>
            </a:r>
            <a:endParaRPr sz="1100"/>
          </a:p>
          <a:p>
            <a:pPr indent="0" lvl="0" marL="0" rtl="0" algn="l">
              <a:spcBef>
                <a:spcPts val="0"/>
              </a:spcBef>
              <a:spcAft>
                <a:spcPts val="0"/>
              </a:spcAft>
              <a:buNone/>
            </a:pPr>
            <a:r>
              <a:rPr lang="en-GB" sz="1100"/>
              <a:t>for base case (n-k) = 1 or n-1=k </a:t>
            </a:r>
            <a:endParaRPr sz="1100"/>
          </a:p>
          <a:p>
            <a:pPr indent="0" lvl="0" marL="0" rtl="0" algn="l">
              <a:spcBef>
                <a:spcPts val="0"/>
              </a:spcBef>
              <a:spcAft>
                <a:spcPts val="0"/>
              </a:spcAft>
              <a:buNone/>
            </a:pPr>
            <a:r>
              <a:rPr lang="en-GB" sz="1100"/>
              <a:t>T(n) = T(1) + n-1 = n</a:t>
            </a:r>
            <a:endParaRPr sz="1100"/>
          </a:p>
          <a:p>
            <a:pPr indent="0" lvl="0" marL="0" rtl="0" algn="l">
              <a:spcBef>
                <a:spcPts val="0"/>
              </a:spcBef>
              <a:spcAft>
                <a:spcPts val="0"/>
              </a:spcAft>
              <a:buNone/>
            </a:pPr>
            <a:r>
              <a:rPr b="1" lang="en-GB" sz="1100"/>
              <a:t>Time Complexity :O(n)</a:t>
            </a:r>
            <a:endParaRPr b="1"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422425" y="98699"/>
            <a:ext cx="7053600" cy="3909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Time Complexity Examples</a:t>
            </a:r>
            <a:endParaRPr b="1" sz="3100">
              <a:solidFill>
                <a:srgbClr val="FF9900"/>
              </a:solidFill>
            </a:endParaRPr>
          </a:p>
        </p:txBody>
      </p:sp>
      <p:sp>
        <p:nvSpPr>
          <p:cNvPr id="288" name="Google Shape;288;p37"/>
          <p:cNvSpPr txBox="1"/>
          <p:nvPr>
            <p:ph idx="1" type="body"/>
          </p:nvPr>
        </p:nvSpPr>
        <p:spPr>
          <a:xfrm>
            <a:off x="69925" y="489600"/>
            <a:ext cx="4382100" cy="4482900"/>
          </a:xfrm>
          <a:prstGeom prst="rect">
            <a:avLst/>
          </a:prstGeom>
          <a:ln cap="flat" cmpd="sng" w="9525">
            <a:solidFill>
              <a:srgbClr val="000000"/>
            </a:solidFill>
            <a:prstDash val="dashDot"/>
            <a:round/>
            <a:headEnd len="sm" w="sm" type="none"/>
            <a:tailEnd len="sm" w="sm" type="none"/>
          </a:ln>
        </p:spPr>
        <p:txBody>
          <a:bodyPr anchorCtr="0" anchor="t" bIns="34275" lIns="68575" spcFirstLastPara="1" rIns="68575" wrap="square" tIns="34275">
            <a:normAutofit/>
          </a:bodyPr>
          <a:lstStyle/>
          <a:p>
            <a:pPr indent="0" lvl="0" marL="0" rtl="0" algn="l">
              <a:lnSpc>
                <a:spcPct val="80000"/>
              </a:lnSpc>
              <a:spcBef>
                <a:spcPts val="0"/>
              </a:spcBef>
              <a:spcAft>
                <a:spcPts val="0"/>
              </a:spcAft>
              <a:buNone/>
            </a:pPr>
            <a:r>
              <a:rPr b="1" lang="en-GB" sz="1450"/>
              <a:t>Fibonacci number</a:t>
            </a:r>
            <a:endParaRPr b="1" sz="1450"/>
          </a:p>
          <a:p>
            <a:pPr indent="0" lvl="0" marL="0" rtl="0" algn="l">
              <a:lnSpc>
                <a:spcPct val="80000"/>
              </a:lnSpc>
              <a:spcBef>
                <a:spcPts val="0"/>
              </a:spcBef>
              <a:spcAft>
                <a:spcPts val="0"/>
              </a:spcAft>
              <a:buNone/>
            </a:pPr>
            <a:r>
              <a:rPr b="1" lang="en-GB" sz="1450"/>
              <a:t>Problem: </a:t>
            </a:r>
            <a:r>
              <a:rPr lang="en-GB" sz="1450"/>
              <a:t>Given N, find the Nth number in the Fibonacci series.</a:t>
            </a:r>
            <a:endParaRPr sz="1450"/>
          </a:p>
          <a:p>
            <a:pPr indent="0" lvl="0" marL="0" rtl="0" algn="l">
              <a:lnSpc>
                <a:spcPct val="80000"/>
              </a:lnSpc>
              <a:spcBef>
                <a:spcPts val="0"/>
              </a:spcBef>
              <a:spcAft>
                <a:spcPts val="0"/>
              </a:spcAft>
              <a:buNone/>
            </a:pPr>
            <a:r>
              <a:rPr b="1" lang="en-GB" sz="1450"/>
              <a:t>Solution: </a:t>
            </a:r>
            <a:r>
              <a:rPr lang="en-GB" sz="1450"/>
              <a:t>Fibonacci numbers are calculated by adding the sum of the previous two numbers.</a:t>
            </a:r>
            <a:endParaRPr sz="1450"/>
          </a:p>
          <a:p>
            <a:pPr indent="0" lvl="0" marL="0" rtl="0" algn="l">
              <a:lnSpc>
                <a:spcPct val="80000"/>
              </a:lnSpc>
              <a:spcBef>
                <a:spcPts val="0"/>
              </a:spcBef>
              <a:spcAft>
                <a:spcPts val="0"/>
              </a:spcAft>
              <a:buNone/>
            </a:pPr>
            <a:r>
              <a:rPr b="1" lang="en-GB" sz="1450"/>
              <a:t> Example 1.10:</a:t>
            </a:r>
            <a:endParaRPr b="1" sz="1450"/>
          </a:p>
          <a:p>
            <a:pPr indent="0" lvl="0" marL="0" rtl="0" algn="l">
              <a:lnSpc>
                <a:spcPct val="80000"/>
              </a:lnSpc>
              <a:spcBef>
                <a:spcPts val="0"/>
              </a:spcBef>
              <a:spcAft>
                <a:spcPts val="0"/>
              </a:spcAft>
              <a:buNone/>
            </a:pPr>
            <a:r>
              <a:t/>
            </a:r>
            <a:endParaRPr b="1" sz="1450"/>
          </a:p>
          <a:p>
            <a:pPr indent="0" lvl="0" marL="0" rtl="0" algn="l">
              <a:lnSpc>
                <a:spcPct val="80000"/>
              </a:lnSpc>
              <a:spcBef>
                <a:spcPts val="0"/>
              </a:spcBef>
              <a:spcAft>
                <a:spcPts val="0"/>
              </a:spcAft>
              <a:buNone/>
            </a:pPr>
            <a:r>
              <a:rPr b="1" lang="en-GB" sz="1450"/>
              <a:t>int fibonacci(int n) </a:t>
            </a:r>
            <a:r>
              <a:rPr lang="en-GB" sz="1450"/>
              <a:t>{</a:t>
            </a:r>
            <a:endParaRPr sz="1450"/>
          </a:p>
          <a:p>
            <a:pPr indent="0" lvl="0" marL="0" rtl="0" algn="l">
              <a:lnSpc>
                <a:spcPct val="80000"/>
              </a:lnSpc>
              <a:spcBef>
                <a:spcPts val="0"/>
              </a:spcBef>
              <a:spcAft>
                <a:spcPts val="0"/>
              </a:spcAft>
              <a:buNone/>
            </a:pPr>
            <a:r>
              <a:rPr lang="en-GB" sz="1450"/>
              <a:t>if (n &lt; 2) {</a:t>
            </a:r>
            <a:endParaRPr sz="1450"/>
          </a:p>
          <a:p>
            <a:pPr indent="0" lvl="0" marL="0" rtl="0" algn="l">
              <a:lnSpc>
                <a:spcPct val="80000"/>
              </a:lnSpc>
              <a:spcBef>
                <a:spcPts val="0"/>
              </a:spcBef>
              <a:spcAft>
                <a:spcPts val="0"/>
              </a:spcAft>
              <a:buNone/>
            </a:pPr>
            <a:r>
              <a:rPr lang="en-GB" sz="1450"/>
              <a:t>return n;</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lang="en-GB" sz="1450"/>
              <a:t>return fibonacci(n-1) + fibonacci(n - 2);</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lang="en-GB" sz="1450"/>
              <a:t>int main() {</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lang="en-GB" sz="1450"/>
              <a:t>std::cout &lt;&lt; fibonacci (10) &lt;&lt; std::endl; </a:t>
            </a:r>
            <a:endParaRPr sz="1450"/>
          </a:p>
          <a:p>
            <a:pPr indent="0" lvl="0" marL="0" rtl="0" algn="l">
              <a:lnSpc>
                <a:spcPct val="80000"/>
              </a:lnSpc>
              <a:spcBef>
                <a:spcPts val="0"/>
              </a:spcBef>
              <a:spcAft>
                <a:spcPts val="0"/>
              </a:spcAft>
              <a:buNone/>
            </a:pPr>
            <a:r>
              <a:rPr lang="en-GB" sz="1450"/>
              <a:t>return 0;</a:t>
            </a:r>
            <a:endParaRPr sz="1450"/>
          </a:p>
          <a:p>
            <a:pPr indent="0" lvl="0" marL="0" rtl="0" algn="l">
              <a:lnSpc>
                <a:spcPct val="80000"/>
              </a:lnSpc>
              <a:spcBef>
                <a:spcPts val="0"/>
              </a:spcBef>
              <a:spcAft>
                <a:spcPts val="0"/>
              </a:spcAft>
              <a:buNone/>
            </a:pPr>
            <a:r>
              <a:rPr lang="en-GB" sz="1450"/>
              <a:t>}</a:t>
            </a:r>
            <a:endParaRPr sz="1450"/>
          </a:p>
          <a:p>
            <a:pPr indent="0" lvl="0" marL="0" rtl="0" algn="l">
              <a:lnSpc>
                <a:spcPct val="80000"/>
              </a:lnSpc>
              <a:spcBef>
                <a:spcPts val="0"/>
              </a:spcBef>
              <a:spcAft>
                <a:spcPts val="0"/>
              </a:spcAft>
              <a:buNone/>
            </a:pPr>
            <a:r>
              <a:rPr b="1" lang="en-GB" sz="1450"/>
              <a:t>Output:</a:t>
            </a:r>
            <a:endParaRPr b="1" sz="1450"/>
          </a:p>
          <a:p>
            <a:pPr indent="0" lvl="0" marL="0" rtl="0" algn="l">
              <a:lnSpc>
                <a:spcPct val="80000"/>
              </a:lnSpc>
              <a:spcBef>
                <a:spcPts val="0"/>
              </a:spcBef>
              <a:spcAft>
                <a:spcPts val="0"/>
              </a:spcAft>
              <a:buNone/>
            </a:pPr>
            <a:r>
              <a:rPr b="1" lang="en-GB" sz="1450"/>
              <a:t>55</a:t>
            </a:r>
            <a:endParaRPr b="1" sz="1450"/>
          </a:p>
          <a:p>
            <a:pPr indent="0" lvl="0" marL="0" rtl="0" algn="l">
              <a:lnSpc>
                <a:spcPct val="115000"/>
              </a:lnSpc>
              <a:spcBef>
                <a:spcPts val="0"/>
              </a:spcBef>
              <a:spcAft>
                <a:spcPts val="0"/>
              </a:spcAft>
              <a:buNone/>
            </a:pPr>
            <a:r>
              <a:t/>
            </a:r>
            <a:endParaRPr sz="1450"/>
          </a:p>
        </p:txBody>
      </p:sp>
      <p:sp>
        <p:nvSpPr>
          <p:cNvPr id="289" name="Google Shape;289;p37"/>
          <p:cNvSpPr txBox="1"/>
          <p:nvPr/>
        </p:nvSpPr>
        <p:spPr>
          <a:xfrm>
            <a:off x="4452025" y="1622925"/>
            <a:ext cx="4584000" cy="2461200"/>
          </a:xfrm>
          <a:prstGeom prst="rect">
            <a:avLst/>
          </a:prstGeom>
          <a:no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450">
                <a:solidFill>
                  <a:schemeClr val="dk2"/>
                </a:solidFill>
                <a:latin typeface="Calibri"/>
                <a:ea typeface="Calibri"/>
                <a:cs typeface="Calibri"/>
                <a:sym typeface="Calibri"/>
              </a:rPr>
              <a:t>Analysis:</a:t>
            </a:r>
            <a:r>
              <a:rPr lang="en-GB" sz="1450">
                <a:solidFill>
                  <a:schemeClr val="dk2"/>
                </a:solidFill>
                <a:latin typeface="Calibri"/>
                <a:ea typeface="Calibri"/>
                <a:cs typeface="Calibri"/>
                <a:sym typeface="Calibri"/>
              </a:rPr>
              <a:t> Recurrence Relation: T(n) = 1 + T(n-1) + T(n-2)</a:t>
            </a:r>
            <a:endParaRPr sz="145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lang="en-GB" sz="1450">
                <a:solidFill>
                  <a:schemeClr val="dk2"/>
                </a:solidFill>
                <a:latin typeface="Calibri"/>
                <a:ea typeface="Calibri"/>
                <a:cs typeface="Calibri"/>
                <a:sym typeface="Calibri"/>
              </a:rPr>
              <a:t>T(n) = 1 + 2T(n-1) // Approximately</a:t>
            </a:r>
            <a:endParaRPr sz="145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lang="en-GB" sz="1450">
                <a:solidFill>
                  <a:schemeClr val="dk2"/>
                </a:solidFill>
                <a:latin typeface="Calibri"/>
                <a:ea typeface="Calibri"/>
                <a:cs typeface="Calibri"/>
                <a:sym typeface="Calibri"/>
              </a:rPr>
              <a:t>T(n) = 1 + 2T(n-1)</a:t>
            </a:r>
            <a:endParaRPr sz="145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lang="en-GB" sz="1450">
                <a:solidFill>
                  <a:schemeClr val="dk2"/>
                </a:solidFill>
                <a:latin typeface="Calibri"/>
                <a:ea typeface="Calibri"/>
                <a:cs typeface="Calibri"/>
                <a:sym typeface="Calibri"/>
              </a:rPr>
              <a:t>T(n-1) = 1 + 2T(n-2)</a:t>
            </a:r>
            <a:endParaRPr sz="145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lang="en-GB" sz="1450">
                <a:solidFill>
                  <a:schemeClr val="dk2"/>
                </a:solidFill>
                <a:latin typeface="Calibri"/>
                <a:ea typeface="Calibri"/>
                <a:cs typeface="Calibri"/>
                <a:sym typeface="Calibri"/>
              </a:rPr>
              <a:t>T(n-2) = 1 + 2T(n-3)</a:t>
            </a:r>
            <a:endParaRPr sz="145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lang="en-GB" sz="1450">
                <a:solidFill>
                  <a:schemeClr val="dk2"/>
                </a:solidFill>
                <a:latin typeface="Calibri"/>
                <a:ea typeface="Calibri"/>
                <a:cs typeface="Calibri"/>
                <a:sym typeface="Calibri"/>
              </a:rPr>
              <a:t>T(n) = 1 + 2(1+2T(n-2)) = 1 + 2 + 4T(n-2) = 1 +2 +4 (1 + 2(T(n-3)) = 1+ 2+ 2²+ 2³T(n-3)</a:t>
            </a:r>
            <a:endParaRPr sz="145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lang="en-GB" sz="1450">
                <a:solidFill>
                  <a:schemeClr val="dk2"/>
                </a:solidFill>
                <a:latin typeface="Calibri"/>
                <a:ea typeface="Calibri"/>
                <a:cs typeface="Calibri"/>
                <a:sym typeface="Calibri"/>
              </a:rPr>
              <a:t>= 1+ 2+2².... + 2</a:t>
            </a:r>
            <a:r>
              <a:rPr baseline="30000" lang="en-GB" sz="1450">
                <a:solidFill>
                  <a:schemeClr val="dk2"/>
                </a:solidFill>
                <a:latin typeface="Calibri"/>
                <a:ea typeface="Calibri"/>
                <a:cs typeface="Calibri"/>
                <a:sym typeface="Calibri"/>
              </a:rPr>
              <a:t>n</a:t>
            </a:r>
            <a:r>
              <a:rPr lang="en-GB" sz="1450">
                <a:solidFill>
                  <a:schemeClr val="dk2"/>
                </a:solidFill>
                <a:latin typeface="Calibri"/>
                <a:ea typeface="Calibri"/>
                <a:cs typeface="Calibri"/>
                <a:sym typeface="Calibri"/>
              </a:rPr>
              <a:t>T(0) = 1(2</a:t>
            </a:r>
            <a:r>
              <a:rPr baseline="30000" lang="en-GB" sz="1450">
                <a:solidFill>
                  <a:schemeClr val="dk2"/>
                </a:solidFill>
                <a:latin typeface="Calibri"/>
                <a:ea typeface="Calibri"/>
                <a:cs typeface="Calibri"/>
                <a:sym typeface="Calibri"/>
              </a:rPr>
              <a:t>n+1</a:t>
            </a:r>
            <a:r>
              <a:rPr lang="en-GB" sz="1450">
                <a:solidFill>
                  <a:schemeClr val="dk2"/>
                </a:solidFill>
                <a:latin typeface="Calibri"/>
                <a:ea typeface="Calibri"/>
                <a:cs typeface="Calibri"/>
                <a:sym typeface="Calibri"/>
              </a:rPr>
              <a:t>-1)/2-1 = 2</a:t>
            </a:r>
            <a:r>
              <a:rPr baseline="30000" lang="en-GB" sz="1450">
                <a:solidFill>
                  <a:schemeClr val="dk2"/>
                </a:solidFill>
                <a:latin typeface="Calibri"/>
                <a:ea typeface="Calibri"/>
                <a:cs typeface="Calibri"/>
                <a:sym typeface="Calibri"/>
              </a:rPr>
              <a:t>n+1</a:t>
            </a:r>
            <a:r>
              <a:rPr lang="en-GB" sz="1450">
                <a:solidFill>
                  <a:schemeClr val="dk2"/>
                </a:solidFill>
                <a:latin typeface="Calibri"/>
                <a:ea typeface="Calibri"/>
                <a:cs typeface="Calibri"/>
                <a:sym typeface="Calibri"/>
              </a:rPr>
              <a:t> -1 </a:t>
            </a:r>
            <a:endParaRPr sz="1450">
              <a:solidFill>
                <a:schemeClr val="dk2"/>
              </a:solidFill>
              <a:latin typeface="Calibri"/>
              <a:ea typeface="Calibri"/>
              <a:cs typeface="Calibri"/>
              <a:sym typeface="Calibri"/>
            </a:endParaRPr>
          </a:p>
          <a:p>
            <a:pPr indent="0" lvl="0" marL="0" rtl="0" algn="l">
              <a:lnSpc>
                <a:spcPct val="115000"/>
              </a:lnSpc>
              <a:spcBef>
                <a:spcPts val="0"/>
              </a:spcBef>
              <a:spcAft>
                <a:spcPts val="0"/>
              </a:spcAft>
              <a:buNone/>
            </a:pPr>
            <a:r>
              <a:rPr lang="en-GB" sz="1450">
                <a:solidFill>
                  <a:schemeClr val="dk2"/>
                </a:solidFill>
                <a:latin typeface="Calibri"/>
                <a:ea typeface="Calibri"/>
                <a:cs typeface="Calibri"/>
                <a:sym typeface="Calibri"/>
              </a:rPr>
              <a:t>Time complexity is O(2^n), ignoring the constants.</a:t>
            </a:r>
            <a:endParaRPr b="1"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Time Complexity Examples</a:t>
            </a:r>
            <a:endParaRPr b="1" sz="3100">
              <a:solidFill>
                <a:srgbClr val="FF9900"/>
              </a:solidFill>
            </a:endParaRPr>
          </a:p>
          <a:p>
            <a:pPr indent="0" lvl="0" marL="0" rtl="0" algn="l">
              <a:spcBef>
                <a:spcPts val="0"/>
              </a:spcBef>
              <a:spcAft>
                <a:spcPts val="0"/>
              </a:spcAft>
              <a:buNone/>
            </a:pPr>
            <a:r>
              <a:t/>
            </a:r>
            <a:endParaRPr/>
          </a:p>
        </p:txBody>
      </p:sp>
      <p:sp>
        <p:nvSpPr>
          <p:cNvPr id="295" name="Google Shape;295;p38"/>
          <p:cNvSpPr txBox="1"/>
          <p:nvPr>
            <p:ph idx="1" type="body"/>
          </p:nvPr>
        </p:nvSpPr>
        <p:spPr>
          <a:xfrm>
            <a:off x="812650" y="973350"/>
            <a:ext cx="7641300" cy="4328100"/>
          </a:xfrm>
          <a:prstGeom prst="rect">
            <a:avLst/>
          </a:prstGeom>
        </p:spPr>
        <p:txBody>
          <a:bodyPr anchorCtr="0" anchor="t" bIns="34275" lIns="68575" spcFirstLastPara="1" rIns="68575" wrap="square" tIns="34275">
            <a:noAutofit/>
          </a:bodyPr>
          <a:lstStyle/>
          <a:p>
            <a:pPr indent="0" lvl="0" marL="0" marR="38100" rtl="0" algn="l">
              <a:lnSpc>
                <a:spcPct val="128571"/>
              </a:lnSpc>
              <a:spcBef>
                <a:spcPts val="0"/>
              </a:spcBef>
              <a:spcAft>
                <a:spcPts val="0"/>
              </a:spcAft>
              <a:buNone/>
            </a:pPr>
            <a:r>
              <a:rPr b="1" lang="en-GB" sz="1400">
                <a:solidFill>
                  <a:srgbClr val="202124"/>
                </a:solidFill>
                <a:highlight>
                  <a:srgbClr val="F8F9FA"/>
                </a:highlight>
                <a:latin typeface="Arial"/>
                <a:ea typeface="Arial"/>
                <a:cs typeface="Arial"/>
                <a:sym typeface="Arial"/>
              </a:rPr>
              <a:t>Problem: n</a:t>
            </a:r>
            <a:r>
              <a:rPr b="1" lang="en-GB" sz="1200">
                <a:solidFill>
                  <a:srgbClr val="271A38"/>
                </a:solidFill>
                <a:highlight>
                  <a:srgbClr val="FFFFFF"/>
                </a:highlight>
                <a:latin typeface="Arial"/>
                <a:ea typeface="Arial"/>
                <a:cs typeface="Arial"/>
                <a:sym typeface="Arial"/>
              </a:rPr>
              <a:t>-</a:t>
            </a:r>
            <a:r>
              <a:rPr b="1" lang="en-GB" sz="1400">
                <a:solidFill>
                  <a:srgbClr val="271A38"/>
                </a:solidFill>
                <a:highlight>
                  <a:srgbClr val="FFFFFF"/>
                </a:highlight>
                <a:latin typeface="Arial"/>
                <a:ea typeface="Arial"/>
                <a:cs typeface="Arial"/>
                <a:sym typeface="Arial"/>
              </a:rPr>
              <a:t>digit cast iron padlock</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FOR i</a:t>
            </a:r>
            <a:r>
              <a:rPr b="1" lang="en-GB" sz="1400">
                <a:solidFill>
                  <a:srgbClr val="000000"/>
                </a:solidFill>
                <a:latin typeface="Bookman Old Style"/>
                <a:ea typeface="Bookman Old Style"/>
                <a:cs typeface="Bookman Old Style"/>
                <a:sym typeface="Bookman Old Style"/>
              </a:rPr>
              <a:t>←</a:t>
            </a:r>
            <a:r>
              <a:rPr lang="en-GB" sz="1400">
                <a:solidFill>
                  <a:srgbClr val="202124"/>
                </a:solidFill>
                <a:highlight>
                  <a:srgbClr val="F8F9FA"/>
                </a:highlight>
                <a:latin typeface="Arial"/>
                <a:ea typeface="Arial"/>
                <a:cs typeface="Arial"/>
                <a:sym typeface="Arial"/>
              </a:rPr>
              <a:t>0 To 10</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FOR j</a:t>
            </a:r>
            <a:r>
              <a:rPr b="1" lang="en-GB" sz="1400">
                <a:solidFill>
                  <a:srgbClr val="000000"/>
                </a:solidFill>
                <a:latin typeface="Bookman Old Style"/>
                <a:ea typeface="Bookman Old Style"/>
                <a:cs typeface="Bookman Old Style"/>
                <a:sym typeface="Bookman Old Style"/>
              </a:rPr>
              <a:t>←</a:t>
            </a:r>
            <a:r>
              <a:rPr lang="en-GB" sz="1400">
                <a:solidFill>
                  <a:srgbClr val="202124"/>
                </a:solidFill>
                <a:highlight>
                  <a:srgbClr val="F8F9FA"/>
                </a:highlight>
                <a:latin typeface="Arial"/>
                <a:ea typeface="Arial"/>
                <a:cs typeface="Arial"/>
                <a:sym typeface="Arial"/>
              </a:rPr>
              <a:t>0 To 10</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n</a:t>
            </a:r>
            <a:r>
              <a:rPr lang="en-GB" sz="1400">
                <a:solidFill>
                  <a:srgbClr val="202124"/>
                </a:solidFill>
                <a:highlight>
                  <a:srgbClr val="F8F9FA"/>
                </a:highlight>
                <a:latin typeface="Arial"/>
                <a:ea typeface="Arial"/>
                <a:cs typeface="Arial"/>
                <a:sym typeface="Arial"/>
              </a:rPr>
              <a:t>th loop</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IF code = combination</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BREAK</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ENDFOR (n</a:t>
            </a:r>
            <a:r>
              <a:rPr lang="en-GB" sz="1400">
                <a:solidFill>
                  <a:srgbClr val="202124"/>
                </a:solidFill>
                <a:highlight>
                  <a:srgbClr val="F8F9FA"/>
                </a:highlight>
                <a:latin typeface="Arial"/>
                <a:ea typeface="Arial"/>
                <a:cs typeface="Arial"/>
                <a:sym typeface="Arial"/>
              </a:rPr>
              <a:t>th loop</a:t>
            </a:r>
            <a:r>
              <a:rPr lang="en-GB" sz="1400">
                <a:solidFill>
                  <a:srgbClr val="202124"/>
                </a:solidFill>
                <a:highlight>
                  <a:srgbClr val="F8F9FA"/>
                </a:highlight>
                <a:latin typeface="Arial"/>
                <a:ea typeface="Arial"/>
                <a:cs typeface="Arial"/>
                <a:sym typeface="Arial"/>
              </a:rPr>
              <a:t>)</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ENDFOR</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ENDFOR</a:t>
            </a:r>
            <a:endParaRPr sz="1400">
              <a:solidFill>
                <a:srgbClr val="202124"/>
              </a:solidFill>
              <a:highlight>
                <a:srgbClr val="F8F9FA"/>
              </a:highlight>
              <a:latin typeface="Arial"/>
              <a:ea typeface="Arial"/>
              <a:cs typeface="Arial"/>
              <a:sym typeface="Arial"/>
            </a:endParaRPr>
          </a:p>
          <a:p>
            <a:pPr indent="0" lvl="0" marL="0" marR="38100" rtl="0" algn="l">
              <a:lnSpc>
                <a:spcPct val="128571"/>
              </a:lnSpc>
              <a:spcBef>
                <a:spcPts val="0"/>
              </a:spcBef>
              <a:spcAft>
                <a:spcPts val="0"/>
              </a:spcAft>
              <a:buNone/>
            </a:pPr>
            <a:r>
              <a:rPr lang="en-GB" sz="1400">
                <a:solidFill>
                  <a:srgbClr val="202124"/>
                </a:solidFill>
                <a:highlight>
                  <a:srgbClr val="F8F9FA"/>
                </a:highlight>
                <a:latin typeface="Arial"/>
                <a:ea typeface="Arial"/>
                <a:cs typeface="Arial"/>
                <a:sym typeface="Arial"/>
              </a:rPr>
              <a:t>     </a:t>
            </a:r>
            <a:endParaRPr sz="1400">
              <a:solidFill>
                <a:srgbClr val="202124"/>
              </a:solidFill>
              <a:highlight>
                <a:srgbClr val="F8F9FA"/>
              </a:highlight>
              <a:latin typeface="Arial"/>
              <a:ea typeface="Arial"/>
              <a:cs typeface="Arial"/>
              <a:sym typeface="Arial"/>
            </a:endParaRPr>
          </a:p>
          <a:p>
            <a:pPr indent="0" lvl="0" marL="0" rtl="0" algn="l">
              <a:spcBef>
                <a:spcPts val="800"/>
              </a:spcBef>
              <a:spcAft>
                <a:spcPts val="0"/>
              </a:spcAft>
              <a:buNone/>
            </a:pPr>
            <a:r>
              <a:t/>
            </a:r>
            <a:endParaRPr sz="1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300">
                <a:solidFill>
                  <a:srgbClr val="FF9900"/>
                </a:solidFill>
                <a:latin typeface="Calibri"/>
                <a:ea typeface="Calibri"/>
                <a:cs typeface="Calibri"/>
                <a:sym typeface="Calibri"/>
              </a:rPr>
              <a:t>Time Complexity Examples</a:t>
            </a:r>
            <a:endParaRPr b="1" sz="3100">
              <a:solidFill>
                <a:srgbClr val="FF9900"/>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1" name="Google Shape;301;p39"/>
          <p:cNvSpPr txBox="1"/>
          <p:nvPr>
            <p:ph idx="1" type="body"/>
          </p:nvPr>
        </p:nvSpPr>
        <p:spPr>
          <a:xfrm>
            <a:off x="827475" y="988175"/>
            <a:ext cx="8160000" cy="3698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1800">
                <a:solidFill>
                  <a:srgbClr val="271A38"/>
                </a:solidFill>
                <a:highlight>
                  <a:srgbClr val="FFFFFF"/>
                </a:highlight>
                <a:latin typeface="Arial"/>
                <a:ea typeface="Arial"/>
                <a:cs typeface="Arial"/>
                <a:sym typeface="Arial"/>
              </a:rPr>
              <a:t>In this algorithm if n is  3, we’ll have 3 loops going from 0 to 9, therefore 10 x 10 x 10 iterations, or  </a:t>
            </a:r>
            <a:r>
              <a:rPr b="1" lang="en-GB" sz="1800">
                <a:solidFill>
                  <a:srgbClr val="271A38"/>
                </a:solidFill>
                <a:highlight>
                  <a:srgbClr val="FFFFFF"/>
                </a:highlight>
                <a:latin typeface="Arial"/>
                <a:ea typeface="Arial"/>
                <a:cs typeface="Arial"/>
                <a:sym typeface="Arial"/>
              </a:rPr>
              <a:t>10^ 3 </a:t>
            </a:r>
            <a:r>
              <a:rPr lang="en-GB" sz="1800">
                <a:solidFill>
                  <a:srgbClr val="271A38"/>
                </a:solidFill>
                <a:highlight>
                  <a:srgbClr val="FFFFFF"/>
                </a:highlight>
                <a:latin typeface="Arial"/>
                <a:ea typeface="Arial"/>
                <a:cs typeface="Arial"/>
                <a:sym typeface="Arial"/>
              </a:rPr>
              <a:t> </a:t>
            </a:r>
            <a:r>
              <a:rPr b="1" lang="en-GB" sz="1800">
                <a:solidFill>
                  <a:srgbClr val="271A38"/>
                </a:solidFill>
                <a:highlight>
                  <a:srgbClr val="FFFFFF"/>
                </a:highlight>
                <a:latin typeface="Arial"/>
                <a:ea typeface="Arial"/>
                <a:cs typeface="Arial"/>
                <a:sym typeface="Arial"/>
              </a:rPr>
              <a:t>iterations</a:t>
            </a:r>
            <a:r>
              <a:rPr lang="en-GB" sz="1800">
                <a:solidFill>
                  <a:srgbClr val="271A38"/>
                </a:solidFill>
                <a:highlight>
                  <a:srgbClr val="FFFFFF"/>
                </a:highlight>
                <a:latin typeface="Arial"/>
                <a:ea typeface="Arial"/>
                <a:cs typeface="Arial"/>
                <a:sym typeface="Arial"/>
              </a:rPr>
              <a:t>, for n=4, </a:t>
            </a:r>
            <a:r>
              <a:rPr lang="en-GB" sz="1800">
                <a:solidFill>
                  <a:srgbClr val="271A38"/>
                </a:solidFill>
                <a:highlight>
                  <a:srgbClr val="FFFFFF"/>
                </a:highlight>
                <a:latin typeface="Arial"/>
                <a:ea typeface="Arial"/>
                <a:cs typeface="Arial"/>
                <a:sym typeface="Arial"/>
              </a:rPr>
              <a:t>we’ll have 4 loops going from 0 to 9, therefore 10 x 10 x 10x10 iterations, or  </a:t>
            </a:r>
            <a:r>
              <a:rPr b="1" lang="en-GB" sz="1800">
                <a:solidFill>
                  <a:srgbClr val="271A38"/>
                </a:solidFill>
                <a:highlight>
                  <a:srgbClr val="FFFFFF"/>
                </a:highlight>
                <a:latin typeface="Arial"/>
                <a:ea typeface="Arial"/>
                <a:cs typeface="Arial"/>
                <a:sym typeface="Arial"/>
              </a:rPr>
              <a:t>10^ 4 </a:t>
            </a:r>
            <a:r>
              <a:rPr lang="en-GB" sz="1800">
                <a:solidFill>
                  <a:srgbClr val="271A38"/>
                </a:solidFill>
                <a:highlight>
                  <a:srgbClr val="FFFFFF"/>
                </a:highlight>
                <a:latin typeface="Arial"/>
                <a:ea typeface="Arial"/>
                <a:cs typeface="Arial"/>
                <a:sym typeface="Arial"/>
              </a:rPr>
              <a:t> </a:t>
            </a:r>
            <a:r>
              <a:rPr b="1" lang="en-GB" sz="1800">
                <a:solidFill>
                  <a:srgbClr val="271A38"/>
                </a:solidFill>
                <a:highlight>
                  <a:srgbClr val="FFFFFF"/>
                </a:highlight>
                <a:latin typeface="Arial"/>
                <a:ea typeface="Arial"/>
                <a:cs typeface="Arial"/>
                <a:sym typeface="Arial"/>
              </a:rPr>
              <a:t>iterations</a:t>
            </a:r>
            <a:r>
              <a:rPr lang="en-GB" sz="1800">
                <a:solidFill>
                  <a:srgbClr val="271A38"/>
                </a:solidFill>
                <a:highlight>
                  <a:srgbClr val="FFFFFF"/>
                </a:highlight>
                <a:latin typeface="Arial"/>
                <a:ea typeface="Arial"/>
                <a:cs typeface="Arial"/>
                <a:sym typeface="Arial"/>
              </a:rPr>
              <a:t>.</a:t>
            </a:r>
            <a:endParaRPr sz="1800">
              <a:solidFill>
                <a:srgbClr val="271A38"/>
              </a:solidFill>
              <a:highlight>
                <a:srgbClr val="FFFFFF"/>
              </a:highlight>
              <a:latin typeface="Arial"/>
              <a:ea typeface="Arial"/>
              <a:cs typeface="Arial"/>
              <a:sym typeface="Arial"/>
            </a:endParaRPr>
          </a:p>
          <a:p>
            <a:pPr indent="0" lvl="0" marL="0" rtl="0" algn="l">
              <a:spcBef>
                <a:spcPts val="800"/>
              </a:spcBef>
              <a:spcAft>
                <a:spcPts val="0"/>
              </a:spcAft>
              <a:buNone/>
            </a:pPr>
            <a:r>
              <a:rPr b="1" lang="en-GB" sz="1800">
                <a:solidFill>
                  <a:srgbClr val="271A38"/>
                </a:solidFill>
                <a:highlight>
                  <a:srgbClr val="FFFFFF"/>
                </a:highlight>
                <a:latin typeface="Arial"/>
                <a:ea typeface="Arial"/>
                <a:cs typeface="Arial"/>
                <a:sym typeface="Arial"/>
              </a:rPr>
              <a:t>With Big O</a:t>
            </a:r>
            <a:r>
              <a:rPr lang="en-GB" sz="1800">
                <a:solidFill>
                  <a:srgbClr val="271A38"/>
                </a:solidFill>
                <a:highlight>
                  <a:srgbClr val="FFFFFF"/>
                </a:highlight>
                <a:latin typeface="Arial"/>
                <a:ea typeface="Arial"/>
                <a:cs typeface="Arial"/>
                <a:sym typeface="Arial"/>
              </a:rPr>
              <a:t> notation  , we will say that the time complexities of this algorithm </a:t>
            </a:r>
            <a:r>
              <a:rPr lang="en-GB" sz="1800">
                <a:solidFill>
                  <a:srgbClr val="271A38"/>
                </a:solidFill>
                <a:latin typeface="Arial"/>
                <a:ea typeface="Arial"/>
                <a:cs typeface="Arial"/>
                <a:sym typeface="Arial"/>
              </a:rPr>
              <a:t>O(10^3) and O(10^4) </a:t>
            </a:r>
            <a:r>
              <a:rPr lang="en-GB" sz="1800">
                <a:solidFill>
                  <a:srgbClr val="271A38"/>
                </a:solidFill>
                <a:latin typeface="Arial"/>
                <a:ea typeface="Arial"/>
                <a:cs typeface="Arial"/>
                <a:sym typeface="Arial"/>
              </a:rPr>
              <a:t>respectively.</a:t>
            </a:r>
            <a:endParaRPr sz="1800">
              <a:solidFill>
                <a:srgbClr val="271A38"/>
              </a:solidFill>
              <a:latin typeface="Arial"/>
              <a:ea typeface="Arial"/>
              <a:cs typeface="Arial"/>
              <a:sym typeface="Arial"/>
            </a:endParaRPr>
          </a:p>
          <a:p>
            <a:pPr indent="0" lvl="0" marL="0" rtl="0" algn="l">
              <a:spcBef>
                <a:spcPts val="800"/>
              </a:spcBef>
              <a:spcAft>
                <a:spcPts val="0"/>
              </a:spcAft>
              <a:buNone/>
            </a:pPr>
            <a:r>
              <a:rPr lang="en-GB" sz="1800">
                <a:solidFill>
                  <a:srgbClr val="271A38"/>
                </a:solidFill>
                <a:highlight>
                  <a:srgbClr val="FFFFFF"/>
                </a:highlight>
                <a:latin typeface="Arial"/>
                <a:ea typeface="Arial"/>
                <a:cs typeface="Arial"/>
                <a:sym typeface="Arial"/>
              </a:rPr>
              <a:t>We therefore see that  </a:t>
            </a:r>
            <a:r>
              <a:rPr b="1" lang="en-GB" sz="1800">
                <a:solidFill>
                  <a:srgbClr val="271A38"/>
                </a:solidFill>
                <a:highlight>
                  <a:srgbClr val="FFFFFF"/>
                </a:highlight>
                <a:latin typeface="Arial"/>
                <a:ea typeface="Arial"/>
                <a:cs typeface="Arial"/>
                <a:sym typeface="Arial"/>
              </a:rPr>
              <a:t>our safe opening algorithm depends on the number of digits in the code</a:t>
            </a:r>
            <a:r>
              <a:rPr lang="en-GB" sz="1800">
                <a:solidFill>
                  <a:srgbClr val="271A38"/>
                </a:solidFill>
                <a:highlight>
                  <a:srgbClr val="FFFFFF"/>
                </a:highlight>
                <a:latin typeface="Arial"/>
                <a:ea typeface="Arial"/>
                <a:cs typeface="Arial"/>
                <a:sym typeface="Arial"/>
              </a:rPr>
              <a:t>.</a:t>
            </a:r>
            <a:r>
              <a:rPr lang="en-GB" sz="1800">
                <a:solidFill>
                  <a:srgbClr val="271A38"/>
                </a:solidFill>
                <a:highlight>
                  <a:srgbClr val="FFFFFF"/>
                </a:highlight>
                <a:latin typeface="Arial"/>
                <a:ea typeface="Arial"/>
                <a:cs typeface="Arial"/>
                <a:sym typeface="Arial"/>
              </a:rPr>
              <a:t> </a:t>
            </a:r>
            <a:endParaRPr sz="1800">
              <a:solidFill>
                <a:srgbClr val="271A38"/>
              </a:solidFill>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lang="en-GB" sz="1800">
                <a:solidFill>
                  <a:srgbClr val="271A38"/>
                </a:solidFill>
                <a:highlight>
                  <a:srgbClr val="FFFFFF"/>
                </a:highlight>
                <a:latin typeface="Arial"/>
                <a:ea typeface="Arial"/>
                <a:cs typeface="Arial"/>
                <a:sym typeface="Arial"/>
              </a:rPr>
              <a:t>If we note   </a:t>
            </a:r>
            <a:r>
              <a:rPr lang="en-GB" sz="1800">
                <a:solidFill>
                  <a:srgbClr val="271A38"/>
                </a:solidFill>
                <a:highlight>
                  <a:srgbClr val="FFFFFF"/>
                </a:highlight>
                <a:latin typeface="Courier New"/>
                <a:ea typeface="Courier New"/>
                <a:cs typeface="Courier New"/>
                <a:sym typeface="Courier New"/>
              </a:rPr>
              <a:t>n</a:t>
            </a:r>
            <a:r>
              <a:rPr lang="en-GB" sz="1800">
                <a:solidFill>
                  <a:srgbClr val="271A38"/>
                </a:solidFill>
                <a:highlight>
                  <a:srgbClr val="FFFFFF"/>
                </a:highlight>
                <a:latin typeface="Arial"/>
                <a:ea typeface="Arial"/>
                <a:cs typeface="Arial"/>
                <a:sym typeface="Arial"/>
              </a:rPr>
              <a:t>   the number of digits of our padlock, the calculation time complexity if a function of  10^n  ; thus, using the notion  </a:t>
            </a:r>
            <a:r>
              <a:rPr b="1" lang="en-GB" sz="1800">
                <a:solidFill>
                  <a:srgbClr val="271A38"/>
                </a:solidFill>
                <a:highlight>
                  <a:srgbClr val="FFFFFF"/>
                </a:highlight>
                <a:latin typeface="Arial"/>
                <a:ea typeface="Arial"/>
                <a:cs typeface="Arial"/>
                <a:sym typeface="Arial"/>
              </a:rPr>
              <a:t>big O</a:t>
            </a:r>
            <a:r>
              <a:rPr lang="en-GB" sz="1800">
                <a:solidFill>
                  <a:srgbClr val="271A38"/>
                </a:solidFill>
                <a:highlight>
                  <a:srgbClr val="FFFFFF"/>
                </a:highlight>
                <a:latin typeface="Arial"/>
                <a:ea typeface="Arial"/>
                <a:cs typeface="Arial"/>
                <a:sym typeface="Arial"/>
              </a:rPr>
              <a:t> , we can note that the time complexity of our algorithm is  </a:t>
            </a:r>
            <a:r>
              <a:rPr b="1" lang="en-GB" sz="1800">
                <a:solidFill>
                  <a:srgbClr val="271A38"/>
                </a:solidFill>
                <a:highlight>
                  <a:srgbClr val="FFFFFF"/>
                </a:highlight>
                <a:latin typeface="Arial"/>
                <a:ea typeface="Arial"/>
                <a:cs typeface="Arial"/>
                <a:sym typeface="Arial"/>
              </a:rPr>
              <a:t>O(10^n)</a:t>
            </a:r>
            <a:r>
              <a:rPr lang="en-GB" sz="1800">
                <a:solidFill>
                  <a:srgbClr val="271A38"/>
                </a:solidFill>
                <a:highlight>
                  <a:srgbClr val="FFFFFF"/>
                </a:highlight>
                <a:latin typeface="Arial"/>
                <a:ea typeface="Arial"/>
                <a:cs typeface="Arial"/>
                <a:sym typeface="Arial"/>
              </a:rPr>
              <a:t> .</a:t>
            </a:r>
            <a:endParaRPr sz="1800">
              <a:solidFill>
                <a:srgbClr val="271A38"/>
              </a:solidFill>
              <a:highlight>
                <a:srgbClr val="FFFFFF"/>
              </a:highlight>
              <a:latin typeface="Arial"/>
              <a:ea typeface="Arial"/>
              <a:cs typeface="Arial"/>
              <a:sym typeface="Arial"/>
            </a:endParaRPr>
          </a:p>
          <a:p>
            <a:pPr indent="0" lvl="0" marL="0" rtl="0" algn="l">
              <a:lnSpc>
                <a:spcPct val="115000"/>
              </a:lnSpc>
              <a:spcBef>
                <a:spcPts val="1100"/>
              </a:spcBef>
              <a:spcAft>
                <a:spcPts val="0"/>
              </a:spcAft>
              <a:buNone/>
            </a:pPr>
            <a:r>
              <a:rPr lang="en-GB" sz="1800">
                <a:solidFill>
                  <a:srgbClr val="271A38"/>
                </a:solidFill>
                <a:highlight>
                  <a:srgbClr val="FFFFFF"/>
                </a:highlight>
                <a:latin typeface="Arial"/>
                <a:ea typeface="Arial"/>
                <a:cs typeface="Arial"/>
                <a:sym typeface="Arial"/>
              </a:rPr>
              <a:t>We then say that  </a:t>
            </a:r>
            <a:r>
              <a:rPr b="1" lang="en-GB" sz="1800">
                <a:solidFill>
                  <a:srgbClr val="271A38"/>
                </a:solidFill>
                <a:highlight>
                  <a:srgbClr val="FFFFFF"/>
                </a:highlight>
                <a:latin typeface="Arial"/>
                <a:ea typeface="Arial"/>
                <a:cs typeface="Arial"/>
                <a:sym typeface="Arial"/>
              </a:rPr>
              <a:t>the complexity is exponential and </a:t>
            </a:r>
            <a:r>
              <a:rPr lang="en-GB" sz="1800">
                <a:solidFill>
                  <a:srgbClr val="271A38"/>
                </a:solidFill>
                <a:highlight>
                  <a:srgbClr val="FFFFFF"/>
                </a:highlight>
                <a:latin typeface="Arial"/>
                <a:ea typeface="Arial"/>
                <a:cs typeface="Arial"/>
                <a:sym typeface="Arial"/>
              </a:rPr>
              <a:t>is noted </a:t>
            </a:r>
            <a:r>
              <a:rPr b="1" lang="en-GB" sz="2400">
                <a:solidFill>
                  <a:srgbClr val="000000"/>
                </a:solidFill>
                <a:latin typeface="Arial"/>
                <a:ea typeface="Arial"/>
                <a:cs typeface="Arial"/>
                <a:sym typeface="Arial"/>
              </a:rPr>
              <a:t>O(log(n))</a:t>
            </a:r>
            <a:r>
              <a:rPr b="1" lang="en-GB" sz="1800">
                <a:solidFill>
                  <a:srgbClr val="271A38"/>
                </a:solidFill>
                <a:highlight>
                  <a:srgbClr val="FFFFFF"/>
                </a:highlight>
                <a:latin typeface="Arial"/>
                <a:ea typeface="Arial"/>
                <a:cs typeface="Arial"/>
                <a:sym typeface="Arial"/>
              </a:rPr>
              <a:t>. </a:t>
            </a:r>
            <a:endParaRPr b="1" sz="1800">
              <a:solidFill>
                <a:srgbClr val="271A38"/>
              </a:solidFill>
              <a:highlight>
                <a:srgbClr val="FFFFFF"/>
              </a:highlight>
              <a:latin typeface="Arial"/>
              <a:ea typeface="Arial"/>
              <a:cs typeface="Arial"/>
              <a:sym typeface="Arial"/>
            </a:endParaRPr>
          </a:p>
          <a:p>
            <a:pPr indent="0" lvl="0" marL="0" rtl="0" algn="l">
              <a:spcBef>
                <a:spcPts val="1100"/>
              </a:spcBef>
              <a:spcAft>
                <a:spcPts val="0"/>
              </a:spcAft>
              <a:buNone/>
            </a:pPr>
            <a:r>
              <a:t/>
            </a:r>
            <a:endParaRPr sz="1800">
              <a:solidFill>
                <a:srgbClr val="271A38"/>
              </a:solidFill>
              <a:highlight>
                <a:srgbClr val="FFFFFF"/>
              </a:highlight>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type="title"/>
          </p:nvPr>
        </p:nvSpPr>
        <p:spPr>
          <a:xfrm>
            <a:off x="445725" y="176370"/>
            <a:ext cx="7053600" cy="5850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sz="2300"/>
              <a:t>Other Asymptotic Notations for Time/Space Complexity</a:t>
            </a:r>
            <a:endParaRPr sz="2300"/>
          </a:p>
        </p:txBody>
      </p:sp>
      <p:sp>
        <p:nvSpPr>
          <p:cNvPr id="307" name="Google Shape;307;p40"/>
          <p:cNvSpPr txBox="1"/>
          <p:nvPr>
            <p:ph idx="1" type="body"/>
          </p:nvPr>
        </p:nvSpPr>
        <p:spPr>
          <a:xfrm>
            <a:off x="396250" y="1002275"/>
            <a:ext cx="6402300" cy="3862800"/>
          </a:xfrm>
          <a:prstGeom prst="rect">
            <a:avLst/>
          </a:prstGeom>
        </p:spPr>
        <p:txBody>
          <a:bodyPr anchorCtr="0" anchor="t" bIns="34275" lIns="68575" spcFirstLastPara="1" rIns="68575" wrap="square" tIns="34275">
            <a:normAutofit/>
          </a:bodyPr>
          <a:lstStyle/>
          <a:p>
            <a:pPr indent="0" lvl="0" marL="0" rtl="0" algn="l">
              <a:lnSpc>
                <a:spcPct val="110000"/>
              </a:lnSpc>
              <a:spcBef>
                <a:spcPts val="2700"/>
              </a:spcBef>
              <a:spcAft>
                <a:spcPts val="0"/>
              </a:spcAft>
              <a:buNone/>
            </a:pPr>
            <a:r>
              <a:rPr b="1" lang="en-GB" sz="1800">
                <a:solidFill>
                  <a:srgbClr val="000000"/>
                </a:solidFill>
                <a:highlight>
                  <a:srgbClr val="FFFFFF"/>
                </a:highlight>
                <a:latin typeface="Arial"/>
                <a:ea typeface="Arial"/>
                <a:cs typeface="Arial"/>
                <a:sym typeface="Arial"/>
              </a:rPr>
              <a:t>Omega Notation – Ω</a:t>
            </a:r>
            <a:endParaRPr b="1" sz="1800">
              <a:solidFill>
                <a:srgbClr val="000000"/>
              </a:solidFill>
              <a:highlight>
                <a:srgbClr val="FFFFFF"/>
              </a:highlight>
              <a:latin typeface="Arial"/>
              <a:ea typeface="Arial"/>
              <a:cs typeface="Arial"/>
              <a:sym typeface="Arial"/>
            </a:endParaRPr>
          </a:p>
          <a:p>
            <a:pPr indent="0" lvl="0" marL="0" rtl="0" algn="l">
              <a:spcBef>
                <a:spcPts val="1700"/>
              </a:spcBef>
              <a:spcAft>
                <a:spcPts val="0"/>
              </a:spcAft>
              <a:buNone/>
            </a:pPr>
            <a:r>
              <a:rPr b="1" lang="en-GB" sz="1350">
                <a:solidFill>
                  <a:srgbClr val="000000"/>
                </a:solidFill>
                <a:highlight>
                  <a:srgbClr val="FFFFFF"/>
                </a:highlight>
                <a:latin typeface="Arial"/>
                <a:ea typeface="Arial"/>
                <a:cs typeface="Arial"/>
                <a:sym typeface="Arial"/>
              </a:rPr>
              <a:t>it gives the best-case scenario of an algorithm’s complexity</a:t>
            </a:r>
            <a:r>
              <a:rPr lang="en-GB" sz="1350">
                <a:solidFill>
                  <a:srgbClr val="000000"/>
                </a:solidFill>
                <a:highlight>
                  <a:srgbClr val="FFFFFF"/>
                </a:highlight>
                <a:latin typeface="Arial"/>
                <a:ea typeface="Arial"/>
                <a:cs typeface="Arial"/>
                <a:sym typeface="Arial"/>
              </a:rPr>
              <a:t>, opposite to big-O notation. We can say that: “the amount of Time/space this algorithm takes will grow no more slowly than this </a:t>
            </a:r>
            <a:r>
              <a:rPr i="1" lang="en-GB" sz="1350">
                <a:solidFill>
                  <a:srgbClr val="000000"/>
                </a:solidFill>
                <a:highlight>
                  <a:srgbClr val="FFFFFF"/>
                </a:highlight>
                <a:latin typeface="Arial"/>
                <a:ea typeface="Arial"/>
                <a:cs typeface="Arial"/>
                <a:sym typeface="Arial"/>
              </a:rPr>
              <a:t>fix), </a:t>
            </a:r>
            <a:r>
              <a:rPr lang="en-GB" sz="1350">
                <a:solidFill>
                  <a:srgbClr val="000000"/>
                </a:solidFill>
                <a:highlight>
                  <a:srgbClr val="FFFFFF"/>
                </a:highlight>
                <a:latin typeface="Arial"/>
                <a:ea typeface="Arial"/>
                <a:cs typeface="Arial"/>
                <a:sym typeface="Arial"/>
              </a:rPr>
              <a:t>but it could grow more quickly.”</a:t>
            </a:r>
            <a:endParaRPr sz="1350">
              <a:solidFill>
                <a:srgbClr val="000000"/>
              </a:solidFill>
              <a:highlight>
                <a:srgbClr val="FFFFFF"/>
              </a:highlight>
              <a:latin typeface="Arial"/>
              <a:ea typeface="Arial"/>
              <a:cs typeface="Arial"/>
              <a:sym typeface="Arial"/>
            </a:endParaRPr>
          </a:p>
          <a:p>
            <a:pPr indent="0" lvl="0" marL="0" rtl="0" algn="l">
              <a:spcBef>
                <a:spcPts val="800"/>
              </a:spcBef>
              <a:spcAft>
                <a:spcPts val="0"/>
              </a:spcAft>
              <a:buNone/>
            </a:pPr>
            <a:r>
              <a:t/>
            </a:r>
            <a:endParaRPr sz="1350">
              <a:solidFill>
                <a:srgbClr val="000000"/>
              </a:solidFill>
              <a:highlight>
                <a:srgbClr val="FFFFFF"/>
              </a:highlight>
              <a:latin typeface="Arial"/>
              <a:ea typeface="Arial"/>
              <a:cs typeface="Arial"/>
              <a:sym typeface="Arial"/>
            </a:endParaRPr>
          </a:p>
          <a:p>
            <a:pPr indent="0" lvl="0" marL="0" rtl="0" algn="l">
              <a:lnSpc>
                <a:spcPct val="110000"/>
              </a:lnSpc>
              <a:spcBef>
                <a:spcPts val="0"/>
              </a:spcBef>
              <a:spcAft>
                <a:spcPts val="0"/>
              </a:spcAft>
              <a:buNone/>
            </a:pPr>
            <a:r>
              <a:rPr b="1" lang="en-GB" sz="1800">
                <a:solidFill>
                  <a:srgbClr val="000000"/>
                </a:solidFill>
                <a:highlight>
                  <a:srgbClr val="FFFFFF"/>
                </a:highlight>
                <a:latin typeface="Arial"/>
                <a:ea typeface="Arial"/>
                <a:cs typeface="Arial"/>
                <a:sym typeface="Arial"/>
              </a:rPr>
              <a:t>Theta Notation </a:t>
            </a:r>
            <a:r>
              <a:rPr b="1" i="1" lang="en-GB" sz="1800">
                <a:solidFill>
                  <a:srgbClr val="000000"/>
                </a:solidFill>
                <a:highlight>
                  <a:srgbClr val="FFFFFF"/>
                </a:highlight>
                <a:latin typeface="Arial"/>
                <a:ea typeface="Arial"/>
                <a:cs typeface="Arial"/>
                <a:sym typeface="Arial"/>
              </a:rPr>
              <a:t>–</a:t>
            </a:r>
            <a:r>
              <a:rPr b="1" lang="en-GB" sz="1800">
                <a:solidFill>
                  <a:srgbClr val="000000"/>
                </a:solidFill>
                <a:highlight>
                  <a:srgbClr val="FFFFFF"/>
                </a:highlight>
                <a:latin typeface="Arial"/>
                <a:ea typeface="Arial"/>
                <a:cs typeface="Arial"/>
                <a:sym typeface="Arial"/>
              </a:rPr>
              <a:t> </a:t>
            </a:r>
            <a:r>
              <a:rPr b="1" i="1" lang="en-GB" sz="1800">
                <a:solidFill>
                  <a:srgbClr val="000000"/>
                </a:solidFill>
                <a:highlight>
                  <a:srgbClr val="FFFFFF"/>
                </a:highlight>
                <a:latin typeface="Arial"/>
                <a:ea typeface="Arial"/>
                <a:cs typeface="Arial"/>
                <a:sym typeface="Arial"/>
              </a:rPr>
              <a:t>θ</a:t>
            </a:r>
            <a:endParaRPr b="1" i="1" sz="1800">
              <a:solidFill>
                <a:srgbClr val="000000"/>
              </a:solidFill>
              <a:highlight>
                <a:srgbClr val="FFFFFF"/>
              </a:highlight>
              <a:latin typeface="Arial"/>
              <a:ea typeface="Arial"/>
              <a:cs typeface="Arial"/>
              <a:sym typeface="Arial"/>
            </a:endParaRPr>
          </a:p>
          <a:p>
            <a:pPr indent="0" lvl="0" marL="0" rtl="0" algn="l">
              <a:lnSpc>
                <a:spcPct val="110000"/>
              </a:lnSpc>
              <a:spcBef>
                <a:spcPts val="0"/>
              </a:spcBef>
              <a:spcAft>
                <a:spcPts val="0"/>
              </a:spcAft>
              <a:buNone/>
            </a:pPr>
            <a:r>
              <a:t/>
            </a:r>
            <a:endParaRPr b="1" i="1" sz="1800">
              <a:solidFill>
                <a:srgbClr val="000000"/>
              </a:solidFill>
              <a:highlight>
                <a:srgbClr val="FFFFFF"/>
              </a:highlight>
              <a:latin typeface="Arial"/>
              <a:ea typeface="Arial"/>
              <a:cs typeface="Arial"/>
              <a:sym typeface="Arial"/>
            </a:endParaRPr>
          </a:p>
          <a:p>
            <a:pPr indent="0" lvl="0" marL="0" rtl="0" algn="l">
              <a:lnSpc>
                <a:spcPct val="110000"/>
              </a:lnSpc>
              <a:spcBef>
                <a:spcPts val="0"/>
              </a:spcBef>
              <a:spcAft>
                <a:spcPts val="0"/>
              </a:spcAft>
              <a:buNone/>
            </a:pPr>
            <a:r>
              <a:rPr lang="en-GB" sz="1500">
                <a:solidFill>
                  <a:srgbClr val="202124"/>
                </a:solidFill>
                <a:highlight>
                  <a:srgbClr val="FFFFFF"/>
                </a:highlight>
                <a:latin typeface="Arial"/>
                <a:ea typeface="Arial"/>
                <a:cs typeface="Arial"/>
                <a:sym typeface="Arial"/>
              </a:rPr>
              <a:t>Theta notation encloses the function from above and below. Since it represents the upper and the lower bound of the running time of an algorithm, it is </a:t>
            </a:r>
            <a:r>
              <a:rPr lang="en-GB" sz="1500">
                <a:solidFill>
                  <a:srgbClr val="040C28"/>
                </a:solidFill>
                <a:latin typeface="Arial"/>
                <a:ea typeface="Arial"/>
                <a:cs typeface="Arial"/>
                <a:sym typeface="Arial"/>
              </a:rPr>
              <a:t>used for analyzing the average-case complexity of an algorithm</a:t>
            </a:r>
            <a:endParaRPr i="1" sz="1100">
              <a:solidFill>
                <a:srgbClr val="000000"/>
              </a:solidFill>
              <a:latin typeface="Arial"/>
              <a:ea typeface="Arial"/>
              <a:cs typeface="Arial"/>
              <a:sym typeface="Arial"/>
            </a:endParaRPr>
          </a:p>
          <a:p>
            <a:pPr indent="0" lvl="0" marL="0" rtl="0" algn="l">
              <a:spcBef>
                <a:spcPts val="1700"/>
              </a:spcBef>
              <a:spcAft>
                <a:spcPts val="0"/>
              </a:spcAft>
              <a:buNone/>
            </a:pPr>
            <a:r>
              <a:rPr i="1" lang="en-GB">
                <a:solidFill>
                  <a:srgbClr val="273239"/>
                </a:solidFill>
                <a:highlight>
                  <a:srgbClr val="F9F9F9"/>
                </a:highlight>
                <a:latin typeface="Nunito"/>
                <a:ea typeface="Nunito"/>
                <a:cs typeface="Nunito"/>
                <a:sym typeface="Nunito"/>
              </a:rPr>
              <a:t>Theta (Average Case) You add the running times for each possible input combination and take the average in the average case.</a:t>
            </a:r>
            <a:endParaRPr sz="1350">
              <a:solidFill>
                <a:srgbClr val="000000"/>
              </a:solidFill>
              <a:highlight>
                <a:srgbClr val="FFFFFF"/>
              </a:highlight>
              <a:latin typeface="Arial"/>
              <a:ea typeface="Arial"/>
              <a:cs typeface="Arial"/>
              <a:sym typeface="Arial"/>
            </a:endParaRPr>
          </a:p>
        </p:txBody>
      </p:sp>
      <p:pic>
        <p:nvPicPr>
          <p:cNvPr id="308" name="Google Shape;308;p40"/>
          <p:cNvPicPr preferRelativeResize="0"/>
          <p:nvPr/>
        </p:nvPicPr>
        <p:blipFill>
          <a:blip r:embed="rId3">
            <a:alphaModFix/>
          </a:blip>
          <a:stretch>
            <a:fillRect/>
          </a:stretch>
        </p:blipFill>
        <p:spPr>
          <a:xfrm>
            <a:off x="6919300" y="2967972"/>
            <a:ext cx="2141250" cy="1634500"/>
          </a:xfrm>
          <a:prstGeom prst="rect">
            <a:avLst/>
          </a:prstGeom>
          <a:noFill/>
          <a:ln>
            <a:noFill/>
          </a:ln>
        </p:spPr>
      </p:pic>
      <p:pic>
        <p:nvPicPr>
          <p:cNvPr id="309" name="Google Shape;309;p40"/>
          <p:cNvPicPr preferRelativeResize="0"/>
          <p:nvPr/>
        </p:nvPicPr>
        <p:blipFill>
          <a:blip r:embed="rId4">
            <a:alphaModFix/>
          </a:blip>
          <a:stretch>
            <a:fillRect/>
          </a:stretch>
        </p:blipFill>
        <p:spPr>
          <a:xfrm>
            <a:off x="7018047" y="779101"/>
            <a:ext cx="1943750" cy="1792646"/>
          </a:xfrm>
          <a:prstGeom prst="rect">
            <a:avLst/>
          </a:prstGeom>
          <a:noFill/>
          <a:ln>
            <a:noFill/>
          </a:ln>
        </p:spPr>
      </p:pic>
      <p:sp>
        <p:nvSpPr>
          <p:cNvPr id="310" name="Google Shape;310;p40"/>
          <p:cNvSpPr txBox="1"/>
          <p:nvPr/>
        </p:nvSpPr>
        <p:spPr>
          <a:xfrm>
            <a:off x="6886675" y="106475"/>
            <a:ext cx="2141400" cy="895800"/>
          </a:xfrm>
          <a:prstGeom prst="rect">
            <a:avLst/>
          </a:prstGeom>
          <a:solidFill>
            <a:srgbClr val="D9EAD3"/>
          </a:solid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1800"/>
              </a:spcAft>
              <a:buNone/>
            </a:pPr>
            <a:r>
              <a:rPr lang="en-GB">
                <a:solidFill>
                  <a:srgbClr val="273239"/>
                </a:solidFill>
                <a:latin typeface="Nunito"/>
                <a:ea typeface="Nunito"/>
                <a:cs typeface="Nunito"/>
                <a:sym typeface="Nunito"/>
              </a:rPr>
              <a:t>Mathematical Representation of </a:t>
            </a:r>
            <a:r>
              <a:rPr b="1" lang="en-GB">
                <a:solidFill>
                  <a:srgbClr val="273239"/>
                </a:solidFill>
                <a:latin typeface="Nunito"/>
                <a:ea typeface="Nunito"/>
                <a:cs typeface="Nunito"/>
                <a:sym typeface="Nunito"/>
              </a:rPr>
              <a:t>Omega  </a:t>
            </a:r>
            <a:r>
              <a:rPr lang="en-GB">
                <a:solidFill>
                  <a:srgbClr val="273239"/>
                </a:solidFill>
                <a:latin typeface="Nunito"/>
                <a:ea typeface="Nunito"/>
                <a:cs typeface="Nunito"/>
                <a:sym typeface="Nunito"/>
              </a:rPr>
              <a:t>and</a:t>
            </a:r>
            <a:r>
              <a:rPr b="1" lang="en-GB">
                <a:solidFill>
                  <a:srgbClr val="273239"/>
                </a:solidFill>
                <a:latin typeface="Nunito"/>
                <a:ea typeface="Nunito"/>
                <a:cs typeface="Nunito"/>
                <a:sym typeface="Nunito"/>
              </a:rPr>
              <a:t> Theta </a:t>
            </a:r>
            <a:endParaRPr b="1">
              <a:solidFill>
                <a:srgbClr val="273239"/>
              </a:solidFill>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type="title"/>
          </p:nvPr>
        </p:nvSpPr>
        <p:spPr>
          <a:xfrm>
            <a:off x="430200" y="137544"/>
            <a:ext cx="7053600" cy="4686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2.1.4 Space Complexity</a:t>
            </a:r>
            <a:endParaRPr/>
          </a:p>
        </p:txBody>
      </p:sp>
      <p:sp>
        <p:nvSpPr>
          <p:cNvPr id="316" name="Google Shape;316;p41"/>
          <p:cNvSpPr txBox="1"/>
          <p:nvPr>
            <p:ph idx="1" type="body"/>
          </p:nvPr>
        </p:nvSpPr>
        <p:spPr>
          <a:xfrm>
            <a:off x="233100" y="730350"/>
            <a:ext cx="8795100" cy="4288800"/>
          </a:xfrm>
          <a:prstGeom prst="rect">
            <a:avLst/>
          </a:prstGeom>
        </p:spPr>
        <p:txBody>
          <a:bodyPr anchorCtr="0" anchor="t" bIns="34275" lIns="68575" spcFirstLastPara="1" rIns="68575" wrap="square" tIns="34275">
            <a:normAutofit lnSpcReduction="20000"/>
          </a:bodyPr>
          <a:lstStyle/>
          <a:p>
            <a:pPr indent="0" lvl="0" marL="0" rtl="0" algn="l">
              <a:spcBef>
                <a:spcPts val="800"/>
              </a:spcBef>
              <a:spcAft>
                <a:spcPts val="0"/>
              </a:spcAft>
              <a:buNone/>
            </a:pPr>
            <a:r>
              <a:rPr lang="en-GB" sz="1350">
                <a:solidFill>
                  <a:srgbClr val="000000"/>
                </a:solidFill>
                <a:highlight>
                  <a:srgbClr val="FFFFFF"/>
                </a:highlight>
                <a:latin typeface="Arial"/>
                <a:ea typeface="Arial"/>
                <a:cs typeface="Arial"/>
                <a:sym typeface="Arial"/>
              </a:rPr>
              <a:t>Space complexity refers to the total amount of memory space used by an algorithm/program, including the space of input values for execution. Calculate the space occupied by variables in an algorithm/program to determine space complexity.The best algorithm/program should have a low level of space complexity. The less space required, the faster it executes.</a:t>
            </a:r>
            <a:endParaRPr sz="1200">
              <a:solidFill>
                <a:srgbClr val="51565E"/>
              </a:solidFill>
              <a:highlight>
                <a:srgbClr val="FFFFFF"/>
              </a:highlight>
              <a:latin typeface="Roboto"/>
              <a:ea typeface="Roboto"/>
              <a:cs typeface="Roboto"/>
              <a:sym typeface="Roboto"/>
            </a:endParaRPr>
          </a:p>
          <a:p>
            <a:pPr indent="0" lvl="0" marL="0" rtl="0" algn="l">
              <a:spcBef>
                <a:spcPts val="800"/>
              </a:spcBef>
              <a:spcAft>
                <a:spcPts val="0"/>
              </a:spcAft>
              <a:buNone/>
            </a:pPr>
            <a:r>
              <a:rPr b="1" lang="en-GB" sz="1632">
                <a:solidFill>
                  <a:srgbClr val="51565E"/>
                </a:solidFill>
                <a:highlight>
                  <a:srgbClr val="FFFFFF"/>
                </a:highlight>
                <a:latin typeface="Roboto"/>
                <a:ea typeface="Roboto"/>
                <a:cs typeface="Roboto"/>
                <a:sym typeface="Roboto"/>
              </a:rPr>
              <a:t>Notation</a:t>
            </a:r>
            <a:endParaRPr b="1" sz="1632">
              <a:solidFill>
                <a:srgbClr val="51565E"/>
              </a:solidFill>
              <a:highlight>
                <a:srgbClr val="FFFFFF"/>
              </a:highlight>
              <a:latin typeface="Roboto"/>
              <a:ea typeface="Roboto"/>
              <a:cs typeface="Roboto"/>
              <a:sym typeface="Roboto"/>
            </a:endParaRPr>
          </a:p>
          <a:p>
            <a:pPr indent="0" lvl="0" marL="0" rtl="0" algn="l">
              <a:lnSpc>
                <a:spcPct val="133400"/>
              </a:lnSpc>
              <a:spcBef>
                <a:spcPts val="0"/>
              </a:spcBef>
              <a:spcAft>
                <a:spcPts val="0"/>
              </a:spcAft>
              <a:buNone/>
            </a:pPr>
            <a:r>
              <a:rPr lang="en-GB" sz="1350">
                <a:solidFill>
                  <a:srgbClr val="000000"/>
                </a:solidFill>
                <a:highlight>
                  <a:srgbClr val="FFFFFF"/>
                </a:highlight>
                <a:latin typeface="Arial"/>
                <a:ea typeface="Arial"/>
                <a:cs typeface="Arial"/>
                <a:sym typeface="Arial"/>
              </a:rPr>
              <a:t>There are different notations we can use to express space complexity measurements. The most widely used is </a:t>
            </a:r>
            <a:endParaRPr sz="1350">
              <a:solidFill>
                <a:srgbClr val="000000"/>
              </a:solidFill>
              <a:highlight>
                <a:srgbClr val="FFFFFF"/>
              </a:highlight>
              <a:latin typeface="Arial"/>
              <a:ea typeface="Arial"/>
              <a:cs typeface="Arial"/>
              <a:sym typeface="Arial"/>
            </a:endParaRPr>
          </a:p>
          <a:p>
            <a:pPr indent="0" lvl="0" marL="0" rtl="0" algn="l">
              <a:lnSpc>
                <a:spcPct val="133400"/>
              </a:lnSpc>
              <a:spcBef>
                <a:spcPts val="800"/>
              </a:spcBef>
              <a:spcAft>
                <a:spcPts val="0"/>
              </a:spcAft>
              <a:buNone/>
            </a:pPr>
            <a:r>
              <a:rPr b="1" lang="en-GB" sz="1350">
                <a:solidFill>
                  <a:srgbClr val="000000"/>
                </a:solidFill>
                <a:highlight>
                  <a:srgbClr val="FFFFFF"/>
                </a:highlight>
                <a:latin typeface="Arial"/>
                <a:ea typeface="Arial"/>
                <a:cs typeface="Arial"/>
                <a:sym typeface="Arial"/>
              </a:rPr>
              <a:t>Big-O Notation </a:t>
            </a:r>
            <a:r>
              <a:rPr lang="en-GB" sz="1350">
                <a:solidFill>
                  <a:srgbClr val="000000"/>
                </a:solidFill>
                <a:highlight>
                  <a:srgbClr val="FFFFFF"/>
                </a:highlight>
                <a:latin typeface="Arial"/>
                <a:ea typeface="Arial"/>
                <a:cs typeface="Arial"/>
                <a:sym typeface="Arial"/>
              </a:rPr>
              <a:t>describes an asymptotic upper bound. It represents the algorithm’s scalability and performance.</a:t>
            </a:r>
            <a:endParaRPr sz="1350">
              <a:solidFill>
                <a:srgbClr val="000000"/>
              </a:solidFill>
              <a:highlight>
                <a:srgbClr val="FFFFFF"/>
              </a:highlight>
              <a:latin typeface="Arial"/>
              <a:ea typeface="Arial"/>
              <a:cs typeface="Arial"/>
              <a:sym typeface="Arial"/>
            </a:endParaRPr>
          </a:p>
          <a:p>
            <a:pPr indent="0" lvl="0" marL="0" rtl="0" algn="l">
              <a:lnSpc>
                <a:spcPct val="133400"/>
              </a:lnSpc>
              <a:spcBef>
                <a:spcPts val="800"/>
              </a:spcBef>
              <a:spcAft>
                <a:spcPts val="0"/>
              </a:spcAft>
              <a:buNone/>
            </a:pPr>
            <a:r>
              <a:rPr lang="en-GB" sz="1350">
                <a:solidFill>
                  <a:srgbClr val="000000"/>
                </a:solidFill>
                <a:highlight>
                  <a:srgbClr val="FFFFFF"/>
                </a:highlight>
                <a:latin typeface="Arial"/>
                <a:ea typeface="Arial"/>
                <a:cs typeface="Arial"/>
                <a:sym typeface="Arial"/>
              </a:rPr>
              <a:t> </a:t>
            </a:r>
            <a:r>
              <a:rPr b="1" lang="en-GB" sz="1350">
                <a:solidFill>
                  <a:srgbClr val="000000"/>
                </a:solidFill>
                <a:highlight>
                  <a:srgbClr val="FFFFFF"/>
                </a:highlight>
                <a:latin typeface="Arial"/>
                <a:ea typeface="Arial"/>
                <a:cs typeface="Arial"/>
                <a:sym typeface="Arial"/>
              </a:rPr>
              <a:t>It gives the worst-case scenario of an algorithm’s growth rate. </a:t>
            </a:r>
            <a:r>
              <a:rPr lang="en-GB" sz="1350">
                <a:solidFill>
                  <a:srgbClr val="000000"/>
                </a:solidFill>
                <a:highlight>
                  <a:srgbClr val="FFFFFF"/>
                </a:highlight>
                <a:latin typeface="Arial"/>
                <a:ea typeface="Arial"/>
                <a:cs typeface="Arial"/>
                <a:sym typeface="Arial"/>
              </a:rPr>
              <a:t>We can say that: “the amount of space this algorithm takes will grow no more quickly than this </a:t>
            </a:r>
            <a:r>
              <a:rPr i="1" lang="en-GB" sz="1350">
                <a:solidFill>
                  <a:srgbClr val="000000"/>
                </a:solidFill>
                <a:highlight>
                  <a:srgbClr val="FFFFFF"/>
                </a:highlight>
                <a:latin typeface="Arial"/>
                <a:ea typeface="Arial"/>
                <a:cs typeface="Arial"/>
                <a:sym typeface="Arial"/>
              </a:rPr>
              <a:t>f(x)</a:t>
            </a:r>
            <a:r>
              <a:rPr lang="en-GB" sz="1350">
                <a:solidFill>
                  <a:srgbClr val="000000"/>
                </a:solidFill>
                <a:highlight>
                  <a:srgbClr val="FFFFFF"/>
                </a:highlight>
                <a:latin typeface="Arial"/>
                <a:ea typeface="Arial"/>
                <a:cs typeface="Arial"/>
                <a:sym typeface="Arial"/>
              </a:rPr>
              <a:t>, but it could grow more slowly.”</a:t>
            </a:r>
            <a:endParaRPr sz="1350">
              <a:solidFill>
                <a:srgbClr val="000000"/>
              </a:solidFill>
              <a:highlight>
                <a:srgbClr val="FFFFFF"/>
              </a:highlight>
              <a:latin typeface="Arial"/>
              <a:ea typeface="Arial"/>
              <a:cs typeface="Arial"/>
              <a:sym typeface="Arial"/>
            </a:endParaRPr>
          </a:p>
          <a:p>
            <a:pPr indent="0" lvl="0" marL="0" rtl="0" algn="l">
              <a:lnSpc>
                <a:spcPct val="133400"/>
              </a:lnSpc>
              <a:spcBef>
                <a:spcPts val="800"/>
              </a:spcBef>
              <a:spcAft>
                <a:spcPts val="0"/>
              </a:spcAft>
              <a:buNone/>
            </a:pPr>
            <a:r>
              <a:rPr lang="en-GB" sz="1350">
                <a:solidFill>
                  <a:srgbClr val="000000"/>
                </a:solidFill>
                <a:highlight>
                  <a:srgbClr val="FFFFFF"/>
                </a:highlight>
                <a:latin typeface="Arial"/>
                <a:ea typeface="Arial"/>
                <a:cs typeface="Arial"/>
                <a:sym typeface="Arial"/>
              </a:rPr>
              <a:t>Let’s see a few examples of expressing space complexity using big-O notation, starting from slowest space growth (best) to fastest (worst):</a:t>
            </a:r>
            <a:endParaRPr sz="1350">
              <a:solidFill>
                <a:srgbClr val="000000"/>
              </a:solidFill>
              <a:highlight>
                <a:srgbClr val="FFFFFF"/>
              </a:highlight>
              <a:latin typeface="Arial"/>
              <a:ea typeface="Arial"/>
              <a:cs typeface="Arial"/>
              <a:sym typeface="Arial"/>
            </a:endParaRPr>
          </a:p>
          <a:p>
            <a:pPr indent="-228600" lvl="0" marL="457200" rtl="0" algn="l">
              <a:lnSpc>
                <a:spcPct val="115000"/>
              </a:lnSpc>
              <a:spcBef>
                <a:spcPts val="800"/>
              </a:spcBef>
              <a:spcAft>
                <a:spcPts val="0"/>
              </a:spcAft>
              <a:buClr>
                <a:srgbClr val="000000"/>
              </a:buClr>
              <a:buSzPts val="1350"/>
              <a:buFont typeface="Arial"/>
              <a:buNone/>
            </a:pPr>
            <a:r>
              <a:rPr b="1" i="1" lang="en-GB" sz="1350">
                <a:solidFill>
                  <a:srgbClr val="000000"/>
                </a:solidFill>
                <a:highlight>
                  <a:srgbClr val="FFFFFF"/>
                </a:highlight>
                <a:latin typeface="Arial"/>
                <a:ea typeface="Arial"/>
                <a:cs typeface="Arial"/>
                <a:sym typeface="Arial"/>
              </a:rPr>
              <a:t>O(1)</a:t>
            </a:r>
            <a:r>
              <a:rPr b="1" lang="en-GB" sz="1350">
                <a:solidFill>
                  <a:srgbClr val="000000"/>
                </a:solidFill>
                <a:highlight>
                  <a:srgbClr val="FFFFFF"/>
                </a:highlight>
                <a:latin typeface="Arial"/>
                <a:ea typeface="Arial"/>
                <a:cs typeface="Arial"/>
                <a:sym typeface="Arial"/>
              </a:rPr>
              <a:t> </a:t>
            </a:r>
            <a:r>
              <a:rPr lang="en-GB" sz="1350">
                <a:solidFill>
                  <a:srgbClr val="000000"/>
                </a:solidFill>
                <a:highlight>
                  <a:srgbClr val="FFFFFF"/>
                </a:highlight>
                <a:latin typeface="Arial"/>
                <a:ea typeface="Arial"/>
                <a:cs typeface="Arial"/>
                <a:sym typeface="Arial"/>
              </a:rPr>
              <a:t>– constant complexity – takes the same amount of space regardless of the input size</a:t>
            </a:r>
            <a:endParaRPr sz="1350">
              <a:solidFill>
                <a:srgbClr val="000000"/>
              </a:solidFill>
              <a:highlight>
                <a:srgbClr val="FFFFFF"/>
              </a:highlight>
              <a:latin typeface="Arial"/>
              <a:ea typeface="Arial"/>
              <a:cs typeface="Arial"/>
              <a:sym typeface="Arial"/>
            </a:endParaRPr>
          </a:p>
          <a:p>
            <a:pPr indent="-228600" lvl="0" marL="457200" rtl="0" algn="l">
              <a:lnSpc>
                <a:spcPct val="115000"/>
              </a:lnSpc>
              <a:spcBef>
                <a:spcPts val="0"/>
              </a:spcBef>
              <a:spcAft>
                <a:spcPts val="0"/>
              </a:spcAft>
              <a:buClr>
                <a:srgbClr val="000000"/>
              </a:buClr>
              <a:buSzPts val="1350"/>
              <a:buFont typeface="Arial"/>
              <a:buNone/>
            </a:pPr>
            <a:r>
              <a:rPr b="1" i="1" lang="en-GB" sz="1350">
                <a:solidFill>
                  <a:srgbClr val="000000"/>
                </a:solidFill>
                <a:highlight>
                  <a:srgbClr val="FFFFFF"/>
                </a:highlight>
                <a:latin typeface="Arial"/>
                <a:ea typeface="Arial"/>
                <a:cs typeface="Arial"/>
                <a:sym typeface="Arial"/>
              </a:rPr>
              <a:t>O(log n)</a:t>
            </a:r>
            <a:r>
              <a:rPr b="1" lang="en-GB" sz="1350">
                <a:solidFill>
                  <a:srgbClr val="000000"/>
                </a:solidFill>
                <a:highlight>
                  <a:srgbClr val="FFFFFF"/>
                </a:highlight>
                <a:latin typeface="Arial"/>
                <a:ea typeface="Arial"/>
                <a:cs typeface="Arial"/>
                <a:sym typeface="Arial"/>
              </a:rPr>
              <a:t> </a:t>
            </a:r>
            <a:r>
              <a:rPr lang="en-GB" sz="1350">
                <a:solidFill>
                  <a:srgbClr val="000000"/>
                </a:solidFill>
                <a:highlight>
                  <a:srgbClr val="FFFFFF"/>
                </a:highlight>
                <a:latin typeface="Arial"/>
                <a:ea typeface="Arial"/>
                <a:cs typeface="Arial"/>
                <a:sym typeface="Arial"/>
              </a:rPr>
              <a:t>– logarithmic complexity – takes space proportional to the </a:t>
            </a:r>
            <a:r>
              <a:rPr i="1" lang="en-GB" sz="1350">
                <a:solidFill>
                  <a:srgbClr val="000000"/>
                </a:solidFill>
                <a:highlight>
                  <a:srgbClr val="FFFFFF"/>
                </a:highlight>
                <a:latin typeface="Arial"/>
                <a:ea typeface="Arial"/>
                <a:cs typeface="Arial"/>
                <a:sym typeface="Arial"/>
              </a:rPr>
              <a:t>log</a:t>
            </a:r>
            <a:r>
              <a:rPr lang="en-GB" sz="1350">
                <a:solidFill>
                  <a:srgbClr val="000000"/>
                </a:solidFill>
                <a:highlight>
                  <a:srgbClr val="FFFFFF"/>
                </a:highlight>
                <a:latin typeface="Arial"/>
                <a:ea typeface="Arial"/>
                <a:cs typeface="Arial"/>
                <a:sym typeface="Arial"/>
              </a:rPr>
              <a:t> of the input size</a:t>
            </a:r>
            <a:endParaRPr sz="1350">
              <a:solidFill>
                <a:srgbClr val="000000"/>
              </a:solidFill>
              <a:highlight>
                <a:srgbClr val="FFFFFF"/>
              </a:highlight>
              <a:latin typeface="Arial"/>
              <a:ea typeface="Arial"/>
              <a:cs typeface="Arial"/>
              <a:sym typeface="Arial"/>
            </a:endParaRPr>
          </a:p>
          <a:p>
            <a:pPr indent="-228600" lvl="0" marL="457200" rtl="0" algn="l">
              <a:lnSpc>
                <a:spcPct val="115000"/>
              </a:lnSpc>
              <a:spcBef>
                <a:spcPts val="0"/>
              </a:spcBef>
              <a:spcAft>
                <a:spcPts val="0"/>
              </a:spcAft>
              <a:buClr>
                <a:srgbClr val="000000"/>
              </a:buClr>
              <a:buSzPts val="1350"/>
              <a:buFont typeface="Arial"/>
              <a:buNone/>
            </a:pPr>
            <a:r>
              <a:rPr b="1" i="1" lang="en-GB" sz="1350">
                <a:solidFill>
                  <a:srgbClr val="000000"/>
                </a:solidFill>
                <a:highlight>
                  <a:srgbClr val="FFFFFF"/>
                </a:highlight>
                <a:latin typeface="Arial"/>
                <a:ea typeface="Arial"/>
                <a:cs typeface="Arial"/>
                <a:sym typeface="Arial"/>
              </a:rPr>
              <a:t>O(n)</a:t>
            </a:r>
            <a:r>
              <a:rPr b="1" lang="en-GB" sz="1350">
                <a:solidFill>
                  <a:srgbClr val="000000"/>
                </a:solidFill>
                <a:highlight>
                  <a:srgbClr val="FFFFFF"/>
                </a:highlight>
                <a:latin typeface="Arial"/>
                <a:ea typeface="Arial"/>
                <a:cs typeface="Arial"/>
                <a:sym typeface="Arial"/>
              </a:rPr>
              <a:t> </a:t>
            </a:r>
            <a:r>
              <a:rPr lang="en-GB" sz="1350">
                <a:solidFill>
                  <a:srgbClr val="000000"/>
                </a:solidFill>
                <a:highlight>
                  <a:srgbClr val="FFFFFF"/>
                </a:highlight>
                <a:latin typeface="Arial"/>
                <a:ea typeface="Arial"/>
                <a:cs typeface="Arial"/>
                <a:sym typeface="Arial"/>
              </a:rPr>
              <a:t>– linear complexity – takes space directly proportional to the input size</a:t>
            </a:r>
            <a:endParaRPr sz="1350">
              <a:solidFill>
                <a:srgbClr val="000000"/>
              </a:solidFill>
              <a:highlight>
                <a:srgbClr val="FFFFFF"/>
              </a:highlight>
              <a:latin typeface="Arial"/>
              <a:ea typeface="Arial"/>
              <a:cs typeface="Arial"/>
              <a:sym typeface="Arial"/>
            </a:endParaRPr>
          </a:p>
          <a:p>
            <a:pPr indent="-228600" lvl="0" marL="457200" rtl="0" algn="l">
              <a:lnSpc>
                <a:spcPct val="115000"/>
              </a:lnSpc>
              <a:spcBef>
                <a:spcPts val="0"/>
              </a:spcBef>
              <a:spcAft>
                <a:spcPts val="0"/>
              </a:spcAft>
              <a:buClr>
                <a:srgbClr val="000000"/>
              </a:buClr>
              <a:buSzPts val="1350"/>
              <a:buFont typeface="Arial"/>
              <a:buNone/>
            </a:pPr>
            <a:r>
              <a:rPr b="1" i="1" lang="en-GB" sz="1350">
                <a:solidFill>
                  <a:srgbClr val="000000"/>
                </a:solidFill>
                <a:highlight>
                  <a:srgbClr val="FFFFFF"/>
                </a:highlight>
                <a:latin typeface="Arial"/>
                <a:ea typeface="Arial"/>
                <a:cs typeface="Arial"/>
                <a:sym typeface="Arial"/>
              </a:rPr>
              <a:t>O(n log n)</a:t>
            </a:r>
            <a:r>
              <a:rPr lang="en-GB" sz="1350">
                <a:solidFill>
                  <a:srgbClr val="000000"/>
                </a:solidFill>
                <a:highlight>
                  <a:srgbClr val="FFFFFF"/>
                </a:highlight>
                <a:latin typeface="Arial"/>
                <a:ea typeface="Arial"/>
                <a:cs typeface="Arial"/>
                <a:sym typeface="Arial"/>
              </a:rPr>
              <a:t> – log-linear/quasilinear complexity – also called “linearithmic”, its space complexity grows proportionally to the input size and a logarithmic factor</a:t>
            </a:r>
            <a:endParaRPr sz="1350">
              <a:solidFill>
                <a:srgbClr val="000000"/>
              </a:solidFill>
              <a:highlight>
                <a:srgbClr val="FFFFFF"/>
              </a:highlight>
              <a:latin typeface="Arial"/>
              <a:ea typeface="Arial"/>
              <a:cs typeface="Arial"/>
              <a:sym typeface="Arial"/>
            </a:endParaRPr>
          </a:p>
          <a:p>
            <a:pPr indent="-228600" lvl="0" marL="457200" rtl="0" algn="l">
              <a:lnSpc>
                <a:spcPct val="115000"/>
              </a:lnSpc>
              <a:spcBef>
                <a:spcPts val="0"/>
              </a:spcBef>
              <a:spcAft>
                <a:spcPts val="0"/>
              </a:spcAft>
              <a:buClr>
                <a:srgbClr val="000000"/>
              </a:buClr>
              <a:buSzPts val="1350"/>
              <a:buFont typeface="Arial"/>
              <a:buNone/>
            </a:pPr>
            <a:r>
              <a:rPr b="1" i="1" lang="en-GB" sz="1350">
                <a:solidFill>
                  <a:srgbClr val="000000"/>
                </a:solidFill>
                <a:highlight>
                  <a:srgbClr val="FFFFFF"/>
                </a:highlight>
                <a:latin typeface="Arial"/>
                <a:ea typeface="Arial"/>
                <a:cs typeface="Arial"/>
                <a:sym typeface="Arial"/>
              </a:rPr>
              <a:t>O(n^2)</a:t>
            </a:r>
            <a:r>
              <a:rPr b="1" lang="en-GB" sz="1350">
                <a:solidFill>
                  <a:srgbClr val="000000"/>
                </a:solidFill>
                <a:highlight>
                  <a:srgbClr val="FFFFFF"/>
                </a:highlight>
                <a:latin typeface="Arial"/>
                <a:ea typeface="Arial"/>
                <a:cs typeface="Arial"/>
                <a:sym typeface="Arial"/>
              </a:rPr>
              <a:t> </a:t>
            </a:r>
            <a:r>
              <a:rPr lang="en-GB" sz="1350">
                <a:solidFill>
                  <a:srgbClr val="000000"/>
                </a:solidFill>
                <a:highlight>
                  <a:srgbClr val="FFFFFF"/>
                </a:highlight>
                <a:latin typeface="Arial"/>
                <a:ea typeface="Arial"/>
                <a:cs typeface="Arial"/>
                <a:sym typeface="Arial"/>
              </a:rPr>
              <a:t>– square/polynomial complexity – space complexity grows proportionally to the square of the input size</a:t>
            </a:r>
            <a:endParaRPr sz="1350">
              <a:solidFill>
                <a:srgbClr val="000000"/>
              </a:solidFill>
              <a:highlight>
                <a:srgbClr val="FFFFFF"/>
              </a:highlight>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2"/>
          <p:cNvSpPr txBox="1"/>
          <p:nvPr>
            <p:ph type="title"/>
          </p:nvPr>
        </p:nvSpPr>
        <p:spPr>
          <a:xfrm>
            <a:off x="430200" y="137544"/>
            <a:ext cx="7053600" cy="468600"/>
          </a:xfrm>
          <a:prstGeom prst="rect">
            <a:avLst/>
          </a:prstGeom>
        </p:spPr>
        <p:txBody>
          <a:bodyPr anchorCtr="0" anchor="t" bIns="34275" lIns="68575" spcFirstLastPara="1" rIns="68575" wrap="square" tIns="34275">
            <a:noAutofit/>
          </a:bodyPr>
          <a:lstStyle/>
          <a:p>
            <a:pPr indent="-228600" lvl="0" marL="457200" rtl="0" algn="l">
              <a:lnSpc>
                <a:spcPct val="110000"/>
              </a:lnSpc>
              <a:spcBef>
                <a:spcPts val="3600"/>
              </a:spcBef>
              <a:spcAft>
                <a:spcPts val="0"/>
              </a:spcAft>
              <a:buClr>
                <a:srgbClr val="FF9900"/>
              </a:buClr>
              <a:buSzPts val="1350"/>
              <a:buFont typeface="Arial"/>
              <a:buNone/>
            </a:pPr>
            <a:r>
              <a:rPr b="1" lang="en-GB" sz="2200">
                <a:solidFill>
                  <a:srgbClr val="FF9900"/>
                </a:solidFill>
                <a:highlight>
                  <a:srgbClr val="FFFFFF"/>
                </a:highlight>
                <a:latin typeface="Arial"/>
                <a:ea typeface="Arial"/>
                <a:cs typeface="Arial"/>
                <a:sym typeface="Arial"/>
              </a:rPr>
              <a:t>Analyzing Space Complexity of Algorithms</a:t>
            </a:r>
            <a:endParaRPr>
              <a:solidFill>
                <a:srgbClr val="FF9900"/>
              </a:solidFill>
            </a:endParaRPr>
          </a:p>
        </p:txBody>
      </p:sp>
      <p:sp>
        <p:nvSpPr>
          <p:cNvPr id="322" name="Google Shape;322;p42"/>
          <p:cNvSpPr txBox="1"/>
          <p:nvPr>
            <p:ph idx="1" type="body"/>
          </p:nvPr>
        </p:nvSpPr>
        <p:spPr>
          <a:xfrm>
            <a:off x="233100" y="730350"/>
            <a:ext cx="8795100" cy="4288800"/>
          </a:xfrm>
          <a:prstGeom prst="rect">
            <a:avLst/>
          </a:prstGeom>
        </p:spPr>
        <p:txBody>
          <a:bodyPr anchorCtr="0" anchor="t" bIns="34275" lIns="68575" spcFirstLastPara="1" rIns="68575" wrap="square" tIns="34275">
            <a:noAutofit/>
          </a:bodyPr>
          <a:lstStyle/>
          <a:p>
            <a:pPr indent="0" lvl="0" marL="0" rtl="0" algn="l">
              <a:lnSpc>
                <a:spcPct val="133400"/>
              </a:lnSpc>
              <a:spcBef>
                <a:spcPts val="0"/>
              </a:spcBef>
              <a:spcAft>
                <a:spcPts val="0"/>
              </a:spcAft>
              <a:buNone/>
            </a:pPr>
            <a:r>
              <a:rPr lang="en-GB" sz="1850">
                <a:solidFill>
                  <a:srgbClr val="000000"/>
                </a:solidFill>
                <a:highlight>
                  <a:srgbClr val="FFFFFF"/>
                </a:highlight>
                <a:latin typeface="Arial"/>
                <a:ea typeface="Arial"/>
                <a:cs typeface="Arial"/>
                <a:sym typeface="Arial"/>
              </a:rPr>
              <a:t>The ability to calculate space complexity is essential in considering an algorithm’s efficiency. In this section, we’ll analyze the space complexity of a few programs of differing difficulty. We’ll measure it using big-O notation.</a:t>
            </a:r>
            <a:endParaRPr sz="1850">
              <a:solidFill>
                <a:srgbClr val="000000"/>
              </a:solidFill>
              <a:highlight>
                <a:srgbClr val="FFFFFF"/>
              </a:highlight>
              <a:latin typeface="Arial"/>
              <a:ea typeface="Arial"/>
              <a:cs typeface="Arial"/>
              <a:sym typeface="Arial"/>
            </a:endParaRPr>
          </a:p>
          <a:p>
            <a:pPr indent="0" lvl="0" marL="0" rtl="0" algn="l">
              <a:lnSpc>
                <a:spcPct val="133400"/>
              </a:lnSpc>
              <a:spcBef>
                <a:spcPts val="800"/>
              </a:spcBef>
              <a:spcAft>
                <a:spcPts val="0"/>
              </a:spcAft>
              <a:buNone/>
            </a:pPr>
            <a:r>
              <a:rPr lang="en-GB" sz="1850">
                <a:solidFill>
                  <a:srgbClr val="000000"/>
                </a:solidFill>
                <a:highlight>
                  <a:srgbClr val="FFFFFF"/>
                </a:highlight>
                <a:latin typeface="Arial"/>
                <a:ea typeface="Arial"/>
                <a:cs typeface="Arial"/>
                <a:sym typeface="Arial"/>
              </a:rPr>
              <a:t>Above all, it’s necessary to mention that </a:t>
            </a:r>
            <a:r>
              <a:rPr b="1" lang="en-GB" sz="1850">
                <a:solidFill>
                  <a:srgbClr val="000000"/>
                </a:solidFill>
                <a:highlight>
                  <a:srgbClr val="FFFFFF"/>
                </a:highlight>
                <a:latin typeface="Arial"/>
                <a:ea typeface="Arial"/>
                <a:cs typeface="Arial"/>
                <a:sym typeface="Arial"/>
              </a:rPr>
              <a:t>space complexity depends on a variety of things such as the programming language, the compiler, or even the machine running the algorithm</a:t>
            </a:r>
            <a:r>
              <a:rPr lang="en-GB" sz="1850">
                <a:solidFill>
                  <a:srgbClr val="000000"/>
                </a:solidFill>
                <a:highlight>
                  <a:srgbClr val="FFFFFF"/>
                </a:highlight>
                <a:latin typeface="Arial"/>
                <a:ea typeface="Arial"/>
                <a:cs typeface="Arial"/>
                <a:sym typeface="Arial"/>
              </a:rPr>
              <a:t>.</a:t>
            </a:r>
            <a:endParaRPr sz="1850">
              <a:solidFill>
                <a:srgbClr val="000000"/>
              </a:solidFill>
              <a:highlight>
                <a:srgbClr val="FFFFFF"/>
              </a:highlight>
              <a:latin typeface="Arial"/>
              <a:ea typeface="Arial"/>
              <a:cs typeface="Arial"/>
              <a:sym typeface="Arial"/>
            </a:endParaRPr>
          </a:p>
          <a:p>
            <a:pPr indent="0" lvl="0" marL="0" rtl="0" algn="l">
              <a:lnSpc>
                <a:spcPct val="133400"/>
              </a:lnSpc>
              <a:spcBef>
                <a:spcPts val="800"/>
              </a:spcBef>
              <a:spcAft>
                <a:spcPts val="0"/>
              </a:spcAft>
              <a:buNone/>
            </a:pPr>
            <a:r>
              <a:rPr lang="en-GB" sz="1850">
                <a:solidFill>
                  <a:srgbClr val="000000"/>
                </a:solidFill>
                <a:highlight>
                  <a:srgbClr val="FFFFFF"/>
                </a:highlight>
                <a:latin typeface="Arial"/>
                <a:ea typeface="Arial"/>
                <a:cs typeface="Arial"/>
                <a:sym typeface="Arial"/>
              </a:rPr>
              <a:t>We’ll use C++ for our examples, although, each of them could be easily applied to any technology. To apply them to other programming languages, we can simply replace the C++ data types with language-specific ones. Then in our calculations, we’d use the sizes that correspond to the language-specific data types.</a:t>
            </a:r>
            <a:endParaRPr sz="1850">
              <a:solidFill>
                <a:srgbClr val="000000"/>
              </a:solidFill>
              <a:highlight>
                <a:srgbClr val="FFFFFF"/>
              </a:highlight>
              <a:latin typeface="Arial"/>
              <a:ea typeface="Arial"/>
              <a:cs typeface="Arial"/>
              <a:sym typeface="Arial"/>
            </a:endParaRPr>
          </a:p>
          <a:p>
            <a:pPr indent="-228600" lvl="0" marL="457200" rtl="0" algn="l">
              <a:lnSpc>
                <a:spcPct val="115000"/>
              </a:lnSpc>
              <a:spcBef>
                <a:spcPts val="800"/>
              </a:spcBef>
              <a:spcAft>
                <a:spcPts val="0"/>
              </a:spcAft>
              <a:buClr>
                <a:srgbClr val="000000"/>
              </a:buClr>
              <a:buSzPts val="1850"/>
              <a:buFont typeface="Arial"/>
              <a:buNone/>
            </a:pPr>
            <a:r>
              <a:t/>
            </a:r>
            <a:endParaRPr sz="1850">
              <a:solidFill>
                <a:srgbClr val="000000"/>
              </a:solidFill>
              <a:highlight>
                <a:srgbClr val="FFFFFF"/>
              </a:highlight>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ph type="title"/>
          </p:nvPr>
        </p:nvSpPr>
        <p:spPr>
          <a:xfrm>
            <a:off x="406875" y="145294"/>
            <a:ext cx="7053600" cy="4995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GB"/>
              <a:t>Example1: Space Complexity</a:t>
            </a:r>
            <a:endParaRPr b="1"/>
          </a:p>
        </p:txBody>
      </p:sp>
      <p:sp>
        <p:nvSpPr>
          <p:cNvPr id="328" name="Google Shape;328;p43"/>
          <p:cNvSpPr txBox="1"/>
          <p:nvPr>
            <p:ph idx="1" type="body"/>
          </p:nvPr>
        </p:nvSpPr>
        <p:spPr>
          <a:xfrm>
            <a:off x="450650" y="738125"/>
            <a:ext cx="7824000" cy="4125600"/>
          </a:xfrm>
          <a:prstGeom prst="rect">
            <a:avLst/>
          </a:prstGeom>
        </p:spPr>
        <p:txBody>
          <a:bodyPr anchorCtr="0" anchor="t" bIns="34275" lIns="68575" spcFirstLastPara="1" rIns="68575" wrap="square" tIns="34275">
            <a:normAutofit/>
          </a:bodyPr>
          <a:lstStyle/>
          <a:p>
            <a:pPr indent="0" lvl="0" marL="0" rtl="0" algn="l">
              <a:lnSpc>
                <a:spcPct val="133400"/>
              </a:lnSpc>
              <a:spcBef>
                <a:spcPts val="0"/>
              </a:spcBef>
              <a:spcAft>
                <a:spcPts val="0"/>
              </a:spcAft>
              <a:buNone/>
            </a:pPr>
            <a:r>
              <a:rPr lang="en-GB" sz="1350">
                <a:solidFill>
                  <a:srgbClr val="000000"/>
                </a:solidFill>
                <a:highlight>
                  <a:srgbClr val="FFFFFF"/>
                </a:highlight>
                <a:latin typeface="Arial"/>
                <a:ea typeface="Arial"/>
                <a:cs typeface="Arial"/>
                <a:sym typeface="Arial"/>
              </a:rPr>
              <a:t>Consider the simple program that sums two integers (numbers without a fractional part):</a:t>
            </a:r>
            <a:endParaRPr sz="1350">
              <a:solidFill>
                <a:srgbClr val="000000"/>
              </a:solidFill>
              <a:highlight>
                <a:srgbClr val="FFFFFF"/>
              </a:highlight>
              <a:latin typeface="Arial"/>
              <a:ea typeface="Arial"/>
              <a:cs typeface="Arial"/>
              <a:sym typeface="Arial"/>
            </a:endParaRPr>
          </a:p>
          <a:p>
            <a:pPr indent="0" lvl="0" marL="25400" rtl="0" algn="l">
              <a:lnSpc>
                <a:spcPct val="115000"/>
              </a:lnSpc>
              <a:spcBef>
                <a:spcPts val="800"/>
              </a:spcBef>
              <a:spcAft>
                <a:spcPts val="0"/>
              </a:spcAft>
              <a:buNone/>
            </a:pPr>
            <a:r>
              <a:rPr b="1" lang="en-GB" sz="1575">
                <a:solidFill>
                  <a:srgbClr val="7F0055"/>
                </a:solidFill>
                <a:highlight>
                  <a:srgbClr val="EEEEEC"/>
                </a:highlight>
                <a:latin typeface="Courier New"/>
                <a:ea typeface="Courier New"/>
                <a:cs typeface="Courier New"/>
                <a:sym typeface="Courier New"/>
              </a:rPr>
              <a:t>int</a:t>
            </a:r>
            <a:r>
              <a:rPr lang="en-GB" sz="1575">
                <a:solidFill>
                  <a:srgbClr val="000000"/>
                </a:solidFill>
                <a:highlight>
                  <a:srgbClr val="EEEEEC"/>
                </a:highlight>
                <a:latin typeface="Courier New"/>
                <a:ea typeface="Courier New"/>
                <a:cs typeface="Courier New"/>
                <a:sym typeface="Courier New"/>
              </a:rPr>
              <a:t> addition(</a:t>
            </a:r>
            <a:r>
              <a:rPr b="1" lang="en-GB" sz="1575">
                <a:solidFill>
                  <a:srgbClr val="7F0055"/>
                </a:solidFill>
                <a:highlight>
                  <a:srgbClr val="EEEEEC"/>
                </a:highlight>
                <a:latin typeface="Courier New"/>
                <a:ea typeface="Courier New"/>
                <a:cs typeface="Courier New"/>
                <a:sym typeface="Courier New"/>
              </a:rPr>
              <a:t>int</a:t>
            </a:r>
            <a:r>
              <a:rPr lang="en-GB" sz="1575">
                <a:solidFill>
                  <a:srgbClr val="000000"/>
                </a:solidFill>
                <a:highlight>
                  <a:srgbClr val="EEEEEC"/>
                </a:highlight>
                <a:latin typeface="Courier New"/>
                <a:ea typeface="Courier New"/>
                <a:cs typeface="Courier New"/>
                <a:sym typeface="Courier New"/>
              </a:rPr>
              <a:t> </a:t>
            </a:r>
            <a:r>
              <a:rPr lang="en-GB" sz="1575">
                <a:solidFill>
                  <a:srgbClr val="6A3E3E"/>
                </a:solidFill>
                <a:highlight>
                  <a:srgbClr val="EEEEEC"/>
                </a:highlight>
                <a:latin typeface="Courier New"/>
                <a:ea typeface="Courier New"/>
                <a:cs typeface="Courier New"/>
                <a:sym typeface="Courier New"/>
              </a:rPr>
              <a:t>a</a:t>
            </a:r>
            <a:r>
              <a:rPr lang="en-GB" sz="1575">
                <a:solidFill>
                  <a:srgbClr val="000000"/>
                </a:solidFill>
                <a:highlight>
                  <a:srgbClr val="EEEEEC"/>
                </a:highlight>
                <a:latin typeface="Courier New"/>
                <a:ea typeface="Courier New"/>
                <a:cs typeface="Courier New"/>
                <a:sym typeface="Courier New"/>
              </a:rPr>
              <a:t>, </a:t>
            </a:r>
            <a:r>
              <a:rPr b="1" lang="en-GB" sz="1575">
                <a:solidFill>
                  <a:srgbClr val="7F0055"/>
                </a:solidFill>
                <a:highlight>
                  <a:srgbClr val="EEEEEC"/>
                </a:highlight>
                <a:latin typeface="Courier New"/>
                <a:ea typeface="Courier New"/>
                <a:cs typeface="Courier New"/>
                <a:sym typeface="Courier New"/>
              </a:rPr>
              <a:t>int</a:t>
            </a:r>
            <a:r>
              <a:rPr lang="en-GB" sz="1575">
                <a:solidFill>
                  <a:srgbClr val="000000"/>
                </a:solidFill>
                <a:highlight>
                  <a:srgbClr val="EEEEEC"/>
                </a:highlight>
                <a:latin typeface="Courier New"/>
                <a:ea typeface="Courier New"/>
                <a:cs typeface="Courier New"/>
                <a:sym typeface="Courier New"/>
              </a:rPr>
              <a:t> </a:t>
            </a:r>
            <a:r>
              <a:rPr lang="en-GB" sz="1575">
                <a:solidFill>
                  <a:srgbClr val="6A3E3E"/>
                </a:solidFill>
                <a:highlight>
                  <a:srgbClr val="EEEEEC"/>
                </a:highlight>
                <a:latin typeface="Courier New"/>
                <a:ea typeface="Courier New"/>
                <a:cs typeface="Courier New"/>
                <a:sym typeface="Courier New"/>
              </a:rPr>
              <a:t>b</a:t>
            </a:r>
            <a:r>
              <a:rPr lang="en-GB" sz="1575">
                <a:solidFill>
                  <a:srgbClr val="000000"/>
                </a:solidFill>
                <a:highlight>
                  <a:srgbClr val="EEEEEC"/>
                </a:highlight>
                <a:latin typeface="Courier New"/>
                <a:ea typeface="Courier New"/>
                <a:cs typeface="Courier New"/>
                <a:sym typeface="Courier New"/>
              </a:rPr>
              <a:t>) {</a:t>
            </a:r>
            <a:endParaRPr sz="1575">
              <a:solidFill>
                <a:srgbClr val="000000"/>
              </a:solidFill>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575">
                <a:solidFill>
                  <a:srgbClr val="000000"/>
                </a:solidFill>
                <a:highlight>
                  <a:srgbClr val="EEEEEC"/>
                </a:highlight>
                <a:latin typeface="Courier New"/>
                <a:ea typeface="Courier New"/>
                <a:cs typeface="Courier New"/>
                <a:sym typeface="Courier New"/>
              </a:rPr>
              <a:t>		    </a:t>
            </a:r>
            <a:r>
              <a:rPr b="1" lang="en-GB" sz="1575">
                <a:solidFill>
                  <a:srgbClr val="7F0055"/>
                </a:solidFill>
                <a:highlight>
                  <a:srgbClr val="EEEEEC"/>
                </a:highlight>
                <a:latin typeface="Courier New"/>
                <a:ea typeface="Courier New"/>
                <a:cs typeface="Courier New"/>
                <a:sym typeface="Courier New"/>
              </a:rPr>
              <a:t>return</a:t>
            </a:r>
            <a:r>
              <a:rPr lang="en-GB" sz="1575">
                <a:solidFill>
                  <a:srgbClr val="000000"/>
                </a:solidFill>
                <a:highlight>
                  <a:srgbClr val="EEEEEC"/>
                </a:highlight>
                <a:latin typeface="Courier New"/>
                <a:ea typeface="Courier New"/>
                <a:cs typeface="Courier New"/>
                <a:sym typeface="Courier New"/>
              </a:rPr>
              <a:t> </a:t>
            </a:r>
            <a:r>
              <a:rPr lang="en-GB" sz="1575">
                <a:solidFill>
                  <a:srgbClr val="6A3E3E"/>
                </a:solidFill>
                <a:highlight>
                  <a:srgbClr val="EEEEEC"/>
                </a:highlight>
                <a:latin typeface="Courier New"/>
                <a:ea typeface="Courier New"/>
                <a:cs typeface="Courier New"/>
                <a:sym typeface="Courier New"/>
              </a:rPr>
              <a:t>a</a:t>
            </a:r>
            <a:r>
              <a:rPr lang="en-GB" sz="1575">
                <a:solidFill>
                  <a:srgbClr val="000000"/>
                </a:solidFill>
                <a:highlight>
                  <a:srgbClr val="EEEEEC"/>
                </a:highlight>
                <a:latin typeface="Courier New"/>
                <a:ea typeface="Courier New"/>
                <a:cs typeface="Courier New"/>
                <a:sym typeface="Courier New"/>
              </a:rPr>
              <a:t> + </a:t>
            </a:r>
            <a:r>
              <a:rPr lang="en-GB" sz="1575">
                <a:solidFill>
                  <a:srgbClr val="6A3E3E"/>
                </a:solidFill>
                <a:highlight>
                  <a:srgbClr val="EEEEEC"/>
                </a:highlight>
                <a:latin typeface="Courier New"/>
                <a:ea typeface="Courier New"/>
                <a:cs typeface="Courier New"/>
                <a:sym typeface="Courier New"/>
              </a:rPr>
              <a:t>b</a:t>
            </a:r>
            <a:r>
              <a:rPr lang="en-GB" sz="1575">
                <a:solidFill>
                  <a:srgbClr val="000000"/>
                </a:solidFill>
                <a:highlight>
                  <a:srgbClr val="EEEEEC"/>
                </a:highlight>
                <a:latin typeface="Courier New"/>
                <a:ea typeface="Courier New"/>
                <a:cs typeface="Courier New"/>
                <a:sym typeface="Courier New"/>
              </a:rPr>
              <a:t>;</a:t>
            </a:r>
            <a:endParaRPr sz="1575">
              <a:solidFill>
                <a:srgbClr val="000000"/>
              </a:solidFill>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575">
                <a:solidFill>
                  <a:srgbClr val="000000"/>
                </a:solidFill>
                <a:highlight>
                  <a:srgbClr val="EEEEEC"/>
                </a:highlight>
                <a:latin typeface="Courier New"/>
                <a:ea typeface="Courier New"/>
                <a:cs typeface="Courier New"/>
                <a:sym typeface="Courier New"/>
              </a:rPr>
              <a:t>		}</a:t>
            </a:r>
            <a:endParaRPr sz="100">
              <a:solidFill>
                <a:srgbClr val="000000"/>
              </a:solidFill>
              <a:highlight>
                <a:srgbClr val="FAFAFA"/>
              </a:highlight>
              <a:latin typeface="Courier New"/>
              <a:ea typeface="Courier New"/>
              <a:cs typeface="Courier New"/>
              <a:sym typeface="Courier New"/>
            </a:endParaRPr>
          </a:p>
          <a:p>
            <a:pPr indent="-51206400" lvl="0" marL="0" rtl="0" algn="l">
              <a:lnSpc>
                <a:spcPct val="115000"/>
              </a:lnSpc>
              <a:spcBef>
                <a:spcPts val="0"/>
              </a:spcBef>
              <a:spcAft>
                <a:spcPts val="0"/>
              </a:spcAft>
              <a:buNone/>
            </a:pPr>
            <a:r>
              <a:rPr lang="en-GB" sz="900">
                <a:solidFill>
                  <a:srgbClr val="FFFFFF"/>
                </a:solidFill>
                <a:highlight>
                  <a:srgbClr val="6692E3"/>
                </a:highlight>
                <a:latin typeface="Courier New"/>
                <a:ea typeface="Courier New"/>
                <a:cs typeface="Courier New"/>
                <a:sym typeface="Courier New"/>
              </a:rPr>
              <a:t>Copy</a:t>
            </a:r>
            <a:endParaRPr sz="900">
              <a:solidFill>
                <a:srgbClr val="FFFFFF"/>
              </a:solidFill>
              <a:highlight>
                <a:srgbClr val="6692E3"/>
              </a:highlight>
              <a:latin typeface="Courier New"/>
              <a:ea typeface="Courier New"/>
              <a:cs typeface="Courier New"/>
              <a:sym typeface="Courier New"/>
            </a:endParaRPr>
          </a:p>
          <a:p>
            <a:pPr indent="0" lvl="0" marL="0" rtl="0" algn="l">
              <a:lnSpc>
                <a:spcPct val="133400"/>
              </a:lnSpc>
              <a:spcBef>
                <a:spcPts val="0"/>
              </a:spcBef>
              <a:spcAft>
                <a:spcPts val="0"/>
              </a:spcAft>
              <a:buNone/>
            </a:pPr>
            <a:r>
              <a:rPr lang="en-GB" sz="1350">
                <a:solidFill>
                  <a:srgbClr val="000000"/>
                </a:solidFill>
                <a:highlight>
                  <a:srgbClr val="FFFFFF"/>
                </a:highlight>
                <a:latin typeface="Arial"/>
                <a:ea typeface="Arial"/>
                <a:cs typeface="Arial"/>
                <a:sym typeface="Arial"/>
              </a:rPr>
              <a:t>In this particular method, three variables are used and allocated in memory:</a:t>
            </a:r>
            <a:endParaRPr sz="1350">
              <a:solidFill>
                <a:srgbClr val="000000"/>
              </a:solidFill>
              <a:highlight>
                <a:srgbClr val="FFFFFF"/>
              </a:highlight>
              <a:latin typeface="Arial"/>
              <a:ea typeface="Arial"/>
              <a:cs typeface="Arial"/>
              <a:sym typeface="Arial"/>
            </a:endParaRPr>
          </a:p>
          <a:p>
            <a:pPr indent="-314325" lvl="0" marL="457200" rtl="0" algn="l">
              <a:lnSpc>
                <a:spcPct val="115000"/>
              </a:lnSpc>
              <a:spcBef>
                <a:spcPts val="800"/>
              </a:spcBef>
              <a:spcAft>
                <a:spcPts val="0"/>
              </a:spcAft>
              <a:buClr>
                <a:srgbClr val="000000"/>
              </a:buClr>
              <a:buSzPts val="1350"/>
              <a:buFont typeface="Arial"/>
              <a:buChar char="●"/>
            </a:pPr>
            <a:r>
              <a:rPr lang="en-GB" sz="1350">
                <a:solidFill>
                  <a:srgbClr val="000000"/>
                </a:solidFill>
                <a:highlight>
                  <a:srgbClr val="FFFFFF"/>
                </a:highlight>
                <a:latin typeface="Arial"/>
                <a:ea typeface="Arial"/>
                <a:cs typeface="Arial"/>
                <a:sym typeface="Arial"/>
              </a:rPr>
              <a:t>the first </a:t>
            </a:r>
            <a:r>
              <a:rPr i="1" lang="en-GB" sz="1350">
                <a:solidFill>
                  <a:srgbClr val="000000"/>
                </a:solidFill>
                <a:highlight>
                  <a:srgbClr val="FFFFFF"/>
                </a:highlight>
                <a:latin typeface="Arial"/>
                <a:ea typeface="Arial"/>
                <a:cs typeface="Arial"/>
                <a:sym typeface="Arial"/>
              </a:rPr>
              <a:t>int</a:t>
            </a:r>
            <a:r>
              <a:rPr lang="en-GB" sz="1350">
                <a:solidFill>
                  <a:srgbClr val="000000"/>
                </a:solidFill>
                <a:highlight>
                  <a:srgbClr val="FFFFFF"/>
                </a:highlight>
                <a:latin typeface="Arial"/>
                <a:ea typeface="Arial"/>
                <a:cs typeface="Arial"/>
                <a:sym typeface="Arial"/>
              </a:rPr>
              <a:t> argument, </a:t>
            </a:r>
            <a:r>
              <a:rPr i="1" lang="en-GB" sz="1350">
                <a:solidFill>
                  <a:srgbClr val="000000"/>
                </a:solidFill>
                <a:highlight>
                  <a:srgbClr val="FFFFFF"/>
                </a:highlight>
                <a:latin typeface="Arial"/>
                <a:ea typeface="Arial"/>
                <a:cs typeface="Arial"/>
                <a:sym typeface="Arial"/>
              </a:rPr>
              <a:t>a</a:t>
            </a:r>
            <a:endParaRPr i="1" sz="1350">
              <a:solidFill>
                <a:srgbClr val="000000"/>
              </a:solidFill>
              <a:highlight>
                <a:srgbClr val="FFFFFF"/>
              </a:highlight>
              <a:latin typeface="Arial"/>
              <a:ea typeface="Arial"/>
              <a:cs typeface="Arial"/>
              <a:sym typeface="Arial"/>
            </a:endParaRPr>
          </a:p>
          <a:p>
            <a:pPr indent="-314325" lvl="0" marL="457200" rtl="0" algn="l">
              <a:lnSpc>
                <a:spcPct val="115000"/>
              </a:lnSpc>
              <a:spcBef>
                <a:spcPts val="0"/>
              </a:spcBef>
              <a:spcAft>
                <a:spcPts val="0"/>
              </a:spcAft>
              <a:buClr>
                <a:srgbClr val="000000"/>
              </a:buClr>
              <a:buSzPts val="1350"/>
              <a:buFont typeface="Arial"/>
              <a:buChar char="●"/>
            </a:pPr>
            <a:r>
              <a:rPr lang="en-GB" sz="1350">
                <a:solidFill>
                  <a:srgbClr val="000000"/>
                </a:solidFill>
                <a:highlight>
                  <a:srgbClr val="FFFFFF"/>
                </a:highlight>
                <a:latin typeface="Arial"/>
                <a:ea typeface="Arial"/>
                <a:cs typeface="Arial"/>
                <a:sym typeface="Arial"/>
              </a:rPr>
              <a:t>the second </a:t>
            </a:r>
            <a:r>
              <a:rPr i="1" lang="en-GB" sz="1350">
                <a:solidFill>
                  <a:srgbClr val="000000"/>
                </a:solidFill>
                <a:highlight>
                  <a:srgbClr val="FFFFFF"/>
                </a:highlight>
                <a:latin typeface="Arial"/>
                <a:ea typeface="Arial"/>
                <a:cs typeface="Arial"/>
                <a:sym typeface="Arial"/>
              </a:rPr>
              <a:t>int</a:t>
            </a:r>
            <a:r>
              <a:rPr lang="en-GB" sz="1350">
                <a:solidFill>
                  <a:srgbClr val="000000"/>
                </a:solidFill>
                <a:highlight>
                  <a:srgbClr val="FFFFFF"/>
                </a:highlight>
                <a:latin typeface="Arial"/>
                <a:ea typeface="Arial"/>
                <a:cs typeface="Arial"/>
                <a:sym typeface="Arial"/>
              </a:rPr>
              <a:t> argument,</a:t>
            </a:r>
            <a:r>
              <a:rPr i="1" lang="en-GB" sz="1350">
                <a:solidFill>
                  <a:srgbClr val="000000"/>
                </a:solidFill>
                <a:highlight>
                  <a:srgbClr val="FFFFFF"/>
                </a:highlight>
                <a:latin typeface="Arial"/>
                <a:ea typeface="Arial"/>
                <a:cs typeface="Arial"/>
                <a:sym typeface="Arial"/>
              </a:rPr>
              <a:t> b</a:t>
            </a:r>
            <a:endParaRPr i="1" sz="1350">
              <a:solidFill>
                <a:srgbClr val="000000"/>
              </a:solidFill>
              <a:highlight>
                <a:srgbClr val="FFFFFF"/>
              </a:highlight>
              <a:latin typeface="Arial"/>
              <a:ea typeface="Arial"/>
              <a:cs typeface="Arial"/>
              <a:sym typeface="Arial"/>
            </a:endParaRPr>
          </a:p>
          <a:p>
            <a:pPr indent="-314325" lvl="0" marL="457200" rtl="0" algn="l">
              <a:lnSpc>
                <a:spcPct val="115000"/>
              </a:lnSpc>
              <a:spcBef>
                <a:spcPts val="0"/>
              </a:spcBef>
              <a:spcAft>
                <a:spcPts val="0"/>
              </a:spcAft>
              <a:buClr>
                <a:srgbClr val="000000"/>
              </a:buClr>
              <a:buSzPts val="1350"/>
              <a:buFont typeface="Arial"/>
              <a:buChar char="●"/>
            </a:pPr>
            <a:r>
              <a:rPr lang="en-GB" sz="1350">
                <a:solidFill>
                  <a:srgbClr val="000000"/>
                </a:solidFill>
                <a:highlight>
                  <a:srgbClr val="FFFFFF"/>
                </a:highlight>
                <a:latin typeface="Arial"/>
                <a:ea typeface="Arial"/>
                <a:cs typeface="Arial"/>
                <a:sym typeface="Arial"/>
              </a:rPr>
              <a:t>and the returned sum result which is also an </a:t>
            </a:r>
            <a:r>
              <a:rPr i="1" lang="en-GB" sz="1350">
                <a:solidFill>
                  <a:srgbClr val="000000"/>
                </a:solidFill>
                <a:highlight>
                  <a:srgbClr val="FFFFFF"/>
                </a:highlight>
                <a:latin typeface="Arial"/>
                <a:ea typeface="Arial"/>
                <a:cs typeface="Arial"/>
                <a:sym typeface="Arial"/>
              </a:rPr>
              <a:t>int </a:t>
            </a:r>
            <a:r>
              <a:rPr lang="en-GB" sz="1350">
                <a:solidFill>
                  <a:srgbClr val="000000"/>
                </a:solidFill>
                <a:highlight>
                  <a:srgbClr val="FFFFFF"/>
                </a:highlight>
                <a:latin typeface="Arial"/>
                <a:ea typeface="Arial"/>
                <a:cs typeface="Arial"/>
                <a:sym typeface="Arial"/>
              </a:rPr>
              <a:t>like </a:t>
            </a:r>
            <a:r>
              <a:rPr i="1" lang="en-GB" sz="1350">
                <a:solidFill>
                  <a:srgbClr val="000000"/>
                </a:solidFill>
                <a:highlight>
                  <a:srgbClr val="FFFFFF"/>
                </a:highlight>
                <a:latin typeface="Arial"/>
                <a:ea typeface="Arial"/>
                <a:cs typeface="Arial"/>
                <a:sym typeface="Arial"/>
              </a:rPr>
              <a:t>a </a:t>
            </a:r>
            <a:r>
              <a:rPr lang="en-GB" sz="1350">
                <a:solidFill>
                  <a:srgbClr val="000000"/>
                </a:solidFill>
                <a:highlight>
                  <a:srgbClr val="FFFFFF"/>
                </a:highlight>
                <a:latin typeface="Arial"/>
                <a:ea typeface="Arial"/>
                <a:cs typeface="Arial"/>
                <a:sym typeface="Arial"/>
              </a:rPr>
              <a:t>and </a:t>
            </a:r>
            <a:r>
              <a:rPr i="1" lang="en-GB" sz="1350">
                <a:solidFill>
                  <a:srgbClr val="000000"/>
                </a:solidFill>
                <a:highlight>
                  <a:srgbClr val="FFFFFF"/>
                </a:highlight>
                <a:latin typeface="Arial"/>
                <a:ea typeface="Arial"/>
                <a:cs typeface="Arial"/>
                <a:sym typeface="Arial"/>
              </a:rPr>
              <a:t>b</a:t>
            </a:r>
            <a:endParaRPr i="1" sz="1350">
              <a:solidFill>
                <a:srgbClr val="000000"/>
              </a:solidFill>
              <a:highlight>
                <a:srgbClr val="FFFFFF"/>
              </a:highlight>
              <a:latin typeface="Arial"/>
              <a:ea typeface="Arial"/>
              <a:cs typeface="Arial"/>
              <a:sym typeface="Arial"/>
            </a:endParaRPr>
          </a:p>
          <a:p>
            <a:pPr indent="0" lvl="0" marL="0" rtl="0" algn="l">
              <a:lnSpc>
                <a:spcPct val="133400"/>
              </a:lnSpc>
              <a:spcBef>
                <a:spcPts val="800"/>
              </a:spcBef>
              <a:spcAft>
                <a:spcPts val="0"/>
              </a:spcAft>
              <a:buNone/>
            </a:pPr>
            <a:r>
              <a:rPr lang="en-GB" sz="1350">
                <a:solidFill>
                  <a:srgbClr val="000000"/>
                </a:solidFill>
                <a:highlight>
                  <a:srgbClr val="FFFFFF"/>
                </a:highlight>
                <a:latin typeface="Arial"/>
                <a:ea typeface="Arial"/>
                <a:cs typeface="Arial"/>
                <a:sym typeface="Arial"/>
              </a:rPr>
              <a:t>A single integer variable occupies four bytes of memory. In this example, we have three integer variables. Therefore, this algorithm always takes 12 bytes of memory to complete (3*4 bytes).</a:t>
            </a:r>
            <a:endParaRPr sz="1350">
              <a:solidFill>
                <a:srgbClr val="000000"/>
              </a:solidFill>
              <a:highlight>
                <a:srgbClr val="FFFFFF"/>
              </a:highlight>
              <a:latin typeface="Arial"/>
              <a:ea typeface="Arial"/>
              <a:cs typeface="Arial"/>
              <a:sym typeface="Arial"/>
            </a:endParaRPr>
          </a:p>
          <a:p>
            <a:pPr indent="0" lvl="0" marL="0" rtl="0" algn="l">
              <a:lnSpc>
                <a:spcPct val="133400"/>
              </a:lnSpc>
              <a:spcBef>
                <a:spcPts val="800"/>
              </a:spcBef>
              <a:spcAft>
                <a:spcPts val="800"/>
              </a:spcAft>
              <a:buNone/>
            </a:pPr>
            <a:r>
              <a:rPr lang="en-GB" sz="1350">
                <a:solidFill>
                  <a:srgbClr val="000000"/>
                </a:solidFill>
                <a:highlight>
                  <a:srgbClr val="FFFFFF"/>
                </a:highlight>
                <a:latin typeface="Arial"/>
                <a:ea typeface="Arial"/>
                <a:cs typeface="Arial"/>
                <a:sym typeface="Arial"/>
              </a:rPr>
              <a:t>We can clearly see that the space complexity is constant, so, it can be expressed in big-O notation as </a:t>
            </a:r>
            <a:r>
              <a:rPr i="1" lang="en-GB" sz="1350">
                <a:solidFill>
                  <a:srgbClr val="000000"/>
                </a:solidFill>
                <a:highlight>
                  <a:srgbClr val="FFFFFF"/>
                </a:highlight>
                <a:latin typeface="Arial"/>
                <a:ea typeface="Arial"/>
                <a:cs typeface="Arial"/>
                <a:sym typeface="Arial"/>
              </a:rPr>
              <a:t>O(1)</a:t>
            </a:r>
            <a:r>
              <a:rPr lang="en-GB" sz="1350">
                <a:solidFill>
                  <a:srgbClr val="000000"/>
                </a:solidFill>
                <a:highlight>
                  <a:srgbClr val="FFFFFF"/>
                </a:highlight>
                <a:latin typeface="Arial"/>
                <a:ea typeface="Arial"/>
                <a:cs typeface="Arial"/>
                <a:sym typeface="Arial"/>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txBox="1"/>
          <p:nvPr>
            <p:ph type="title"/>
          </p:nvPr>
        </p:nvSpPr>
        <p:spPr>
          <a:xfrm>
            <a:off x="406875" y="145294"/>
            <a:ext cx="7053600" cy="4995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GB"/>
              <a:t>Example2: Space Complexity</a:t>
            </a:r>
            <a:endParaRPr b="1"/>
          </a:p>
        </p:txBody>
      </p:sp>
      <p:sp>
        <p:nvSpPr>
          <p:cNvPr id="334" name="Google Shape;334;p44"/>
          <p:cNvSpPr txBox="1"/>
          <p:nvPr>
            <p:ph idx="1" type="body"/>
          </p:nvPr>
        </p:nvSpPr>
        <p:spPr>
          <a:xfrm>
            <a:off x="450650" y="738125"/>
            <a:ext cx="3807000" cy="3877200"/>
          </a:xfrm>
          <a:prstGeom prst="rect">
            <a:avLst/>
          </a:prstGeom>
          <a:ln cap="flat" cmpd="sng" w="9525">
            <a:solidFill>
              <a:srgbClr val="000000"/>
            </a:solidFill>
            <a:prstDash val="solid"/>
            <a:round/>
            <a:headEnd len="sm" w="sm" type="none"/>
            <a:tailEnd len="sm" w="sm" type="none"/>
          </a:ln>
        </p:spPr>
        <p:txBody>
          <a:bodyPr anchorCtr="0" anchor="t" bIns="34275" lIns="68575" spcFirstLastPara="1" rIns="68575" wrap="square" tIns="34275">
            <a:noAutofit/>
          </a:bodyPr>
          <a:lstStyle/>
          <a:p>
            <a:pPr indent="0" lvl="0" marL="0" rtl="0" algn="l">
              <a:lnSpc>
                <a:spcPct val="123400"/>
              </a:lnSpc>
              <a:spcBef>
                <a:spcPts val="0"/>
              </a:spcBef>
              <a:spcAft>
                <a:spcPts val="0"/>
              </a:spcAft>
              <a:buNone/>
            </a:pPr>
            <a:r>
              <a:rPr lang="en-GB" sz="1350">
                <a:solidFill>
                  <a:srgbClr val="000000"/>
                </a:solidFill>
                <a:highlight>
                  <a:srgbClr val="FFFFFF"/>
                </a:highlight>
                <a:latin typeface="Arial"/>
                <a:ea typeface="Arial"/>
                <a:cs typeface="Arial"/>
                <a:sym typeface="Arial"/>
              </a:rPr>
              <a:t>Determine the space complexity of a program that sums all integer elements in an array.</a:t>
            </a:r>
            <a:endParaRPr sz="1350">
              <a:solidFill>
                <a:srgbClr val="000000"/>
              </a:solidFill>
              <a:highlight>
                <a:srgbClr val="FFFFFF"/>
              </a:highlight>
              <a:latin typeface="Arial"/>
              <a:ea typeface="Arial"/>
              <a:cs typeface="Arial"/>
              <a:sym typeface="Arial"/>
            </a:endParaRPr>
          </a:p>
          <a:p>
            <a:pPr indent="0" lvl="0" marL="0" rtl="0" algn="l">
              <a:lnSpc>
                <a:spcPct val="123400"/>
              </a:lnSpc>
              <a:spcBef>
                <a:spcPts val="800"/>
              </a:spcBef>
              <a:spcAft>
                <a:spcPts val="0"/>
              </a:spcAft>
              <a:buNone/>
            </a:pPr>
            <a:r>
              <a:rPr lang="en-GB" sz="1350">
                <a:solidFill>
                  <a:srgbClr val="000000"/>
                </a:solidFill>
                <a:highlight>
                  <a:srgbClr val="FFFFFF"/>
                </a:highlight>
                <a:latin typeface="Arial"/>
                <a:ea typeface="Arial"/>
                <a:cs typeface="Arial"/>
                <a:sym typeface="Arial"/>
              </a:rPr>
              <a:t>Let’s list all variables present in the above code:</a:t>
            </a:r>
            <a:endParaRPr sz="1350">
              <a:solidFill>
                <a:srgbClr val="000000"/>
              </a:solidFill>
              <a:highlight>
                <a:srgbClr val="FFFFFF"/>
              </a:highlight>
              <a:latin typeface="Arial"/>
              <a:ea typeface="Arial"/>
              <a:cs typeface="Arial"/>
              <a:sym typeface="Arial"/>
            </a:endParaRPr>
          </a:p>
          <a:p>
            <a:pPr indent="-314325" lvl="0" marL="457200" rtl="0" algn="l">
              <a:lnSpc>
                <a:spcPct val="105000"/>
              </a:lnSpc>
              <a:spcBef>
                <a:spcPts val="800"/>
              </a:spcBef>
              <a:spcAft>
                <a:spcPts val="0"/>
              </a:spcAft>
              <a:buClr>
                <a:srgbClr val="000000"/>
              </a:buClr>
              <a:buSzPts val="1350"/>
              <a:buFont typeface="Arial"/>
              <a:buChar char="●"/>
            </a:pPr>
            <a:r>
              <a:rPr i="1" lang="en-GB" sz="1350">
                <a:solidFill>
                  <a:srgbClr val="000000"/>
                </a:solidFill>
                <a:highlight>
                  <a:srgbClr val="FFFFFF"/>
                </a:highlight>
                <a:latin typeface="Arial"/>
                <a:ea typeface="Arial"/>
                <a:cs typeface="Arial"/>
                <a:sym typeface="Arial"/>
              </a:rPr>
              <a:t>array</a:t>
            </a:r>
            <a:r>
              <a:rPr lang="en-GB" sz="1350">
                <a:solidFill>
                  <a:srgbClr val="000000"/>
                </a:solidFill>
                <a:highlight>
                  <a:srgbClr val="FFFFFF"/>
                </a:highlight>
                <a:latin typeface="Arial"/>
                <a:ea typeface="Arial"/>
                <a:cs typeface="Arial"/>
                <a:sym typeface="Arial"/>
              </a:rPr>
              <a:t> – the function’s only argument – the space taken by the array is equal 4</a:t>
            </a:r>
            <a:r>
              <a:rPr i="1" lang="en-GB" sz="1350">
                <a:solidFill>
                  <a:srgbClr val="000000"/>
                </a:solidFill>
                <a:highlight>
                  <a:srgbClr val="FFFFFF"/>
                </a:highlight>
                <a:latin typeface="Arial"/>
                <a:ea typeface="Arial"/>
                <a:cs typeface="Arial"/>
                <a:sym typeface="Arial"/>
              </a:rPr>
              <a:t>n</a:t>
            </a:r>
            <a:r>
              <a:rPr lang="en-GB" sz="1350">
                <a:solidFill>
                  <a:srgbClr val="000000"/>
                </a:solidFill>
                <a:highlight>
                  <a:srgbClr val="FFFFFF"/>
                </a:highlight>
                <a:latin typeface="Arial"/>
                <a:ea typeface="Arial"/>
                <a:cs typeface="Arial"/>
                <a:sym typeface="Arial"/>
              </a:rPr>
              <a:t> bytes where </a:t>
            </a:r>
            <a:r>
              <a:rPr i="1" lang="en-GB" sz="1350">
                <a:solidFill>
                  <a:srgbClr val="000000"/>
                </a:solidFill>
                <a:highlight>
                  <a:srgbClr val="FFFFFF"/>
                </a:highlight>
                <a:latin typeface="Arial"/>
                <a:ea typeface="Arial"/>
                <a:cs typeface="Arial"/>
                <a:sym typeface="Arial"/>
              </a:rPr>
              <a:t>n</a:t>
            </a:r>
            <a:r>
              <a:rPr lang="en-GB" sz="1350">
                <a:solidFill>
                  <a:srgbClr val="000000"/>
                </a:solidFill>
                <a:highlight>
                  <a:srgbClr val="FFFFFF"/>
                </a:highlight>
                <a:latin typeface="Arial"/>
                <a:ea typeface="Arial"/>
                <a:cs typeface="Arial"/>
                <a:sym typeface="Arial"/>
              </a:rPr>
              <a:t> is the length of the array</a:t>
            </a:r>
            <a:endParaRPr sz="1350">
              <a:solidFill>
                <a:srgbClr val="000000"/>
              </a:solidFill>
              <a:highlight>
                <a:srgbClr val="FFFFFF"/>
              </a:highlight>
              <a:latin typeface="Arial"/>
              <a:ea typeface="Arial"/>
              <a:cs typeface="Arial"/>
              <a:sym typeface="Arial"/>
            </a:endParaRPr>
          </a:p>
          <a:p>
            <a:pPr indent="-314325" lvl="0" marL="457200" rtl="0" algn="l">
              <a:lnSpc>
                <a:spcPct val="105000"/>
              </a:lnSpc>
              <a:spcBef>
                <a:spcPts val="0"/>
              </a:spcBef>
              <a:spcAft>
                <a:spcPts val="0"/>
              </a:spcAft>
              <a:buClr>
                <a:srgbClr val="000000"/>
              </a:buClr>
              <a:buSzPts val="1350"/>
              <a:buFont typeface="Arial"/>
              <a:buChar char="●"/>
            </a:pPr>
            <a:r>
              <a:rPr i="1" lang="en-GB" sz="1350">
                <a:solidFill>
                  <a:srgbClr val="000000"/>
                </a:solidFill>
                <a:highlight>
                  <a:srgbClr val="FFFFFF"/>
                </a:highlight>
                <a:latin typeface="Arial"/>
                <a:ea typeface="Arial"/>
                <a:cs typeface="Arial"/>
                <a:sym typeface="Arial"/>
              </a:rPr>
              <a:t>size</a:t>
            </a:r>
            <a:r>
              <a:rPr lang="en-GB" sz="1350">
                <a:solidFill>
                  <a:srgbClr val="000000"/>
                </a:solidFill>
                <a:highlight>
                  <a:srgbClr val="FFFFFF"/>
                </a:highlight>
                <a:latin typeface="Arial"/>
                <a:ea typeface="Arial"/>
                <a:cs typeface="Arial"/>
                <a:sym typeface="Arial"/>
              </a:rPr>
              <a:t> – a 4-byte integer</a:t>
            </a:r>
            <a:endParaRPr sz="1350">
              <a:solidFill>
                <a:srgbClr val="000000"/>
              </a:solidFill>
              <a:highlight>
                <a:srgbClr val="FFFFFF"/>
              </a:highlight>
              <a:latin typeface="Arial"/>
              <a:ea typeface="Arial"/>
              <a:cs typeface="Arial"/>
              <a:sym typeface="Arial"/>
            </a:endParaRPr>
          </a:p>
          <a:p>
            <a:pPr indent="-314325" lvl="0" marL="457200" rtl="0" algn="l">
              <a:lnSpc>
                <a:spcPct val="105000"/>
              </a:lnSpc>
              <a:spcBef>
                <a:spcPts val="0"/>
              </a:spcBef>
              <a:spcAft>
                <a:spcPts val="0"/>
              </a:spcAft>
              <a:buClr>
                <a:srgbClr val="000000"/>
              </a:buClr>
              <a:buSzPts val="1350"/>
              <a:buFont typeface="Arial"/>
              <a:buChar char="●"/>
            </a:pPr>
            <a:r>
              <a:rPr i="1" lang="en-GB" sz="1350">
                <a:solidFill>
                  <a:srgbClr val="000000"/>
                </a:solidFill>
                <a:highlight>
                  <a:srgbClr val="FFFFFF"/>
                </a:highlight>
                <a:latin typeface="Arial"/>
                <a:ea typeface="Arial"/>
                <a:cs typeface="Arial"/>
                <a:sym typeface="Arial"/>
              </a:rPr>
              <a:t>sum</a:t>
            </a:r>
            <a:r>
              <a:rPr lang="en-GB" sz="1350">
                <a:solidFill>
                  <a:srgbClr val="000000"/>
                </a:solidFill>
                <a:highlight>
                  <a:srgbClr val="FFFFFF"/>
                </a:highlight>
                <a:latin typeface="Arial"/>
                <a:ea typeface="Arial"/>
                <a:cs typeface="Arial"/>
                <a:sym typeface="Arial"/>
              </a:rPr>
              <a:t> – a 4-byte integer</a:t>
            </a:r>
            <a:endParaRPr sz="1350">
              <a:solidFill>
                <a:srgbClr val="000000"/>
              </a:solidFill>
              <a:highlight>
                <a:srgbClr val="FFFFFF"/>
              </a:highlight>
              <a:latin typeface="Arial"/>
              <a:ea typeface="Arial"/>
              <a:cs typeface="Arial"/>
              <a:sym typeface="Arial"/>
            </a:endParaRPr>
          </a:p>
          <a:p>
            <a:pPr indent="-314325" lvl="0" marL="457200" rtl="0" algn="l">
              <a:lnSpc>
                <a:spcPct val="105000"/>
              </a:lnSpc>
              <a:spcBef>
                <a:spcPts val="0"/>
              </a:spcBef>
              <a:spcAft>
                <a:spcPts val="0"/>
              </a:spcAft>
              <a:buClr>
                <a:srgbClr val="000000"/>
              </a:buClr>
              <a:buSzPts val="1350"/>
              <a:buFont typeface="Arial"/>
              <a:buChar char="●"/>
            </a:pPr>
            <a:r>
              <a:rPr i="1" lang="en-GB" sz="1350">
                <a:solidFill>
                  <a:srgbClr val="000000"/>
                </a:solidFill>
                <a:highlight>
                  <a:srgbClr val="FFFFFF"/>
                </a:highlight>
                <a:latin typeface="Arial"/>
                <a:ea typeface="Arial"/>
                <a:cs typeface="Arial"/>
                <a:sym typeface="Arial"/>
              </a:rPr>
              <a:t>iterator</a:t>
            </a:r>
            <a:r>
              <a:rPr lang="en-GB" sz="1350">
                <a:solidFill>
                  <a:srgbClr val="000000"/>
                </a:solidFill>
                <a:highlight>
                  <a:srgbClr val="FFFFFF"/>
                </a:highlight>
                <a:latin typeface="Arial"/>
                <a:ea typeface="Arial"/>
                <a:cs typeface="Arial"/>
                <a:sym typeface="Arial"/>
              </a:rPr>
              <a:t> – a 4-byte integer</a:t>
            </a:r>
            <a:endParaRPr sz="1350">
              <a:solidFill>
                <a:srgbClr val="000000"/>
              </a:solidFill>
              <a:highlight>
                <a:srgbClr val="FFFFFF"/>
              </a:highlight>
              <a:latin typeface="Arial"/>
              <a:ea typeface="Arial"/>
              <a:cs typeface="Arial"/>
              <a:sym typeface="Arial"/>
            </a:endParaRPr>
          </a:p>
          <a:p>
            <a:pPr indent="0" lvl="0" marL="0" rtl="0" algn="l">
              <a:lnSpc>
                <a:spcPct val="123400"/>
              </a:lnSpc>
              <a:spcBef>
                <a:spcPts val="800"/>
              </a:spcBef>
              <a:spcAft>
                <a:spcPts val="800"/>
              </a:spcAft>
              <a:buNone/>
            </a:pPr>
            <a:r>
              <a:rPr lang="en-GB" sz="1350">
                <a:solidFill>
                  <a:srgbClr val="000000"/>
                </a:solidFill>
                <a:highlight>
                  <a:srgbClr val="FFFFFF"/>
                </a:highlight>
                <a:latin typeface="Arial"/>
                <a:ea typeface="Arial"/>
                <a:cs typeface="Arial"/>
                <a:sym typeface="Arial"/>
              </a:rPr>
              <a:t>The total space needed for this algorithm to complete is </a:t>
            </a:r>
            <a:r>
              <a:rPr b="1" lang="en-GB" sz="1350">
                <a:solidFill>
                  <a:srgbClr val="000000"/>
                </a:solidFill>
                <a:highlight>
                  <a:srgbClr val="FFFFFF"/>
                </a:highlight>
                <a:latin typeface="Arial"/>
                <a:ea typeface="Arial"/>
                <a:cs typeface="Arial"/>
                <a:sym typeface="Arial"/>
              </a:rPr>
              <a:t>4</a:t>
            </a:r>
            <a:r>
              <a:rPr b="1" i="1" lang="en-GB" sz="1350">
                <a:solidFill>
                  <a:srgbClr val="000000"/>
                </a:solidFill>
                <a:highlight>
                  <a:srgbClr val="FFFFFF"/>
                </a:highlight>
                <a:latin typeface="Arial"/>
                <a:ea typeface="Arial"/>
                <a:cs typeface="Arial"/>
                <a:sym typeface="Arial"/>
              </a:rPr>
              <a:t>n</a:t>
            </a:r>
            <a:r>
              <a:rPr b="1" lang="en-GB" sz="1350">
                <a:solidFill>
                  <a:srgbClr val="000000"/>
                </a:solidFill>
                <a:highlight>
                  <a:srgbClr val="FFFFFF"/>
                </a:highlight>
                <a:latin typeface="Arial"/>
                <a:ea typeface="Arial"/>
                <a:cs typeface="Arial"/>
                <a:sym typeface="Arial"/>
              </a:rPr>
              <a:t> + 4 + 4 + 4 (bytes)</a:t>
            </a:r>
            <a:r>
              <a:rPr lang="en-GB" sz="1350">
                <a:solidFill>
                  <a:srgbClr val="000000"/>
                </a:solidFill>
                <a:highlight>
                  <a:srgbClr val="FFFFFF"/>
                </a:highlight>
                <a:latin typeface="Arial"/>
                <a:ea typeface="Arial"/>
                <a:cs typeface="Arial"/>
                <a:sym typeface="Arial"/>
              </a:rPr>
              <a:t>. The highest order of </a:t>
            </a:r>
            <a:r>
              <a:rPr b="1" i="1" lang="en-GB" sz="1350">
                <a:solidFill>
                  <a:srgbClr val="000000"/>
                </a:solidFill>
                <a:highlight>
                  <a:srgbClr val="FFFFFF"/>
                </a:highlight>
                <a:latin typeface="Arial"/>
                <a:ea typeface="Arial"/>
                <a:cs typeface="Arial"/>
                <a:sym typeface="Arial"/>
              </a:rPr>
              <a:t>n</a:t>
            </a:r>
            <a:r>
              <a:rPr lang="en-GB" sz="1350">
                <a:solidFill>
                  <a:srgbClr val="000000"/>
                </a:solidFill>
                <a:highlight>
                  <a:srgbClr val="FFFFFF"/>
                </a:highlight>
                <a:latin typeface="Arial"/>
                <a:ea typeface="Arial"/>
                <a:cs typeface="Arial"/>
                <a:sym typeface="Arial"/>
              </a:rPr>
              <a:t> in this equation is just </a:t>
            </a:r>
            <a:r>
              <a:rPr b="1" i="1" lang="en-GB" sz="1350">
                <a:solidFill>
                  <a:srgbClr val="000000"/>
                </a:solidFill>
                <a:highlight>
                  <a:srgbClr val="FFFFFF"/>
                </a:highlight>
                <a:latin typeface="Arial"/>
                <a:ea typeface="Arial"/>
                <a:cs typeface="Arial"/>
                <a:sym typeface="Arial"/>
              </a:rPr>
              <a:t>n</a:t>
            </a:r>
            <a:r>
              <a:rPr b="1" lang="en-GB" sz="1350">
                <a:solidFill>
                  <a:srgbClr val="000000"/>
                </a:solidFill>
                <a:highlight>
                  <a:srgbClr val="FFFFFF"/>
                </a:highlight>
                <a:latin typeface="Arial"/>
                <a:ea typeface="Arial"/>
                <a:cs typeface="Arial"/>
                <a:sym typeface="Arial"/>
              </a:rPr>
              <a:t>.</a:t>
            </a:r>
            <a:r>
              <a:rPr lang="en-GB" sz="1350">
                <a:solidFill>
                  <a:srgbClr val="000000"/>
                </a:solidFill>
                <a:highlight>
                  <a:srgbClr val="FFFFFF"/>
                </a:highlight>
                <a:latin typeface="Arial"/>
                <a:ea typeface="Arial"/>
                <a:cs typeface="Arial"/>
                <a:sym typeface="Arial"/>
              </a:rPr>
              <a:t> Thus, the space complexity of that operation is </a:t>
            </a:r>
            <a:r>
              <a:rPr b="1" i="1" lang="en-GB" sz="1350">
                <a:solidFill>
                  <a:srgbClr val="000000"/>
                </a:solidFill>
                <a:highlight>
                  <a:srgbClr val="FFFFFF"/>
                </a:highlight>
                <a:latin typeface="Arial"/>
                <a:ea typeface="Arial"/>
                <a:cs typeface="Arial"/>
                <a:sym typeface="Arial"/>
              </a:rPr>
              <a:t>O(n)</a:t>
            </a:r>
            <a:r>
              <a:rPr lang="en-GB" sz="1350">
                <a:solidFill>
                  <a:srgbClr val="000000"/>
                </a:solidFill>
                <a:highlight>
                  <a:srgbClr val="FFFFFF"/>
                </a:highlight>
                <a:latin typeface="Arial"/>
                <a:ea typeface="Arial"/>
                <a:cs typeface="Arial"/>
                <a:sym typeface="Arial"/>
              </a:rPr>
              <a:t>.</a:t>
            </a:r>
            <a:endParaRPr sz="2800">
              <a:solidFill>
                <a:srgbClr val="000000"/>
              </a:solidFill>
              <a:highlight>
                <a:srgbClr val="EEEEEC"/>
              </a:highlight>
              <a:latin typeface="Courier New"/>
              <a:ea typeface="Courier New"/>
              <a:cs typeface="Courier New"/>
              <a:sym typeface="Courier New"/>
            </a:endParaRPr>
          </a:p>
        </p:txBody>
      </p:sp>
      <p:sp>
        <p:nvSpPr>
          <p:cNvPr id="335" name="Google Shape;335;p44"/>
          <p:cNvSpPr txBox="1"/>
          <p:nvPr/>
        </p:nvSpPr>
        <p:spPr>
          <a:xfrm>
            <a:off x="4257650" y="940150"/>
            <a:ext cx="4886400" cy="2993700"/>
          </a:xfrm>
          <a:prstGeom prst="rect">
            <a:avLst/>
          </a:prstGeom>
          <a:no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#include &lt;iostream&gt;</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using namespace </a:t>
            </a:r>
            <a:r>
              <a:rPr lang="en-GB" sz="1000">
                <a:solidFill>
                  <a:srgbClr val="0000C0"/>
                </a:solidFill>
                <a:highlight>
                  <a:srgbClr val="EEEEEC"/>
                </a:highlight>
                <a:latin typeface="Courier New"/>
                <a:ea typeface="Courier New"/>
                <a:cs typeface="Courier New"/>
                <a:sym typeface="Courier New"/>
              </a:rPr>
              <a:t>std</a:t>
            </a:r>
            <a:r>
              <a:rPr lang="en-GB" sz="1000">
                <a:highlight>
                  <a:srgbClr val="EEEEEC"/>
                </a:highlight>
                <a:latin typeface="Courier New"/>
                <a:ea typeface="Courier New"/>
                <a:cs typeface="Courier New"/>
                <a:sym typeface="Courier New"/>
              </a:rPr>
              <a:t>;</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int</a:t>
            </a:r>
            <a:r>
              <a:rPr lang="en-GB" sz="1000">
                <a:highlight>
                  <a:srgbClr val="EEEEEC"/>
                </a:highlight>
                <a:latin typeface="Courier New"/>
                <a:ea typeface="Courier New"/>
                <a:cs typeface="Courier New"/>
                <a:sym typeface="Courier New"/>
              </a:rPr>
              <a:t> sumArray(</a:t>
            </a:r>
            <a:r>
              <a:rPr b="1" lang="en-GB" sz="1000">
                <a:solidFill>
                  <a:srgbClr val="7F0055"/>
                </a:solidFill>
                <a:highlight>
                  <a:srgbClr val="EEEEEC"/>
                </a:highlight>
                <a:latin typeface="Courier New"/>
                <a:ea typeface="Courier New"/>
                <a:cs typeface="Courier New"/>
                <a:sym typeface="Courier New"/>
              </a:rPr>
              <a:t>int</a:t>
            </a:r>
            <a:r>
              <a:rPr lang="en-GB" sz="1000">
                <a:highlight>
                  <a:srgbClr val="EEEEEC"/>
                </a:highlight>
                <a:latin typeface="Courier New"/>
                <a:ea typeface="Courier New"/>
                <a:cs typeface="Courier New"/>
                <a:sym typeface="Courier New"/>
              </a:rPr>
              <a:t> </a:t>
            </a:r>
            <a:r>
              <a:rPr lang="en-GB" sz="1000">
                <a:solidFill>
                  <a:srgbClr val="6A3E3E"/>
                </a:solidFill>
                <a:highlight>
                  <a:srgbClr val="EEEEEC"/>
                </a:highlight>
                <a:latin typeface="Courier New"/>
                <a:ea typeface="Courier New"/>
                <a:cs typeface="Courier New"/>
                <a:sym typeface="Courier New"/>
              </a:rPr>
              <a:t>a</a:t>
            </a:r>
            <a:r>
              <a:rPr lang="en-GB" sz="1000">
                <a:highlight>
                  <a:srgbClr val="EEEEEC"/>
                </a:highlight>
                <a:latin typeface="Courier New"/>
                <a:ea typeface="Courier New"/>
                <a:cs typeface="Courier New"/>
                <a:sym typeface="Courier New"/>
              </a:rPr>
              <a:t>[], int size) {</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int</a:t>
            </a:r>
            <a:r>
              <a:rPr lang="en-GB" sz="1000">
                <a:highlight>
                  <a:srgbClr val="EEEEEC"/>
                </a:highlight>
                <a:latin typeface="Courier New"/>
                <a:ea typeface="Courier New"/>
                <a:cs typeface="Courier New"/>
                <a:sym typeface="Courier New"/>
              </a:rPr>
              <a:t> </a:t>
            </a:r>
            <a:r>
              <a:rPr lang="en-GB" sz="1000">
                <a:solidFill>
                  <a:srgbClr val="6A3E3E"/>
                </a:solidFill>
                <a:highlight>
                  <a:srgbClr val="EEEEEC"/>
                </a:highlight>
                <a:latin typeface="Courier New"/>
                <a:ea typeface="Courier New"/>
                <a:cs typeface="Courier New"/>
                <a:sym typeface="Courier New"/>
              </a:rPr>
              <a:t>sum</a:t>
            </a:r>
            <a:r>
              <a:rPr lang="en-GB" sz="1000">
                <a:highlight>
                  <a:srgbClr val="EEEEEC"/>
                </a:highlight>
                <a:latin typeface="Courier New"/>
                <a:ea typeface="Courier New"/>
                <a:cs typeface="Courier New"/>
                <a:sym typeface="Courier New"/>
              </a:rPr>
              <a:t> = 0;</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for</a:t>
            </a: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int</a:t>
            </a:r>
            <a:r>
              <a:rPr lang="en-GB" sz="1000">
                <a:highlight>
                  <a:srgbClr val="EEEEEC"/>
                </a:highlight>
                <a:latin typeface="Courier New"/>
                <a:ea typeface="Courier New"/>
                <a:cs typeface="Courier New"/>
                <a:sym typeface="Courier New"/>
              </a:rPr>
              <a:t> </a:t>
            </a:r>
            <a:r>
              <a:rPr lang="en-GB" sz="1000">
                <a:solidFill>
                  <a:srgbClr val="6A3E3E"/>
                </a:solidFill>
                <a:highlight>
                  <a:srgbClr val="EEEEEC"/>
                </a:highlight>
                <a:latin typeface="Courier New"/>
                <a:ea typeface="Courier New"/>
                <a:cs typeface="Courier New"/>
                <a:sym typeface="Courier New"/>
              </a:rPr>
              <a:t>iterator</a:t>
            </a:r>
            <a:r>
              <a:rPr lang="en-GB" sz="1000">
                <a:highlight>
                  <a:srgbClr val="EEEEEC"/>
                </a:highlight>
                <a:latin typeface="Courier New"/>
                <a:ea typeface="Courier New"/>
                <a:cs typeface="Courier New"/>
                <a:sym typeface="Courier New"/>
              </a:rPr>
              <a:t> = 0; </a:t>
            </a:r>
            <a:r>
              <a:rPr lang="en-GB" sz="1000">
                <a:solidFill>
                  <a:srgbClr val="6A3E3E"/>
                </a:solidFill>
                <a:highlight>
                  <a:srgbClr val="EEEEEC"/>
                </a:highlight>
                <a:latin typeface="Courier New"/>
                <a:ea typeface="Courier New"/>
                <a:cs typeface="Courier New"/>
                <a:sym typeface="Courier New"/>
              </a:rPr>
              <a:t>iterator</a:t>
            </a:r>
            <a:r>
              <a:rPr lang="en-GB" sz="1000">
                <a:highlight>
                  <a:srgbClr val="EEEEEC"/>
                </a:highlight>
                <a:latin typeface="Courier New"/>
                <a:ea typeface="Courier New"/>
                <a:cs typeface="Courier New"/>
                <a:sym typeface="Courier New"/>
              </a:rPr>
              <a:t> &lt; </a:t>
            </a:r>
            <a:r>
              <a:rPr lang="en-GB" sz="1000">
                <a:solidFill>
                  <a:srgbClr val="6A3E3E"/>
                </a:solidFill>
                <a:highlight>
                  <a:srgbClr val="EEEEEC"/>
                </a:highlight>
                <a:latin typeface="Courier New"/>
                <a:ea typeface="Courier New"/>
                <a:cs typeface="Courier New"/>
                <a:sym typeface="Courier New"/>
              </a:rPr>
              <a:t>size</a:t>
            </a:r>
            <a:r>
              <a:rPr lang="en-GB" sz="1000">
                <a:highlight>
                  <a:srgbClr val="EEEEEC"/>
                </a:highlight>
                <a:latin typeface="Courier New"/>
                <a:ea typeface="Courier New"/>
                <a:cs typeface="Courier New"/>
                <a:sym typeface="Courier New"/>
              </a:rPr>
              <a:t>; </a:t>
            </a:r>
            <a:r>
              <a:rPr lang="en-GB" sz="1000">
                <a:solidFill>
                  <a:srgbClr val="6A3E3E"/>
                </a:solidFill>
                <a:highlight>
                  <a:srgbClr val="EEEEEC"/>
                </a:highlight>
                <a:latin typeface="Courier New"/>
                <a:ea typeface="Courier New"/>
                <a:cs typeface="Courier New"/>
                <a:sym typeface="Courier New"/>
              </a:rPr>
              <a:t>iterator</a:t>
            </a:r>
            <a:r>
              <a:rPr lang="en-GB" sz="1000">
                <a:highlight>
                  <a:srgbClr val="EEEEEC"/>
                </a:highlight>
                <a:latin typeface="Courier New"/>
                <a:ea typeface="Courier New"/>
                <a:cs typeface="Courier New"/>
                <a:sym typeface="Courier New"/>
              </a:rPr>
              <a:t>++)            </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lang="en-GB" sz="1000">
                <a:solidFill>
                  <a:srgbClr val="6A3E3E"/>
                </a:solidFill>
                <a:highlight>
                  <a:srgbClr val="EEEEEC"/>
                </a:highlight>
                <a:latin typeface="Courier New"/>
                <a:ea typeface="Courier New"/>
                <a:cs typeface="Courier New"/>
                <a:sym typeface="Courier New"/>
              </a:rPr>
              <a:t>sum</a:t>
            </a:r>
            <a:r>
              <a:rPr lang="en-GB" sz="1000">
                <a:highlight>
                  <a:srgbClr val="EEEEEC"/>
                </a:highlight>
                <a:latin typeface="Courier New"/>
                <a:ea typeface="Courier New"/>
                <a:cs typeface="Courier New"/>
                <a:sym typeface="Courier New"/>
              </a:rPr>
              <a:t> += </a:t>
            </a:r>
            <a:r>
              <a:rPr lang="en-GB" sz="1000">
                <a:solidFill>
                  <a:srgbClr val="6A3E3E"/>
                </a:solidFill>
                <a:highlight>
                  <a:srgbClr val="EEEEEC"/>
                </a:highlight>
                <a:latin typeface="Courier New"/>
                <a:ea typeface="Courier New"/>
                <a:cs typeface="Courier New"/>
                <a:sym typeface="Courier New"/>
              </a:rPr>
              <a:t>a</a:t>
            </a:r>
            <a:r>
              <a:rPr lang="en-GB" sz="1000">
                <a:highlight>
                  <a:srgbClr val="EEEEEC"/>
                </a:highlight>
                <a:latin typeface="Courier New"/>
                <a:ea typeface="Courier New"/>
                <a:cs typeface="Courier New"/>
                <a:sym typeface="Courier New"/>
              </a:rPr>
              <a:t>[</a:t>
            </a:r>
            <a:r>
              <a:rPr lang="en-GB" sz="1000">
                <a:solidFill>
                  <a:srgbClr val="6A3E3E"/>
                </a:solidFill>
                <a:highlight>
                  <a:srgbClr val="EEEEEC"/>
                </a:highlight>
                <a:latin typeface="Courier New"/>
                <a:ea typeface="Courier New"/>
                <a:cs typeface="Courier New"/>
                <a:sym typeface="Courier New"/>
              </a:rPr>
              <a:t>iterator</a:t>
            </a:r>
            <a:r>
              <a:rPr lang="en-GB" sz="1000">
                <a:highlight>
                  <a:srgbClr val="EEEEEC"/>
                </a:highlight>
                <a:latin typeface="Courier New"/>
                <a:ea typeface="Courier New"/>
                <a:cs typeface="Courier New"/>
                <a:sym typeface="Courier New"/>
              </a:rPr>
              <a:t>];</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return</a:t>
            </a:r>
            <a:r>
              <a:rPr lang="en-GB" sz="1000">
                <a:highlight>
                  <a:srgbClr val="EEEEEC"/>
                </a:highlight>
                <a:latin typeface="Courier New"/>
                <a:ea typeface="Courier New"/>
                <a:cs typeface="Courier New"/>
                <a:sym typeface="Courier New"/>
              </a:rPr>
              <a:t> </a:t>
            </a:r>
            <a:r>
              <a:rPr lang="en-GB" sz="1000">
                <a:solidFill>
                  <a:srgbClr val="6A3E3E"/>
                </a:solidFill>
                <a:highlight>
                  <a:srgbClr val="EEEEEC"/>
                </a:highlight>
                <a:latin typeface="Courier New"/>
                <a:ea typeface="Courier New"/>
                <a:cs typeface="Courier New"/>
                <a:sym typeface="Courier New"/>
              </a:rPr>
              <a:t>sum</a:t>
            </a:r>
            <a:r>
              <a:rPr lang="en-GB" sz="1000">
                <a:highlight>
                  <a:srgbClr val="EEEEEC"/>
                </a:highlight>
                <a:latin typeface="Courier New"/>
                <a:ea typeface="Courier New"/>
                <a:cs typeface="Courier New"/>
                <a:sym typeface="Courier New"/>
              </a:rPr>
              <a:t>;</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int</a:t>
            </a:r>
            <a:r>
              <a:rPr lang="en-GB" sz="1000">
                <a:highlight>
                  <a:srgbClr val="EEEEEC"/>
                </a:highlight>
                <a:latin typeface="Courier New"/>
                <a:ea typeface="Courier New"/>
                <a:cs typeface="Courier New"/>
                <a:sym typeface="Courier New"/>
              </a:rPr>
              <a:t> main() {</a:t>
            </a:r>
            <a:endParaRPr sz="1000">
              <a:solidFill>
                <a:srgbClr val="3F7F5F"/>
              </a:solidFill>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int</a:t>
            </a:r>
            <a:r>
              <a:rPr lang="en-GB" sz="1000">
                <a:highlight>
                  <a:srgbClr val="EEEEEC"/>
                </a:highlight>
                <a:latin typeface="Courier New"/>
                <a:ea typeface="Courier New"/>
                <a:cs typeface="Courier New"/>
                <a:sym typeface="Courier New"/>
              </a:rPr>
              <a:t> arr[5]={10,20,30,40,50};</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int</a:t>
            </a:r>
            <a:r>
              <a:rPr lang="en-GB" sz="1000">
                <a:highlight>
                  <a:srgbClr val="EEEEEC"/>
                </a:highlight>
                <a:latin typeface="Courier New"/>
                <a:ea typeface="Courier New"/>
                <a:cs typeface="Courier New"/>
                <a:sym typeface="Courier New"/>
              </a:rPr>
              <a:t> </a:t>
            </a:r>
            <a:r>
              <a:rPr lang="en-GB" sz="1000">
                <a:solidFill>
                  <a:srgbClr val="6A3E3E"/>
                </a:solidFill>
                <a:highlight>
                  <a:srgbClr val="EEEEEC"/>
                </a:highlight>
                <a:latin typeface="Courier New"/>
                <a:ea typeface="Courier New"/>
                <a:cs typeface="Courier New"/>
                <a:sym typeface="Courier New"/>
              </a:rPr>
              <a:t>size</a:t>
            </a:r>
            <a:r>
              <a:rPr lang="en-GB" sz="1000">
                <a:highlight>
                  <a:srgbClr val="EEEEEC"/>
                </a:highlight>
                <a:latin typeface="Courier New"/>
                <a:ea typeface="Courier New"/>
                <a:cs typeface="Courier New"/>
                <a:sym typeface="Courier New"/>
              </a:rPr>
              <a:t> = sizeof(</a:t>
            </a:r>
            <a:r>
              <a:rPr lang="en-GB" sz="1000">
                <a:solidFill>
                  <a:srgbClr val="6A3E3E"/>
                </a:solidFill>
                <a:highlight>
                  <a:srgbClr val="EEEEEC"/>
                </a:highlight>
                <a:latin typeface="Courier New"/>
                <a:ea typeface="Courier New"/>
                <a:cs typeface="Courier New"/>
                <a:sym typeface="Courier New"/>
              </a:rPr>
              <a:t>a</a:t>
            </a:r>
            <a:r>
              <a:rPr lang="en-GB" sz="1000">
                <a:highlight>
                  <a:srgbClr val="EEEEEC"/>
                </a:highlight>
                <a:latin typeface="Courier New"/>
                <a:ea typeface="Courier New"/>
                <a:cs typeface="Courier New"/>
                <a:sym typeface="Courier New"/>
              </a:rPr>
              <a:t>)/sizeof(</a:t>
            </a:r>
            <a:r>
              <a:rPr lang="en-GB" sz="1000">
                <a:solidFill>
                  <a:srgbClr val="6A3E3E"/>
                </a:solidFill>
                <a:highlight>
                  <a:srgbClr val="EEEEEC"/>
                </a:highlight>
                <a:latin typeface="Courier New"/>
                <a:ea typeface="Courier New"/>
                <a:cs typeface="Courier New"/>
                <a:sym typeface="Courier New"/>
              </a:rPr>
              <a:t>a</a:t>
            </a:r>
            <a:r>
              <a:rPr lang="en-GB" sz="1000">
                <a:highlight>
                  <a:srgbClr val="EEEEEC"/>
                </a:highlight>
                <a:latin typeface="Courier New"/>
                <a:ea typeface="Courier New"/>
                <a:cs typeface="Courier New"/>
                <a:sym typeface="Courier New"/>
              </a:rPr>
              <a:t>[0]);</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cout &lt;&lt; </a:t>
            </a:r>
            <a:r>
              <a:rPr lang="en-GB" sz="1000">
                <a:solidFill>
                  <a:srgbClr val="2A00FF"/>
                </a:solidFill>
                <a:highlight>
                  <a:srgbClr val="EEEEEC"/>
                </a:highlight>
                <a:latin typeface="Courier New"/>
                <a:ea typeface="Courier New"/>
                <a:cs typeface="Courier New"/>
                <a:sym typeface="Courier New"/>
              </a:rPr>
              <a:t>"The sum is "</a:t>
            </a:r>
            <a:r>
              <a:rPr lang="en-GB" sz="1000">
                <a:highlight>
                  <a:srgbClr val="EEEEEC"/>
                </a:highlight>
                <a:latin typeface="Courier New"/>
                <a:ea typeface="Courier New"/>
                <a:cs typeface="Courier New"/>
                <a:sym typeface="Courier New"/>
              </a:rPr>
              <a:t>&lt;&lt;sumArray(arr,size)&lt;&lt;endl;</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r>
              <a:rPr b="1" lang="en-GB" sz="1000">
                <a:solidFill>
                  <a:srgbClr val="7F0055"/>
                </a:solidFill>
                <a:highlight>
                  <a:srgbClr val="EEEEEC"/>
                </a:highlight>
                <a:latin typeface="Courier New"/>
                <a:ea typeface="Courier New"/>
                <a:cs typeface="Courier New"/>
                <a:sym typeface="Courier New"/>
              </a:rPr>
              <a:t>return</a:t>
            </a:r>
            <a:r>
              <a:rPr lang="en-GB" sz="1000">
                <a:highlight>
                  <a:srgbClr val="EEEEEC"/>
                </a:highlight>
                <a:latin typeface="Courier New"/>
                <a:ea typeface="Courier New"/>
                <a:cs typeface="Courier New"/>
                <a:sym typeface="Courier New"/>
              </a:rPr>
              <a:t> 0;</a:t>
            </a:r>
            <a:endParaRPr sz="1000">
              <a:highlight>
                <a:srgbClr val="EEEEEC"/>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GB" sz="1000">
                <a:highlight>
                  <a:srgbClr val="EEEEEC"/>
                </a:highlight>
                <a:latin typeface="Courier New"/>
                <a:ea typeface="Courier New"/>
                <a:cs typeface="Courier New"/>
                <a:sym typeface="Courier New"/>
              </a:rPr>
              <a:t>	}</a:t>
            </a:r>
            <a:endParaRPr sz="3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5"/>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Conclusion</a:t>
            </a:r>
            <a:endParaRPr/>
          </a:p>
        </p:txBody>
      </p:sp>
      <p:sp>
        <p:nvSpPr>
          <p:cNvPr id="341" name="Google Shape;341;p45"/>
          <p:cNvSpPr txBox="1"/>
          <p:nvPr>
            <p:ph idx="1" type="body"/>
          </p:nvPr>
        </p:nvSpPr>
        <p:spPr>
          <a:xfrm>
            <a:off x="827474" y="1539700"/>
            <a:ext cx="7656000" cy="3146700"/>
          </a:xfrm>
          <a:prstGeom prst="rect">
            <a:avLst/>
          </a:prstGeom>
        </p:spPr>
        <p:txBody>
          <a:bodyPr anchorCtr="0" anchor="t" bIns="34275" lIns="68575" spcFirstLastPara="1" rIns="68575" wrap="square" tIns="34275">
            <a:normAutofit/>
          </a:bodyPr>
          <a:lstStyle/>
          <a:p>
            <a:pPr indent="-381000" lvl="0" marL="457200" rtl="0" algn="just">
              <a:spcBef>
                <a:spcPts val="800"/>
              </a:spcBef>
              <a:spcAft>
                <a:spcPts val="0"/>
              </a:spcAft>
              <a:buClr>
                <a:srgbClr val="374151"/>
              </a:buClr>
              <a:buSzPts val="2400"/>
              <a:buFont typeface="Roboto"/>
              <a:buAutoNum type="arabicPeriod"/>
            </a:pPr>
            <a:r>
              <a:rPr b="1" lang="en-GB" sz="2400">
                <a:solidFill>
                  <a:srgbClr val="374151"/>
                </a:solidFill>
                <a:highlight>
                  <a:schemeClr val="dk1"/>
                </a:highlight>
                <a:latin typeface="Roboto"/>
                <a:ea typeface="Roboto"/>
                <a:cs typeface="Roboto"/>
                <a:sym typeface="Roboto"/>
              </a:rPr>
              <a:t>Time Complexity: </a:t>
            </a:r>
            <a:endParaRPr b="1" sz="2400">
              <a:solidFill>
                <a:srgbClr val="374151"/>
              </a:solidFill>
              <a:highlight>
                <a:schemeClr val="dk1"/>
              </a:highlight>
              <a:latin typeface="Roboto"/>
              <a:ea typeface="Roboto"/>
              <a:cs typeface="Roboto"/>
              <a:sym typeface="Roboto"/>
            </a:endParaRPr>
          </a:p>
          <a:p>
            <a:pPr indent="0" lvl="0" marL="0" rtl="0" algn="just">
              <a:spcBef>
                <a:spcPts val="800"/>
              </a:spcBef>
              <a:spcAft>
                <a:spcPts val="0"/>
              </a:spcAft>
              <a:buNone/>
            </a:pPr>
            <a:r>
              <a:rPr lang="en-GB" sz="2400">
                <a:solidFill>
                  <a:srgbClr val="374151"/>
                </a:solidFill>
                <a:highlight>
                  <a:schemeClr val="dk1"/>
                </a:highlight>
                <a:latin typeface="Roboto"/>
                <a:ea typeface="Roboto"/>
                <a:cs typeface="Roboto"/>
                <a:sym typeface="Roboto"/>
              </a:rPr>
              <a:t>Time complexity is a measure of the amount of time an algorithm takes with respect to the size of its input. It helps in understanding how the running time of an algorithm increases as the size of the input increases. The common notations used for denoting time complexity are:</a:t>
            </a:r>
            <a:endParaRPr sz="2400">
              <a:highlight>
                <a:schemeClr val="dk1"/>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6"/>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Conclusion(Cont)</a:t>
            </a:r>
            <a:endParaRPr/>
          </a:p>
          <a:p>
            <a:pPr indent="0" lvl="0" marL="0" rtl="0" algn="l">
              <a:spcBef>
                <a:spcPts val="0"/>
              </a:spcBef>
              <a:spcAft>
                <a:spcPts val="0"/>
              </a:spcAft>
              <a:buNone/>
            </a:pPr>
            <a:r>
              <a:t/>
            </a:r>
            <a:endParaRPr/>
          </a:p>
        </p:txBody>
      </p:sp>
      <p:sp>
        <p:nvSpPr>
          <p:cNvPr id="347" name="Google Shape;347;p46"/>
          <p:cNvSpPr txBox="1"/>
          <p:nvPr>
            <p:ph idx="1" type="body"/>
          </p:nvPr>
        </p:nvSpPr>
        <p:spPr>
          <a:xfrm>
            <a:off x="827484" y="1539689"/>
            <a:ext cx="6710100" cy="3146700"/>
          </a:xfrm>
          <a:prstGeom prst="rect">
            <a:avLst/>
          </a:prstGeom>
        </p:spPr>
        <p:txBody>
          <a:bodyPr anchorCtr="0" anchor="t" bIns="34275" lIns="68575" spcFirstLastPara="1" rIns="68575" wrap="square" tIns="34275">
            <a:normAutofit fontScale="92500" lnSpcReduction="20000"/>
          </a:bodyPr>
          <a:lstStyle/>
          <a:p>
            <a:pPr indent="-369570" lvl="0" marL="457200" rtl="0" algn="l">
              <a:lnSpc>
                <a:spcPct val="115000"/>
              </a:lnSpc>
              <a:spcBef>
                <a:spcPts val="1500"/>
              </a:spcBef>
              <a:spcAft>
                <a:spcPts val="0"/>
              </a:spcAft>
              <a:buClr>
                <a:srgbClr val="374151"/>
              </a:buClr>
              <a:buSzPct val="100000"/>
              <a:buFont typeface="Roboto"/>
              <a:buChar char="●"/>
            </a:pPr>
            <a:r>
              <a:rPr lang="en-GB" sz="2400">
                <a:solidFill>
                  <a:srgbClr val="374151"/>
                </a:solidFill>
                <a:highlight>
                  <a:schemeClr val="dk1"/>
                </a:highlight>
                <a:latin typeface="Roboto"/>
                <a:ea typeface="Roboto"/>
                <a:cs typeface="Roboto"/>
                <a:sym typeface="Roboto"/>
              </a:rPr>
              <a:t>O (Big O) Notation: It gives the upper bound of the time an algorithm takes to run, in the worst-case scenario.</a:t>
            </a:r>
            <a:endParaRPr sz="2400">
              <a:solidFill>
                <a:srgbClr val="374151"/>
              </a:solidFill>
              <a:highlight>
                <a:schemeClr val="dk1"/>
              </a:highlight>
              <a:latin typeface="Roboto"/>
              <a:ea typeface="Roboto"/>
              <a:cs typeface="Roboto"/>
              <a:sym typeface="Roboto"/>
            </a:endParaRPr>
          </a:p>
          <a:p>
            <a:pPr indent="-369570" lvl="0" marL="457200" rtl="0" algn="l">
              <a:lnSpc>
                <a:spcPct val="115000"/>
              </a:lnSpc>
              <a:spcBef>
                <a:spcPts val="0"/>
              </a:spcBef>
              <a:spcAft>
                <a:spcPts val="0"/>
              </a:spcAft>
              <a:buClr>
                <a:srgbClr val="374151"/>
              </a:buClr>
              <a:buSzPct val="100000"/>
              <a:buFont typeface="Roboto"/>
              <a:buChar char="●"/>
            </a:pPr>
            <a:r>
              <a:rPr lang="en-GB" sz="2400">
                <a:solidFill>
                  <a:srgbClr val="374151"/>
                </a:solidFill>
                <a:highlight>
                  <a:schemeClr val="dk1"/>
                </a:highlight>
                <a:latin typeface="Roboto"/>
                <a:ea typeface="Roboto"/>
                <a:cs typeface="Roboto"/>
                <a:sym typeface="Roboto"/>
              </a:rPr>
              <a:t>Ω (Big Omega) Notation: It gives the lower bound of the time an algorithm takes to run, in the best-case scenario.</a:t>
            </a:r>
            <a:endParaRPr sz="2400">
              <a:solidFill>
                <a:srgbClr val="374151"/>
              </a:solidFill>
              <a:highlight>
                <a:schemeClr val="dk1"/>
              </a:highlight>
              <a:latin typeface="Roboto"/>
              <a:ea typeface="Roboto"/>
              <a:cs typeface="Roboto"/>
              <a:sym typeface="Roboto"/>
            </a:endParaRPr>
          </a:p>
          <a:p>
            <a:pPr indent="-369570" lvl="0" marL="457200" rtl="0" algn="l">
              <a:lnSpc>
                <a:spcPct val="115000"/>
              </a:lnSpc>
              <a:spcBef>
                <a:spcPts val="0"/>
              </a:spcBef>
              <a:spcAft>
                <a:spcPts val="0"/>
              </a:spcAft>
              <a:buClr>
                <a:srgbClr val="374151"/>
              </a:buClr>
              <a:buSzPct val="100000"/>
              <a:buFont typeface="Roboto"/>
              <a:buChar char="●"/>
            </a:pPr>
            <a:r>
              <a:rPr lang="en-GB" sz="2400">
                <a:solidFill>
                  <a:srgbClr val="374151"/>
                </a:solidFill>
                <a:highlight>
                  <a:schemeClr val="dk1"/>
                </a:highlight>
                <a:latin typeface="Roboto"/>
                <a:ea typeface="Roboto"/>
                <a:cs typeface="Roboto"/>
                <a:sym typeface="Roboto"/>
              </a:rPr>
              <a:t>Θ (Theta) Notation: It provides an average case time complexity.</a:t>
            </a:r>
            <a:endParaRPr sz="2400">
              <a:solidFill>
                <a:srgbClr val="374151"/>
              </a:solidFill>
              <a:highlight>
                <a:schemeClr val="dk1"/>
              </a:highlight>
              <a:latin typeface="Roboto"/>
              <a:ea typeface="Roboto"/>
              <a:cs typeface="Roboto"/>
              <a:sym typeface="Roboto"/>
            </a:endParaRPr>
          </a:p>
          <a:p>
            <a:pPr indent="0" lvl="0" marL="0" rtl="0" algn="l">
              <a:spcBef>
                <a:spcPts val="150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7"/>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Conclusion(Cont)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53" name="Google Shape;353;p47"/>
          <p:cNvSpPr txBox="1"/>
          <p:nvPr>
            <p:ph idx="1" type="body"/>
          </p:nvPr>
        </p:nvSpPr>
        <p:spPr>
          <a:xfrm>
            <a:off x="271750" y="1539700"/>
            <a:ext cx="9041700" cy="4117800"/>
          </a:xfrm>
          <a:prstGeom prst="rect">
            <a:avLst/>
          </a:prstGeom>
        </p:spPr>
        <p:txBody>
          <a:bodyPr anchorCtr="0" anchor="t" bIns="34275" lIns="68575" spcFirstLastPara="1" rIns="68575" wrap="square" tIns="34275">
            <a:noAutofit/>
          </a:bodyPr>
          <a:lstStyle/>
          <a:p>
            <a:pPr indent="0" lvl="0" marL="0" rtl="0" algn="l">
              <a:lnSpc>
                <a:spcPct val="115000"/>
              </a:lnSpc>
              <a:spcBef>
                <a:spcPts val="1500"/>
              </a:spcBef>
              <a:spcAft>
                <a:spcPts val="0"/>
              </a:spcAft>
              <a:buNone/>
            </a:pPr>
            <a:r>
              <a:rPr lang="en-GB" sz="1800">
                <a:solidFill>
                  <a:srgbClr val="374151"/>
                </a:solidFill>
                <a:highlight>
                  <a:schemeClr val="dk1"/>
                </a:highlight>
                <a:latin typeface="Roboto"/>
                <a:ea typeface="Roboto"/>
                <a:cs typeface="Roboto"/>
                <a:sym typeface="Roboto"/>
              </a:rPr>
              <a:t>Common time complexities include:</a:t>
            </a:r>
            <a:endParaRPr sz="1800">
              <a:solidFill>
                <a:srgbClr val="374151"/>
              </a:solidFill>
              <a:highlight>
                <a:schemeClr val="dk1"/>
              </a:highlight>
              <a:latin typeface="Roboto"/>
              <a:ea typeface="Roboto"/>
              <a:cs typeface="Roboto"/>
              <a:sym typeface="Roboto"/>
            </a:endParaRPr>
          </a:p>
          <a:p>
            <a:pPr indent="-342900" lvl="0" marL="457200" rtl="0" algn="l">
              <a:lnSpc>
                <a:spcPct val="115000"/>
              </a:lnSpc>
              <a:spcBef>
                <a:spcPts val="1500"/>
              </a:spcBef>
              <a:spcAft>
                <a:spcPts val="0"/>
              </a:spcAft>
              <a:buClr>
                <a:srgbClr val="374151"/>
              </a:buClr>
              <a:buSzPts val="1800"/>
              <a:buFont typeface="Roboto"/>
              <a:buChar char="●"/>
            </a:pPr>
            <a:r>
              <a:rPr lang="en-GB" sz="1800">
                <a:solidFill>
                  <a:srgbClr val="374151"/>
                </a:solidFill>
                <a:highlight>
                  <a:schemeClr val="dk1"/>
                </a:highlight>
                <a:latin typeface="Roboto"/>
                <a:ea typeface="Roboto"/>
                <a:cs typeface="Roboto"/>
                <a:sym typeface="Roboto"/>
              </a:rPr>
              <a:t>Constant Time (O(1)): The algorithm's running time is constant and does not depend on the size of the input.</a:t>
            </a:r>
            <a:endParaRPr sz="1800">
              <a:solidFill>
                <a:srgbClr val="374151"/>
              </a:solidFill>
              <a:highlight>
                <a:schemeClr val="dk1"/>
              </a:highlight>
              <a:latin typeface="Roboto"/>
              <a:ea typeface="Roboto"/>
              <a:cs typeface="Roboto"/>
              <a:sym typeface="Roboto"/>
            </a:endParaRPr>
          </a:p>
          <a:p>
            <a:pPr indent="-342900" lvl="0" marL="457200" rtl="0" algn="l">
              <a:lnSpc>
                <a:spcPct val="115000"/>
              </a:lnSpc>
              <a:spcBef>
                <a:spcPts val="0"/>
              </a:spcBef>
              <a:spcAft>
                <a:spcPts val="0"/>
              </a:spcAft>
              <a:buClr>
                <a:srgbClr val="374151"/>
              </a:buClr>
              <a:buSzPts val="1800"/>
              <a:buFont typeface="Roboto"/>
              <a:buChar char="●"/>
            </a:pPr>
            <a:r>
              <a:rPr lang="en-GB" sz="1800">
                <a:solidFill>
                  <a:srgbClr val="374151"/>
                </a:solidFill>
                <a:highlight>
                  <a:schemeClr val="dk1"/>
                </a:highlight>
                <a:latin typeface="Roboto"/>
                <a:ea typeface="Roboto"/>
                <a:cs typeface="Roboto"/>
                <a:sym typeface="Roboto"/>
              </a:rPr>
              <a:t>Linear Time (O(n)): The running time of the algorithm increases linearly with the size of the input.</a:t>
            </a:r>
            <a:endParaRPr sz="1800">
              <a:solidFill>
                <a:srgbClr val="374151"/>
              </a:solidFill>
              <a:highlight>
                <a:schemeClr val="dk1"/>
              </a:highlight>
              <a:latin typeface="Roboto"/>
              <a:ea typeface="Roboto"/>
              <a:cs typeface="Roboto"/>
              <a:sym typeface="Roboto"/>
            </a:endParaRPr>
          </a:p>
          <a:p>
            <a:pPr indent="-342900" lvl="0" marL="457200" rtl="0" algn="l">
              <a:lnSpc>
                <a:spcPct val="115000"/>
              </a:lnSpc>
              <a:spcBef>
                <a:spcPts val="0"/>
              </a:spcBef>
              <a:spcAft>
                <a:spcPts val="0"/>
              </a:spcAft>
              <a:buClr>
                <a:srgbClr val="374151"/>
              </a:buClr>
              <a:buSzPts val="1800"/>
              <a:buFont typeface="Roboto"/>
              <a:buChar char="●"/>
            </a:pPr>
            <a:r>
              <a:rPr lang="en-GB" sz="1800">
                <a:solidFill>
                  <a:srgbClr val="374151"/>
                </a:solidFill>
                <a:highlight>
                  <a:schemeClr val="dk1"/>
                </a:highlight>
                <a:latin typeface="Roboto"/>
                <a:ea typeface="Roboto"/>
                <a:cs typeface="Roboto"/>
                <a:sym typeface="Roboto"/>
              </a:rPr>
              <a:t>Logarithmic Time (O(log n)): The running time of the algorithm increases logarithmically with the size of the input.</a:t>
            </a:r>
            <a:endParaRPr sz="1800">
              <a:solidFill>
                <a:srgbClr val="374151"/>
              </a:solidFill>
              <a:highlight>
                <a:schemeClr val="dk1"/>
              </a:highlight>
              <a:latin typeface="Roboto"/>
              <a:ea typeface="Roboto"/>
              <a:cs typeface="Roboto"/>
              <a:sym typeface="Roboto"/>
            </a:endParaRPr>
          </a:p>
          <a:p>
            <a:pPr indent="-342900" lvl="0" marL="457200" rtl="0" algn="l">
              <a:lnSpc>
                <a:spcPct val="115000"/>
              </a:lnSpc>
              <a:spcBef>
                <a:spcPts val="0"/>
              </a:spcBef>
              <a:spcAft>
                <a:spcPts val="0"/>
              </a:spcAft>
              <a:buClr>
                <a:srgbClr val="374151"/>
              </a:buClr>
              <a:buSzPts val="1800"/>
              <a:buFont typeface="Roboto"/>
              <a:buChar char="●"/>
            </a:pPr>
            <a:r>
              <a:rPr lang="en-GB" sz="1800">
                <a:solidFill>
                  <a:srgbClr val="374151"/>
                </a:solidFill>
                <a:highlight>
                  <a:schemeClr val="dk1"/>
                </a:highlight>
                <a:latin typeface="Roboto"/>
                <a:ea typeface="Roboto"/>
                <a:cs typeface="Roboto"/>
                <a:sym typeface="Roboto"/>
              </a:rPr>
              <a:t>Quadratic Time (O(n^2)): The running time of the algorithm increases quadratically with the size of the input.</a:t>
            </a:r>
            <a:endParaRPr sz="1800">
              <a:solidFill>
                <a:srgbClr val="374151"/>
              </a:solidFill>
              <a:highlight>
                <a:schemeClr val="dk1"/>
              </a:highlight>
              <a:latin typeface="Roboto"/>
              <a:ea typeface="Roboto"/>
              <a:cs typeface="Roboto"/>
              <a:sym typeface="Roboto"/>
            </a:endParaRPr>
          </a:p>
          <a:p>
            <a:pPr indent="-342900" lvl="0" marL="457200" rtl="0" algn="l">
              <a:lnSpc>
                <a:spcPct val="115000"/>
              </a:lnSpc>
              <a:spcBef>
                <a:spcPts val="0"/>
              </a:spcBef>
              <a:spcAft>
                <a:spcPts val="0"/>
              </a:spcAft>
              <a:buClr>
                <a:srgbClr val="374151"/>
              </a:buClr>
              <a:buSzPts val="1800"/>
              <a:buFont typeface="Roboto"/>
              <a:buChar char="●"/>
            </a:pPr>
            <a:r>
              <a:rPr lang="en-GB" sz="1800">
                <a:solidFill>
                  <a:srgbClr val="374151"/>
                </a:solidFill>
                <a:highlight>
                  <a:schemeClr val="dk1"/>
                </a:highlight>
                <a:latin typeface="Roboto"/>
                <a:ea typeface="Roboto"/>
                <a:cs typeface="Roboto"/>
                <a:sym typeface="Roboto"/>
              </a:rPr>
              <a:t>Exponential Time (O(2^n)): The running time of the algorithm increases exponentially with the size of the input.</a:t>
            </a:r>
            <a:endParaRPr sz="1800">
              <a:solidFill>
                <a:srgbClr val="374151"/>
              </a:solidFill>
              <a:highlight>
                <a:schemeClr val="dk1"/>
              </a:highlight>
              <a:latin typeface="Roboto"/>
              <a:ea typeface="Roboto"/>
              <a:cs typeface="Roboto"/>
              <a:sym typeface="Roboto"/>
            </a:endParaRPr>
          </a:p>
          <a:p>
            <a:pPr indent="0" lvl="0" marL="0" rtl="0" algn="l">
              <a:spcBef>
                <a:spcPts val="1500"/>
              </a:spcBef>
              <a:spcAft>
                <a:spcPts val="0"/>
              </a:spcAft>
              <a:buNone/>
            </a:pPr>
            <a:r>
              <a:t/>
            </a:r>
            <a:endParaRPr sz="1800">
              <a:highlight>
                <a:schemeClr val="dk1"/>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Conclusion(Cont)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59" name="Google Shape;359;p48"/>
          <p:cNvSpPr txBox="1"/>
          <p:nvPr>
            <p:ph idx="1" type="body"/>
          </p:nvPr>
        </p:nvSpPr>
        <p:spPr>
          <a:xfrm>
            <a:off x="827473" y="1539700"/>
            <a:ext cx="7848900" cy="31467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GB" sz="2400">
                <a:solidFill>
                  <a:srgbClr val="374151"/>
                </a:solidFill>
                <a:highlight>
                  <a:schemeClr val="dk1"/>
                </a:highlight>
                <a:latin typeface="Roboto"/>
                <a:ea typeface="Roboto"/>
                <a:cs typeface="Roboto"/>
                <a:sym typeface="Roboto"/>
              </a:rPr>
              <a:t>2.</a:t>
            </a:r>
            <a:r>
              <a:rPr b="1" lang="en-GB" sz="2400">
                <a:solidFill>
                  <a:srgbClr val="374151"/>
                </a:solidFill>
                <a:highlight>
                  <a:schemeClr val="dk1"/>
                </a:highlight>
                <a:latin typeface="Roboto"/>
                <a:ea typeface="Roboto"/>
                <a:cs typeface="Roboto"/>
                <a:sym typeface="Roboto"/>
              </a:rPr>
              <a:t> Space Complexity: </a:t>
            </a:r>
            <a:endParaRPr b="1" sz="2400">
              <a:solidFill>
                <a:srgbClr val="374151"/>
              </a:solidFill>
              <a:highlight>
                <a:schemeClr val="dk1"/>
              </a:highlight>
              <a:latin typeface="Roboto"/>
              <a:ea typeface="Roboto"/>
              <a:cs typeface="Roboto"/>
              <a:sym typeface="Roboto"/>
            </a:endParaRPr>
          </a:p>
          <a:p>
            <a:pPr indent="0" lvl="0" marL="0" rtl="0" algn="l">
              <a:spcBef>
                <a:spcPts val="800"/>
              </a:spcBef>
              <a:spcAft>
                <a:spcPts val="0"/>
              </a:spcAft>
              <a:buNone/>
            </a:pPr>
            <a:r>
              <a:rPr lang="en-GB" sz="2400">
                <a:solidFill>
                  <a:srgbClr val="374151"/>
                </a:solidFill>
                <a:highlight>
                  <a:schemeClr val="dk1"/>
                </a:highlight>
                <a:latin typeface="Roboto"/>
                <a:ea typeface="Roboto"/>
                <a:cs typeface="Roboto"/>
                <a:sym typeface="Roboto"/>
              </a:rPr>
              <a:t>Space complexity refers to the amount of memory space that an algorithm requires to solve a problem. It's a measure of the maximum amount of memory space used by the algorithm for a given problem size. Similar to time complexity, space complexity can also be denoted using Big O notation.</a:t>
            </a:r>
            <a:endParaRPr sz="2400">
              <a:highlight>
                <a:schemeClr val="dk1"/>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9"/>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Conclusion(Cont)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65" name="Google Shape;365;p49"/>
          <p:cNvSpPr txBox="1"/>
          <p:nvPr>
            <p:ph idx="1" type="body"/>
          </p:nvPr>
        </p:nvSpPr>
        <p:spPr>
          <a:xfrm>
            <a:off x="827484" y="1539689"/>
            <a:ext cx="6710100" cy="3146700"/>
          </a:xfrm>
          <a:prstGeom prst="rect">
            <a:avLst/>
          </a:prstGeom>
        </p:spPr>
        <p:txBody>
          <a:bodyPr anchorCtr="0" anchor="t" bIns="34275" lIns="68575" spcFirstLastPara="1" rIns="68575" wrap="square" tIns="34275">
            <a:normAutofit/>
          </a:bodyPr>
          <a:lstStyle/>
          <a:p>
            <a:pPr indent="0" lvl="0" marL="0" rtl="0" algn="just">
              <a:spcBef>
                <a:spcPts val="800"/>
              </a:spcBef>
              <a:spcAft>
                <a:spcPts val="0"/>
              </a:spcAft>
              <a:buNone/>
            </a:pPr>
            <a:r>
              <a:rPr lang="en-GB" sz="2400">
                <a:solidFill>
                  <a:srgbClr val="374151"/>
                </a:solidFill>
                <a:highlight>
                  <a:schemeClr val="dk1"/>
                </a:highlight>
                <a:latin typeface="Roboto"/>
                <a:ea typeface="Roboto"/>
                <a:cs typeface="Roboto"/>
                <a:sym typeface="Roboto"/>
              </a:rPr>
              <a:t>It's important to analyze both time and space complexities while evaluating algorithms, as a trade-off between the two may often exist. Choosing the right algorithm involves considering both time and space complexities, along with the specific requirements and constraints of the problem at hand.</a:t>
            </a:r>
            <a:endParaRPr sz="2400">
              <a:highlight>
                <a:schemeClr val="dk1"/>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ph type="title"/>
          </p:nvPr>
        </p:nvSpPr>
        <p:spPr>
          <a:xfrm>
            <a:off x="484583" y="339539"/>
            <a:ext cx="7053600" cy="10503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Read More</a:t>
            </a:r>
            <a:endParaRPr/>
          </a:p>
        </p:txBody>
      </p:sp>
      <p:sp>
        <p:nvSpPr>
          <p:cNvPr id="371" name="Google Shape;371;p50"/>
          <p:cNvSpPr txBox="1"/>
          <p:nvPr>
            <p:ph idx="1" type="body"/>
          </p:nvPr>
        </p:nvSpPr>
        <p:spPr>
          <a:xfrm>
            <a:off x="827484" y="1539689"/>
            <a:ext cx="6710100" cy="3146700"/>
          </a:xfrm>
          <a:prstGeom prst="rect">
            <a:avLst/>
          </a:prstGeom>
        </p:spPr>
        <p:txBody>
          <a:bodyPr anchorCtr="0" anchor="t" bIns="34275" lIns="68575" spcFirstLastPara="1" rIns="68575" wrap="square" tIns="34275">
            <a:normAutofit/>
          </a:bodyPr>
          <a:lstStyle/>
          <a:p>
            <a:pPr indent="-298450" lvl="0" marL="457200" rtl="0" algn="l">
              <a:spcBef>
                <a:spcPts val="800"/>
              </a:spcBef>
              <a:spcAft>
                <a:spcPts val="0"/>
              </a:spcAft>
              <a:buSzPts val="1100"/>
              <a:buAutoNum type="arabicPeriod"/>
            </a:pPr>
            <a:r>
              <a:rPr lang="en-GB" u="sng">
                <a:solidFill>
                  <a:schemeClr val="hlink"/>
                </a:solidFill>
                <a:hlinkClick r:id="rId3"/>
              </a:rPr>
              <a:t>https://www.scholarhat.com/tutorial/datastructures/complexity-analysis-of-data-structures-and-algorithms</a:t>
            </a:r>
            <a:endParaRPr/>
          </a:p>
          <a:p>
            <a:pPr indent="-298450" lvl="0" marL="457200" rtl="0" algn="l">
              <a:spcBef>
                <a:spcPts val="0"/>
              </a:spcBef>
              <a:spcAft>
                <a:spcPts val="0"/>
              </a:spcAft>
              <a:buSzPts val="1100"/>
              <a:buAutoNum type="arabicPeriod"/>
            </a:pPr>
            <a:r>
              <a:rPr lang="en-GB" u="sng">
                <a:solidFill>
                  <a:schemeClr val="hlink"/>
                </a:solidFill>
                <a:hlinkClick r:id="rId4"/>
              </a:rPr>
              <a:t>https://www.geeksforgeeks.org/complete-guide-on-complexity-analysis/</a:t>
            </a:r>
            <a:endParaRPr/>
          </a:p>
          <a:p>
            <a:pPr indent="-298450" lvl="0" marL="457200" rtl="0" algn="l">
              <a:spcBef>
                <a:spcPts val="0"/>
              </a:spcBef>
              <a:spcAft>
                <a:spcPts val="0"/>
              </a:spcAft>
              <a:buSzPts val="1100"/>
              <a:buAutoNum type="arabicPeriod"/>
            </a:pPr>
            <a:r>
              <a:rPr lang="en-GB" u="sng">
                <a:solidFill>
                  <a:schemeClr val="hlink"/>
                </a:solidFill>
                <a:hlinkClick r:id="rId5"/>
              </a:rPr>
              <a:t>https://thegeekplanets.medium.com/the-ultimate-guide-to-complexity-analysis-in-data-structures-and-algorithms-c4f9be147a54</a:t>
            </a:r>
            <a:endParaRPr/>
          </a:p>
          <a:p>
            <a:pPr indent="0" lvl="0" marL="457200" rtl="0" algn="l">
              <a:spcBef>
                <a:spcPts val="80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1"/>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2.2 Introduction to Data Structure analysis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52"/>
          <p:cNvPicPr preferRelativeResize="0"/>
          <p:nvPr/>
        </p:nvPicPr>
        <p:blipFill>
          <a:blip r:embed="rId3">
            <a:alphaModFix/>
          </a:blip>
          <a:stretch>
            <a:fillRect/>
          </a:stretch>
        </p:blipFill>
        <p:spPr>
          <a:xfrm>
            <a:off x="3358552" y="1231913"/>
            <a:ext cx="2906525" cy="2033463"/>
          </a:xfrm>
          <a:prstGeom prst="rect">
            <a:avLst/>
          </a:prstGeom>
          <a:noFill/>
          <a:ln>
            <a:noFill/>
          </a:ln>
        </p:spPr>
      </p:pic>
      <p:pic>
        <p:nvPicPr>
          <p:cNvPr id="382" name="Google Shape;382;p52"/>
          <p:cNvPicPr preferRelativeResize="0"/>
          <p:nvPr/>
        </p:nvPicPr>
        <p:blipFill>
          <a:blip r:embed="rId4">
            <a:alphaModFix/>
          </a:blip>
          <a:stretch>
            <a:fillRect/>
          </a:stretch>
        </p:blipFill>
        <p:spPr>
          <a:xfrm>
            <a:off x="6326963" y="1047150"/>
            <a:ext cx="2688737" cy="2181225"/>
          </a:xfrm>
          <a:prstGeom prst="rect">
            <a:avLst/>
          </a:prstGeom>
          <a:noFill/>
          <a:ln>
            <a:noFill/>
          </a:ln>
        </p:spPr>
      </p:pic>
      <p:pic>
        <p:nvPicPr>
          <p:cNvPr id="383" name="Google Shape;383;p52"/>
          <p:cNvPicPr preferRelativeResize="0"/>
          <p:nvPr/>
        </p:nvPicPr>
        <p:blipFill>
          <a:blip r:embed="rId5">
            <a:alphaModFix/>
          </a:blip>
          <a:stretch>
            <a:fillRect/>
          </a:stretch>
        </p:blipFill>
        <p:spPr>
          <a:xfrm>
            <a:off x="204775" y="3628025"/>
            <a:ext cx="6742676" cy="1154150"/>
          </a:xfrm>
          <a:prstGeom prst="rect">
            <a:avLst/>
          </a:prstGeom>
          <a:noFill/>
          <a:ln>
            <a:noFill/>
          </a:ln>
        </p:spPr>
      </p:pic>
      <p:pic>
        <p:nvPicPr>
          <p:cNvPr id="384" name="Google Shape;384;p52"/>
          <p:cNvPicPr preferRelativeResize="0"/>
          <p:nvPr/>
        </p:nvPicPr>
        <p:blipFill>
          <a:blip r:embed="rId6">
            <a:alphaModFix/>
          </a:blip>
          <a:stretch>
            <a:fillRect/>
          </a:stretch>
        </p:blipFill>
        <p:spPr>
          <a:xfrm>
            <a:off x="6824951" y="2820725"/>
            <a:ext cx="2095500" cy="2181225"/>
          </a:xfrm>
          <a:prstGeom prst="rect">
            <a:avLst/>
          </a:prstGeom>
          <a:noFill/>
          <a:ln>
            <a:noFill/>
          </a:ln>
        </p:spPr>
      </p:pic>
      <p:sp>
        <p:nvSpPr>
          <p:cNvPr id="385" name="Google Shape;385;p52"/>
          <p:cNvSpPr txBox="1"/>
          <p:nvPr/>
        </p:nvSpPr>
        <p:spPr>
          <a:xfrm>
            <a:off x="204775" y="95250"/>
            <a:ext cx="8552400" cy="95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000"/>
              <a:t>Observe the figures and describe what you see; </a:t>
            </a:r>
            <a:endParaRPr b="1" sz="3000"/>
          </a:p>
        </p:txBody>
      </p:sp>
      <p:pic>
        <p:nvPicPr>
          <p:cNvPr id="386" name="Google Shape;386;p52"/>
          <p:cNvPicPr preferRelativeResize="0"/>
          <p:nvPr/>
        </p:nvPicPr>
        <p:blipFill>
          <a:blip r:embed="rId7">
            <a:alphaModFix/>
          </a:blip>
          <a:stretch>
            <a:fillRect/>
          </a:stretch>
        </p:blipFill>
        <p:spPr>
          <a:xfrm>
            <a:off x="0" y="1390450"/>
            <a:ext cx="3048725" cy="171641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3"/>
          <p:cNvSpPr txBox="1"/>
          <p:nvPr>
            <p:ph type="title"/>
          </p:nvPr>
        </p:nvSpPr>
        <p:spPr>
          <a:xfrm>
            <a:off x="311700" y="1402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600"/>
              </a:spcAft>
              <a:buClr>
                <a:schemeClr val="dk1"/>
              </a:buClr>
              <a:buSzPts val="1100"/>
              <a:buFont typeface="Arial"/>
              <a:buNone/>
            </a:pPr>
            <a:r>
              <a:rPr b="1" lang="en-GB" sz="2500">
                <a:solidFill>
                  <a:schemeClr val="dk2"/>
                </a:solidFill>
              </a:rPr>
              <a:t>2.2.1 Introduction to Data Structures</a:t>
            </a:r>
            <a:endParaRPr b="1" sz="2500"/>
          </a:p>
        </p:txBody>
      </p:sp>
      <p:sp>
        <p:nvSpPr>
          <p:cNvPr id="392" name="Google Shape;392;p53"/>
          <p:cNvSpPr txBox="1"/>
          <p:nvPr>
            <p:ph idx="1" type="body"/>
          </p:nvPr>
        </p:nvSpPr>
        <p:spPr>
          <a:xfrm>
            <a:off x="540300" y="771475"/>
            <a:ext cx="85206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700"/>
              <a:t>Data Structure </a:t>
            </a:r>
            <a:r>
              <a:rPr lang="en-GB" sz="1700"/>
              <a:t>is a logical or mathematical model for collecting and organizing data in such a way that we can perform operations on these data in an effective way. Data Structures is about rendering data elements in terms of some relationship, for better organization and Storage.</a:t>
            </a:r>
            <a:endParaRPr sz="1700"/>
          </a:p>
          <a:p>
            <a:pPr indent="0" lvl="0" marL="0" rtl="0" algn="l">
              <a:spcBef>
                <a:spcPts val="0"/>
              </a:spcBef>
              <a:spcAft>
                <a:spcPts val="0"/>
              </a:spcAft>
              <a:buClr>
                <a:schemeClr val="dk1"/>
              </a:buClr>
              <a:buSzPts val="1100"/>
              <a:buFont typeface="Arial"/>
              <a:buNone/>
            </a:pPr>
            <a:r>
              <a:t/>
            </a:r>
            <a:endParaRPr sz="1700"/>
          </a:p>
          <a:p>
            <a:pPr indent="0" lvl="0" marL="0" rtl="0" algn="l">
              <a:spcBef>
                <a:spcPts val="0"/>
              </a:spcBef>
              <a:spcAft>
                <a:spcPts val="0"/>
              </a:spcAft>
              <a:buClr>
                <a:schemeClr val="dk1"/>
              </a:buClr>
              <a:buSzPts val="1100"/>
              <a:buFont typeface="Arial"/>
              <a:buNone/>
            </a:pPr>
            <a:r>
              <a:rPr lang="en-GB" sz="1700"/>
              <a:t>Example: Library is composed of elements (books) to access a particular book requires knowledge of the arrangement of the books.</a:t>
            </a:r>
            <a:endParaRPr sz="1700"/>
          </a:p>
          <a:p>
            <a:pPr indent="0" lvl="0" marL="0" rtl="0" algn="l">
              <a:spcBef>
                <a:spcPts val="0"/>
              </a:spcBef>
              <a:spcAft>
                <a:spcPts val="0"/>
              </a:spcAft>
              <a:buClr>
                <a:schemeClr val="dk1"/>
              </a:buClr>
              <a:buSzPts val="1100"/>
              <a:buFont typeface="Arial"/>
              <a:buNone/>
            </a:pPr>
            <a:r>
              <a:rPr lang="en-GB" sz="1700"/>
              <a:t>If we arrange some data in appropriate sequence, then it forms a </a:t>
            </a:r>
            <a:r>
              <a:rPr b="1" lang="en-GB" sz="1700"/>
              <a:t>Structure</a:t>
            </a:r>
            <a:r>
              <a:rPr lang="en-GB" sz="1700"/>
              <a:t> and gives us a meaning. This meaning is called </a:t>
            </a:r>
            <a:r>
              <a:rPr b="1" lang="en-GB" sz="1700"/>
              <a:t>information</a:t>
            </a:r>
            <a:r>
              <a:rPr lang="en-GB" sz="1700"/>
              <a:t>. The basic unit of information in computer Science is a bit, binary digit. So we found two things in information: One is </a:t>
            </a:r>
            <a:r>
              <a:rPr b="1" lang="en-GB" sz="1700"/>
              <a:t>Data</a:t>
            </a:r>
            <a:r>
              <a:rPr lang="en-GB" sz="1700"/>
              <a:t> and the other is </a:t>
            </a:r>
            <a:r>
              <a:rPr b="1" lang="en-GB" sz="1700"/>
              <a:t>Structure</a:t>
            </a:r>
            <a:endParaRPr sz="1700">
              <a:highlight>
                <a:srgbClr val="F6B26B"/>
              </a:highlight>
            </a:endParaRPr>
          </a:p>
          <a:p>
            <a:pPr indent="0" lvl="0" marL="0" rtl="0" algn="l">
              <a:spcBef>
                <a:spcPts val="1200"/>
              </a:spcBef>
              <a:spcAft>
                <a:spcPts val="1200"/>
              </a:spcAft>
              <a:buNone/>
            </a:pPr>
            <a:r>
              <a:t/>
            </a: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4"/>
          <p:cNvSpPr txBox="1"/>
          <p:nvPr>
            <p:ph type="title"/>
          </p:nvPr>
        </p:nvSpPr>
        <p:spPr>
          <a:xfrm>
            <a:off x="473550" y="263100"/>
            <a:ext cx="8196900" cy="50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800"/>
              <a:t>Relationship between Data Structures vs  Algorithms </a:t>
            </a:r>
            <a:endParaRPr sz="1800"/>
          </a:p>
        </p:txBody>
      </p:sp>
      <p:sp>
        <p:nvSpPr>
          <p:cNvPr id="398" name="Google Shape;398;p54"/>
          <p:cNvSpPr txBox="1"/>
          <p:nvPr>
            <p:ph idx="1" type="body"/>
          </p:nvPr>
        </p:nvSpPr>
        <p:spPr>
          <a:xfrm>
            <a:off x="349400" y="652650"/>
            <a:ext cx="8259300" cy="4281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GB" sz="1571">
                <a:highlight>
                  <a:srgbClr val="F9F9F9"/>
                </a:highlight>
                <a:latin typeface="Nunito"/>
                <a:ea typeface="Nunito"/>
                <a:cs typeface="Nunito"/>
                <a:sym typeface="Nunito"/>
              </a:rPr>
              <a:t>Data structures and algorithms are two interrelated concepts in computer science. </a:t>
            </a:r>
            <a:r>
              <a:rPr b="1" lang="en-GB" sz="1571">
                <a:highlight>
                  <a:srgbClr val="F9F9F9"/>
                </a:highlight>
                <a:latin typeface="Nunito"/>
                <a:ea typeface="Nunito"/>
                <a:cs typeface="Nunito"/>
                <a:sym typeface="Nunito"/>
              </a:rPr>
              <a:t>Data structures refer to the organization, storage, and retrieval of data,</a:t>
            </a:r>
            <a:r>
              <a:rPr lang="en-GB" sz="1571">
                <a:highlight>
                  <a:srgbClr val="F9F9F9"/>
                </a:highlight>
                <a:latin typeface="Nunito"/>
                <a:ea typeface="Nunito"/>
                <a:cs typeface="Nunito"/>
                <a:sym typeface="Nunito"/>
              </a:rPr>
              <a:t> </a:t>
            </a:r>
            <a:r>
              <a:rPr b="1" lang="en-GB" sz="1571">
                <a:highlight>
                  <a:srgbClr val="F9F9F9"/>
                </a:highlight>
                <a:latin typeface="Nunito"/>
                <a:ea typeface="Nunito"/>
                <a:cs typeface="Nunito"/>
                <a:sym typeface="Nunito"/>
              </a:rPr>
              <a:t>while algorithms refer to the set of instructions used to solve a particular problem or perform a specific task.</a:t>
            </a:r>
            <a:endParaRPr b="1" sz="1571">
              <a:highlight>
                <a:srgbClr val="F9F9F9"/>
              </a:highlight>
              <a:latin typeface="Nunito"/>
              <a:ea typeface="Nunito"/>
              <a:cs typeface="Nunito"/>
              <a:sym typeface="Nunito"/>
            </a:endParaRPr>
          </a:p>
          <a:p>
            <a:pPr indent="0" lvl="0" marL="0" rtl="0" algn="l">
              <a:lnSpc>
                <a:spcPct val="100000"/>
              </a:lnSpc>
              <a:spcBef>
                <a:spcPts val="1200"/>
              </a:spcBef>
              <a:spcAft>
                <a:spcPts val="0"/>
              </a:spcAft>
              <a:buNone/>
            </a:pPr>
            <a:r>
              <a:rPr lang="en-GB" sz="1829">
                <a:solidFill>
                  <a:srgbClr val="0000FF"/>
                </a:solidFill>
                <a:highlight>
                  <a:srgbClr val="FFFFFF"/>
                </a:highlight>
                <a:latin typeface="Nunito"/>
                <a:ea typeface="Nunito"/>
                <a:cs typeface="Nunito"/>
                <a:sym typeface="Nunito"/>
              </a:rPr>
              <a:t>Data structures provide a framework for storing and accessing data that algorithms can operate on.</a:t>
            </a:r>
            <a:endParaRPr sz="1829">
              <a:solidFill>
                <a:srgbClr val="0000FF"/>
              </a:solidFill>
              <a:highlight>
                <a:srgbClr val="FFFFFF"/>
              </a:highlight>
              <a:latin typeface="Nunito"/>
              <a:ea typeface="Nunito"/>
              <a:cs typeface="Nunito"/>
              <a:sym typeface="Nunito"/>
            </a:endParaRPr>
          </a:p>
          <a:p>
            <a:pPr indent="0" lvl="0" marL="0" rtl="0" algn="l">
              <a:lnSpc>
                <a:spcPct val="100000"/>
              </a:lnSpc>
              <a:spcBef>
                <a:spcPts val="0"/>
              </a:spcBef>
              <a:spcAft>
                <a:spcPts val="0"/>
              </a:spcAft>
              <a:buNone/>
            </a:pPr>
            <a:r>
              <a:t/>
            </a:r>
            <a:endParaRPr sz="1829">
              <a:solidFill>
                <a:srgbClr val="0000FF"/>
              </a:solidFill>
              <a:highlight>
                <a:srgbClr val="FFFFFF"/>
              </a:highlight>
              <a:latin typeface="Nunito"/>
              <a:ea typeface="Nunito"/>
              <a:cs typeface="Nunito"/>
              <a:sym typeface="Nunito"/>
            </a:endParaRPr>
          </a:p>
          <a:p>
            <a:pPr indent="0" lvl="0" marL="0" rtl="0" algn="l">
              <a:spcBef>
                <a:spcPts val="0"/>
              </a:spcBef>
              <a:spcAft>
                <a:spcPts val="0"/>
              </a:spcAft>
              <a:buNone/>
            </a:pPr>
            <a:r>
              <a:rPr lang="en-GB" sz="1571">
                <a:solidFill>
                  <a:srgbClr val="273239"/>
                </a:solidFill>
                <a:highlight>
                  <a:srgbClr val="FFFFFF"/>
                </a:highlight>
                <a:latin typeface="Nunito"/>
                <a:ea typeface="Nunito"/>
                <a:cs typeface="Nunito"/>
                <a:sym typeface="Nunito"/>
              </a:rPr>
              <a:t>Data structures and algorithms are often used together to create efficient and effective software solutions. For example, a sorting algorithm can be used to sort data in an array, while a search algorithm can be used to find a particular item in a linked list.</a:t>
            </a:r>
            <a:endParaRPr b="1" sz="1571">
              <a:solidFill>
                <a:srgbClr val="FF9900"/>
              </a:solidFill>
              <a:highlight>
                <a:srgbClr val="F9F9F9"/>
              </a:highlight>
              <a:latin typeface="Nunito"/>
              <a:ea typeface="Nunito"/>
              <a:cs typeface="Nunito"/>
              <a:sym typeface="Nunito"/>
            </a:endParaRPr>
          </a:p>
          <a:p>
            <a:pPr indent="0" lvl="0" marL="0" rtl="0" algn="l">
              <a:lnSpc>
                <a:spcPct val="158000"/>
              </a:lnSpc>
              <a:spcBef>
                <a:spcPts val="1200"/>
              </a:spcBef>
              <a:spcAft>
                <a:spcPts val="1800"/>
              </a:spcAft>
              <a:buNone/>
            </a:pPr>
            <a:r>
              <a:rPr lang="en-GB" sz="1571">
                <a:solidFill>
                  <a:srgbClr val="273239"/>
                </a:solidFill>
                <a:highlight>
                  <a:srgbClr val="FFFFFF"/>
                </a:highlight>
                <a:latin typeface="Nunito"/>
                <a:ea typeface="Nunito"/>
                <a:cs typeface="Nunito"/>
                <a:sym typeface="Nunito"/>
              </a:rPr>
              <a:t>Efficient data structures and algorithms are critical to the performance of software systems. The choice of data structure and algorithm depends on the type of data being processed and the nature of the problem to be solved. By selecting the most appropriate data structure and algorithm, software developers can create high-performance solutions that are both efficient and effective.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5"/>
          <p:cNvSpPr txBox="1"/>
          <p:nvPr>
            <p:ph type="title"/>
          </p:nvPr>
        </p:nvSpPr>
        <p:spPr>
          <a:xfrm>
            <a:off x="551250" y="232025"/>
            <a:ext cx="8196900" cy="50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800"/>
              <a:t>Difference and Relationship between Data Structures vs  Algorithms </a:t>
            </a:r>
            <a:endParaRPr sz="1800"/>
          </a:p>
        </p:txBody>
      </p:sp>
      <p:graphicFrame>
        <p:nvGraphicFramePr>
          <p:cNvPr id="404" name="Google Shape;404;p55"/>
          <p:cNvGraphicFramePr/>
          <p:nvPr/>
        </p:nvGraphicFramePr>
        <p:xfrm>
          <a:off x="481200" y="716400"/>
          <a:ext cx="3000000" cy="3000000"/>
        </p:xfrm>
        <a:graphic>
          <a:graphicData uri="http://schemas.openxmlformats.org/drawingml/2006/table">
            <a:tbl>
              <a:tblPr>
                <a:solidFill>
                  <a:srgbClr val="FFFFFF"/>
                </a:solidFill>
                <a:tableStyleId>{B2C6DC54-6E07-45FE-A450-AA9DDC4D1939}</a:tableStyleId>
              </a:tblPr>
              <a:tblGrid>
                <a:gridCol w="996275"/>
                <a:gridCol w="3413675"/>
                <a:gridCol w="3898850"/>
              </a:tblGrid>
              <a:tr h="272000">
                <a:tc>
                  <a:txBody>
                    <a:bodyPr/>
                    <a:lstStyle/>
                    <a:p>
                      <a:pPr indent="0" lvl="0" marL="0" rtl="0" algn="l">
                        <a:spcBef>
                          <a:spcPts val="0"/>
                        </a:spcBef>
                        <a:spcAft>
                          <a:spcPts val="0"/>
                        </a:spcAft>
                        <a:buNone/>
                      </a:pPr>
                      <a:r>
                        <a:rPr b="1" lang="en-GB" sz="1200"/>
                        <a:t>Aspect</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b="1" lang="en-GB" sz="1200"/>
                        <a:t>Data Structures</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b="1" lang="en-GB" sz="1200"/>
                        <a:t>Algorithms</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466450">
                <a:tc>
                  <a:txBody>
                    <a:bodyPr/>
                    <a:lstStyle/>
                    <a:p>
                      <a:pPr indent="0" lvl="0" marL="0" rtl="0" algn="l">
                        <a:spcBef>
                          <a:spcPts val="0"/>
                        </a:spcBef>
                        <a:spcAft>
                          <a:spcPts val="0"/>
                        </a:spcAft>
                        <a:buNone/>
                      </a:pPr>
                      <a:r>
                        <a:rPr b="1" lang="en-GB" sz="1200"/>
                        <a:t>Definition</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The way data is organized, stored, and retrieved</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A set of instructions used to solve a specific problem </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612350">
                <a:tc>
                  <a:txBody>
                    <a:bodyPr/>
                    <a:lstStyle/>
                    <a:p>
                      <a:pPr indent="0" lvl="0" marL="0" rtl="0" algn="l">
                        <a:spcBef>
                          <a:spcPts val="0"/>
                        </a:spcBef>
                        <a:spcAft>
                          <a:spcPts val="0"/>
                        </a:spcAft>
                        <a:buNone/>
                      </a:pPr>
                      <a:r>
                        <a:rPr b="1" lang="en-GB" sz="1200"/>
                        <a:t>Purpose</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Provides an efficient way to organize and store data for easy retrieval and modification</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Provides a systematic approach to solving problems by breaking them down into smaller, more manageable steps</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466450">
                <a:tc>
                  <a:txBody>
                    <a:bodyPr/>
                    <a:lstStyle/>
                    <a:p>
                      <a:pPr indent="0" lvl="0" marL="0" rtl="0" algn="l">
                        <a:spcBef>
                          <a:spcPts val="0"/>
                        </a:spcBef>
                        <a:spcAft>
                          <a:spcPts val="0"/>
                        </a:spcAft>
                        <a:buNone/>
                      </a:pPr>
                      <a:r>
                        <a:rPr b="1" lang="en-GB" sz="1200"/>
                        <a:t>Operations</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Insertion, Deletion, Search, Update, Traverse, etc.</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Sorting, Searching, Optimization, Pathfinding, etc.</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466450">
                <a:tc>
                  <a:txBody>
                    <a:bodyPr/>
                    <a:lstStyle/>
                    <a:p>
                      <a:pPr indent="0" lvl="0" marL="0" rtl="0" algn="l">
                        <a:spcBef>
                          <a:spcPts val="0"/>
                        </a:spcBef>
                        <a:spcAft>
                          <a:spcPts val="0"/>
                        </a:spcAft>
                        <a:buNone/>
                      </a:pPr>
                      <a:r>
                        <a:rPr b="1" lang="en-GB" sz="1200"/>
                        <a:t>Importance</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Essential for efficient data storage and retrieval</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Crucial for developing efficient software solutions</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612350">
                <a:tc>
                  <a:txBody>
                    <a:bodyPr/>
                    <a:lstStyle/>
                    <a:p>
                      <a:pPr indent="0" lvl="0" marL="0" rtl="0" algn="l">
                        <a:spcBef>
                          <a:spcPts val="0"/>
                        </a:spcBef>
                        <a:spcAft>
                          <a:spcPts val="0"/>
                        </a:spcAft>
                        <a:buNone/>
                      </a:pPr>
                      <a:r>
                        <a:rPr b="1" lang="en-GB" sz="1200"/>
                        <a:t>Relationship</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GB" sz="1200"/>
                        <a:t>Data structures provide a framework for storing and accessing data that algorithms can operate on</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lang="en-GB" sz="1200"/>
                        <a:t>Algorithms often operate on data structures to process or manipulate data</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solidFill>
                      <a:srgbClr val="FCE5CD"/>
                    </a:solidFill>
                  </a:tcPr>
                </a:tc>
              </a:tr>
              <a:tr h="609075">
                <a:tc>
                  <a:txBody>
                    <a:bodyPr/>
                    <a:lstStyle/>
                    <a:p>
                      <a:pPr indent="0" lvl="0" marL="0" rtl="0" algn="l">
                        <a:spcBef>
                          <a:spcPts val="0"/>
                        </a:spcBef>
                        <a:spcAft>
                          <a:spcPts val="0"/>
                        </a:spcAft>
                        <a:buNone/>
                      </a:pPr>
                      <a:r>
                        <a:rPr b="1" lang="en-GB" sz="1200"/>
                        <a:t>Performance</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The efficiency of data structures determines the efficiency of algorithms that operate on them</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The choice of algorithm can have a significant impact on the performance of the software solution</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466450">
                <a:tc>
                  <a:txBody>
                    <a:bodyPr/>
                    <a:lstStyle/>
                    <a:p>
                      <a:pPr indent="0" lvl="0" marL="0" rtl="0" algn="l">
                        <a:spcBef>
                          <a:spcPts val="0"/>
                        </a:spcBef>
                        <a:spcAft>
                          <a:spcPts val="0"/>
                        </a:spcAft>
                        <a:buNone/>
                      </a:pPr>
                      <a:r>
                        <a:rPr b="1" lang="en-GB" sz="1200"/>
                        <a:t>Examples</a:t>
                      </a:r>
                      <a:endParaRPr b="1"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Array, Linked List, Stack, Queue, Tree, Graph, Hash Table, etc.</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rtl="0" algn="l">
                        <a:spcBef>
                          <a:spcPts val="0"/>
                        </a:spcBef>
                        <a:spcAft>
                          <a:spcPts val="0"/>
                        </a:spcAft>
                        <a:buNone/>
                      </a:pPr>
                      <a:r>
                        <a:rPr lang="en-GB" sz="1200"/>
                        <a:t>Sorting, Searching, Graph Traversal, Dynamic Programming, Divide and Conquer, etc.</a:t>
                      </a:r>
                      <a:endParaRPr sz="1200"/>
                    </a:p>
                  </a:txBody>
                  <a:tcPr marT="36000" marB="36000" marR="36000" marL="36000"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6"/>
          <p:cNvSpPr txBox="1"/>
          <p:nvPr>
            <p:ph type="title"/>
          </p:nvPr>
        </p:nvSpPr>
        <p:spPr>
          <a:xfrm>
            <a:off x="411800" y="357400"/>
            <a:ext cx="8196900" cy="50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800"/>
              <a:t>Relationship between Data Structures vs  Algorithms  Time Complexity</a:t>
            </a:r>
            <a:endParaRPr sz="1800"/>
          </a:p>
        </p:txBody>
      </p:sp>
      <p:sp>
        <p:nvSpPr>
          <p:cNvPr id="410" name="Google Shape;410;p56"/>
          <p:cNvSpPr txBox="1"/>
          <p:nvPr>
            <p:ph idx="1" type="body"/>
          </p:nvPr>
        </p:nvSpPr>
        <p:spPr>
          <a:xfrm>
            <a:off x="349400" y="845700"/>
            <a:ext cx="8259300" cy="4018200"/>
          </a:xfrm>
          <a:prstGeom prst="rect">
            <a:avLst/>
          </a:prstGeom>
        </p:spPr>
        <p:txBody>
          <a:bodyPr anchorCtr="0" anchor="t" bIns="91425" lIns="91425" spcFirstLastPara="1" rIns="91425" wrap="square" tIns="91425">
            <a:normAutofit lnSpcReduction="10000"/>
          </a:bodyPr>
          <a:lstStyle/>
          <a:p>
            <a:pPr indent="-323850" lvl="0" marL="457200" rtl="0" algn="l">
              <a:lnSpc>
                <a:spcPct val="115000"/>
              </a:lnSpc>
              <a:spcBef>
                <a:spcPts val="0"/>
              </a:spcBef>
              <a:spcAft>
                <a:spcPts val="0"/>
              </a:spcAft>
              <a:buClr>
                <a:srgbClr val="000000"/>
              </a:buClr>
              <a:buSzPts val="1500"/>
              <a:buFont typeface="Playfair Display"/>
              <a:buChar char="●"/>
            </a:pPr>
            <a:r>
              <a:rPr b="1" lang="en-GB" sz="1500">
                <a:solidFill>
                  <a:srgbClr val="000000"/>
                </a:solidFill>
                <a:highlight>
                  <a:srgbClr val="FFFFFF"/>
                </a:highlight>
                <a:latin typeface="Playfair Display"/>
                <a:ea typeface="Playfair Display"/>
                <a:cs typeface="Playfair Display"/>
                <a:sym typeface="Playfair Display"/>
              </a:rPr>
              <a:t>Data structures </a:t>
            </a:r>
            <a:r>
              <a:rPr lang="en-GB" sz="1500">
                <a:solidFill>
                  <a:srgbClr val="000000"/>
                </a:solidFill>
                <a:highlight>
                  <a:srgbClr val="FFFFFF"/>
                </a:highlight>
                <a:latin typeface="Playfair Display"/>
                <a:ea typeface="Playfair Display"/>
                <a:cs typeface="Playfair Display"/>
                <a:sym typeface="Playfair Display"/>
              </a:rPr>
              <a:t>are the foundation of efficient algorithms and play a crucial role in determining the time complexity of a piece of code. </a:t>
            </a:r>
            <a:endParaRPr sz="1500">
              <a:solidFill>
                <a:srgbClr val="000000"/>
              </a:solidFill>
              <a:highlight>
                <a:srgbClr val="FFFFFF"/>
              </a:highlight>
              <a:latin typeface="Playfair Display"/>
              <a:ea typeface="Playfair Display"/>
              <a:cs typeface="Playfair Display"/>
              <a:sym typeface="Playfair Display"/>
            </a:endParaRPr>
          </a:p>
          <a:p>
            <a:pPr indent="-323850" lvl="0" marL="457200" rtl="0" algn="l">
              <a:lnSpc>
                <a:spcPct val="115000"/>
              </a:lnSpc>
              <a:spcBef>
                <a:spcPts val="1000"/>
              </a:spcBef>
              <a:spcAft>
                <a:spcPts val="0"/>
              </a:spcAft>
              <a:buClr>
                <a:srgbClr val="000000"/>
              </a:buClr>
              <a:buSzPts val="1500"/>
              <a:buFont typeface="Playfair Display"/>
              <a:buChar char="●"/>
            </a:pPr>
            <a:r>
              <a:rPr lang="en-GB" sz="1500">
                <a:solidFill>
                  <a:srgbClr val="000000"/>
                </a:solidFill>
                <a:highlight>
                  <a:srgbClr val="FFFFFF"/>
                </a:highlight>
                <a:latin typeface="Playfair Display"/>
                <a:ea typeface="Playfair Display"/>
                <a:cs typeface="Playfair Display"/>
                <a:sym typeface="Playfair Display"/>
              </a:rPr>
              <a:t>Different data structures may have different time and space complexity characteristics  for various operations, which can impact the performance of an algorithm. Time complexity refers to the amount of time it takes for an algorithm to complete, and it is a measure of how the runtime of an algorithm grows as the input size</a:t>
            </a:r>
            <a:r>
              <a:rPr lang="en-GB" sz="1500">
                <a:solidFill>
                  <a:srgbClr val="6B7C93"/>
                </a:solidFill>
                <a:highlight>
                  <a:srgbClr val="FFFFFF"/>
                </a:highlight>
                <a:latin typeface="Playfair Display"/>
                <a:ea typeface="Playfair Display"/>
                <a:cs typeface="Playfair Display"/>
                <a:sym typeface="Playfair Display"/>
              </a:rPr>
              <a:t> </a:t>
            </a:r>
            <a:r>
              <a:rPr lang="en-GB" sz="1500">
                <a:solidFill>
                  <a:srgbClr val="000000"/>
                </a:solidFill>
                <a:highlight>
                  <a:srgbClr val="FFFFFF"/>
                </a:highlight>
                <a:latin typeface="Playfair Display"/>
                <a:ea typeface="Playfair Display"/>
                <a:cs typeface="Playfair Display"/>
                <a:sym typeface="Playfair Display"/>
              </a:rPr>
              <a:t>increases. </a:t>
            </a:r>
            <a:endParaRPr sz="1500">
              <a:solidFill>
                <a:srgbClr val="000000"/>
              </a:solidFill>
              <a:highlight>
                <a:srgbClr val="FFFFFF"/>
              </a:highlight>
              <a:latin typeface="Playfair Display"/>
              <a:ea typeface="Playfair Display"/>
              <a:cs typeface="Playfair Display"/>
              <a:sym typeface="Playfair Display"/>
            </a:endParaRPr>
          </a:p>
          <a:p>
            <a:pPr indent="-323850" lvl="0" marL="457200" rtl="0" algn="l">
              <a:lnSpc>
                <a:spcPct val="115000"/>
              </a:lnSpc>
              <a:spcBef>
                <a:spcPts val="1000"/>
              </a:spcBef>
              <a:spcAft>
                <a:spcPts val="0"/>
              </a:spcAft>
              <a:buClr>
                <a:srgbClr val="000000"/>
              </a:buClr>
              <a:buSzPts val="1500"/>
              <a:buFont typeface="Playfair Display"/>
              <a:buChar char="●"/>
            </a:pPr>
            <a:r>
              <a:rPr lang="en-GB" sz="1500">
                <a:solidFill>
                  <a:srgbClr val="000000"/>
                </a:solidFill>
                <a:highlight>
                  <a:srgbClr val="FFFFFF"/>
                </a:highlight>
                <a:latin typeface="Playfair Display"/>
                <a:ea typeface="Playfair Display"/>
                <a:cs typeface="Playfair Display"/>
                <a:sym typeface="Playfair Display"/>
              </a:rPr>
              <a:t> The choice of data structure is often determined by the specific algorithm being implemented and can significantly impact the time complexity of a solution, making it faster or slower.</a:t>
            </a:r>
            <a:endParaRPr sz="1200">
              <a:solidFill>
                <a:srgbClr val="000000"/>
              </a:solidFill>
              <a:highlight>
                <a:srgbClr val="FFFFFF"/>
              </a:highlight>
              <a:latin typeface="Playfair Display"/>
              <a:ea typeface="Playfair Display"/>
              <a:cs typeface="Playfair Display"/>
              <a:sym typeface="Playfair Display"/>
            </a:endParaRPr>
          </a:p>
          <a:p>
            <a:pPr indent="0" lvl="0" marL="0" rtl="0" algn="l">
              <a:spcBef>
                <a:spcPts val="1000"/>
              </a:spcBef>
              <a:spcAft>
                <a:spcPts val="1200"/>
              </a:spcAft>
              <a:buNone/>
            </a:pPr>
            <a:r>
              <a:rPr b="1" i="1" lang="en-GB" sz="1500">
                <a:solidFill>
                  <a:srgbClr val="000000"/>
                </a:solidFill>
                <a:highlight>
                  <a:srgbClr val="FFFFFF"/>
                </a:highlight>
                <a:latin typeface="Playfair Display"/>
                <a:ea typeface="Playfair Display"/>
                <a:cs typeface="Playfair Display"/>
                <a:sym typeface="Playfair Display"/>
              </a:rPr>
              <a:t>Example: Arrays </a:t>
            </a:r>
            <a:r>
              <a:rPr i="1" lang="en-GB" sz="1500">
                <a:solidFill>
                  <a:srgbClr val="000000"/>
                </a:solidFill>
                <a:highlight>
                  <a:srgbClr val="FFFFFF"/>
                </a:highlight>
                <a:latin typeface="Playfair Display"/>
                <a:ea typeface="Playfair Display"/>
                <a:cs typeface="Playfair Display"/>
                <a:sym typeface="Playfair Display"/>
              </a:rPr>
              <a:t>are the simplest and most basic data structure. They are contiguous blocks of memory that store elements in a linear fashion. Accessing, inserting, and deleting elements from an array have a constant time complexity of O(1), meaning the time taken is independent of the size of the array. However, inserting or deleting elements from the middle of an array can be expensive, as it requires shifting all the elements after the insertion or deletion point.</a:t>
            </a:r>
            <a:endParaRPr i="1"/>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7"/>
          <p:cNvSpPr txBox="1"/>
          <p:nvPr>
            <p:ph type="title"/>
          </p:nvPr>
        </p:nvSpPr>
        <p:spPr>
          <a:xfrm>
            <a:off x="311700" y="213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2.2.2 Abstract Data Type</a:t>
            </a:r>
            <a:endParaRPr/>
          </a:p>
        </p:txBody>
      </p:sp>
      <p:sp>
        <p:nvSpPr>
          <p:cNvPr id="416" name="Google Shape;416;p57"/>
          <p:cNvSpPr txBox="1"/>
          <p:nvPr>
            <p:ph idx="1" type="body"/>
          </p:nvPr>
        </p:nvSpPr>
        <p:spPr>
          <a:xfrm>
            <a:off x="546575" y="712775"/>
            <a:ext cx="8520600" cy="4135200"/>
          </a:xfrm>
          <a:prstGeom prst="rect">
            <a:avLst/>
          </a:prstGeom>
        </p:spPr>
        <p:txBody>
          <a:bodyPr anchorCtr="0" anchor="t" bIns="91425" lIns="91425" spcFirstLastPara="1" rIns="91425" wrap="square" tIns="91425">
            <a:noAutofit/>
          </a:bodyPr>
          <a:lstStyle/>
          <a:p>
            <a:pPr indent="0" lvl="0" marL="0" marR="0" rtl="0" algn="l">
              <a:lnSpc>
                <a:spcPct val="100000"/>
              </a:lnSpc>
              <a:spcBef>
                <a:spcPts val="800"/>
              </a:spcBef>
              <a:spcAft>
                <a:spcPts val="0"/>
              </a:spcAft>
              <a:buNone/>
            </a:pPr>
            <a:r>
              <a:rPr lang="en-GB" sz="1500"/>
              <a:t>An </a:t>
            </a:r>
            <a:r>
              <a:rPr b="1" lang="en-GB" sz="1500"/>
              <a:t>abstract data type (ADT) </a:t>
            </a:r>
            <a:r>
              <a:rPr lang="en-GB" sz="1500"/>
              <a:t>is a logical description of the data and its operations. An ADT is known as a user's point of view of data. An ADT is concerned about the possible values of data and interfaces exposed by it. An ADT is not concerned about the actual implementation of the data structure.</a:t>
            </a:r>
            <a:endParaRPr sz="1500"/>
          </a:p>
          <a:p>
            <a:pPr indent="0" lvl="0" marL="0" marR="0" rtl="0" algn="l">
              <a:lnSpc>
                <a:spcPct val="100000"/>
              </a:lnSpc>
              <a:spcBef>
                <a:spcPts val="800"/>
              </a:spcBef>
              <a:spcAft>
                <a:spcPts val="0"/>
              </a:spcAft>
              <a:buNone/>
            </a:pPr>
            <a:r>
              <a:rPr b="1" lang="en-GB" sz="1500"/>
              <a:t>Abstract Data Type</a:t>
            </a:r>
            <a:r>
              <a:rPr lang="en-GB" sz="1500"/>
              <a:t>  is a mathematical model of a data structure that specifies the type of data stored, the operations supported on them and the types of parameters of the operations with no implementation. Each programming language has its own way to implement abstract data type.</a:t>
            </a:r>
            <a:endParaRPr sz="1500"/>
          </a:p>
          <a:p>
            <a:pPr indent="0" lvl="0" marL="0" marR="0" rtl="0" algn="l">
              <a:lnSpc>
                <a:spcPct val="100000"/>
              </a:lnSpc>
              <a:spcBef>
                <a:spcPts val="800"/>
              </a:spcBef>
              <a:spcAft>
                <a:spcPts val="0"/>
              </a:spcAft>
              <a:buNone/>
            </a:pPr>
            <a:r>
              <a:rPr lang="en-GB" sz="1500"/>
              <a:t>Differently to Data structures, </a:t>
            </a:r>
            <a:r>
              <a:rPr b="1" lang="en-GB" sz="1500"/>
              <a:t>Data Structure</a:t>
            </a:r>
            <a:r>
              <a:rPr lang="en-GB" sz="1500"/>
              <a:t>s are a concrete representations of data and implementation.</a:t>
            </a:r>
            <a:endParaRPr sz="1500"/>
          </a:p>
          <a:p>
            <a:pPr indent="0" lvl="0" marL="0" rtl="0" algn="l">
              <a:spcBef>
                <a:spcPts val="0"/>
              </a:spcBef>
              <a:spcAft>
                <a:spcPts val="0"/>
              </a:spcAft>
              <a:buNone/>
            </a:pPr>
            <a:r>
              <a:rPr lang="en-GB" sz="1500"/>
              <a:t>Data structures serve as the basis for abstract data types (ADT). The ADT defines the logical form of the data type. The data structure implements the physical form of the data type</a:t>
            </a:r>
            <a:endParaRPr sz="1500"/>
          </a:p>
          <a:p>
            <a:pPr indent="0" lvl="0" marL="0" rtl="0" algn="l">
              <a:lnSpc>
                <a:spcPct val="100000"/>
              </a:lnSpc>
              <a:spcBef>
                <a:spcPts val="1200"/>
              </a:spcBef>
              <a:spcAft>
                <a:spcPts val="0"/>
              </a:spcAft>
              <a:buNone/>
            </a:pPr>
            <a:r>
              <a:rPr b="1" lang="en-GB" sz="1500" u="sng"/>
              <a:t>For example: </a:t>
            </a:r>
            <a:endParaRPr b="1" sz="1500" u="sng"/>
          </a:p>
          <a:p>
            <a:pPr indent="0" lvl="0" marL="0" rtl="0" algn="l">
              <a:lnSpc>
                <a:spcPct val="100000"/>
              </a:lnSpc>
              <a:spcBef>
                <a:spcPts val="800"/>
              </a:spcBef>
              <a:spcAft>
                <a:spcPts val="0"/>
              </a:spcAft>
              <a:buNone/>
            </a:pPr>
            <a:r>
              <a:rPr lang="en-GB" sz="1500"/>
              <a:t>A user wants to store some integers and find their mean value. ADT for this data structure would have two functions, one for adding integers and another to get the mean value. ADT for this data structure does not talk about how exactly it will be implemented .ADT is more of a logical description,</a:t>
            </a:r>
            <a:endParaRPr sz="1500"/>
          </a:p>
          <a:p>
            <a:pPr indent="0" lvl="0" marL="0" rtl="0" algn="l">
              <a:lnSpc>
                <a:spcPct val="100000"/>
              </a:lnSpc>
              <a:spcBef>
                <a:spcPts val="800"/>
              </a:spcBef>
              <a:spcAft>
                <a:spcPts val="0"/>
              </a:spcAft>
              <a:buNone/>
            </a:pPr>
            <a:r>
              <a:rPr lang="en-GB" sz="1500"/>
              <a:t> Each programming language has its own way to implement abstract data type.</a:t>
            </a:r>
            <a:endParaRPr sz="15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8"/>
          <p:cNvSpPr txBox="1"/>
          <p:nvPr>
            <p:ph type="title"/>
          </p:nvPr>
        </p:nvSpPr>
        <p:spPr>
          <a:xfrm>
            <a:off x="311700" y="1402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GB" sz="2500">
                <a:solidFill>
                  <a:schemeClr val="dk2"/>
                </a:solidFill>
              </a:rPr>
              <a:t>2.2.3 Basic types of Data Structures</a:t>
            </a:r>
            <a:endParaRPr b="1" sz="2500"/>
          </a:p>
        </p:txBody>
      </p:sp>
      <p:sp>
        <p:nvSpPr>
          <p:cNvPr id="422" name="Google Shape;422;p58"/>
          <p:cNvSpPr txBox="1"/>
          <p:nvPr>
            <p:ph idx="1" type="body"/>
          </p:nvPr>
        </p:nvSpPr>
        <p:spPr>
          <a:xfrm>
            <a:off x="311700" y="695275"/>
            <a:ext cx="8520600" cy="13560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Clr>
                <a:schemeClr val="dk1"/>
              </a:buClr>
              <a:buSzPts val="688"/>
              <a:buFont typeface="Arial"/>
              <a:buNone/>
            </a:pPr>
            <a:r>
              <a:rPr lang="en-GB" sz="1262"/>
              <a:t>Anything that can store data can be called as a </a:t>
            </a:r>
            <a:r>
              <a:rPr b="1" lang="en-GB" sz="1262"/>
              <a:t>data structure,</a:t>
            </a:r>
            <a:r>
              <a:rPr lang="en-GB" sz="1262"/>
              <a:t> hence Integer,</a:t>
            </a:r>
            <a:endParaRPr sz="1262"/>
          </a:p>
          <a:p>
            <a:pPr indent="0" lvl="0" marL="0" rtl="0" algn="just">
              <a:lnSpc>
                <a:spcPct val="95000"/>
              </a:lnSpc>
              <a:spcBef>
                <a:spcPts val="0"/>
              </a:spcBef>
              <a:spcAft>
                <a:spcPts val="0"/>
              </a:spcAft>
              <a:buSzPts val="688"/>
              <a:buNone/>
            </a:pPr>
            <a:r>
              <a:rPr lang="en-GB" sz="1262"/>
              <a:t>Float, Boolean, Char etc., all are data structures. They are known as </a:t>
            </a:r>
            <a:r>
              <a:rPr b="1" lang="en-GB" sz="1262"/>
              <a:t>Primitive Data Structures.</a:t>
            </a:r>
            <a:r>
              <a:rPr lang="en-GB" sz="1262"/>
              <a:t> And we also have some complex Data Structures, which are used to store large and connected data and are called </a:t>
            </a:r>
            <a:r>
              <a:rPr b="1" lang="en-GB" sz="1262"/>
              <a:t>non primitive</a:t>
            </a:r>
            <a:r>
              <a:rPr lang="en-GB" sz="1262"/>
              <a:t> data structure or </a:t>
            </a:r>
            <a:r>
              <a:rPr b="1" lang="en-GB" sz="1262"/>
              <a:t>Abstract Data Structure. </a:t>
            </a:r>
            <a:r>
              <a:rPr b="1" i="1" lang="en-GB" sz="1262"/>
              <a:t>Example: </a:t>
            </a:r>
            <a:r>
              <a:rPr i="1" lang="en-GB" sz="1262"/>
              <a:t>Array, Linked List, Tree, Graph, Stack, Queue etc</a:t>
            </a:r>
            <a:endParaRPr sz="1262"/>
          </a:p>
          <a:p>
            <a:pPr indent="0" lvl="0" marL="0" rtl="0" algn="l">
              <a:lnSpc>
                <a:spcPct val="95000"/>
              </a:lnSpc>
              <a:spcBef>
                <a:spcPts val="0"/>
              </a:spcBef>
              <a:spcAft>
                <a:spcPts val="0"/>
              </a:spcAft>
              <a:buSzPts val="688"/>
              <a:buNone/>
            </a:pPr>
            <a:r>
              <a:t/>
            </a:r>
            <a:endParaRPr sz="1262"/>
          </a:p>
        </p:txBody>
      </p:sp>
      <p:pic>
        <p:nvPicPr>
          <p:cNvPr id="423" name="Google Shape;423;p58"/>
          <p:cNvPicPr preferRelativeResize="0"/>
          <p:nvPr/>
        </p:nvPicPr>
        <p:blipFill>
          <a:blip r:embed="rId3">
            <a:alphaModFix/>
          </a:blip>
          <a:stretch>
            <a:fillRect/>
          </a:stretch>
        </p:blipFill>
        <p:spPr>
          <a:xfrm>
            <a:off x="1299925" y="1670225"/>
            <a:ext cx="6229350" cy="29241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9"/>
          <p:cNvSpPr txBox="1"/>
          <p:nvPr>
            <p:ph type="title"/>
          </p:nvPr>
        </p:nvSpPr>
        <p:spPr>
          <a:xfrm>
            <a:off x="469500" y="3794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Linear vs No-linear</a:t>
            </a:r>
            <a:endParaRPr/>
          </a:p>
        </p:txBody>
      </p:sp>
      <p:sp>
        <p:nvSpPr>
          <p:cNvPr id="429" name="Google Shape;429;p59"/>
          <p:cNvSpPr txBox="1"/>
          <p:nvPr>
            <p:ph idx="1" type="body"/>
          </p:nvPr>
        </p:nvSpPr>
        <p:spPr>
          <a:xfrm>
            <a:off x="384075" y="998100"/>
            <a:ext cx="8380200" cy="36093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0"/>
              </a:spcBef>
              <a:spcAft>
                <a:spcPts val="0"/>
              </a:spcAft>
              <a:buNone/>
            </a:pPr>
            <a:r>
              <a:rPr b="1" lang="en-GB" sz="1600">
                <a:solidFill>
                  <a:srgbClr val="444444"/>
                </a:solidFill>
                <a:highlight>
                  <a:srgbClr val="FFFFFF"/>
                </a:highlight>
                <a:latin typeface="Arial"/>
                <a:ea typeface="Arial"/>
                <a:cs typeface="Arial"/>
                <a:sym typeface="Arial"/>
              </a:rPr>
              <a:t>A linear data structure </a:t>
            </a:r>
            <a:r>
              <a:rPr lang="en-GB" sz="1600">
                <a:solidFill>
                  <a:srgbClr val="444444"/>
                </a:solidFill>
                <a:highlight>
                  <a:srgbClr val="FFFFFF"/>
                </a:highlight>
                <a:latin typeface="Arial"/>
                <a:ea typeface="Arial"/>
                <a:cs typeface="Arial"/>
                <a:sym typeface="Arial"/>
              </a:rPr>
              <a:t>is a type of Data Structure where the data elements get linearly or sequentially arranged. The elements attach themselves to their next and previous adjacents. The structure involves only a single level- allowing a user to traverse all its components in a single run.</a:t>
            </a:r>
            <a:endParaRPr sz="1600">
              <a:solidFill>
                <a:srgbClr val="444444"/>
              </a:solidFill>
              <a:highlight>
                <a:srgbClr val="FFFFFF"/>
              </a:highlight>
              <a:latin typeface="Arial"/>
              <a:ea typeface="Arial"/>
              <a:cs typeface="Arial"/>
              <a:sym typeface="Arial"/>
            </a:endParaRPr>
          </a:p>
          <a:p>
            <a:pPr indent="0" lvl="0" marL="0" rtl="0" algn="l">
              <a:lnSpc>
                <a:spcPct val="150000"/>
              </a:lnSpc>
              <a:spcBef>
                <a:spcPts val="1200"/>
              </a:spcBef>
              <a:spcAft>
                <a:spcPts val="0"/>
              </a:spcAft>
              <a:buNone/>
            </a:pPr>
            <a:r>
              <a:rPr lang="en-GB" sz="1600">
                <a:solidFill>
                  <a:srgbClr val="444444"/>
                </a:solidFill>
                <a:highlight>
                  <a:srgbClr val="FFFFFF"/>
                </a:highlight>
                <a:latin typeface="Arial"/>
                <a:ea typeface="Arial"/>
                <a:cs typeface="Arial"/>
                <a:sym typeface="Arial"/>
              </a:rPr>
              <a:t>The linear data structure is very easy to understand and implement due to its linear arrangement, for example, stack, array, linked list, queue, etc.</a:t>
            </a:r>
            <a:endParaRPr sz="1600">
              <a:solidFill>
                <a:srgbClr val="444444"/>
              </a:solidFill>
              <a:highlight>
                <a:srgbClr val="FFFFFF"/>
              </a:highlight>
              <a:latin typeface="Arial"/>
              <a:ea typeface="Arial"/>
              <a:cs typeface="Arial"/>
              <a:sym typeface="Arial"/>
            </a:endParaRPr>
          </a:p>
          <a:p>
            <a:pPr indent="0" lvl="0" marL="0" rtl="0" algn="l">
              <a:lnSpc>
                <a:spcPct val="141176"/>
              </a:lnSpc>
              <a:spcBef>
                <a:spcPts val="1500"/>
              </a:spcBef>
              <a:spcAft>
                <a:spcPts val="0"/>
              </a:spcAft>
              <a:buNone/>
            </a:pPr>
            <a:r>
              <a:rPr b="1" lang="en-GB" sz="1600">
                <a:solidFill>
                  <a:srgbClr val="444444"/>
                </a:solidFill>
                <a:highlight>
                  <a:srgbClr val="FFFFFF"/>
                </a:highlight>
                <a:latin typeface="Arial"/>
                <a:ea typeface="Arial"/>
                <a:cs typeface="Arial"/>
                <a:sym typeface="Arial"/>
              </a:rPr>
              <a:t>Non-Linear Data Structure </a:t>
            </a:r>
            <a:r>
              <a:rPr lang="en-GB" sz="1600">
                <a:solidFill>
                  <a:srgbClr val="444444"/>
                </a:solidFill>
                <a:highlight>
                  <a:srgbClr val="FFFFFF"/>
                </a:highlight>
                <a:latin typeface="Arial"/>
                <a:ea typeface="Arial"/>
                <a:cs typeface="Arial"/>
                <a:sym typeface="Arial"/>
              </a:rPr>
              <a:t> is a form of data structure where the data elements don’t stay arranged linearly or sequentially. Since the data structure is non-linear, it does not involve a single level. Therefore, a user can’t traverse all of its elements in a single run.</a:t>
            </a:r>
            <a:endParaRPr sz="1600">
              <a:solidFill>
                <a:srgbClr val="444444"/>
              </a:solidFill>
              <a:highlight>
                <a:srgbClr val="FFFFFF"/>
              </a:highlight>
              <a:latin typeface="Arial"/>
              <a:ea typeface="Arial"/>
              <a:cs typeface="Arial"/>
              <a:sym typeface="Arial"/>
            </a:endParaRPr>
          </a:p>
          <a:p>
            <a:pPr indent="0" lvl="0" marL="0" rtl="0" algn="l">
              <a:lnSpc>
                <a:spcPct val="150000"/>
              </a:lnSpc>
              <a:spcBef>
                <a:spcPts val="800"/>
              </a:spcBef>
              <a:spcAft>
                <a:spcPts val="0"/>
              </a:spcAft>
              <a:buNone/>
            </a:pPr>
            <a:r>
              <a:rPr lang="en-GB" sz="1600">
                <a:solidFill>
                  <a:srgbClr val="444444"/>
                </a:solidFill>
                <a:highlight>
                  <a:srgbClr val="FFFFFF"/>
                </a:highlight>
                <a:latin typeface="Arial"/>
                <a:ea typeface="Arial"/>
                <a:cs typeface="Arial"/>
                <a:sym typeface="Arial"/>
              </a:rPr>
              <a:t>The non-linear data structure is not very easy to implement as compared to the linear data structure. The utilization of computer memory is more efficient in this case, for example, graphs and trees.</a:t>
            </a:r>
            <a:endParaRPr sz="1600">
              <a:solidFill>
                <a:srgbClr val="444444"/>
              </a:solidFill>
              <a:highlight>
                <a:srgbClr val="FFFFFF"/>
              </a:highlight>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0"/>
          <p:cNvSpPr txBox="1"/>
          <p:nvPr>
            <p:ph type="title"/>
          </p:nvPr>
        </p:nvSpPr>
        <p:spPr>
          <a:xfrm>
            <a:off x="655975" y="68625"/>
            <a:ext cx="7505700" cy="59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300"/>
              <a:t>Linear vs No-linear</a:t>
            </a:r>
            <a:endParaRPr sz="2300"/>
          </a:p>
        </p:txBody>
      </p:sp>
      <p:graphicFrame>
        <p:nvGraphicFramePr>
          <p:cNvPr id="435" name="Google Shape;435;p60"/>
          <p:cNvGraphicFramePr/>
          <p:nvPr/>
        </p:nvGraphicFramePr>
        <p:xfrm>
          <a:off x="460575" y="467075"/>
          <a:ext cx="3000000" cy="3000000"/>
        </p:xfrm>
        <a:graphic>
          <a:graphicData uri="http://schemas.openxmlformats.org/drawingml/2006/table">
            <a:tbl>
              <a:tblPr>
                <a:solidFill>
                  <a:srgbClr val="F1EDFF"/>
                </a:solidFill>
                <a:tableStyleId>{B2C6DC54-6E07-45FE-A450-AA9DDC4D1939}</a:tableStyleId>
              </a:tblPr>
              <a:tblGrid>
                <a:gridCol w="1182400"/>
                <a:gridCol w="3321025"/>
                <a:gridCol w="3719425"/>
              </a:tblGrid>
              <a:tr h="318575">
                <a:tc>
                  <a:txBody>
                    <a:bodyPr/>
                    <a:lstStyle/>
                    <a:p>
                      <a:pPr indent="0" lvl="0" marL="0" rtl="0" algn="l">
                        <a:spcBef>
                          <a:spcPts val="0"/>
                        </a:spcBef>
                        <a:spcAft>
                          <a:spcPts val="0"/>
                        </a:spcAft>
                        <a:buNone/>
                      </a:pPr>
                      <a:r>
                        <a:rPr lang="en-GB" sz="1100"/>
                        <a:t>Parameter</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Linear Data Structure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Non-Linear Data Structure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504700">
                <a:tc>
                  <a:txBody>
                    <a:bodyPr/>
                    <a:lstStyle/>
                    <a:p>
                      <a:pPr indent="0" lvl="0" marL="0" rtl="0" algn="l">
                        <a:spcBef>
                          <a:spcPts val="0"/>
                        </a:spcBef>
                        <a:spcAft>
                          <a:spcPts val="0"/>
                        </a:spcAft>
                        <a:buNone/>
                      </a:pPr>
                      <a:r>
                        <a:rPr lang="en-GB" sz="1100"/>
                        <a:t>Arrangement </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In a linear data structure, the data elements connect to each other sequentially. </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The data elements connect to each other hierarchically.</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519550">
                <a:tc>
                  <a:txBody>
                    <a:bodyPr/>
                    <a:lstStyle/>
                    <a:p>
                      <a:pPr indent="0" lvl="0" marL="0" rtl="0" algn="l">
                        <a:spcBef>
                          <a:spcPts val="0"/>
                        </a:spcBef>
                        <a:spcAft>
                          <a:spcPts val="0"/>
                        </a:spcAft>
                        <a:buNone/>
                      </a:pPr>
                      <a:r>
                        <a:rPr lang="en-GB" sz="1100"/>
                        <a:t>Complexity of Implementation</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The linear data structures are comparatively easier to implement.</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The non-linear data structures are comparatively difficult to implement and understand </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494625">
                <a:tc>
                  <a:txBody>
                    <a:bodyPr/>
                    <a:lstStyle/>
                    <a:p>
                      <a:pPr indent="0" lvl="0" marL="0" rtl="0" algn="l">
                        <a:spcBef>
                          <a:spcPts val="0"/>
                        </a:spcBef>
                        <a:spcAft>
                          <a:spcPts val="0"/>
                        </a:spcAft>
                        <a:buNone/>
                      </a:pPr>
                      <a:r>
                        <a:rPr lang="en-GB" sz="1100"/>
                        <a:t>Levels</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A user can find all of the data elements at a single level in a linear data structure.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One can find all the data elements at multiple levels in a non-linear data structure.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497325">
                <a:tc>
                  <a:txBody>
                    <a:bodyPr/>
                    <a:lstStyle/>
                    <a:p>
                      <a:pPr indent="0" lvl="0" marL="0" rtl="0" algn="l">
                        <a:spcBef>
                          <a:spcPts val="0"/>
                        </a:spcBef>
                        <a:spcAft>
                          <a:spcPts val="0"/>
                        </a:spcAft>
                        <a:buNone/>
                      </a:pPr>
                      <a:r>
                        <a:rPr lang="en-GB" sz="1100"/>
                        <a:t>Traversal</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You can traverse a linear data structure in a single run.</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The users need multiple runs to traverse them completely.</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682475">
                <a:tc>
                  <a:txBody>
                    <a:bodyPr/>
                    <a:lstStyle/>
                    <a:p>
                      <a:pPr indent="0" lvl="0" marL="0" rtl="0" algn="l">
                        <a:spcBef>
                          <a:spcPts val="0"/>
                        </a:spcBef>
                        <a:spcAft>
                          <a:spcPts val="0"/>
                        </a:spcAft>
                        <a:buNone/>
                      </a:pPr>
                      <a:r>
                        <a:rPr lang="en-GB" sz="1100"/>
                        <a:t>Utilization of Memory</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It is not very memory-friendly. It means that the linear data structures can’t utilize memory very efficiently.</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The data structure is memory-friendly. It means that it uses memory very efficiently.</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497300">
                <a:tc>
                  <a:txBody>
                    <a:bodyPr/>
                    <a:lstStyle/>
                    <a:p>
                      <a:pPr indent="0" lvl="0" marL="0" rtl="0" algn="l">
                        <a:spcBef>
                          <a:spcPts val="0"/>
                        </a:spcBef>
                        <a:spcAft>
                          <a:spcPts val="0"/>
                        </a:spcAft>
                        <a:buNone/>
                      </a:pPr>
                      <a:r>
                        <a:rPr lang="en-GB" sz="1100"/>
                        <a:t>Complexity of Time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The time complexity of this data structure is directly proportional to input size.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Time complexity often remains the same with an increase in its input size.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490125">
                <a:tc>
                  <a:txBody>
                    <a:bodyPr/>
                    <a:lstStyle/>
                    <a:p>
                      <a:pPr indent="0" lvl="0" marL="0" rtl="0" algn="l">
                        <a:spcBef>
                          <a:spcPts val="0"/>
                        </a:spcBef>
                        <a:spcAft>
                          <a:spcPts val="0"/>
                        </a:spcAft>
                        <a:buNone/>
                      </a:pPr>
                      <a:r>
                        <a:rPr lang="en-GB" sz="1100"/>
                        <a:t>Applications</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Linear data structures work well mainly in the development of application software.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Non-linear data structures work mainly well in image processing and Artificial Intelligence.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r h="460775">
                <a:tc>
                  <a:txBody>
                    <a:bodyPr/>
                    <a:lstStyle/>
                    <a:p>
                      <a:pPr indent="0" lvl="0" marL="0" rtl="0" algn="l">
                        <a:spcBef>
                          <a:spcPts val="0"/>
                        </a:spcBef>
                        <a:spcAft>
                          <a:spcPts val="0"/>
                        </a:spcAft>
                        <a:buNone/>
                      </a:pPr>
                      <a:r>
                        <a:rPr lang="en-GB" sz="1100"/>
                        <a:t>Examples</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List, Array, Stack, Queue.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c>
                  <a:txBody>
                    <a:bodyPr/>
                    <a:lstStyle/>
                    <a:p>
                      <a:pPr indent="0" lvl="0" marL="0" rtl="0" algn="l">
                        <a:spcBef>
                          <a:spcPts val="0"/>
                        </a:spcBef>
                        <a:spcAft>
                          <a:spcPts val="0"/>
                        </a:spcAft>
                        <a:buNone/>
                      </a:pPr>
                      <a:r>
                        <a:rPr lang="en-GB" sz="1100"/>
                        <a:t>Map, Graph, Tree.</a:t>
                      </a:r>
                      <a:endParaRPr sz="1100"/>
                    </a:p>
                  </a:txBody>
                  <a:tcPr marT="76200" marB="76200" marR="76200" marL="76200">
                    <a:lnL cap="flat" cmpd="sng" w="9525">
                      <a:solidFill>
                        <a:srgbClr val="444444"/>
                      </a:solidFill>
                      <a:prstDash val="solid"/>
                      <a:round/>
                      <a:headEnd len="sm" w="sm" type="none"/>
                      <a:tailEnd len="sm" w="sm" type="none"/>
                    </a:lnL>
                    <a:lnR cap="flat" cmpd="sng" w="9525">
                      <a:solidFill>
                        <a:srgbClr val="444444"/>
                      </a:solidFill>
                      <a:prstDash val="solid"/>
                      <a:round/>
                      <a:headEnd len="sm" w="sm" type="none"/>
                      <a:tailEnd len="sm" w="sm" type="none"/>
                    </a:lnR>
                    <a:lnT cap="flat" cmpd="sng" w="9525">
                      <a:solidFill>
                        <a:srgbClr val="444444"/>
                      </a:solidFill>
                      <a:prstDash val="solid"/>
                      <a:round/>
                      <a:headEnd len="sm" w="sm" type="none"/>
                      <a:tailEnd len="sm" w="sm" type="none"/>
                    </a:lnT>
                    <a:lnB cap="flat" cmpd="sng" w="9525">
                      <a:solidFill>
                        <a:srgbClr val="444444"/>
                      </a:solidFill>
                      <a:prstDash val="solid"/>
                      <a:round/>
                      <a:headEnd len="sm" w="sm" type="none"/>
                      <a:tailEnd len="sm" w="sm" type="none"/>
                    </a:lnB>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1"/>
          <p:cNvSpPr txBox="1"/>
          <p:nvPr>
            <p:ph type="title"/>
          </p:nvPr>
        </p:nvSpPr>
        <p:spPr>
          <a:xfrm>
            <a:off x="311700" y="64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600"/>
              </a:spcAft>
              <a:buNone/>
            </a:pPr>
            <a:r>
              <a:rPr b="1" lang="en-GB" sz="1800">
                <a:solidFill>
                  <a:schemeClr val="dk2"/>
                </a:solidFill>
              </a:rPr>
              <a:t>2.2.4 Importance of data structures</a:t>
            </a:r>
            <a:endParaRPr b="1"/>
          </a:p>
        </p:txBody>
      </p:sp>
      <p:sp>
        <p:nvSpPr>
          <p:cNvPr id="441" name="Google Shape;441;p61"/>
          <p:cNvSpPr txBox="1"/>
          <p:nvPr>
            <p:ph idx="1" type="body"/>
          </p:nvPr>
        </p:nvSpPr>
        <p:spPr>
          <a:xfrm>
            <a:off x="311700" y="586900"/>
            <a:ext cx="8520600" cy="43041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GB" sz="2000"/>
              <a:t>The data structures have the following importance for programming:</a:t>
            </a:r>
            <a:endParaRPr sz="2000"/>
          </a:p>
          <a:p>
            <a:pPr indent="-355600" lvl="0" marL="457200" rtl="0" algn="l">
              <a:lnSpc>
                <a:spcPct val="150000"/>
              </a:lnSpc>
              <a:spcBef>
                <a:spcPts val="0"/>
              </a:spcBef>
              <a:spcAft>
                <a:spcPts val="0"/>
              </a:spcAft>
              <a:buSzPts val="2000"/>
              <a:buChar char="●"/>
            </a:pPr>
            <a:r>
              <a:rPr lang="en-GB" sz="2000"/>
              <a:t>Data structures study how data are stored in a computer so that operations can be implemented efficiently</a:t>
            </a:r>
            <a:endParaRPr sz="2000"/>
          </a:p>
          <a:p>
            <a:pPr indent="-355600" lvl="0" marL="457200" rtl="0" algn="l">
              <a:lnSpc>
                <a:spcPct val="150000"/>
              </a:lnSpc>
              <a:spcBef>
                <a:spcPts val="0"/>
              </a:spcBef>
              <a:spcAft>
                <a:spcPts val="0"/>
              </a:spcAft>
              <a:buSzPts val="2000"/>
              <a:buChar char="●"/>
            </a:pPr>
            <a:r>
              <a:rPr lang="en-GB" sz="2000"/>
              <a:t>Data structures are especially important when there is a large amount of information to deal with.</a:t>
            </a:r>
            <a:endParaRPr sz="2000"/>
          </a:p>
          <a:p>
            <a:pPr indent="-355600" lvl="0" marL="457200" rtl="0" algn="l">
              <a:lnSpc>
                <a:spcPct val="150000"/>
              </a:lnSpc>
              <a:spcBef>
                <a:spcPts val="0"/>
              </a:spcBef>
              <a:spcAft>
                <a:spcPts val="0"/>
              </a:spcAft>
              <a:buSzPts val="2000"/>
              <a:buChar char="●"/>
            </a:pPr>
            <a:r>
              <a:rPr lang="en-GB" sz="2000"/>
              <a:t> Data structures are conceptual and concrete ways to organize data for efficient storage and manipulation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2"/>
          <p:cNvSpPr txBox="1"/>
          <p:nvPr>
            <p:ph type="title"/>
          </p:nvPr>
        </p:nvSpPr>
        <p:spPr>
          <a:xfrm>
            <a:off x="311700" y="23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2.2.5 Data Structure Operations</a:t>
            </a:r>
            <a:endParaRPr/>
          </a:p>
        </p:txBody>
      </p:sp>
      <p:sp>
        <p:nvSpPr>
          <p:cNvPr id="447" name="Google Shape;447;p62"/>
          <p:cNvSpPr txBox="1"/>
          <p:nvPr>
            <p:ph idx="1" type="body"/>
          </p:nvPr>
        </p:nvSpPr>
        <p:spPr>
          <a:xfrm>
            <a:off x="176900" y="619075"/>
            <a:ext cx="8871900" cy="4570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700"/>
              <a:t>Beside the simple operations performed on data (unary operators, binary operators and precedence operators) seen previously, the data appearing in our data structures are processed by means of other operations. </a:t>
            </a:r>
            <a:endParaRPr sz="1700"/>
          </a:p>
          <a:p>
            <a:pPr indent="0" lvl="0" marL="0" rtl="0" algn="l">
              <a:spcBef>
                <a:spcPts val="0"/>
              </a:spcBef>
              <a:spcAft>
                <a:spcPts val="0"/>
              </a:spcAft>
              <a:buClr>
                <a:schemeClr val="dk1"/>
              </a:buClr>
              <a:buSzPts val="1100"/>
              <a:buFont typeface="Arial"/>
              <a:buNone/>
            </a:pPr>
            <a:r>
              <a:rPr b="1" lang="en-GB" sz="1700"/>
              <a:t>The following are some of the most frequently used operations.</a:t>
            </a:r>
            <a:endParaRPr b="1" sz="1700"/>
          </a:p>
          <a:p>
            <a:pPr indent="0" lvl="0" marL="0" rtl="0" algn="l">
              <a:spcBef>
                <a:spcPts val="0"/>
              </a:spcBef>
              <a:spcAft>
                <a:spcPts val="0"/>
              </a:spcAft>
              <a:buClr>
                <a:schemeClr val="dk1"/>
              </a:buClr>
              <a:buSzPts val="1100"/>
              <a:buFont typeface="Arial"/>
              <a:buNone/>
            </a:pPr>
            <a:r>
              <a:rPr lang="en-GB" sz="1700"/>
              <a:t>Traversing: Accessing each record exactly once so that certain items in the record may be processed.</a:t>
            </a:r>
            <a:endParaRPr sz="1700"/>
          </a:p>
          <a:p>
            <a:pPr indent="-336550" lvl="0" marL="457200" rtl="0" algn="l">
              <a:lnSpc>
                <a:spcPct val="150000"/>
              </a:lnSpc>
              <a:spcBef>
                <a:spcPts val="0"/>
              </a:spcBef>
              <a:spcAft>
                <a:spcPts val="0"/>
              </a:spcAft>
              <a:buSzPts val="1700"/>
              <a:buChar char="●"/>
            </a:pPr>
            <a:r>
              <a:rPr b="1" lang="en-GB" sz="1700"/>
              <a:t>Searching</a:t>
            </a:r>
            <a:r>
              <a:rPr lang="en-GB" sz="1700"/>
              <a:t>: Finding the location of the record with a given key value or finding the locations of all records which satisfy one or more conditions</a:t>
            </a:r>
            <a:endParaRPr sz="1700"/>
          </a:p>
          <a:p>
            <a:pPr indent="-336550" lvl="0" marL="457200" rtl="0" algn="l">
              <a:lnSpc>
                <a:spcPct val="150000"/>
              </a:lnSpc>
              <a:spcBef>
                <a:spcPts val="0"/>
              </a:spcBef>
              <a:spcAft>
                <a:spcPts val="0"/>
              </a:spcAft>
              <a:buSzPts val="1700"/>
              <a:buChar char="●"/>
            </a:pPr>
            <a:r>
              <a:rPr b="1" lang="en-GB" sz="1700"/>
              <a:t>Inserting</a:t>
            </a:r>
            <a:r>
              <a:rPr lang="en-GB" sz="1700"/>
              <a:t>: Adding a new record to the structure.</a:t>
            </a:r>
            <a:endParaRPr sz="1700"/>
          </a:p>
          <a:p>
            <a:pPr indent="-336550" lvl="0" marL="457200" rtl="0" algn="l">
              <a:lnSpc>
                <a:spcPct val="150000"/>
              </a:lnSpc>
              <a:spcBef>
                <a:spcPts val="0"/>
              </a:spcBef>
              <a:spcAft>
                <a:spcPts val="0"/>
              </a:spcAft>
              <a:buSzPts val="1700"/>
              <a:buChar char="●"/>
            </a:pPr>
            <a:r>
              <a:rPr b="1" lang="en-GB" sz="1700"/>
              <a:t>Deleting</a:t>
            </a:r>
            <a:r>
              <a:rPr lang="en-GB" sz="1700"/>
              <a:t>: Removing a record from the structure.</a:t>
            </a:r>
            <a:endParaRPr sz="1700"/>
          </a:p>
          <a:p>
            <a:pPr indent="-336550" lvl="0" marL="457200" rtl="0" algn="l">
              <a:lnSpc>
                <a:spcPct val="150000"/>
              </a:lnSpc>
              <a:spcBef>
                <a:spcPts val="0"/>
              </a:spcBef>
              <a:spcAft>
                <a:spcPts val="0"/>
              </a:spcAft>
              <a:buSzPts val="1700"/>
              <a:buChar char="●"/>
            </a:pPr>
            <a:r>
              <a:rPr b="1" lang="en-GB" sz="1700"/>
              <a:t>Sorting</a:t>
            </a:r>
            <a:r>
              <a:rPr lang="en-GB" sz="1700"/>
              <a:t>: Arranging the records in some logical order (e.g., in numerical order according to some NUMBER key, such as social security number or accountnumber).</a:t>
            </a:r>
            <a:endParaRPr sz="1700"/>
          </a:p>
          <a:p>
            <a:pPr indent="-336550" lvl="0" marL="457200" rtl="0" algn="l">
              <a:lnSpc>
                <a:spcPct val="150000"/>
              </a:lnSpc>
              <a:spcBef>
                <a:spcPts val="0"/>
              </a:spcBef>
              <a:spcAft>
                <a:spcPts val="0"/>
              </a:spcAft>
              <a:buSzPts val="1700"/>
              <a:buChar char="●"/>
            </a:pPr>
            <a:r>
              <a:rPr b="1" lang="en-GB" sz="1700"/>
              <a:t>Merging</a:t>
            </a:r>
            <a:r>
              <a:rPr lang="en-GB" sz="1700"/>
              <a:t>: Combining the records of two different sorted lists into a single sorted list.</a:t>
            </a:r>
            <a:endParaRPr sz="1700"/>
          </a:p>
          <a:p>
            <a:pPr indent="0" lvl="0" marL="0" rtl="0" algn="l">
              <a:spcBef>
                <a:spcPts val="0"/>
              </a:spcBef>
              <a:spcAft>
                <a:spcPts val="0"/>
              </a:spcAft>
              <a:buNone/>
            </a:pPr>
            <a:r>
              <a:t/>
            </a:r>
            <a:endParaRPr sz="17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3"/>
          <p:cNvSpPr txBox="1"/>
          <p:nvPr>
            <p:ph type="title"/>
          </p:nvPr>
        </p:nvSpPr>
        <p:spPr>
          <a:xfrm>
            <a:off x="360250" y="106475"/>
            <a:ext cx="7053600" cy="4140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b="1" lang="en-GB" sz="2100"/>
              <a:t>Array</a:t>
            </a:r>
            <a:endParaRPr b="1" sz="2100"/>
          </a:p>
        </p:txBody>
      </p:sp>
      <p:sp>
        <p:nvSpPr>
          <p:cNvPr id="453" name="Google Shape;453;p63"/>
          <p:cNvSpPr txBox="1"/>
          <p:nvPr>
            <p:ph idx="1" type="body"/>
          </p:nvPr>
        </p:nvSpPr>
        <p:spPr>
          <a:xfrm>
            <a:off x="306900" y="646200"/>
            <a:ext cx="5528100" cy="28968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sz="1400"/>
              <a:t>Arrays are the simplest data structures that store items of the same data type.</a:t>
            </a:r>
            <a:endParaRPr sz="1400"/>
          </a:p>
          <a:p>
            <a:pPr indent="0" lvl="0" marL="0" rtl="0" algn="l">
              <a:spcBef>
                <a:spcPts val="0"/>
              </a:spcBef>
              <a:spcAft>
                <a:spcPts val="0"/>
              </a:spcAft>
              <a:buNone/>
            </a:pPr>
            <a:r>
              <a:rPr b="1" lang="en-GB" sz="1400"/>
              <a:t>Array ADT Operations</a:t>
            </a:r>
            <a:endParaRPr b="1" sz="1400"/>
          </a:p>
          <a:p>
            <a:pPr indent="0" lvl="0" marL="0" rtl="0" algn="l">
              <a:spcBef>
                <a:spcPts val="0"/>
              </a:spcBef>
              <a:spcAft>
                <a:spcPts val="0"/>
              </a:spcAft>
              <a:buNone/>
            </a:pPr>
            <a:r>
              <a:rPr lang="en-GB" sz="1400"/>
              <a:t>Below is the API of an array:</a:t>
            </a:r>
            <a:endParaRPr sz="1400"/>
          </a:p>
          <a:p>
            <a:pPr indent="0" lvl="0" marL="0" rtl="0" algn="l">
              <a:spcBef>
                <a:spcPts val="0"/>
              </a:spcBef>
              <a:spcAft>
                <a:spcPts val="0"/>
              </a:spcAft>
              <a:buNone/>
            </a:pPr>
            <a:r>
              <a:rPr lang="en-GB" sz="1400"/>
              <a:t>1. Adds an element at the </a:t>
            </a:r>
            <a:r>
              <a:rPr b="1" lang="en-GB" sz="1400"/>
              <a:t>kth</a:t>
            </a:r>
            <a:r>
              <a:rPr lang="en-GB" sz="1400"/>
              <a:t> position. Value can be stored in an array at the </a:t>
            </a:r>
            <a:r>
              <a:rPr b="1" lang="en-GB" sz="1400"/>
              <a:t>kth</a:t>
            </a:r>
            <a:r>
              <a:rPr lang="en-GB" sz="1400"/>
              <a:t> position in </a:t>
            </a:r>
            <a:r>
              <a:rPr b="1" lang="en-GB" sz="1400"/>
              <a:t>0(1)</a:t>
            </a:r>
            <a:r>
              <a:rPr lang="en-GB" sz="1400"/>
              <a:t> constant time. We just need to store value at </a:t>
            </a:r>
            <a:r>
              <a:rPr b="1" lang="en-GB" sz="1400"/>
              <a:t>arr[k]</a:t>
            </a:r>
            <a:r>
              <a:rPr lang="en-GB" sz="1400"/>
              <a:t>.</a:t>
            </a:r>
            <a:endParaRPr sz="1400"/>
          </a:p>
          <a:p>
            <a:pPr indent="0" lvl="0" marL="0" rtl="0" algn="l">
              <a:spcBef>
                <a:spcPts val="0"/>
              </a:spcBef>
              <a:spcAft>
                <a:spcPts val="0"/>
              </a:spcAft>
              <a:buNone/>
            </a:pPr>
            <a:r>
              <a:rPr lang="en-GB" sz="1400"/>
              <a:t>2. Reading the value stored at the </a:t>
            </a:r>
            <a:r>
              <a:rPr b="1" lang="en-GB" sz="1400"/>
              <a:t>kth</a:t>
            </a:r>
            <a:r>
              <a:rPr lang="en-GB" sz="1400"/>
              <a:t> position. Accessing the value stored at some index in the array is also </a:t>
            </a:r>
            <a:r>
              <a:rPr b="1" lang="en-GB" sz="1400"/>
              <a:t>O(1) </a:t>
            </a:r>
            <a:r>
              <a:rPr lang="en-GB" sz="1400"/>
              <a:t>constant time. We just need to read the value stored at </a:t>
            </a:r>
            <a:r>
              <a:rPr b="1" lang="en-GB" sz="1400"/>
              <a:t>arr[k]</a:t>
            </a:r>
            <a:r>
              <a:rPr lang="en-GB" sz="1400"/>
              <a:t>.</a:t>
            </a:r>
            <a:endParaRPr sz="1400"/>
          </a:p>
          <a:p>
            <a:pPr indent="0" lvl="0" marL="0" rtl="0" algn="l">
              <a:spcBef>
                <a:spcPts val="0"/>
              </a:spcBef>
              <a:spcAft>
                <a:spcPts val="0"/>
              </a:spcAft>
              <a:buNone/>
            </a:pPr>
            <a:r>
              <a:rPr lang="en-GB" sz="1400"/>
              <a:t>3. Substitution of value stored in </a:t>
            </a:r>
            <a:r>
              <a:rPr b="1" lang="en-GB" sz="1400"/>
              <a:t>kth</a:t>
            </a:r>
            <a:r>
              <a:rPr lang="en-GB" sz="1400"/>
              <a:t> position with a new value.</a:t>
            </a:r>
            <a:endParaRPr sz="1400"/>
          </a:p>
          <a:p>
            <a:pPr indent="0" lvl="0" marL="0" rtl="0" algn="l">
              <a:spcBef>
                <a:spcPts val="0"/>
              </a:spcBef>
              <a:spcAft>
                <a:spcPts val="0"/>
              </a:spcAft>
              <a:buNone/>
            </a:pPr>
            <a:r>
              <a:rPr lang="en-GB" sz="1400"/>
              <a:t>4. </a:t>
            </a:r>
            <a:r>
              <a:rPr b="1" lang="en-GB" sz="1400"/>
              <a:t>Time complexity: O(1)</a:t>
            </a:r>
            <a:r>
              <a:rPr lang="en-GB" sz="1400"/>
              <a:t> constant time.</a:t>
            </a:r>
            <a:endParaRPr sz="1400"/>
          </a:p>
        </p:txBody>
      </p:sp>
      <p:sp>
        <p:nvSpPr>
          <p:cNvPr id="454" name="Google Shape;454;p63"/>
          <p:cNvSpPr txBox="1"/>
          <p:nvPr/>
        </p:nvSpPr>
        <p:spPr>
          <a:xfrm>
            <a:off x="6635300" y="745925"/>
            <a:ext cx="2463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solidFill>
                  <a:schemeClr val="dk2"/>
                </a:solidFill>
                <a:latin typeface="Calibri"/>
                <a:ea typeface="Calibri"/>
                <a:cs typeface="Calibri"/>
                <a:sym typeface="Calibri"/>
              </a:rPr>
              <a:t>Example:</a:t>
            </a:r>
            <a:endParaRPr b="1" sz="1300">
              <a:solidFill>
                <a:schemeClr val="dk2"/>
              </a:solidFill>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int main()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int arr[10];</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int size= </a:t>
            </a:r>
            <a:r>
              <a:rPr b="1" lang="en-GB" sz="1300">
                <a:solidFill>
                  <a:schemeClr val="dk2"/>
                </a:solidFill>
                <a:latin typeface="Calibri"/>
                <a:ea typeface="Calibri"/>
                <a:cs typeface="Calibri"/>
                <a:sym typeface="Calibri"/>
              </a:rPr>
              <a:t>sizeof(arr) </a:t>
            </a:r>
            <a:r>
              <a:rPr lang="en-GB" sz="1300">
                <a:solidFill>
                  <a:schemeClr val="dk2"/>
                </a:solidFill>
                <a:latin typeface="Calibri"/>
                <a:ea typeface="Calibri"/>
                <a:cs typeface="Calibri"/>
                <a:sym typeface="Calibri"/>
              </a:rPr>
              <a:t>/ </a:t>
            </a:r>
            <a:r>
              <a:rPr b="1" lang="en-GB" sz="1300">
                <a:solidFill>
                  <a:schemeClr val="dk2"/>
                </a:solidFill>
                <a:latin typeface="Calibri"/>
                <a:ea typeface="Calibri"/>
                <a:cs typeface="Calibri"/>
                <a:sym typeface="Calibri"/>
              </a:rPr>
              <a:t>sizeof(int)</a:t>
            </a:r>
            <a:r>
              <a:rPr lang="en-GB" sz="1300">
                <a:solidFill>
                  <a:schemeClr val="dk2"/>
                </a:solidFill>
                <a:latin typeface="Calibri"/>
                <a:ea typeface="Calibri"/>
                <a:cs typeface="Calibri"/>
                <a:sym typeface="Calibri"/>
              </a:rPr>
              <a:t>;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for (int i = 0; i&lt; size; i++)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arr[i] = i;</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for (int i = 0; i &lt; size; i++) {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printf("%d ", arr[i]);</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return 0;</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en-GB" sz="1300">
                <a:solidFill>
                  <a:schemeClr val="dk2"/>
                </a:solidFill>
                <a:latin typeface="Calibri"/>
                <a:ea typeface="Calibri"/>
                <a:cs typeface="Calibri"/>
                <a:sym typeface="Calibri"/>
              </a:rPr>
              <a:t>}</a:t>
            </a:r>
            <a:endParaRPr/>
          </a:p>
        </p:txBody>
      </p:sp>
      <p:sp>
        <p:nvSpPr>
          <p:cNvPr id="455" name="Google Shape;455;p63"/>
          <p:cNvSpPr txBox="1"/>
          <p:nvPr/>
        </p:nvSpPr>
        <p:spPr>
          <a:xfrm>
            <a:off x="201900" y="3348700"/>
            <a:ext cx="90198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300"/>
              <a:t>Output:</a:t>
            </a:r>
            <a:endParaRPr b="1" sz="1300"/>
          </a:p>
          <a:p>
            <a:pPr indent="0" lvl="0" marL="0" rtl="0" algn="l">
              <a:spcBef>
                <a:spcPts val="0"/>
              </a:spcBef>
              <a:spcAft>
                <a:spcPts val="0"/>
              </a:spcAft>
              <a:buNone/>
            </a:pPr>
            <a:r>
              <a:rPr lang="en-GB" sz="1300">
                <a:solidFill>
                  <a:schemeClr val="accent6"/>
                </a:solidFill>
              </a:rPr>
              <a:t>0 1 2 3 4 5 6 7 8 9</a:t>
            </a:r>
            <a:endParaRPr sz="1300">
              <a:solidFill>
                <a:schemeClr val="accent6"/>
              </a:solidFill>
            </a:endParaRPr>
          </a:p>
          <a:p>
            <a:pPr indent="0" lvl="0" marL="0" rtl="0" algn="l">
              <a:spcBef>
                <a:spcPts val="0"/>
              </a:spcBef>
              <a:spcAft>
                <a:spcPts val="0"/>
              </a:spcAft>
              <a:buNone/>
            </a:pPr>
            <a:r>
              <a:rPr lang="en-GB" sz="1300"/>
              <a:t>Applications of Arrays are:</a:t>
            </a:r>
            <a:endParaRPr sz="1300"/>
          </a:p>
          <a:p>
            <a:pPr indent="0" lvl="0" marL="0" rtl="0" algn="l">
              <a:spcBef>
                <a:spcPts val="0"/>
              </a:spcBef>
              <a:spcAft>
                <a:spcPts val="0"/>
              </a:spcAft>
              <a:buNone/>
            </a:pPr>
            <a:r>
              <a:rPr lang="en-GB" sz="1300"/>
              <a:t>1. Storing data in tabular format.</a:t>
            </a:r>
            <a:endParaRPr sz="1300"/>
          </a:p>
          <a:p>
            <a:pPr indent="0" lvl="0" marL="0" rtl="0" algn="l">
              <a:spcBef>
                <a:spcPts val="0"/>
              </a:spcBef>
              <a:spcAft>
                <a:spcPts val="0"/>
              </a:spcAft>
              <a:buNone/>
            </a:pPr>
            <a:r>
              <a:rPr lang="en-GB" sz="1300"/>
              <a:t>2. Used in the creation of Matrices. </a:t>
            </a:r>
            <a:endParaRPr sz="1300"/>
          </a:p>
          <a:p>
            <a:pPr indent="0" lvl="0" marL="0" rtl="0" algn="l">
              <a:spcBef>
                <a:spcPts val="0"/>
              </a:spcBef>
              <a:spcAft>
                <a:spcPts val="0"/>
              </a:spcAft>
              <a:buNone/>
            </a:pPr>
            <a:r>
              <a:rPr lang="en-GB" sz="1300"/>
              <a:t>3. Used in the creation of various higher level data structures like Stacks, Queues, Heaps, HashTables etc.</a:t>
            </a:r>
            <a:endParaRPr sz="1300"/>
          </a:p>
          <a:p>
            <a:pPr indent="0" lvl="0" marL="0" rtl="0" algn="l">
              <a:spcBef>
                <a:spcPts val="0"/>
              </a:spcBef>
              <a:spcAft>
                <a:spcPts val="0"/>
              </a:spcAft>
              <a:buNone/>
            </a:pPr>
            <a:r>
              <a:rPr b="1" lang="en-GB" sz="1300"/>
              <a:t>Note:</a:t>
            </a:r>
            <a:r>
              <a:rPr lang="en-GB" sz="1300"/>
              <a:t> Problems based on array data structure are discussed later, especially in the Sorting and Searching topics</a:t>
            </a:r>
            <a:endParaRPr sz="13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4"/>
          <p:cNvSpPr txBox="1"/>
          <p:nvPr>
            <p:ph type="title"/>
          </p:nvPr>
        </p:nvSpPr>
        <p:spPr>
          <a:xfrm>
            <a:off x="461275" y="191920"/>
            <a:ext cx="7053600" cy="5694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GB"/>
              <a:t>Other Abstract Data Structures</a:t>
            </a:r>
            <a:endParaRPr/>
          </a:p>
        </p:txBody>
      </p:sp>
      <p:sp>
        <p:nvSpPr>
          <p:cNvPr id="461" name="Google Shape;461;p64"/>
          <p:cNvSpPr txBox="1"/>
          <p:nvPr>
            <p:ph idx="1" type="body"/>
          </p:nvPr>
        </p:nvSpPr>
        <p:spPr>
          <a:xfrm>
            <a:off x="365150" y="761325"/>
            <a:ext cx="8562300" cy="4024800"/>
          </a:xfrm>
          <a:prstGeom prst="rect">
            <a:avLst/>
          </a:prstGeom>
          <a:noFill/>
        </p:spPr>
        <p:txBody>
          <a:bodyPr anchorCtr="0" anchor="t" bIns="34275" lIns="68575" spcFirstLastPara="1" rIns="68575" wrap="square" tIns="34275">
            <a:normAutofit/>
          </a:bodyPr>
          <a:lstStyle/>
          <a:p>
            <a:pPr indent="0" lvl="0" marL="0" rtl="0" algn="l">
              <a:spcBef>
                <a:spcPts val="0"/>
              </a:spcBef>
              <a:spcAft>
                <a:spcPts val="0"/>
              </a:spcAft>
              <a:buNone/>
            </a:pPr>
            <a:r>
              <a:rPr lang="en-GB" sz="3200"/>
              <a:t>In coming  learning units, apart from Array, will be studying various data structures and their API so that the user can use them and their internal implementation.</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rPr lang="en-GB" sz="3200"/>
              <a:t>These include Linked List,</a:t>
            </a:r>
            <a:r>
              <a:rPr lang="en-GB" sz="3200">
                <a:solidFill>
                  <a:srgbClr val="000000"/>
                </a:solidFill>
                <a:latin typeface="Arial"/>
                <a:ea typeface="Arial"/>
                <a:cs typeface="Arial"/>
                <a:sym typeface="Arial"/>
              </a:rPr>
              <a:t>Stacks, Queues, Heaps, Hash Tables, Tree, Graph,  Hash Table among the others.</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