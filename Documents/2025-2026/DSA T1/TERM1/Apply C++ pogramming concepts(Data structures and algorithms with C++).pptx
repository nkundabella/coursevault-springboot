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Lst>
  <p:sldSz cy="5143500" cx="9144000"/>
  <p:notesSz cx="6858000" cy="9144000"/>
  <p:embeddedFontLst>
    <p:embeddedFont>
      <p:font typeface="Proxima Nova"/>
      <p:regular r:id="rId134"/>
      <p:bold r:id="rId135"/>
      <p:italic r:id="rId136"/>
      <p:boldItalic r:id="rId137"/>
    </p:embeddedFont>
    <p:embeddedFont>
      <p:font typeface="Roboto"/>
      <p:regular r:id="rId138"/>
      <p:bold r:id="rId139"/>
      <p:italic r:id="rId140"/>
      <p:boldItalic r:id="rId141"/>
    </p:embeddedFont>
    <p:embeddedFont>
      <p:font typeface="Nunito"/>
      <p:regular r:id="rId142"/>
      <p:bold r:id="rId143"/>
      <p:italic r:id="rId144"/>
      <p:boldItalic r:id="rId1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46" roundtripDataSignature="AMtx7miB86iYHG4Dj4wGkro1pVZmqInM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833F13D-1055-41CB-94B1-DEB62D9CAE1A}">
  <a:tblStyle styleId="{8833F13D-1055-41CB-94B1-DEB62D9CAE1A}"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BF383963-E0AA-4E9D-A898-146F2279B2C8}"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E33B257-1282-41D0-97F9-88C26BE8B7CD}"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A5AB06D-D19D-4F94-BA5E-EF1543E2CBFD}" styleName="Table_3">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CECE7"/>
          </a:solidFill>
        </a:fill>
      </a:tcStyle>
    </a:wholeTbl>
    <a:band1H>
      <a:tcTxStyle/>
      <a:tcStyle>
        <a:fill>
          <a:solidFill>
            <a:srgbClr val="F8D6CC"/>
          </a:solidFill>
        </a:fill>
      </a:tcStyle>
    </a:band1H>
    <a:band2H>
      <a:tcTxStyle/>
    </a:band2H>
    <a:band1V>
      <a:tcTxStyle/>
      <a:tcStyle>
        <a:fill>
          <a:solidFill>
            <a:srgbClr val="F8D6CC"/>
          </a:solidFill>
        </a:fill>
      </a:tcStyle>
    </a:band1V>
    <a:band2V>
      <a:tcTxStyle/>
    </a:band2V>
    <a:lastCol>
      <a:tcTxStyle b="on" i="off">
        <a:font>
          <a:latin typeface="Calibri"/>
          <a:ea typeface="Calibri"/>
          <a:cs typeface="Calibri"/>
        </a:font>
        <a:schemeClr val="lt1"/>
      </a:tcTxStyle>
      <a:tcStyle>
        <a:fill>
          <a:solidFill>
            <a:schemeClr val="accent2"/>
          </a:solidFill>
        </a:fill>
      </a:tcStyle>
    </a:lastCol>
    <a:firstCol>
      <a:tcTxStyle b="on" i="off">
        <a:font>
          <a:latin typeface="Calibri"/>
          <a:ea typeface="Calibri"/>
          <a:cs typeface="Calibri"/>
        </a:font>
        <a:schemeClr val="lt1"/>
      </a:tcTxStyle>
      <a:tcStyle>
        <a:fill>
          <a:solidFill>
            <a:schemeClr val="accent2"/>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2"/>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2"/>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43" Type="http://schemas.openxmlformats.org/officeDocument/2006/relationships/font" Target="fonts/Nunito-bold.fntdata"/><Relationship Id="rId142" Type="http://schemas.openxmlformats.org/officeDocument/2006/relationships/font" Target="fonts/Nunito-regular.fntdata"/><Relationship Id="rId141" Type="http://schemas.openxmlformats.org/officeDocument/2006/relationships/font" Target="fonts/Roboto-boldItalic.fntdata"/><Relationship Id="rId140"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146" Type="http://customschemas.google.com/relationships/presentationmetadata" Target="metadata"/><Relationship Id="rId7" Type="http://schemas.openxmlformats.org/officeDocument/2006/relationships/slide" Target="slides/slide1.xml"/><Relationship Id="rId145" Type="http://schemas.openxmlformats.org/officeDocument/2006/relationships/font" Target="fonts/Nunito-boldItalic.fntdata"/><Relationship Id="rId8" Type="http://schemas.openxmlformats.org/officeDocument/2006/relationships/slide" Target="slides/slide2.xml"/><Relationship Id="rId144" Type="http://schemas.openxmlformats.org/officeDocument/2006/relationships/font" Target="fonts/Nunito-italic.fntdata"/><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font" Target="fonts/Roboto-bold.fntdata"/><Relationship Id="rId138" Type="http://schemas.openxmlformats.org/officeDocument/2006/relationships/font" Target="fonts/Roboto-regular.fntdata"/><Relationship Id="rId137" Type="http://schemas.openxmlformats.org/officeDocument/2006/relationships/font" Target="fonts/ProximaNova-boldItalic.fntdata"/><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font" Target="fonts/ProximaNova-italic.fntdata"/><Relationship Id="rId135" Type="http://schemas.openxmlformats.org/officeDocument/2006/relationships/font" Target="fonts/ProximaNova-bold.fntdata"/><Relationship Id="rId134" Type="http://schemas.openxmlformats.org/officeDocument/2006/relationships/font" Target="fonts/ProximaNova-regular.fntdata"/><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cplusplus.com/doc/tutorial/functions/" TargetMode="External"/><Relationship Id="rId3" Type="http://schemas.openxmlformats.org/officeDocument/2006/relationships/hyperlink" Target="https://www.w3schools.com/cpp/" TargetMode="External"/><Relationship Id="rId4" Type="http://schemas.openxmlformats.org/officeDocument/2006/relationships/hyperlink" Target="http://160592857366.free.fr/joe/ebooks/ShareData/C++%20-%20The%20Complete%20Reference%204e.pdf" TargetMode="External"/><Relationship Id="rId5" Type="http://schemas.openxmlformats.org/officeDocument/2006/relationships/hyperlink" Target="https://www.tutorialspoint.com/cplusplus/index.htm" TargetMode="External"/><Relationship Id="rId6" Type="http://schemas.openxmlformats.org/officeDocument/2006/relationships/hyperlink" Target="https://drive.google.com/open?id=1cCdIQKwqC3SXsfZQlt0-q8CvtBqmacuj"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Resource website</a:t>
            </a:r>
            <a:endParaRPr/>
          </a:p>
          <a:p>
            <a:pPr indent="0" lvl="0" marL="0" rtl="0" algn="l">
              <a:lnSpc>
                <a:spcPct val="100000"/>
              </a:lnSpc>
              <a:spcBef>
                <a:spcPts val="0"/>
              </a:spcBef>
              <a:spcAft>
                <a:spcPts val="0"/>
              </a:spcAft>
              <a:buSzPts val="1100"/>
              <a:buNone/>
            </a:pPr>
            <a:r>
              <a:rPr lang="en" u="sng">
                <a:solidFill>
                  <a:schemeClr val="hlink"/>
                </a:solidFill>
                <a:hlinkClick r:id="rId2"/>
              </a:rPr>
              <a:t>http://www.cplusplus.com/doc/tutorial/functions/</a:t>
            </a:r>
            <a:endParaRPr/>
          </a:p>
          <a:p>
            <a:pPr indent="0" lvl="0" marL="0" rtl="0" algn="l">
              <a:lnSpc>
                <a:spcPct val="100000"/>
              </a:lnSpc>
              <a:spcBef>
                <a:spcPts val="0"/>
              </a:spcBef>
              <a:spcAft>
                <a:spcPts val="0"/>
              </a:spcAft>
              <a:buSzPts val="1100"/>
              <a:buNone/>
            </a:pPr>
            <a:r>
              <a:rPr lang="en" u="sng">
                <a:solidFill>
                  <a:schemeClr val="hlink"/>
                </a:solidFill>
                <a:hlinkClick r:id="rId3"/>
              </a:rPr>
              <a:t>https://www.w3schools.com/cpp/</a:t>
            </a:r>
            <a:endParaRPr/>
          </a:p>
          <a:p>
            <a:pPr indent="0" lvl="0" marL="0" rtl="0" algn="l">
              <a:lnSpc>
                <a:spcPct val="100000"/>
              </a:lnSpc>
              <a:spcBef>
                <a:spcPts val="0"/>
              </a:spcBef>
              <a:spcAft>
                <a:spcPts val="0"/>
              </a:spcAft>
              <a:buSzPts val="1100"/>
              <a:buNone/>
            </a:pPr>
            <a:r>
              <a:rPr lang="en" u="sng">
                <a:solidFill>
                  <a:schemeClr val="hlink"/>
                </a:solidFill>
                <a:hlinkClick r:id="rId4"/>
              </a:rPr>
              <a:t>http://160592857366.free.fr/joe/ebooks/ShareData/C++%20-%20The%20Complete%20Reference%204e.pdf</a:t>
            </a:r>
            <a:endParaRPr/>
          </a:p>
          <a:p>
            <a:pPr indent="0" lvl="0" marL="0" rtl="0" algn="l">
              <a:lnSpc>
                <a:spcPct val="100000"/>
              </a:lnSpc>
              <a:spcBef>
                <a:spcPts val="0"/>
              </a:spcBef>
              <a:spcAft>
                <a:spcPts val="0"/>
              </a:spcAft>
              <a:buClr>
                <a:schemeClr val="dk1"/>
              </a:buClr>
              <a:buSzPts val="1100"/>
              <a:buFont typeface="Arial"/>
              <a:buNone/>
            </a:pPr>
            <a:r>
              <a:rPr lang="en" u="sng">
                <a:solidFill>
                  <a:schemeClr val="accent5"/>
                </a:solidFill>
                <a:hlinkClick r:id="rId5">
                  <a:extLst>
                    <a:ext uri="{A12FA001-AC4F-418D-AE19-62706E023703}">
                      <ahyp:hlinkClr val="tx"/>
                    </a:ext>
                  </a:extLst>
                </a:hlinkClick>
              </a:rPr>
              <a:t>https://www.tutorialspoint.com/cplusplus/index.htm</a:t>
            </a:r>
            <a:endParaRPr/>
          </a:p>
          <a:p>
            <a:pPr indent="0" lvl="0" marL="0" rtl="0" algn="l">
              <a:lnSpc>
                <a:spcPct val="100000"/>
              </a:lnSpc>
              <a:spcBef>
                <a:spcPts val="0"/>
              </a:spcBef>
              <a:spcAft>
                <a:spcPts val="0"/>
              </a:spcAft>
              <a:buSzPts val="1100"/>
              <a:buNone/>
            </a:pPr>
            <a:r>
              <a:rPr lang="en" u="sng">
                <a:solidFill>
                  <a:schemeClr val="hlink"/>
                </a:solidFill>
                <a:hlinkClick r:id="rId6"/>
              </a:rPr>
              <a:t>https://drive.google.com/open?id=1cCdIQKwqC3SXsfZQlt0-q8CvtBqmacuj</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83038813be_0_9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83038813be_0_9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0cf3b75d1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0cf3b75d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d4a9c8130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d4a9c8130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0ccfebd24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0ccfebd24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0ccfebd24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0ccfebd24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83038813b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283038813be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83038813b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g283038813be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83038813be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g283038813be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7651c49b18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g7651c49b18_3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6e4c203cf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g6e4c203cfd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6e4c203cfd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g6e4c203cfd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6e4c203cfd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g6e4c203cfd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6e4c203cfd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g6e4c203cfd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6e4c203cfd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g6e4c203cfd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6e4c203cfd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g6e4c203cfd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6e4c203cfd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g6e4c203cfd_0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6e4c203cfd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g6e4c203cfd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7e44bd323b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g7e44bd323b_3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7e44bd323b_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g7e44bd323b_3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7e44bd323b_3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g7e44bd323b_3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7e44bd323b_3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g7e44bd323b_3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7e44bd323b_3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0" name="Google Shape;390;g7e44bd323b_3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7e44bd323b_3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7" name="Google Shape;397;g7e44bd323b_3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7e44bd323b_3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g7e44bd323b_3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7e44bd323b_3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5" name="Google Shape;415;g7e44bd323b_3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7e44bd323b_3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7" name="Google Shape;427;g7e44bd323b_3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7f9f70ad5c_1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7f9f70ad5c_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7e44bd323b_3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6" name="Google Shape;446;g7e44bd323b_3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7e44bd323b_3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3" name="Google Shape;453;g7e44bd323b_3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7e44bd323b_3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g7e44bd323b_3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70e08bb8ca_2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7" name="Google Shape;467;g70e08bb8ca_23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70e08bb8ca_2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4" name="Google Shape;474;g70e08bb8ca_23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70e08bb8ca_23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1" name="Google Shape;481;g70e08bb8ca_23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70e08bb8ca_23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8" name="Google Shape;488;g70e08bb8ca_23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70e08bb8ca_23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8" name="Google Shape;498;g70e08bb8ca_23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70e08bb8ca_23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5" name="Google Shape;505;g70e08bb8ca_23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2d4a9c8130e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2d4a9c8130e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83038813b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283038813b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283038813be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283038813be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283038813be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283038813be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283038813be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283038813be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283038813be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283038813be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283038813be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283038813be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283038813be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283038813be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283038813be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283038813be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283038813be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283038813be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283038813be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283038813be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283038813be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283038813be_0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283038813be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283038813be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283038813be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283038813be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283038813be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283038813be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283038813be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283038813be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283038813be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283038813be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283038813be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283038813be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283038813be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283038813be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283038813be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283038813be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283038813be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283038813be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283038813be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283038813be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283038813be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283038813be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283038813be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283038813be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283038813be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283038813be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283038813be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283038813be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283038813be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283038813be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283038813be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283038813be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283038813be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283038813be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283038813be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283038813be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283038813be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283038813be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283038813be_0_4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283038813be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283038813be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283038813be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283038813be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g283038813be_0_4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283038813be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g283038813be_0_4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283038813be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g283038813be_0_5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283038813be_0_5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37" name="Google Shape;837;g283038813be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283038813be_0_5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283038813be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283038813be_0_5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53" name="Google Shape;853;g283038813be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283038813be_0_5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61" name="Google Shape;861;g283038813be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283038813be_0_9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283038813be_0_9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283038813be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283038813be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283038813be_0_6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9" name="Google Shape;889;g283038813be_0_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283038813be_0_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6" name="Google Shape;896;g283038813be_0_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283038813be_0_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283038813be_0_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283038813be_0_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283038813be_0_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g283038813be_0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1" name="Google Shape;921;g283038813be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283038813be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9" name="Google Shape;929;g283038813be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283038813be_0_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9" name="Google Shape;939;g283038813be_0_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283038813be_0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5" name="Google Shape;945;g283038813be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283038813be_0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4" name="Google Shape;954;g283038813be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283038813be_0_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283038813be_0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283038813be_0_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283038813be_0_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283038813be_0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g283038813be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283038813be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g283038813be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283038813be_0_7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283038813be_0_7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283038813be_0_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g283038813be_0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283038813be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9" name="Google Shape;1009;g283038813be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283038813be_0_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7" name="Google Shape;1017;g283038813be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283038813be_0_7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4" name="Google Shape;1024;g283038813be_0_7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283038813be_0_7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2" name="Google Shape;1032;g283038813be_0_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283038813be_0_7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9" name="Google Shape;1039;g283038813be_0_7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283038813be_0_7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7" name="Google Shape;1047;g283038813be_0_7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283038813be_0_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6" name="Google Shape;1056;g283038813be_0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283038813be_0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4" name="Google Shape;1064;g283038813be_0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28a5d7bea0c_1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1" name="Google Shape;1071;g28a5d7bea0c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28b54753f85_3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28b54753f85_34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28b54753f85_34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4" name="Google Shape;1084;g28b54753f85_34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28b54753f85_34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5" name="Google Shape;1095;g28b54753f85_34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28b54753f85_34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6" name="Google Shape;1106;g28b54753f85_34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4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4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3" name="Google Shape;13;p43"/>
          <p:cNvPicPr preferRelativeResize="0"/>
          <p:nvPr/>
        </p:nvPicPr>
        <p:blipFill>
          <a:blip r:embed="rId2">
            <a:alphaModFix/>
          </a:blip>
          <a:stretch>
            <a:fillRect/>
          </a:stretch>
        </p:blipFill>
        <p:spPr>
          <a:xfrm>
            <a:off x="0" y="4393750"/>
            <a:ext cx="749750" cy="749750"/>
          </a:xfrm>
          <a:prstGeom prst="rect">
            <a:avLst/>
          </a:prstGeom>
          <a:noFill/>
          <a:ln>
            <a:noFill/>
          </a:ln>
        </p:spPr>
      </p:pic>
      <p:sp>
        <p:nvSpPr>
          <p:cNvPr id="14" name="Google Shape;14;p43"/>
          <p:cNvSpPr txBox="1"/>
          <p:nvPr/>
        </p:nvSpPr>
        <p:spPr>
          <a:xfrm>
            <a:off x="4238625" y="4832250"/>
            <a:ext cx="3122700" cy="2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rgbClr val="666666"/>
                </a:solidFill>
              </a:rPr>
              <a:t>DSA_C++    	@damascene10</a:t>
            </a:r>
            <a:endParaRPr i="1" sz="1200">
              <a:solidFill>
                <a:srgbClr val="666666"/>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4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8" name="Google Shape;18;p44"/>
          <p:cNvSpPr txBox="1"/>
          <p:nvPr>
            <p:ph idx="12" type="sldNum"/>
          </p:nvPr>
        </p:nvSpPr>
        <p:spPr>
          <a:xfrm>
            <a:off x="8548658" y="47394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44"/>
          <p:cNvPicPr preferRelativeResize="0"/>
          <p:nvPr/>
        </p:nvPicPr>
        <p:blipFill>
          <a:blip r:embed="rId2">
            <a:alphaModFix/>
          </a:blip>
          <a:stretch>
            <a:fillRect/>
          </a:stretch>
        </p:blipFill>
        <p:spPr>
          <a:xfrm>
            <a:off x="0" y="4540700"/>
            <a:ext cx="602800" cy="602800"/>
          </a:xfrm>
          <a:prstGeom prst="rect">
            <a:avLst/>
          </a:prstGeom>
          <a:noFill/>
          <a:ln>
            <a:noFill/>
          </a:ln>
        </p:spPr>
      </p:pic>
      <p:sp>
        <p:nvSpPr>
          <p:cNvPr id="20" name="Google Shape;20;p44"/>
          <p:cNvSpPr txBox="1"/>
          <p:nvPr/>
        </p:nvSpPr>
        <p:spPr>
          <a:xfrm>
            <a:off x="6069875" y="4810125"/>
            <a:ext cx="2579100" cy="28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rgbClr val="999999"/>
                </a:solidFill>
              </a:rPr>
              <a:t>DSA _C++     damascene10</a:t>
            </a:r>
            <a:endParaRPr i="1" sz="1200">
              <a:solidFill>
                <a:srgbClr val="999999"/>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4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3" name="Google Shape;23;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4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7" name="Google Shape;27;p4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8" name="Google Shape;28;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4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4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4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5" name="Google Shape;35;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4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5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5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5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5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4" name="Google Shape;44;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5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7" name="Google Shape;4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5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5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51" name="Google Shape;51;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4" name="Shape 54"/>
        <p:cNvGrpSpPr/>
        <p:nvPr/>
      </p:nvGrpSpPr>
      <p:grpSpPr>
        <a:xfrm>
          <a:off x="0" y="0"/>
          <a:ext cx="0" cy="0"/>
          <a:chOff x="0" y="0"/>
          <a:chExt cx="0" cy="0"/>
        </a:xfrm>
      </p:grpSpPr>
      <p:sp>
        <p:nvSpPr>
          <p:cNvPr id="55" name="Google Shape;55;g283038813be_0_61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 name="Google Shape;56;g283038813be_0_61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1600"/>
              </a:spcAft>
              <a:buClr>
                <a:schemeClr val="dk1"/>
              </a:buClr>
              <a:buSzPts val="1400"/>
              <a:buChar char="■"/>
              <a:defRPr/>
            </a:lvl9pPr>
          </a:lstStyle>
          <a:p/>
        </p:txBody>
      </p:sp>
      <p:sp>
        <p:nvSpPr>
          <p:cNvPr id="57" name="Google Shape;57;g283038813be_0_61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58" name="Google Shape;58;g283038813be_0_6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59" name="Google Shape;59;g283038813be_0_6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shorturl.at/I7Z5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www.w3schools.com/cpp/showcpp.asp?filename=demo_strings_chang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png"/><Relationship Id="rId4" Type="http://schemas.openxmlformats.org/officeDocument/2006/relationships/image" Target="../media/image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1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1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1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hyperlink" Target="https://www.udacity.com/blog/2021/07/cpp-class-methods-explained.html"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 Id="rId3" Type="http://schemas.openxmlformats.org/officeDocument/2006/relationships/hyperlink" Target="https://shorturl.at/cnA34" TargetMode="External"/><Relationship Id="rId4" Type="http://schemas.openxmlformats.org/officeDocument/2006/relationships/hyperlink" Target="https://shorturl.at/dfSTY" TargetMode="Externa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a:t>Data structures and algorithms using C++</a:t>
            </a:r>
            <a:endParaRPr/>
          </a:p>
        </p:txBody>
      </p:sp>
      <p:sp>
        <p:nvSpPr>
          <p:cNvPr id="65" name="Google Shape;65;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1100">
                <a:solidFill>
                  <a:schemeClr val="dk1"/>
                </a:solidFill>
              </a:rPr>
              <a:t> 	 	</a:t>
            </a:r>
            <a:endParaRPr sz="1100">
              <a:solidFill>
                <a:schemeClr val="dk1"/>
              </a:solidFill>
            </a:endParaRPr>
          </a:p>
          <a:p>
            <a:pPr indent="0" lvl="0" marL="0" rtl="0" algn="ctr">
              <a:lnSpc>
                <a:spcPct val="100000"/>
              </a:lnSpc>
              <a:spcBef>
                <a:spcPts val="0"/>
              </a:spcBef>
              <a:spcAft>
                <a:spcPts val="0"/>
              </a:spcAft>
              <a:buClr>
                <a:schemeClr val="dk1"/>
              </a:buClr>
              <a:buSzPts val="1100"/>
              <a:buFont typeface="Arial"/>
              <a:buNone/>
            </a:pPr>
            <a:r>
              <a:rPr b="1" lang="en" sz="1700">
                <a:solidFill>
                  <a:srgbClr val="F2D24C"/>
                </a:solidFill>
              </a:rPr>
              <a:t>LU 1: Apply c++ programming concepts</a:t>
            </a:r>
            <a:endParaRPr sz="1700">
              <a:solidFill>
                <a:schemeClr val="dk1"/>
              </a:solidFill>
            </a:endParaRPr>
          </a:p>
          <a:p>
            <a:pPr indent="0" lvl="0" marL="0" rtl="0" algn="ctr">
              <a:lnSpc>
                <a:spcPct val="100000"/>
              </a:lnSpc>
              <a:spcBef>
                <a:spcPts val="0"/>
              </a:spcBef>
              <a:spcAft>
                <a:spcPts val="0"/>
              </a:spcAft>
              <a:buClr>
                <a:schemeClr val="dk1"/>
              </a:buClr>
              <a:buSzPts val="1100"/>
              <a:buFont typeface="Arial"/>
              <a:buNone/>
            </a:pPr>
            <a:r>
              <a:t/>
            </a:r>
            <a:endParaRPr sz="1700">
              <a:solidFill>
                <a:schemeClr val="dk1"/>
              </a:solidFill>
            </a:endParaRPr>
          </a:p>
          <a:p>
            <a:pPr indent="0" lvl="0" marL="0" rtl="0" algn="ctr">
              <a:lnSpc>
                <a:spcPct val="100000"/>
              </a:lnSpc>
              <a:spcBef>
                <a:spcPts val="0"/>
              </a:spcBef>
              <a:spcAft>
                <a:spcPts val="0"/>
              </a:spcAft>
              <a:buClr>
                <a:schemeClr val="dk1"/>
              </a:buClr>
              <a:buSzPts val="1100"/>
              <a:buFont typeface="Arial"/>
              <a:buNone/>
            </a:pPr>
            <a:r>
              <a:t/>
            </a:r>
            <a:endParaRPr sz="1700">
              <a:solidFill>
                <a:schemeClr val="dk1"/>
              </a:solidFill>
            </a:endParaRPr>
          </a:p>
          <a:p>
            <a:pPr indent="0" lvl="0" marL="0" rtl="0" algn="ctr">
              <a:lnSpc>
                <a:spcPct val="100000"/>
              </a:lnSpc>
              <a:spcBef>
                <a:spcPts val="0"/>
              </a:spcBef>
              <a:spcAft>
                <a:spcPts val="0"/>
              </a:spcAft>
              <a:buSzPts val="2800"/>
              <a:buNone/>
            </a:pPr>
            <a:r>
              <a:t/>
            </a:r>
            <a:endParaRPr/>
          </a:p>
        </p:txBody>
      </p:sp>
      <p:sp>
        <p:nvSpPr>
          <p:cNvPr id="66" name="Google Shape;66;p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g283038813be_0_9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Purpose statement of the Course</a:t>
            </a:r>
            <a:endParaRPr/>
          </a:p>
        </p:txBody>
      </p:sp>
      <p:sp>
        <p:nvSpPr>
          <p:cNvPr id="72" name="Google Shape;72;g283038813be_0_939"/>
          <p:cNvSpPr txBox="1"/>
          <p:nvPr>
            <p:ph idx="1" type="body"/>
          </p:nvPr>
        </p:nvSpPr>
        <p:spPr>
          <a:xfrm>
            <a:off x="311700" y="1152475"/>
            <a:ext cx="8520600" cy="3789000"/>
          </a:xfrm>
          <a:prstGeom prst="rect">
            <a:avLst/>
          </a:prstGeom>
        </p:spPr>
        <p:txBody>
          <a:bodyPr anchorCtr="0" anchor="t" bIns="91425" lIns="91425" spcFirstLastPara="1" rIns="91425" wrap="square" tIns="91425">
            <a:noAutofit/>
          </a:bodyPr>
          <a:lstStyle/>
          <a:p>
            <a:pPr indent="0" lvl="0" marL="0" rtl="0" algn="just">
              <a:lnSpc>
                <a:spcPct val="107916"/>
              </a:lnSpc>
              <a:spcBef>
                <a:spcPts val="0"/>
              </a:spcBef>
              <a:spcAft>
                <a:spcPts val="0"/>
              </a:spcAft>
              <a:buClr>
                <a:schemeClr val="dk1"/>
              </a:buClr>
              <a:buSzPts val="1100"/>
              <a:buFont typeface="Arial"/>
              <a:buNone/>
            </a:pPr>
            <a:r>
              <a:rPr lang="en">
                <a:solidFill>
                  <a:schemeClr val="dk1"/>
                </a:solidFill>
              </a:rPr>
              <a:t>At the end of this module you will be able to apply data structures in problem-solving scenarios and adeptly write C++ programs.You will learn to Apply C++ programming concepts, Analyze data structure and algorithms, Implement Linear Data Structure, Implement Non Linear Data Structure, Implement Hash Table and handle Data Retrieval, and Apply recursion for solving complex problems using C++. </a:t>
            </a:r>
            <a:endParaRPr>
              <a:solidFill>
                <a:schemeClr val="dk1"/>
              </a:solidFill>
            </a:endParaRPr>
          </a:p>
          <a:p>
            <a:pPr indent="0" lvl="0" marL="0" rtl="0" algn="just">
              <a:lnSpc>
                <a:spcPct val="107916"/>
              </a:lnSpc>
              <a:spcBef>
                <a:spcPts val="0"/>
              </a:spcBef>
              <a:spcAft>
                <a:spcPts val="0"/>
              </a:spcAft>
              <a:buClr>
                <a:schemeClr val="dk1"/>
              </a:buClr>
              <a:buSzPts val="1100"/>
              <a:buFont typeface="Arial"/>
              <a:buNone/>
            </a:pPr>
            <a:r>
              <a:t/>
            </a:r>
            <a:endParaRPr>
              <a:solidFill>
                <a:schemeClr val="dk1"/>
              </a:solidFill>
            </a:endParaRPr>
          </a:p>
          <a:p>
            <a:pPr indent="0" lvl="0" marL="0" rtl="0" algn="just">
              <a:lnSpc>
                <a:spcPct val="107916"/>
              </a:lnSpc>
              <a:spcBef>
                <a:spcPts val="0"/>
              </a:spcBef>
              <a:spcAft>
                <a:spcPts val="0"/>
              </a:spcAft>
              <a:buClr>
                <a:schemeClr val="dk1"/>
              </a:buClr>
              <a:buSzPts val="1100"/>
              <a:buFont typeface="Arial"/>
              <a:buNone/>
            </a:pPr>
            <a:r>
              <a:rPr lang="en">
                <a:solidFill>
                  <a:schemeClr val="dk1"/>
                </a:solidFill>
              </a:rPr>
              <a:t>Additionally, you will gain a comprehensive understanding of hash table implementations for efficient data retrieval and collision handling. With these competences, you will be empowered to tackle complex challenges independently, ensuring efficient and effective problem-solving in C++ programming.</a:t>
            </a:r>
            <a:endParaRPr sz="2600"/>
          </a:p>
        </p:txBody>
      </p:sp>
      <p:sp>
        <p:nvSpPr>
          <p:cNvPr id="73" name="Google Shape;73;g283038813be_0_93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g30cf3b75d16_0_0"/>
          <p:cNvSpPr txBox="1"/>
          <p:nvPr>
            <p:ph type="title"/>
          </p:nvPr>
        </p:nvSpPr>
        <p:spPr>
          <a:xfrm>
            <a:off x="311700" y="2316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Definition of Key terms</a:t>
            </a:r>
            <a:endParaRPr b="1"/>
          </a:p>
        </p:txBody>
      </p:sp>
      <p:sp>
        <p:nvSpPr>
          <p:cNvPr id="79" name="Google Shape;79;g30cf3b75d16_0_0"/>
          <p:cNvSpPr txBox="1"/>
          <p:nvPr>
            <p:ph idx="1" type="body"/>
          </p:nvPr>
        </p:nvSpPr>
        <p:spPr>
          <a:xfrm>
            <a:off x="156500" y="860800"/>
            <a:ext cx="8987400" cy="405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900"/>
              <a:t>Data Structure:</a:t>
            </a:r>
            <a:endParaRPr b="1" sz="1900"/>
          </a:p>
          <a:p>
            <a:pPr indent="0" lvl="0" marL="0" rtl="0" algn="l">
              <a:spcBef>
                <a:spcPts val="0"/>
              </a:spcBef>
              <a:spcAft>
                <a:spcPts val="0"/>
              </a:spcAft>
              <a:buNone/>
            </a:pPr>
            <a:r>
              <a:rPr b="1" lang="en" sz="1900"/>
              <a:t>Data Structure </a:t>
            </a:r>
            <a:r>
              <a:rPr lang="en" sz="1900"/>
              <a:t>is a logical or mathematical model for collecting and organizing data in such a way that we can perform operations on these data in an effective way. Data Structures is about rendering data elements in terms of some relationship, for better organization and Storage.</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b="1" lang="en" sz="1900"/>
              <a:t>Algorithm</a:t>
            </a:r>
            <a:endParaRPr b="1" sz="1900"/>
          </a:p>
          <a:p>
            <a:pPr indent="0" lvl="0" marL="0" rtl="0" algn="l">
              <a:spcBef>
                <a:spcPts val="0"/>
              </a:spcBef>
              <a:spcAft>
                <a:spcPts val="0"/>
              </a:spcAft>
              <a:buNone/>
            </a:pPr>
            <a:r>
              <a:rPr lang="en" sz="1900">
                <a:solidFill>
                  <a:srgbClr val="212529"/>
                </a:solidFill>
                <a:latin typeface="Proxima Nova"/>
                <a:ea typeface="Proxima Nova"/>
                <a:cs typeface="Proxima Nova"/>
                <a:sym typeface="Proxima Nova"/>
              </a:rPr>
              <a:t>An algorithm is </a:t>
            </a:r>
            <a:r>
              <a:rPr b="1" lang="en" sz="1900">
                <a:solidFill>
                  <a:srgbClr val="212529"/>
                </a:solidFill>
                <a:latin typeface="Proxima Nova"/>
                <a:ea typeface="Proxima Nova"/>
                <a:cs typeface="Proxima Nova"/>
                <a:sym typeface="Proxima Nova"/>
              </a:rPr>
              <a:t>a set of instructions for solving a problem or accomplishing a task. </a:t>
            </a:r>
            <a:endParaRPr b="1" sz="1900">
              <a:solidFill>
                <a:srgbClr val="212529"/>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b="1" lang="en" sz="1900">
                <a:solidFill>
                  <a:srgbClr val="212529"/>
                </a:solidFill>
                <a:latin typeface="Proxima Nova"/>
                <a:ea typeface="Proxima Nova"/>
                <a:cs typeface="Proxima Nova"/>
                <a:sym typeface="Proxima Nova"/>
              </a:rPr>
              <a:t>It can also be defined as  </a:t>
            </a:r>
            <a:r>
              <a:rPr lang="en" sz="1900">
                <a:solidFill>
                  <a:srgbClr val="212529"/>
                </a:solidFill>
                <a:latin typeface="Proxima Nova"/>
                <a:ea typeface="Proxima Nova"/>
                <a:cs typeface="Proxima Nova"/>
                <a:sym typeface="Proxima Nova"/>
              </a:rPr>
              <a:t>a process or set of rules to be followed in calculations or other problem-solving operations, especially by a computer.</a:t>
            </a:r>
            <a:endParaRPr b="1" sz="1900"/>
          </a:p>
        </p:txBody>
      </p:sp>
      <p:sp>
        <p:nvSpPr>
          <p:cNvPr id="80" name="Google Shape;80;g30cf3b75d16_0_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2"/>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OVERVIEW OF C</a:t>
            </a:r>
            <a:r>
              <a:rPr lang="en"/>
              <a:t>++ PROGRAMMING</a:t>
            </a:r>
            <a:endParaRPr/>
          </a:p>
        </p:txBody>
      </p:sp>
      <p:sp>
        <p:nvSpPr>
          <p:cNvPr id="86" name="Google Shape;86;p2"/>
          <p:cNvSpPr txBox="1"/>
          <p:nvPr>
            <p:ph idx="1" type="body"/>
          </p:nvPr>
        </p:nvSpPr>
        <p:spPr>
          <a:xfrm>
            <a:off x="464100" y="712925"/>
            <a:ext cx="8520600" cy="4195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400"/>
              </a:spcBef>
              <a:spcAft>
                <a:spcPts val="0"/>
              </a:spcAft>
              <a:buSzPts val="1800"/>
              <a:buNone/>
            </a:pPr>
            <a:r>
              <a:rPr b="1" lang="en" sz="1400">
                <a:solidFill>
                  <a:schemeClr val="dk1"/>
                </a:solidFill>
                <a:highlight>
                  <a:srgbClr val="FFFFFF"/>
                </a:highlight>
                <a:latin typeface="Verdana"/>
                <a:ea typeface="Verdana"/>
                <a:cs typeface="Verdana"/>
                <a:sym typeface="Verdana"/>
              </a:rPr>
              <a:t>What is c++?</a:t>
            </a:r>
            <a:endParaRPr b="1" sz="1400">
              <a:solidFill>
                <a:schemeClr val="dk1"/>
              </a:solidFill>
              <a:highlight>
                <a:srgbClr val="FFFFFF"/>
              </a:highlight>
              <a:latin typeface="Verdana"/>
              <a:ea typeface="Verdana"/>
              <a:cs typeface="Verdana"/>
              <a:sym typeface="Verdana"/>
            </a:endParaRPr>
          </a:p>
          <a:p>
            <a:pPr indent="0" lvl="0" marL="0" rtl="0" algn="l">
              <a:lnSpc>
                <a:spcPct val="150000"/>
              </a:lnSpc>
              <a:spcBef>
                <a:spcPts val="1400"/>
              </a:spcBef>
              <a:spcAft>
                <a:spcPts val="0"/>
              </a:spcAft>
              <a:buClr>
                <a:schemeClr val="dk1"/>
              </a:buClr>
              <a:buSzPts val="1100"/>
              <a:buFont typeface="Arial"/>
              <a:buNone/>
            </a:pPr>
            <a:r>
              <a:rPr lang="en" sz="1400">
                <a:solidFill>
                  <a:schemeClr val="dk1"/>
                </a:solidFill>
                <a:highlight>
                  <a:srgbClr val="FFFFFF"/>
                </a:highlight>
                <a:latin typeface="Verdana"/>
                <a:ea typeface="Verdana"/>
                <a:cs typeface="Verdana"/>
                <a:sym typeface="Verdana"/>
              </a:rPr>
              <a:t>C++ is a cross-platform language that can be used to create high-performance applications.</a:t>
            </a:r>
            <a:endParaRPr sz="1400">
              <a:solidFill>
                <a:schemeClr val="dk1"/>
              </a:solidFill>
              <a:highlight>
                <a:srgbClr val="FFFFFF"/>
              </a:highlight>
              <a:latin typeface="Verdana"/>
              <a:ea typeface="Verdana"/>
              <a:cs typeface="Verdana"/>
              <a:sym typeface="Verdana"/>
            </a:endParaRPr>
          </a:p>
          <a:p>
            <a:pPr indent="0" lvl="0" marL="0" rtl="0" algn="l">
              <a:lnSpc>
                <a:spcPct val="150000"/>
              </a:lnSpc>
              <a:spcBef>
                <a:spcPts val="0"/>
              </a:spcBef>
              <a:spcAft>
                <a:spcPts val="0"/>
              </a:spcAft>
              <a:buClr>
                <a:schemeClr val="dk1"/>
              </a:buClr>
              <a:buSzPts val="1100"/>
              <a:buFont typeface="Arial"/>
              <a:buNone/>
            </a:pPr>
            <a:r>
              <a:rPr lang="en" sz="1400">
                <a:solidFill>
                  <a:schemeClr val="dk1"/>
                </a:solidFill>
                <a:highlight>
                  <a:srgbClr val="FFFFFF"/>
                </a:highlight>
                <a:latin typeface="Verdana"/>
                <a:ea typeface="Verdana"/>
                <a:cs typeface="Verdana"/>
                <a:sym typeface="Verdana"/>
              </a:rPr>
              <a:t>C++ was developed by Bjarne Stroustrup at Bell labs in 1979, as an extension to the C language.</a:t>
            </a:r>
            <a:endParaRPr sz="1400">
              <a:solidFill>
                <a:schemeClr val="dk1"/>
              </a:solidFill>
              <a:highlight>
                <a:srgbClr val="FFFFFF"/>
              </a:highlight>
              <a:latin typeface="Verdana"/>
              <a:ea typeface="Verdana"/>
              <a:cs typeface="Verdana"/>
              <a:sym typeface="Verdana"/>
            </a:endParaRPr>
          </a:p>
          <a:p>
            <a:pPr indent="0" lvl="0" marL="0" rtl="0" algn="l">
              <a:lnSpc>
                <a:spcPct val="150000"/>
              </a:lnSpc>
              <a:spcBef>
                <a:spcPts val="0"/>
              </a:spcBef>
              <a:spcAft>
                <a:spcPts val="0"/>
              </a:spcAft>
              <a:buClr>
                <a:schemeClr val="dk1"/>
              </a:buClr>
              <a:buSzPts val="1100"/>
              <a:buFont typeface="Arial"/>
              <a:buNone/>
            </a:pPr>
            <a:r>
              <a:rPr lang="en" sz="1400">
                <a:solidFill>
                  <a:schemeClr val="dk1"/>
                </a:solidFill>
                <a:highlight>
                  <a:srgbClr val="FFFFFF"/>
                </a:highlight>
                <a:latin typeface="Verdana"/>
                <a:ea typeface="Verdana"/>
                <a:cs typeface="Verdana"/>
                <a:sym typeface="Verdana"/>
              </a:rPr>
              <a:t>C++ gives programmers a high level of control over system resources and memory.</a:t>
            </a:r>
            <a:endParaRPr sz="1400">
              <a:solidFill>
                <a:schemeClr val="dk1"/>
              </a:solidFill>
              <a:highlight>
                <a:srgbClr val="FFFFFF"/>
              </a:highlight>
              <a:latin typeface="Verdana"/>
              <a:ea typeface="Verdana"/>
              <a:cs typeface="Verdana"/>
              <a:sym typeface="Verdana"/>
            </a:endParaRPr>
          </a:p>
          <a:p>
            <a:pPr indent="0" lvl="0" marL="0" rtl="0" algn="l">
              <a:lnSpc>
                <a:spcPct val="150000"/>
              </a:lnSpc>
              <a:spcBef>
                <a:spcPts val="0"/>
              </a:spcBef>
              <a:spcAft>
                <a:spcPts val="0"/>
              </a:spcAft>
              <a:buClr>
                <a:schemeClr val="dk1"/>
              </a:buClr>
              <a:buSzPts val="1100"/>
              <a:buFont typeface="Arial"/>
              <a:buNone/>
            </a:pPr>
            <a:r>
              <a:rPr lang="en" sz="1400">
                <a:solidFill>
                  <a:schemeClr val="dk1"/>
                </a:solidFill>
                <a:highlight>
                  <a:srgbClr val="FFFFFF"/>
                </a:highlight>
                <a:latin typeface="Verdana"/>
                <a:ea typeface="Verdana"/>
                <a:cs typeface="Verdana"/>
                <a:sym typeface="Verdana"/>
              </a:rPr>
              <a:t>The language was updated 3 major times in 2011, 2014, and 2017 to C++11, C++14, and C++17.</a:t>
            </a:r>
            <a:endParaRPr sz="1400">
              <a:solidFill>
                <a:schemeClr val="dk1"/>
              </a:solidFill>
              <a:highlight>
                <a:srgbClr val="FFFFFF"/>
              </a:highlight>
              <a:latin typeface="Verdana"/>
              <a:ea typeface="Verdana"/>
              <a:cs typeface="Verdana"/>
              <a:sym typeface="Verdana"/>
            </a:endParaRPr>
          </a:p>
          <a:p>
            <a:pPr indent="0" lvl="0" marL="0" rtl="0" algn="l">
              <a:lnSpc>
                <a:spcPct val="150000"/>
              </a:lnSpc>
              <a:spcBef>
                <a:spcPts val="0"/>
              </a:spcBef>
              <a:spcAft>
                <a:spcPts val="0"/>
              </a:spcAft>
              <a:buSzPts val="1800"/>
              <a:buNone/>
            </a:pPr>
            <a:r>
              <a:rPr b="1" lang="en" sz="1400"/>
              <a:t>Why  USE C++?</a:t>
            </a:r>
            <a:endParaRPr b="1" sz="1400"/>
          </a:p>
          <a:p>
            <a:pPr indent="0" lvl="0" marL="0" rtl="0" algn="l">
              <a:lnSpc>
                <a:spcPct val="150000"/>
              </a:lnSpc>
              <a:spcBef>
                <a:spcPts val="1600"/>
              </a:spcBef>
              <a:spcAft>
                <a:spcPts val="0"/>
              </a:spcAft>
              <a:buClr>
                <a:schemeClr val="dk1"/>
              </a:buClr>
              <a:buSzPts val="1100"/>
              <a:buFont typeface="Arial"/>
              <a:buNone/>
            </a:pPr>
            <a:r>
              <a:rPr lang="en" sz="1400">
                <a:solidFill>
                  <a:schemeClr val="dk1"/>
                </a:solidFill>
                <a:highlight>
                  <a:srgbClr val="FFFFFF"/>
                </a:highlight>
                <a:latin typeface="Verdana"/>
                <a:ea typeface="Verdana"/>
                <a:cs typeface="Verdana"/>
                <a:sym typeface="Verdana"/>
              </a:rPr>
              <a:t>C++ is one of the world's most popular programming languages.</a:t>
            </a:r>
            <a:endParaRPr sz="1400">
              <a:solidFill>
                <a:schemeClr val="dk1"/>
              </a:solidFill>
              <a:highlight>
                <a:srgbClr val="FFFFFF"/>
              </a:highlight>
              <a:latin typeface="Verdana"/>
              <a:ea typeface="Verdana"/>
              <a:cs typeface="Verdana"/>
              <a:sym typeface="Verdana"/>
            </a:endParaRPr>
          </a:p>
          <a:p>
            <a:pPr indent="0" lvl="0" marL="0" rtl="0" algn="l">
              <a:lnSpc>
                <a:spcPct val="150000"/>
              </a:lnSpc>
              <a:spcBef>
                <a:spcPts val="0"/>
              </a:spcBef>
              <a:spcAft>
                <a:spcPts val="0"/>
              </a:spcAft>
              <a:buClr>
                <a:schemeClr val="dk1"/>
              </a:buClr>
              <a:buSzPts val="1100"/>
              <a:buFont typeface="Arial"/>
              <a:buNone/>
            </a:pPr>
            <a:r>
              <a:rPr lang="en" sz="1400">
                <a:solidFill>
                  <a:schemeClr val="dk1"/>
                </a:solidFill>
                <a:highlight>
                  <a:srgbClr val="FFFFFF"/>
                </a:highlight>
                <a:latin typeface="Verdana"/>
                <a:ea typeface="Verdana"/>
                <a:cs typeface="Verdana"/>
                <a:sym typeface="Verdana"/>
              </a:rPr>
              <a:t>C++ can be found in today's operating systems, Graphical User Interfaces, and embedded systems.</a:t>
            </a:r>
            <a:endParaRPr sz="1400">
              <a:solidFill>
                <a:schemeClr val="dk1"/>
              </a:solidFill>
              <a:highlight>
                <a:srgbClr val="FFFFFF"/>
              </a:highlight>
              <a:latin typeface="Verdana"/>
              <a:ea typeface="Verdana"/>
              <a:cs typeface="Verdana"/>
              <a:sym typeface="Verdana"/>
            </a:endParaRPr>
          </a:p>
          <a:p>
            <a:pPr indent="0" lvl="0" marL="0" rtl="0" algn="l">
              <a:lnSpc>
                <a:spcPct val="150000"/>
              </a:lnSpc>
              <a:spcBef>
                <a:spcPts val="0"/>
              </a:spcBef>
              <a:spcAft>
                <a:spcPts val="0"/>
              </a:spcAft>
              <a:buClr>
                <a:schemeClr val="dk1"/>
              </a:buClr>
              <a:buSzPts val="1100"/>
              <a:buFont typeface="Arial"/>
              <a:buNone/>
            </a:pPr>
            <a:r>
              <a:rPr lang="en" sz="1400">
                <a:solidFill>
                  <a:schemeClr val="dk1"/>
                </a:solidFill>
                <a:highlight>
                  <a:srgbClr val="FFFFFF"/>
                </a:highlight>
                <a:latin typeface="Verdana"/>
                <a:ea typeface="Verdana"/>
                <a:cs typeface="Verdana"/>
                <a:sym typeface="Verdana"/>
              </a:rPr>
              <a:t>C++ is an object oriented language which gives a clear structure to programs and allows code to be reused, lowering development costs.</a:t>
            </a:r>
            <a:endParaRPr sz="1400">
              <a:solidFill>
                <a:schemeClr val="dk1"/>
              </a:solidFill>
              <a:highlight>
                <a:srgbClr val="FFFFFF"/>
              </a:highlight>
              <a:latin typeface="Verdana"/>
              <a:ea typeface="Verdana"/>
              <a:cs typeface="Verdana"/>
              <a:sym typeface="Verdana"/>
            </a:endParaRPr>
          </a:p>
          <a:p>
            <a:pPr indent="0" lvl="0" marL="0" rtl="0" algn="l">
              <a:lnSpc>
                <a:spcPct val="150000"/>
              </a:lnSpc>
              <a:spcBef>
                <a:spcPts val="0"/>
              </a:spcBef>
              <a:spcAft>
                <a:spcPts val="0"/>
              </a:spcAft>
              <a:buClr>
                <a:schemeClr val="dk1"/>
              </a:buClr>
              <a:buSzPts val="1100"/>
              <a:buFont typeface="Arial"/>
              <a:buNone/>
            </a:pPr>
            <a:r>
              <a:rPr lang="en" sz="1400">
                <a:solidFill>
                  <a:schemeClr val="dk1"/>
                </a:solidFill>
                <a:highlight>
                  <a:srgbClr val="FFFFFF"/>
                </a:highlight>
                <a:latin typeface="Verdana"/>
                <a:ea typeface="Verdana"/>
                <a:cs typeface="Verdana"/>
                <a:sym typeface="Verdana"/>
              </a:rPr>
              <a:t>C++ is portable and can be used to develop applications that can be adapted to multiple platforms.</a:t>
            </a:r>
            <a:endParaRPr sz="1400">
              <a:solidFill>
                <a:schemeClr val="dk1"/>
              </a:solidFill>
              <a:highlight>
                <a:srgbClr val="FFFFFF"/>
              </a:highlight>
              <a:latin typeface="Verdana"/>
              <a:ea typeface="Verdana"/>
              <a:cs typeface="Verdana"/>
              <a:sym typeface="Verdana"/>
            </a:endParaRPr>
          </a:p>
          <a:p>
            <a:pPr indent="0" lvl="0" marL="0" rtl="0" algn="l">
              <a:lnSpc>
                <a:spcPct val="150000"/>
              </a:lnSpc>
              <a:spcBef>
                <a:spcPts val="0"/>
              </a:spcBef>
              <a:spcAft>
                <a:spcPts val="0"/>
              </a:spcAft>
              <a:buClr>
                <a:schemeClr val="dk1"/>
              </a:buClr>
              <a:buSzPts val="1100"/>
              <a:buFont typeface="Arial"/>
              <a:buNone/>
            </a:pPr>
            <a:r>
              <a:rPr lang="en" sz="1400">
                <a:solidFill>
                  <a:schemeClr val="dk1"/>
                </a:solidFill>
                <a:highlight>
                  <a:srgbClr val="FFFFFF"/>
                </a:highlight>
                <a:latin typeface="Verdana"/>
                <a:ea typeface="Verdana"/>
                <a:cs typeface="Verdana"/>
                <a:sym typeface="Verdana"/>
              </a:rPr>
              <a:t>C++ is fun and easy to learn!</a:t>
            </a:r>
            <a:endParaRPr sz="1400">
              <a:solidFill>
                <a:schemeClr val="dk1"/>
              </a:solidFill>
              <a:highlight>
                <a:srgbClr val="FFFFFF"/>
              </a:highlight>
              <a:latin typeface="Verdana"/>
              <a:ea typeface="Verdana"/>
              <a:cs typeface="Verdana"/>
              <a:sym typeface="Verdana"/>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0"/>
              </a:spcBef>
              <a:spcAft>
                <a:spcPts val="1600"/>
              </a:spcAft>
              <a:buSzPts val="1800"/>
              <a:buNone/>
            </a:pPr>
            <a:r>
              <a:t/>
            </a:r>
            <a:endParaRPr/>
          </a:p>
        </p:txBody>
      </p:sp>
      <p:sp>
        <p:nvSpPr>
          <p:cNvPr id="87" name="Google Shape;87;p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3"/>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Evolution of C++</a:t>
            </a:r>
            <a:endParaRPr/>
          </a:p>
        </p:txBody>
      </p:sp>
      <p:sp>
        <p:nvSpPr>
          <p:cNvPr id="93" name="Google Shape;93;p3"/>
          <p:cNvSpPr txBox="1"/>
          <p:nvPr>
            <p:ph idx="1" type="body"/>
          </p:nvPr>
        </p:nvSpPr>
        <p:spPr>
          <a:xfrm>
            <a:off x="311700" y="695275"/>
            <a:ext cx="8520600" cy="415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Evolution of C++ can be traced back to 1980 when Bjarne Stroustrup developed a</a:t>
            </a:r>
            <a:endParaRPr/>
          </a:p>
          <a:p>
            <a:pPr indent="0" lvl="0" marL="0" rtl="0" algn="l">
              <a:lnSpc>
                <a:spcPct val="115000"/>
              </a:lnSpc>
              <a:spcBef>
                <a:spcPts val="0"/>
              </a:spcBef>
              <a:spcAft>
                <a:spcPts val="0"/>
              </a:spcAft>
              <a:buSzPts val="1800"/>
              <a:buNone/>
            </a:pPr>
            <a:r>
              <a:rPr lang="en"/>
              <a:t>language he referred to as “C with Classes” at Bell Laboratories. Motivated object-</a:t>
            </a:r>
            <a:endParaRPr/>
          </a:p>
          <a:p>
            <a:pPr indent="0" lvl="0" marL="0" rtl="0" algn="l">
              <a:lnSpc>
                <a:spcPct val="115000"/>
              </a:lnSpc>
              <a:spcBef>
                <a:spcPts val="0"/>
              </a:spcBef>
              <a:spcAft>
                <a:spcPts val="0"/>
              </a:spcAft>
              <a:buSzPts val="1800"/>
              <a:buNone/>
            </a:pPr>
            <a:r>
              <a:rPr lang="en"/>
              <a:t>oriented programming pioneered in Smalltalk, Stroustrup included powerful features into C with design goal of supporting object-oriented programming while retaining backward compatibility with C.</a:t>
            </a:r>
            <a:endParaRPr/>
          </a:p>
          <a:p>
            <a:pPr indent="0" lvl="0" marL="0" rtl="0" algn="l">
              <a:lnSpc>
                <a:spcPct val="115000"/>
              </a:lnSpc>
              <a:spcBef>
                <a:spcPts val="0"/>
              </a:spcBef>
              <a:spcAft>
                <a:spcPts val="0"/>
              </a:spcAft>
              <a:buSzPts val="1800"/>
              <a:buNone/>
            </a:pPr>
            <a:r>
              <a:rPr lang="en"/>
              <a:t>By 1984, more enhancements had been added to “C with Classes” hence it was</a:t>
            </a:r>
            <a:endParaRPr/>
          </a:p>
          <a:p>
            <a:pPr indent="0" lvl="0" marL="0" rtl="0" algn="l">
              <a:lnSpc>
                <a:spcPct val="115000"/>
              </a:lnSpc>
              <a:spcBef>
                <a:spcPts val="0"/>
              </a:spcBef>
              <a:spcAft>
                <a:spcPts val="0"/>
              </a:spcAft>
              <a:buSzPts val="1800"/>
              <a:buNone/>
            </a:pPr>
            <a:r>
              <a:rPr lang="en"/>
              <a:t>renamed C++. Therefore, the name C++ uses C increment operator (++) to indicate that</a:t>
            </a:r>
            <a:endParaRPr/>
          </a:p>
          <a:p>
            <a:pPr indent="0" lvl="0" marL="0" rtl="0" algn="l">
              <a:lnSpc>
                <a:spcPct val="115000"/>
              </a:lnSpc>
              <a:spcBef>
                <a:spcPts val="0"/>
              </a:spcBef>
              <a:spcAft>
                <a:spcPts val="0"/>
              </a:spcAft>
              <a:buSzPts val="1800"/>
              <a:buNone/>
            </a:pPr>
            <a:r>
              <a:rPr lang="en"/>
              <a:t>C++ is an enhancement of C. This integration of object orientation into procedural-</a:t>
            </a:r>
            <a:endParaRPr/>
          </a:p>
          <a:p>
            <a:pPr indent="0" lvl="0" marL="0" rtl="0" algn="l">
              <a:lnSpc>
                <a:spcPct val="115000"/>
              </a:lnSpc>
              <a:spcBef>
                <a:spcPts val="0"/>
              </a:spcBef>
              <a:spcAft>
                <a:spcPts val="0"/>
              </a:spcAft>
              <a:buSzPts val="1800"/>
              <a:buNone/>
            </a:pPr>
            <a:r>
              <a:rPr lang="en"/>
              <a:t>oriented C makes C++ a multiparadigm language suitable for developing system</a:t>
            </a:r>
            <a:endParaRPr/>
          </a:p>
          <a:p>
            <a:pPr indent="0" lvl="0" marL="0" rtl="0" algn="l">
              <a:lnSpc>
                <a:spcPct val="115000"/>
              </a:lnSpc>
              <a:spcBef>
                <a:spcPts val="0"/>
              </a:spcBef>
              <a:spcAft>
                <a:spcPts val="0"/>
              </a:spcAft>
              <a:buClr>
                <a:schemeClr val="dk1"/>
              </a:buClr>
              <a:buSzPts val="1100"/>
              <a:buFont typeface="Arial"/>
              <a:buNone/>
            </a:pPr>
            <a:r>
              <a:rPr lang="en"/>
              <a:t>software like operating systems.</a:t>
            </a:r>
            <a:endParaRPr/>
          </a:p>
          <a:p>
            <a:pPr indent="0" lvl="0" marL="0" rtl="0" algn="l">
              <a:lnSpc>
                <a:spcPct val="115000"/>
              </a:lnSpc>
              <a:spcBef>
                <a:spcPts val="0"/>
              </a:spcBef>
              <a:spcAft>
                <a:spcPts val="1600"/>
              </a:spcAft>
              <a:buSzPts val="1800"/>
              <a:buNone/>
            </a:pPr>
            <a:r>
              <a:t/>
            </a:r>
            <a:endParaRPr/>
          </a:p>
        </p:txBody>
      </p:sp>
      <p:sp>
        <p:nvSpPr>
          <p:cNvPr id="94" name="Google Shape;94;p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4"/>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Features of C++</a:t>
            </a:r>
            <a:endParaRPr/>
          </a:p>
        </p:txBody>
      </p:sp>
      <p:sp>
        <p:nvSpPr>
          <p:cNvPr id="100" name="Google Shape;100;p4"/>
          <p:cNvSpPr txBox="1"/>
          <p:nvPr>
            <p:ph idx="1" type="body"/>
          </p:nvPr>
        </p:nvSpPr>
        <p:spPr>
          <a:xfrm>
            <a:off x="311700" y="473350"/>
            <a:ext cx="8520600" cy="486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400"/>
              <a:t>The following are general features of C++ that makes it one of the most powerful and flexible programming supported by most computers.</a:t>
            </a:r>
            <a:endParaRPr sz="1400"/>
          </a:p>
          <a:p>
            <a:pPr indent="-317500" lvl="0" marL="457200" rtl="0" algn="l">
              <a:lnSpc>
                <a:spcPct val="115000"/>
              </a:lnSpc>
              <a:spcBef>
                <a:spcPts val="0"/>
              </a:spcBef>
              <a:spcAft>
                <a:spcPts val="0"/>
              </a:spcAft>
              <a:buSzPts val="1400"/>
              <a:buAutoNum type="arabicPeriod"/>
            </a:pPr>
            <a:r>
              <a:rPr b="1" lang="en" sz="1400"/>
              <a:t>Portability:</a:t>
            </a:r>
            <a:r>
              <a:rPr lang="en" sz="1400"/>
              <a:t> Programs written in C++ are portable across multiple hardware and software platforms.</a:t>
            </a:r>
            <a:endParaRPr sz="1400"/>
          </a:p>
          <a:p>
            <a:pPr indent="-317500" lvl="0" marL="457200" rtl="0" algn="l">
              <a:lnSpc>
                <a:spcPct val="115000"/>
              </a:lnSpc>
              <a:spcBef>
                <a:spcPts val="0"/>
              </a:spcBef>
              <a:spcAft>
                <a:spcPts val="0"/>
              </a:spcAft>
              <a:buSzPts val="1400"/>
              <a:buAutoNum type="arabicPeriod"/>
            </a:pPr>
            <a:r>
              <a:rPr b="1" lang="en" sz="1400"/>
              <a:t>Object-oriented programming: </a:t>
            </a:r>
            <a:r>
              <a:rPr lang="en" sz="1400"/>
              <a:t>The design goal of C++ is to support object- oriented programming. As mentioned earlier, instead of using function that access global variables, both data and variables are encapsulated into an object. </a:t>
            </a:r>
            <a:endParaRPr sz="1400"/>
          </a:p>
          <a:p>
            <a:pPr indent="-317500" lvl="0" marL="457200" rtl="0" algn="l">
              <a:lnSpc>
                <a:spcPct val="115000"/>
              </a:lnSpc>
              <a:spcBef>
                <a:spcPts val="0"/>
              </a:spcBef>
              <a:spcAft>
                <a:spcPts val="0"/>
              </a:spcAft>
              <a:buSzPts val="1400"/>
              <a:buAutoNum type="arabicPeriod"/>
            </a:pPr>
            <a:r>
              <a:rPr b="1" lang="en" sz="1400"/>
              <a:t>Keywords: </a:t>
            </a:r>
            <a:r>
              <a:rPr lang="en" sz="1400"/>
              <a:t>Keywords also referred to as </a:t>
            </a:r>
            <a:r>
              <a:rPr b="1" lang="en" sz="1400"/>
              <a:t>reserved words</a:t>
            </a:r>
            <a:r>
              <a:rPr lang="en" sz="1400"/>
              <a:t> are words that have special meaning in a language. C++has a large number such as include, main, while, for, if, else and return.</a:t>
            </a:r>
            <a:endParaRPr sz="1400"/>
          </a:p>
          <a:p>
            <a:pPr indent="-317500" lvl="0" marL="457200" rtl="0" algn="l">
              <a:lnSpc>
                <a:spcPct val="115000"/>
              </a:lnSpc>
              <a:spcBef>
                <a:spcPts val="0"/>
              </a:spcBef>
              <a:spcAft>
                <a:spcPts val="0"/>
              </a:spcAft>
              <a:buSzPts val="1400"/>
              <a:buAutoNum type="arabicPeriod"/>
            </a:pPr>
            <a:r>
              <a:rPr b="1" lang="en" sz="1400"/>
              <a:t>Operators:</a:t>
            </a:r>
            <a:r>
              <a:rPr lang="en" sz="1400"/>
              <a:t> Operators are used to evaluate an expression that returns a value. This will be discussed in details later.</a:t>
            </a:r>
            <a:endParaRPr sz="1400"/>
          </a:p>
          <a:p>
            <a:pPr indent="-317500" lvl="0" marL="457200" rtl="0" algn="l">
              <a:lnSpc>
                <a:spcPct val="115000"/>
              </a:lnSpc>
              <a:spcBef>
                <a:spcPts val="0"/>
              </a:spcBef>
              <a:spcAft>
                <a:spcPts val="0"/>
              </a:spcAft>
              <a:buSzPts val="1400"/>
              <a:buAutoNum type="arabicPeriod"/>
            </a:pPr>
            <a:r>
              <a:rPr b="1" lang="en" sz="1400"/>
              <a:t>Storage in memory: </a:t>
            </a:r>
            <a:r>
              <a:rPr lang="en" sz="1400"/>
              <a:t>In C++ a variable is a named storage location in computer</a:t>
            </a:r>
            <a:endParaRPr sz="1400"/>
          </a:p>
          <a:p>
            <a:pPr indent="0" lvl="0" marL="457200" rtl="0" algn="l">
              <a:lnSpc>
                <a:spcPct val="115000"/>
              </a:lnSpc>
              <a:spcBef>
                <a:spcPts val="0"/>
              </a:spcBef>
              <a:spcAft>
                <a:spcPts val="0"/>
              </a:spcAft>
              <a:buSzPts val="1800"/>
              <a:buNone/>
            </a:pPr>
            <a:r>
              <a:rPr lang="en" sz="1400"/>
              <a:t>memory for holding data of a particular type.</a:t>
            </a:r>
            <a:endParaRPr sz="1400"/>
          </a:p>
          <a:p>
            <a:pPr indent="-317500" lvl="0" marL="457200" rtl="0" algn="l">
              <a:lnSpc>
                <a:spcPct val="115000"/>
              </a:lnSpc>
              <a:spcBef>
                <a:spcPts val="0"/>
              </a:spcBef>
              <a:spcAft>
                <a:spcPts val="0"/>
              </a:spcAft>
              <a:buSzPts val="1400"/>
              <a:buAutoNum type="arabicPeriod"/>
            </a:pPr>
            <a:r>
              <a:rPr b="1" lang="en" sz="1400"/>
              <a:t>Identifiers:</a:t>
            </a:r>
            <a:r>
              <a:rPr lang="en" sz="1400"/>
              <a:t> In C++ programming, identifiers are symbolic names used to identify elements like variables and constants in a program. Because C++ s case sensitive, it is important to observe caution when creating user-defined identifiers.</a:t>
            </a:r>
            <a:endParaRPr sz="1400"/>
          </a:p>
          <a:p>
            <a:pPr indent="-317500" lvl="0" marL="457200" rtl="0" algn="l">
              <a:lnSpc>
                <a:spcPct val="115000"/>
              </a:lnSpc>
              <a:spcBef>
                <a:spcPts val="0"/>
              </a:spcBef>
              <a:spcAft>
                <a:spcPts val="0"/>
              </a:spcAft>
              <a:buSzPts val="1400"/>
              <a:buAutoNum type="arabicPeriod"/>
            </a:pPr>
            <a:r>
              <a:rPr b="1" lang="en" sz="1400"/>
              <a:t>Case sensitive: </a:t>
            </a:r>
            <a:r>
              <a:rPr lang="en" sz="1400"/>
              <a:t>C++ is case-sensitive.  Myname and MyName are different identifiers</a:t>
            </a:r>
            <a:endParaRPr sz="1400"/>
          </a:p>
          <a:p>
            <a:pPr indent="-317500" lvl="0" marL="457200" rtl="0" algn="l">
              <a:lnSpc>
                <a:spcPct val="115000"/>
              </a:lnSpc>
              <a:spcBef>
                <a:spcPts val="0"/>
              </a:spcBef>
              <a:spcAft>
                <a:spcPts val="0"/>
              </a:spcAft>
              <a:buSzPts val="1400"/>
              <a:buAutoNum type="arabicPeriod"/>
            </a:pPr>
            <a:r>
              <a:rPr b="1" lang="en" sz="1400"/>
              <a:t>Type checking: </a:t>
            </a:r>
            <a:r>
              <a:rPr lang="en" sz="1400"/>
              <a:t>C++ provides a rules and mechanism for checking data types before execution starts. If a compiler detects inconsistence, it ensures that the data conversions defined in the language or by the user do not cause runtime errors or system failure.</a:t>
            </a:r>
            <a:endParaRPr sz="1400"/>
          </a:p>
          <a:p>
            <a:pPr indent="0" lvl="0" marL="0" rtl="0" algn="l">
              <a:lnSpc>
                <a:spcPct val="115000"/>
              </a:lnSpc>
              <a:spcBef>
                <a:spcPts val="1600"/>
              </a:spcBef>
              <a:spcAft>
                <a:spcPts val="0"/>
              </a:spcAft>
              <a:buClr>
                <a:schemeClr val="dk1"/>
              </a:buClr>
              <a:buSzPts val="1100"/>
              <a:buFont typeface="Arial"/>
              <a:buNone/>
            </a:pPr>
            <a:r>
              <a:t/>
            </a:r>
            <a:endParaRPr sz="1400"/>
          </a:p>
          <a:p>
            <a:pPr indent="0" lvl="0" marL="0" rtl="0" algn="l">
              <a:lnSpc>
                <a:spcPct val="115000"/>
              </a:lnSpc>
              <a:spcBef>
                <a:spcPts val="1600"/>
              </a:spcBef>
              <a:spcAft>
                <a:spcPts val="1600"/>
              </a:spcAft>
              <a:buSzPts val="1800"/>
              <a:buNone/>
            </a:pPr>
            <a:r>
              <a:t/>
            </a:r>
            <a:endParaRPr sz="1400"/>
          </a:p>
        </p:txBody>
      </p:sp>
      <p:sp>
        <p:nvSpPr>
          <p:cNvPr id="101" name="Google Shape;101;p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5"/>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Environment</a:t>
            </a:r>
            <a:endParaRPr/>
          </a:p>
        </p:txBody>
      </p:sp>
      <p:sp>
        <p:nvSpPr>
          <p:cNvPr id="107" name="Google Shape;107;p5"/>
          <p:cNvSpPr txBox="1"/>
          <p:nvPr>
            <p:ph idx="1" type="body"/>
          </p:nvPr>
        </p:nvSpPr>
        <p:spPr>
          <a:xfrm>
            <a:off x="311700" y="695275"/>
            <a:ext cx="8520600" cy="419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800"/>
              </a:spcBef>
              <a:spcAft>
                <a:spcPts val="0"/>
              </a:spcAft>
              <a:buClr>
                <a:schemeClr val="dk1"/>
              </a:buClr>
              <a:buSzPts val="1100"/>
              <a:buFont typeface="Arial"/>
              <a:buNone/>
            </a:pPr>
            <a:r>
              <a:rPr lang="en" sz="2400">
                <a:solidFill>
                  <a:schemeClr val="dk1"/>
                </a:solidFill>
                <a:highlight>
                  <a:srgbClr val="FFFFFF"/>
                </a:highlight>
              </a:rPr>
              <a:t>C++ Get Started</a:t>
            </a:r>
            <a:endParaRPr sz="2400">
              <a:solidFill>
                <a:schemeClr val="dk1"/>
              </a:solidFill>
              <a:highlight>
                <a:srgbClr val="FFFFFF"/>
              </a:highlight>
            </a:endParaRPr>
          </a:p>
          <a:p>
            <a:pPr indent="0" lvl="0" marL="0" rtl="0" algn="l">
              <a:lnSpc>
                <a:spcPct val="115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To start using C++, you need two things:</a:t>
            </a:r>
            <a:endParaRPr sz="1150">
              <a:solidFill>
                <a:schemeClr val="dk1"/>
              </a:solidFill>
              <a:highlight>
                <a:srgbClr val="FFFFFF"/>
              </a:highlight>
              <a:latin typeface="Verdana"/>
              <a:ea typeface="Verdana"/>
              <a:cs typeface="Verdana"/>
              <a:sym typeface="Verdana"/>
            </a:endParaRPr>
          </a:p>
          <a:p>
            <a:pPr indent="-301625" lvl="0" marL="457200" rtl="0" algn="l">
              <a:lnSpc>
                <a:spcPct val="115000"/>
              </a:lnSpc>
              <a:spcBef>
                <a:spcPts val="1400"/>
              </a:spcBef>
              <a:spcAft>
                <a:spcPts val="0"/>
              </a:spcAft>
              <a:buClr>
                <a:schemeClr val="dk1"/>
              </a:buClr>
              <a:buSzPts val="1150"/>
              <a:buFont typeface="Verdana"/>
              <a:buChar char="●"/>
            </a:pPr>
            <a:r>
              <a:rPr lang="en" sz="1150">
                <a:solidFill>
                  <a:schemeClr val="dk1"/>
                </a:solidFill>
                <a:highlight>
                  <a:srgbClr val="FFFFFF"/>
                </a:highlight>
                <a:latin typeface="Verdana"/>
                <a:ea typeface="Verdana"/>
                <a:cs typeface="Verdana"/>
                <a:sym typeface="Verdana"/>
              </a:rPr>
              <a:t>A text editor, like Notepad to write C++ code</a:t>
            </a:r>
            <a:endParaRPr sz="1150">
              <a:solidFill>
                <a:schemeClr val="dk1"/>
              </a:solidFill>
              <a:highlight>
                <a:srgbClr val="FFFFFF"/>
              </a:highlight>
              <a:latin typeface="Verdana"/>
              <a:ea typeface="Verdana"/>
              <a:cs typeface="Verdana"/>
              <a:sym typeface="Verdana"/>
            </a:endParaRPr>
          </a:p>
          <a:p>
            <a:pPr indent="-301625" lvl="0" marL="457200" rtl="0" algn="l">
              <a:lnSpc>
                <a:spcPct val="115000"/>
              </a:lnSpc>
              <a:spcBef>
                <a:spcPts val="0"/>
              </a:spcBef>
              <a:spcAft>
                <a:spcPts val="0"/>
              </a:spcAft>
              <a:buClr>
                <a:schemeClr val="dk1"/>
              </a:buClr>
              <a:buSzPts val="1150"/>
              <a:buFont typeface="Verdana"/>
              <a:buChar char="●"/>
            </a:pPr>
            <a:r>
              <a:rPr lang="en" sz="1150">
                <a:solidFill>
                  <a:schemeClr val="dk1"/>
                </a:solidFill>
                <a:highlight>
                  <a:srgbClr val="FFFFFF"/>
                </a:highlight>
                <a:latin typeface="Verdana"/>
                <a:ea typeface="Verdana"/>
                <a:cs typeface="Verdana"/>
                <a:sym typeface="Verdana"/>
              </a:rPr>
              <a:t>A compiler, like GCC, to translate the C++ code into a language that the computer will understand</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There are many text editors and compilers to choose from. In this tutorial, we will use an IDE (see below).</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1400"/>
              </a:spcBef>
              <a:spcAft>
                <a:spcPts val="0"/>
              </a:spcAft>
              <a:buClr>
                <a:schemeClr val="dk1"/>
              </a:buClr>
              <a:buSzPts val="1100"/>
              <a:buFont typeface="Arial"/>
              <a:buNone/>
            </a:pPr>
            <a:r>
              <a:rPr lang="en" sz="2400">
                <a:solidFill>
                  <a:schemeClr val="dk1"/>
                </a:solidFill>
                <a:highlight>
                  <a:srgbClr val="FFFFFF"/>
                </a:highlight>
              </a:rPr>
              <a:t>C++ Install IDE</a:t>
            </a:r>
            <a:endParaRPr sz="2400">
              <a:solidFill>
                <a:schemeClr val="dk1"/>
              </a:solidFill>
              <a:highlight>
                <a:srgbClr val="FFFFFF"/>
              </a:highlight>
            </a:endParaRPr>
          </a:p>
          <a:p>
            <a:pPr indent="0" lvl="0" marL="0" rtl="0" algn="l">
              <a:lnSpc>
                <a:spcPct val="115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An IDE (Integrated Development Environment) is used to edit AND compile the code.</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Popular IDE's include Code::Blocks, Eclipse,sublime text  and Visual Studio. These are all free, and they can be used to both edit and debug C++ code.</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1400"/>
              </a:spcBef>
              <a:spcAft>
                <a:spcPts val="0"/>
              </a:spcAft>
              <a:buSzPts val="1800"/>
              <a:buNone/>
            </a:pPr>
            <a:r>
              <a:t/>
            </a:r>
            <a:endParaRPr/>
          </a:p>
          <a:p>
            <a:pPr indent="0" lvl="0" marL="0" rtl="0" algn="l">
              <a:lnSpc>
                <a:spcPct val="115000"/>
              </a:lnSpc>
              <a:spcBef>
                <a:spcPts val="1600"/>
              </a:spcBef>
              <a:spcAft>
                <a:spcPts val="1600"/>
              </a:spcAft>
              <a:buSzPts val="1800"/>
              <a:buNone/>
            </a:pPr>
            <a:r>
              <a:t/>
            </a:r>
            <a:endParaRPr/>
          </a:p>
        </p:txBody>
      </p:sp>
      <p:sp>
        <p:nvSpPr>
          <p:cNvPr id="108" name="Google Shape;108;p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t>Setting environment</a:t>
            </a:r>
            <a:endParaRPr b="1"/>
          </a:p>
        </p:txBody>
      </p:sp>
      <p:sp>
        <p:nvSpPr>
          <p:cNvPr id="114" name="Google Shape;114;p6"/>
          <p:cNvSpPr txBox="1"/>
          <p:nvPr>
            <p:ph idx="1" type="body"/>
          </p:nvPr>
        </p:nvSpPr>
        <p:spPr>
          <a:xfrm>
            <a:off x="311700" y="390475"/>
            <a:ext cx="8520600" cy="4371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2400"/>
              <a:t>Compiler</a:t>
            </a:r>
            <a:endParaRPr b="1" sz="2400"/>
          </a:p>
          <a:p>
            <a:pPr indent="0" lvl="0" marL="0" rtl="0" algn="l">
              <a:lnSpc>
                <a:spcPct val="115000"/>
              </a:lnSpc>
              <a:spcBef>
                <a:spcPts val="0"/>
              </a:spcBef>
              <a:spcAft>
                <a:spcPts val="0"/>
              </a:spcAft>
              <a:buSzPts val="1800"/>
              <a:buNone/>
            </a:pPr>
            <a:r>
              <a:rPr b="1" lang="en" sz="1400"/>
              <a:t>If you are using Visual Studio, then you're done! Visual Studio comes with Microsoft's Visual C++ compiler, so no further steps are necessary. If not, then you'll need a separate C++ compiler.</a:t>
            </a:r>
            <a:endParaRPr b="1" sz="1400"/>
          </a:p>
          <a:p>
            <a:pPr indent="0" lvl="0" marL="0" rtl="0" algn="l">
              <a:lnSpc>
                <a:spcPct val="115000"/>
              </a:lnSpc>
              <a:spcBef>
                <a:spcPts val="1600"/>
              </a:spcBef>
              <a:spcAft>
                <a:spcPts val="0"/>
              </a:spcAft>
              <a:buSzPts val="1800"/>
              <a:buNone/>
            </a:pPr>
            <a:r>
              <a:rPr b="1" lang="en"/>
              <a:t>Compiler:GNU Compiler Collection.</a:t>
            </a:r>
            <a:endParaRPr b="1"/>
          </a:p>
          <a:p>
            <a:pPr indent="0" lvl="0" marL="0" rtl="0" algn="l">
              <a:lnSpc>
                <a:spcPct val="115000"/>
              </a:lnSpc>
              <a:spcBef>
                <a:spcPts val="1600"/>
              </a:spcBef>
              <a:spcAft>
                <a:spcPts val="0"/>
              </a:spcAft>
              <a:buSzPts val="1800"/>
              <a:buNone/>
            </a:pPr>
            <a:r>
              <a:rPr b="1" lang="en" sz="1400"/>
              <a:t>GCC is the GNU Compiler Collection. It provides compiler front-ends for several languages, including C, C++, Objective-C, Fortran, Ada, and Go. It also includes runtime support libraries for these languages.</a:t>
            </a:r>
            <a:endParaRPr b="1" sz="1400"/>
          </a:p>
          <a:p>
            <a:pPr indent="0" lvl="0" marL="0" rtl="0" algn="l">
              <a:lnSpc>
                <a:spcPct val="115000"/>
              </a:lnSpc>
              <a:spcBef>
                <a:spcPts val="1600"/>
              </a:spcBef>
              <a:spcAft>
                <a:spcPts val="0"/>
              </a:spcAft>
              <a:buSzPts val="1800"/>
              <a:buNone/>
            </a:pPr>
            <a:r>
              <a:rPr b="1" lang="en" sz="1400"/>
              <a:t>GCC provides many levels of source code error checking traditionally provided by other tools (such as lint), produces debugging information, and can perform many different optimizations to the resulting object code.</a:t>
            </a:r>
            <a:endParaRPr b="1" sz="1400"/>
          </a:p>
          <a:p>
            <a:pPr indent="0" lvl="0" marL="0" rtl="0" algn="l">
              <a:lnSpc>
                <a:spcPct val="115000"/>
              </a:lnSpc>
              <a:spcBef>
                <a:spcPts val="1600"/>
              </a:spcBef>
              <a:spcAft>
                <a:spcPts val="0"/>
              </a:spcAft>
              <a:buSzPts val="1800"/>
              <a:buNone/>
            </a:pPr>
            <a:r>
              <a:rPr b="1" lang="en" sz="1400"/>
              <a:t>1 Install  GCC compiler</a:t>
            </a:r>
            <a:endParaRPr b="1" sz="1400"/>
          </a:p>
          <a:p>
            <a:pPr indent="0" lvl="0" marL="139700" marR="139700" rtl="0" algn="l">
              <a:lnSpc>
                <a:spcPct val="130000"/>
              </a:lnSpc>
              <a:spcBef>
                <a:spcPts val="0"/>
              </a:spcBef>
              <a:spcAft>
                <a:spcPts val="0"/>
              </a:spcAft>
              <a:buClr>
                <a:schemeClr val="dk1"/>
              </a:buClr>
              <a:buSzPts val="1100"/>
              <a:buFont typeface="Arial"/>
              <a:buNone/>
            </a:pPr>
            <a:r>
              <a:rPr lang="en" sz="1400">
                <a:solidFill>
                  <a:schemeClr val="dk1"/>
                </a:solidFill>
                <a:highlight>
                  <a:srgbClr val="F9F9F9"/>
                </a:highlight>
                <a:latin typeface="Courier New"/>
                <a:ea typeface="Courier New"/>
                <a:cs typeface="Courier New"/>
                <a:sym typeface="Courier New"/>
              </a:rPr>
              <a:t>sudo apt-get install build-essential</a:t>
            </a:r>
            <a:endParaRPr sz="1400">
              <a:solidFill>
                <a:schemeClr val="dk1"/>
              </a:solidFill>
              <a:highlight>
                <a:srgbClr val="F9F9F9"/>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400">
                <a:solidFill>
                  <a:srgbClr val="252525"/>
                </a:solidFill>
                <a:highlight>
                  <a:srgbClr val="FFFFFF"/>
                </a:highlight>
              </a:rPr>
              <a:t>2</a:t>
            </a:r>
            <a:r>
              <a:rPr b="1" lang="en" sz="1400">
                <a:solidFill>
                  <a:srgbClr val="252525"/>
                </a:solidFill>
                <a:highlight>
                  <a:srgbClr val="FFFFFF"/>
                </a:highlight>
              </a:rPr>
              <a:t>. Install the debugger</a:t>
            </a:r>
            <a:endParaRPr b="1" sz="1400">
              <a:solidFill>
                <a:srgbClr val="252525"/>
              </a:solidFill>
              <a:highlight>
                <a:srgbClr val="FFFFFF"/>
              </a:highlight>
            </a:endParaRPr>
          </a:p>
          <a:p>
            <a:pPr indent="0" lvl="0" marL="139700" marR="139700" rtl="0" algn="l">
              <a:lnSpc>
                <a:spcPct val="130000"/>
              </a:lnSpc>
              <a:spcBef>
                <a:spcPts val="0"/>
              </a:spcBef>
              <a:spcAft>
                <a:spcPts val="0"/>
              </a:spcAft>
              <a:buSzPts val="1800"/>
              <a:buNone/>
            </a:pPr>
            <a:r>
              <a:rPr lang="en" sz="1400">
                <a:solidFill>
                  <a:schemeClr val="dk1"/>
                </a:solidFill>
                <a:highlight>
                  <a:srgbClr val="F9F9F9"/>
                </a:highlight>
                <a:latin typeface="Courier New"/>
                <a:ea typeface="Courier New"/>
                <a:cs typeface="Courier New"/>
                <a:sym typeface="Courier New"/>
              </a:rPr>
              <a:t>sudo apt-get install gdb</a:t>
            </a:r>
            <a:endParaRPr sz="1400">
              <a:solidFill>
                <a:schemeClr val="dk1"/>
              </a:solidFill>
              <a:highlight>
                <a:srgbClr val="F9F9F9"/>
              </a:highlight>
              <a:latin typeface="Courier New"/>
              <a:ea typeface="Courier New"/>
              <a:cs typeface="Courier New"/>
              <a:sym typeface="Courier New"/>
            </a:endParaRPr>
          </a:p>
          <a:p>
            <a:pPr indent="0" lvl="0" marL="139700" marR="139700" rtl="0" algn="l">
              <a:lnSpc>
                <a:spcPct val="130000"/>
              </a:lnSpc>
              <a:spcBef>
                <a:spcPts val="0"/>
              </a:spcBef>
              <a:spcAft>
                <a:spcPts val="0"/>
              </a:spcAft>
              <a:buSzPts val="1800"/>
              <a:buNone/>
            </a:pPr>
            <a:r>
              <a:t/>
            </a:r>
            <a:endParaRPr sz="1400">
              <a:solidFill>
                <a:schemeClr val="dk1"/>
              </a:solidFill>
              <a:highlight>
                <a:srgbClr val="F9F9F9"/>
              </a:highlight>
              <a:latin typeface="Courier New"/>
              <a:ea typeface="Courier New"/>
              <a:cs typeface="Courier New"/>
              <a:sym typeface="Courier New"/>
            </a:endParaRPr>
          </a:p>
          <a:p>
            <a:pPr indent="0" lvl="0" marL="139700" marR="139700" rtl="0" algn="l">
              <a:lnSpc>
                <a:spcPct val="130000"/>
              </a:lnSpc>
              <a:spcBef>
                <a:spcPts val="0"/>
              </a:spcBef>
              <a:spcAft>
                <a:spcPts val="0"/>
              </a:spcAft>
              <a:buSzPts val="1800"/>
              <a:buNone/>
            </a:pPr>
            <a:r>
              <a:t/>
            </a:r>
            <a:endParaRPr>
              <a:solidFill>
                <a:schemeClr val="dk1"/>
              </a:solidFill>
              <a:highlight>
                <a:srgbClr val="F9F9F9"/>
              </a:highlight>
              <a:latin typeface="Courier New"/>
              <a:ea typeface="Courier New"/>
              <a:cs typeface="Courier New"/>
              <a:sym typeface="Courier New"/>
            </a:endParaRPr>
          </a:p>
          <a:p>
            <a:pPr indent="0" lvl="0" marL="139700" marR="139700" rtl="0" algn="l">
              <a:lnSpc>
                <a:spcPct val="130000"/>
              </a:lnSpc>
              <a:spcBef>
                <a:spcPts val="0"/>
              </a:spcBef>
              <a:spcAft>
                <a:spcPts val="0"/>
              </a:spcAft>
              <a:buClr>
                <a:schemeClr val="dk1"/>
              </a:buClr>
              <a:buSzPts val="1100"/>
              <a:buFont typeface="Arial"/>
              <a:buNone/>
            </a:pPr>
            <a:r>
              <a:t/>
            </a:r>
            <a:endParaRPr>
              <a:solidFill>
                <a:schemeClr val="dk1"/>
              </a:solidFill>
              <a:highlight>
                <a:srgbClr val="F9F9F9"/>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t/>
            </a:r>
            <a:endParaRPr sz="1050">
              <a:solidFill>
                <a:srgbClr val="252525"/>
              </a:solidFill>
              <a:highlight>
                <a:srgbClr val="FFFFFF"/>
              </a:highlight>
            </a:endParaRPr>
          </a:p>
          <a:p>
            <a:pPr indent="0" lvl="0" marL="0" rtl="0" algn="l">
              <a:lnSpc>
                <a:spcPct val="115000"/>
              </a:lnSpc>
              <a:spcBef>
                <a:spcPts val="1600"/>
              </a:spcBef>
              <a:spcAft>
                <a:spcPts val="1600"/>
              </a:spcAft>
              <a:buSzPts val="1800"/>
              <a:buNone/>
            </a:pPr>
            <a:r>
              <a:t/>
            </a:r>
            <a:endParaRPr/>
          </a:p>
        </p:txBody>
      </p:sp>
      <p:pic>
        <p:nvPicPr>
          <p:cNvPr id="115" name="Google Shape;115;p6"/>
          <p:cNvPicPr preferRelativeResize="0"/>
          <p:nvPr/>
        </p:nvPicPr>
        <p:blipFill rotWithShape="1">
          <a:blip r:embed="rId3">
            <a:alphaModFix/>
          </a:blip>
          <a:srcRect b="0" l="0" r="0" t="0"/>
          <a:stretch/>
        </p:blipFill>
        <p:spPr>
          <a:xfrm>
            <a:off x="7532550" y="3519350"/>
            <a:ext cx="1370900" cy="1624150"/>
          </a:xfrm>
          <a:prstGeom prst="rect">
            <a:avLst/>
          </a:prstGeom>
          <a:noFill/>
          <a:ln>
            <a:noFill/>
          </a:ln>
        </p:spPr>
      </p:pic>
      <p:sp>
        <p:nvSpPr>
          <p:cNvPr id="116" name="Google Shape;116;p6"/>
          <p:cNvSpPr txBox="1"/>
          <p:nvPr/>
        </p:nvSpPr>
        <p:spPr>
          <a:xfrm>
            <a:off x="4744950" y="4312200"/>
            <a:ext cx="30000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Windows users(install MinGW): </a:t>
            </a:r>
            <a:r>
              <a:rPr b="1" i="1" lang="en" sz="1400" u="none" cap="none" strike="noStrike">
                <a:solidFill>
                  <a:srgbClr val="000000"/>
                </a:solidFill>
                <a:latin typeface="Arial"/>
                <a:ea typeface="Arial"/>
                <a:cs typeface="Arial"/>
                <a:sym typeface="Arial"/>
              </a:rPr>
              <a:t>https://www.scaler.com/topics/c/c-compiler-for-windows/</a:t>
            </a:r>
            <a:endParaRPr b="1" i="1" sz="1400" u="none" cap="none" strike="noStrike">
              <a:solidFill>
                <a:srgbClr val="000000"/>
              </a:solidFill>
              <a:latin typeface="Arial"/>
              <a:ea typeface="Arial"/>
              <a:cs typeface="Arial"/>
              <a:sym typeface="Arial"/>
            </a:endParaRPr>
          </a:p>
        </p:txBody>
      </p:sp>
      <p:sp>
        <p:nvSpPr>
          <p:cNvPr id="117" name="Google Shape;117;p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2d4a9c8130e_1_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Installation guide</a:t>
            </a:r>
            <a:endParaRPr/>
          </a:p>
        </p:txBody>
      </p:sp>
      <p:sp>
        <p:nvSpPr>
          <p:cNvPr id="123" name="Google Shape;123;g2d4a9c8130e_1_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Windows users</a:t>
            </a:r>
            <a:endParaRPr/>
          </a:p>
          <a:p>
            <a:pPr indent="0" lvl="0" marL="0" rtl="0" algn="l">
              <a:spcBef>
                <a:spcPts val="0"/>
              </a:spcBef>
              <a:spcAft>
                <a:spcPts val="0"/>
              </a:spcAft>
              <a:buNone/>
            </a:pPr>
            <a:r>
              <a:rPr lang="en" u="sng">
                <a:solidFill>
                  <a:schemeClr val="hlink"/>
                </a:solidFill>
                <a:hlinkClick r:id="rId3"/>
              </a:rPr>
              <a:t>https://shorturl.at/I7Z5D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LInux  Users</a:t>
            </a:r>
            <a:endParaRPr/>
          </a:p>
          <a:p>
            <a:pPr indent="0" lvl="0" marL="0" rtl="0" algn="l">
              <a:spcBef>
                <a:spcPts val="1600"/>
              </a:spcBef>
              <a:spcAft>
                <a:spcPts val="0"/>
              </a:spcAft>
              <a:buClr>
                <a:schemeClr val="dk1"/>
              </a:buClr>
              <a:buSzPts val="1800"/>
              <a:buFont typeface="Arial"/>
              <a:buNone/>
            </a:pPr>
            <a:r>
              <a:rPr b="1" lang="en" sz="1400"/>
              <a:t>1 Install  GCC compiler</a:t>
            </a:r>
            <a:endParaRPr b="1" sz="1400"/>
          </a:p>
          <a:p>
            <a:pPr indent="0" lvl="0" marL="139700" marR="139700" rtl="0" algn="l">
              <a:lnSpc>
                <a:spcPct val="130000"/>
              </a:lnSpc>
              <a:spcBef>
                <a:spcPts val="0"/>
              </a:spcBef>
              <a:spcAft>
                <a:spcPts val="0"/>
              </a:spcAft>
              <a:buClr>
                <a:schemeClr val="dk1"/>
              </a:buClr>
              <a:buSzPts val="1100"/>
              <a:buFont typeface="Arial"/>
              <a:buNone/>
            </a:pPr>
            <a:r>
              <a:rPr lang="en" sz="1400">
                <a:solidFill>
                  <a:schemeClr val="dk1"/>
                </a:solidFill>
                <a:highlight>
                  <a:srgbClr val="F9F9F9"/>
                </a:highlight>
                <a:latin typeface="Courier New"/>
                <a:ea typeface="Courier New"/>
                <a:cs typeface="Courier New"/>
                <a:sym typeface="Courier New"/>
              </a:rPr>
              <a:t>sudo apt-get install build-essential</a:t>
            </a:r>
            <a:endParaRPr sz="1400">
              <a:solidFill>
                <a:schemeClr val="dk1"/>
              </a:solidFill>
              <a:highlight>
                <a:srgbClr val="F9F9F9"/>
              </a:highlight>
              <a:latin typeface="Courier New"/>
              <a:ea typeface="Courier New"/>
              <a:cs typeface="Courier New"/>
              <a:sym typeface="Courier New"/>
            </a:endParaRPr>
          </a:p>
          <a:p>
            <a:pPr indent="0" lvl="0" marL="0" rtl="0" algn="l">
              <a:spcBef>
                <a:spcPts val="0"/>
              </a:spcBef>
              <a:spcAft>
                <a:spcPts val="0"/>
              </a:spcAft>
              <a:buClr>
                <a:schemeClr val="dk1"/>
              </a:buClr>
              <a:buSzPts val="1800"/>
              <a:buFont typeface="Arial"/>
              <a:buNone/>
            </a:pPr>
            <a:r>
              <a:rPr lang="en" sz="1400">
                <a:solidFill>
                  <a:srgbClr val="252525"/>
                </a:solidFill>
                <a:highlight>
                  <a:schemeClr val="lt1"/>
                </a:highlight>
              </a:rPr>
              <a:t>2</a:t>
            </a:r>
            <a:r>
              <a:rPr b="1" lang="en" sz="1400">
                <a:solidFill>
                  <a:srgbClr val="252525"/>
                </a:solidFill>
                <a:highlight>
                  <a:schemeClr val="lt1"/>
                </a:highlight>
              </a:rPr>
              <a:t>. Install the debugger</a:t>
            </a:r>
            <a:endParaRPr b="1" sz="1400">
              <a:solidFill>
                <a:srgbClr val="252525"/>
              </a:solidFill>
              <a:highlight>
                <a:schemeClr val="lt1"/>
              </a:highlight>
            </a:endParaRPr>
          </a:p>
          <a:p>
            <a:pPr indent="0" lvl="0" marL="139700" marR="139700" rtl="0" algn="l">
              <a:lnSpc>
                <a:spcPct val="130000"/>
              </a:lnSpc>
              <a:spcBef>
                <a:spcPts val="0"/>
              </a:spcBef>
              <a:spcAft>
                <a:spcPts val="0"/>
              </a:spcAft>
              <a:buClr>
                <a:schemeClr val="dk1"/>
              </a:buClr>
              <a:buSzPts val="1800"/>
              <a:buFont typeface="Arial"/>
              <a:buNone/>
            </a:pPr>
            <a:r>
              <a:rPr lang="en" sz="1400">
                <a:solidFill>
                  <a:schemeClr val="dk1"/>
                </a:solidFill>
                <a:highlight>
                  <a:srgbClr val="F9F9F9"/>
                </a:highlight>
                <a:latin typeface="Courier New"/>
                <a:ea typeface="Courier New"/>
                <a:cs typeface="Courier New"/>
                <a:sym typeface="Courier New"/>
              </a:rPr>
              <a:t>sudo apt-get install gdb</a:t>
            </a:r>
            <a:endParaRPr/>
          </a:p>
        </p:txBody>
      </p:sp>
      <p:sp>
        <p:nvSpPr>
          <p:cNvPr id="124" name="Google Shape;124;g2d4a9c8130e_1_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8"/>
          <p:cNvSpPr txBox="1"/>
          <p:nvPr>
            <p:ph type="title"/>
          </p:nvPr>
        </p:nvSpPr>
        <p:spPr>
          <a:xfrm>
            <a:off x="311700" y="-12175"/>
            <a:ext cx="8520600" cy="439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100"/>
              <a:t>First program</a:t>
            </a:r>
            <a:endParaRPr sz="2100"/>
          </a:p>
        </p:txBody>
      </p:sp>
      <p:sp>
        <p:nvSpPr>
          <p:cNvPr id="130" name="Google Shape;130;p8"/>
          <p:cNvSpPr txBox="1"/>
          <p:nvPr>
            <p:ph idx="1" type="body"/>
          </p:nvPr>
        </p:nvSpPr>
        <p:spPr>
          <a:xfrm>
            <a:off x="257325" y="485100"/>
            <a:ext cx="8520600" cy="4541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400"/>
              <a:t>Step 1. Now go to that folder where you will create C++ programs. Editors can provide alternative features for compiling and running the program. Below, </a:t>
            </a:r>
            <a:r>
              <a:rPr lang="en" sz="1400"/>
              <a:t> I am creating my programs in Documents</a:t>
            </a:r>
            <a:r>
              <a:rPr lang="en" sz="1400"/>
              <a:t> directory. Type these commands(Linux Users):</a:t>
            </a:r>
            <a:endParaRPr sz="1400"/>
          </a:p>
          <a:p>
            <a:pPr indent="0" lvl="0" marL="0" rtl="0" algn="l">
              <a:lnSpc>
                <a:spcPct val="115000"/>
              </a:lnSpc>
              <a:spcBef>
                <a:spcPts val="0"/>
              </a:spcBef>
              <a:spcAft>
                <a:spcPts val="0"/>
              </a:spcAft>
              <a:buClr>
                <a:schemeClr val="dk1"/>
              </a:buClr>
              <a:buSzPts val="1100"/>
              <a:buFont typeface="Arial"/>
              <a:buNone/>
            </a:pPr>
            <a:r>
              <a:rPr lang="en" sz="1400"/>
              <a:t>$ cd Documents/</a:t>
            </a:r>
            <a:endParaRPr sz="1400"/>
          </a:p>
          <a:p>
            <a:pPr indent="0" lvl="0" marL="0" rtl="0" algn="l">
              <a:lnSpc>
                <a:spcPct val="115000"/>
              </a:lnSpc>
              <a:spcBef>
                <a:spcPts val="0"/>
              </a:spcBef>
              <a:spcAft>
                <a:spcPts val="0"/>
              </a:spcAft>
              <a:buClr>
                <a:schemeClr val="dk1"/>
              </a:buClr>
              <a:buSzPts val="1100"/>
              <a:buFont typeface="Arial"/>
              <a:buNone/>
            </a:pPr>
            <a:r>
              <a:rPr lang="en" sz="1400"/>
              <a:t>$ sudo mkdir programs</a:t>
            </a:r>
            <a:endParaRPr sz="1400"/>
          </a:p>
          <a:p>
            <a:pPr indent="0" lvl="0" marL="0" rtl="0" algn="l">
              <a:lnSpc>
                <a:spcPct val="115000"/>
              </a:lnSpc>
              <a:spcBef>
                <a:spcPts val="0"/>
              </a:spcBef>
              <a:spcAft>
                <a:spcPts val="0"/>
              </a:spcAft>
              <a:buSzPts val="1800"/>
              <a:buNone/>
            </a:pPr>
            <a:r>
              <a:rPr lang="en" sz="1400"/>
              <a:t>$ cd programs/</a:t>
            </a:r>
            <a:endParaRPr sz="1400"/>
          </a:p>
          <a:p>
            <a:pPr indent="0" lvl="0" marL="0" rtl="0" algn="l">
              <a:lnSpc>
                <a:spcPct val="115000"/>
              </a:lnSpc>
              <a:spcBef>
                <a:spcPts val="0"/>
              </a:spcBef>
              <a:spcAft>
                <a:spcPts val="0"/>
              </a:spcAft>
              <a:buSzPts val="1800"/>
              <a:buNone/>
            </a:pPr>
            <a:r>
              <a:t/>
            </a:r>
            <a:endParaRPr sz="1400"/>
          </a:p>
          <a:p>
            <a:pPr indent="0" lvl="0" marL="0" rtl="0" algn="l">
              <a:lnSpc>
                <a:spcPct val="115000"/>
              </a:lnSpc>
              <a:spcBef>
                <a:spcPts val="0"/>
              </a:spcBef>
              <a:spcAft>
                <a:spcPts val="0"/>
              </a:spcAft>
              <a:buClr>
                <a:schemeClr val="dk1"/>
              </a:buClr>
              <a:buSzPts val="1100"/>
              <a:buFont typeface="Arial"/>
              <a:buNone/>
            </a:pPr>
            <a:r>
              <a:rPr lang="en" sz="1400"/>
              <a:t>Step 2. Open a file using any editor.</a:t>
            </a:r>
            <a:endParaRPr sz="1400"/>
          </a:p>
          <a:p>
            <a:pPr indent="0" lvl="0" marL="0" rtl="0" algn="l">
              <a:lnSpc>
                <a:spcPct val="115000"/>
              </a:lnSpc>
              <a:spcBef>
                <a:spcPts val="0"/>
              </a:spcBef>
              <a:spcAft>
                <a:spcPts val="0"/>
              </a:spcAft>
              <a:buSzPts val="1800"/>
              <a:buNone/>
            </a:pPr>
            <a:r>
              <a:rPr lang="en" sz="1400"/>
              <a:t>$ sudo gedit hello.cpp (for C++ programs)</a:t>
            </a:r>
            <a:endParaRPr sz="1400"/>
          </a:p>
          <a:p>
            <a:pPr indent="0" lvl="0" marL="0" rtl="0" algn="l">
              <a:lnSpc>
                <a:spcPct val="115000"/>
              </a:lnSpc>
              <a:spcBef>
                <a:spcPts val="0"/>
              </a:spcBef>
              <a:spcAft>
                <a:spcPts val="0"/>
              </a:spcAft>
              <a:buClr>
                <a:schemeClr val="dk1"/>
              </a:buClr>
              <a:buSzPts val="1100"/>
              <a:buFont typeface="Arial"/>
              <a:buNone/>
            </a:pPr>
            <a:r>
              <a:t/>
            </a:r>
            <a:endParaRPr sz="1400"/>
          </a:p>
          <a:p>
            <a:pPr indent="0" lvl="0" marL="0" rtl="0" algn="l">
              <a:lnSpc>
                <a:spcPct val="115000"/>
              </a:lnSpc>
              <a:spcBef>
                <a:spcPts val="0"/>
              </a:spcBef>
              <a:spcAft>
                <a:spcPts val="0"/>
              </a:spcAft>
              <a:buSzPts val="1800"/>
              <a:buNone/>
            </a:pPr>
            <a:r>
              <a:rPr lang="en" sz="1400"/>
              <a:t> Step 3. Add the code( from right)  in the file save the file and exit</a:t>
            </a:r>
            <a:endParaRPr sz="1400"/>
          </a:p>
          <a:p>
            <a:pPr indent="0" lvl="0" marL="0" rtl="0" algn="l">
              <a:lnSpc>
                <a:spcPct val="115000"/>
              </a:lnSpc>
              <a:spcBef>
                <a:spcPts val="0"/>
              </a:spcBef>
              <a:spcAft>
                <a:spcPts val="0"/>
              </a:spcAft>
              <a:buClr>
                <a:schemeClr val="dk1"/>
              </a:buClr>
              <a:buSzPts val="1100"/>
              <a:buFont typeface="Arial"/>
              <a:buNone/>
            </a:pPr>
            <a:r>
              <a:t/>
            </a:r>
            <a:endParaRPr sz="1400"/>
          </a:p>
          <a:p>
            <a:pPr indent="0" lvl="0" marL="0" rtl="0" algn="l">
              <a:lnSpc>
                <a:spcPct val="115000"/>
              </a:lnSpc>
              <a:spcBef>
                <a:spcPts val="0"/>
              </a:spcBef>
              <a:spcAft>
                <a:spcPts val="0"/>
              </a:spcAft>
              <a:buClr>
                <a:schemeClr val="dk1"/>
              </a:buClr>
              <a:buSzPts val="1100"/>
              <a:buFont typeface="Arial"/>
              <a:buNone/>
            </a:pPr>
            <a:r>
              <a:rPr lang="en" sz="1400"/>
              <a:t>Step 4. Compile the program using any of the following command</a:t>
            </a:r>
            <a:endParaRPr sz="1400"/>
          </a:p>
          <a:p>
            <a:pPr indent="0" lvl="0" marL="0" rtl="0" algn="l">
              <a:lnSpc>
                <a:spcPct val="115000"/>
              </a:lnSpc>
              <a:spcBef>
                <a:spcPts val="0"/>
              </a:spcBef>
              <a:spcAft>
                <a:spcPts val="0"/>
              </a:spcAft>
              <a:buSzPts val="1800"/>
              <a:buNone/>
            </a:pPr>
            <a:r>
              <a:rPr lang="en" sz="1400"/>
              <a:t>$ sudo g++ -o hello hello.cpp</a:t>
            </a:r>
            <a:endParaRPr sz="1400"/>
          </a:p>
          <a:p>
            <a:pPr indent="0" lvl="0" marL="0" rtl="0" algn="l">
              <a:lnSpc>
                <a:spcPct val="115000"/>
              </a:lnSpc>
              <a:spcBef>
                <a:spcPts val="0"/>
              </a:spcBef>
              <a:spcAft>
                <a:spcPts val="0"/>
              </a:spcAft>
              <a:buClr>
                <a:schemeClr val="dk1"/>
              </a:buClr>
              <a:buSzPts val="1100"/>
              <a:buFont typeface="Arial"/>
              <a:buNone/>
            </a:pPr>
            <a:r>
              <a:t/>
            </a:r>
            <a:endParaRPr sz="1400"/>
          </a:p>
          <a:p>
            <a:pPr indent="0" lvl="0" marL="0" rtl="0" algn="l">
              <a:lnSpc>
                <a:spcPct val="115000"/>
              </a:lnSpc>
              <a:spcBef>
                <a:spcPts val="0"/>
              </a:spcBef>
              <a:spcAft>
                <a:spcPts val="0"/>
              </a:spcAft>
              <a:buClr>
                <a:schemeClr val="dk1"/>
              </a:buClr>
              <a:buSzPts val="1100"/>
              <a:buFont typeface="Arial"/>
              <a:buNone/>
            </a:pPr>
            <a:r>
              <a:rPr lang="en" sz="1400"/>
              <a:t>Step 5. To run this program type this command</a:t>
            </a:r>
            <a:endParaRPr sz="1400"/>
          </a:p>
          <a:p>
            <a:pPr indent="0" lvl="0" marL="0" rtl="0" algn="l">
              <a:lnSpc>
                <a:spcPct val="115000"/>
              </a:lnSpc>
              <a:spcBef>
                <a:spcPts val="0"/>
              </a:spcBef>
              <a:spcAft>
                <a:spcPts val="0"/>
              </a:spcAft>
              <a:buClr>
                <a:schemeClr val="dk1"/>
              </a:buClr>
              <a:buSzPts val="1100"/>
              <a:buFont typeface="Arial"/>
              <a:buNone/>
            </a:pPr>
            <a:r>
              <a:rPr lang="en" sz="1400"/>
              <a:t>$ ./hello </a:t>
            </a:r>
            <a:endParaRPr sz="1400"/>
          </a:p>
          <a:p>
            <a:pPr indent="0" lvl="0" marL="0" rtl="0" algn="l">
              <a:lnSpc>
                <a:spcPct val="115000"/>
              </a:lnSpc>
              <a:spcBef>
                <a:spcPts val="0"/>
              </a:spcBef>
              <a:spcAft>
                <a:spcPts val="1600"/>
              </a:spcAft>
              <a:buSzPts val="1800"/>
              <a:buNone/>
            </a:pPr>
            <a:r>
              <a:t/>
            </a:r>
            <a:endParaRPr sz="1400"/>
          </a:p>
        </p:txBody>
      </p:sp>
      <p:sp>
        <p:nvSpPr>
          <p:cNvPr id="131" name="Google Shape;131;p8"/>
          <p:cNvSpPr txBox="1"/>
          <p:nvPr/>
        </p:nvSpPr>
        <p:spPr>
          <a:xfrm>
            <a:off x="6044325" y="3006475"/>
            <a:ext cx="3000000" cy="2054400"/>
          </a:xfrm>
          <a:prstGeom prst="rect">
            <a:avLst/>
          </a:prstGeom>
          <a:solidFill>
            <a:srgbClr val="FFF2C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#include &lt;stdio.h&gt;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int main()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printf( "Hello World!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return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32" name="Google Shape;132;p8"/>
          <p:cNvSpPr txBox="1"/>
          <p:nvPr/>
        </p:nvSpPr>
        <p:spPr>
          <a:xfrm>
            <a:off x="5968125" y="945175"/>
            <a:ext cx="3000000" cy="192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#include &lt;iostream&gt;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using namespace std;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int main()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cout &lt;&lt; "Hello World!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return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33" name="Google Shape;133;p8"/>
          <p:cNvSpPr txBox="1"/>
          <p:nvPr/>
        </p:nvSpPr>
        <p:spPr>
          <a:xfrm>
            <a:off x="6197150" y="2627850"/>
            <a:ext cx="2847300" cy="354000"/>
          </a:xfrm>
          <a:prstGeom prst="rect">
            <a:avLst/>
          </a:prstGeom>
          <a:solidFill>
            <a:srgbClr val="D9EAD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Note: A C program is a C++ program</a:t>
            </a:r>
            <a:endParaRPr b="1" i="0" sz="1100" u="none" cap="none" strike="noStrike">
              <a:solidFill>
                <a:srgbClr val="000000"/>
              </a:solidFill>
              <a:latin typeface="Arial"/>
              <a:ea typeface="Arial"/>
              <a:cs typeface="Arial"/>
              <a:sym typeface="Arial"/>
            </a:endParaRPr>
          </a:p>
        </p:txBody>
      </p:sp>
      <p:sp>
        <p:nvSpPr>
          <p:cNvPr id="134" name="Google Shape;134;p8"/>
          <p:cNvSpPr txBox="1"/>
          <p:nvPr/>
        </p:nvSpPr>
        <p:spPr>
          <a:xfrm>
            <a:off x="6196875" y="4444375"/>
            <a:ext cx="2847300" cy="615600"/>
          </a:xfrm>
          <a:prstGeom prst="rect">
            <a:avLst/>
          </a:prstGeom>
          <a:solidFill>
            <a:srgbClr val="D9EAD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When saved as hello.cpp, the program will compile</a:t>
            </a:r>
            <a:endParaRPr b="1" i="0" sz="1400" u="none" cap="none" strike="noStrike">
              <a:solidFill>
                <a:srgbClr val="000000"/>
              </a:solidFill>
              <a:latin typeface="Arial"/>
              <a:ea typeface="Arial"/>
              <a:cs typeface="Arial"/>
              <a:sym typeface="Arial"/>
            </a:endParaRPr>
          </a:p>
        </p:txBody>
      </p:sp>
      <p:sp>
        <p:nvSpPr>
          <p:cNvPr id="135" name="Google Shape;135;p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0ccfebd245_0_0"/>
          <p:cNvSpPr txBox="1"/>
          <p:nvPr>
            <p:ph type="title"/>
          </p:nvPr>
        </p:nvSpPr>
        <p:spPr>
          <a:xfrm>
            <a:off x="155200" y="395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Example 2: Every C Program is a C++ Program</a:t>
            </a:r>
            <a:endParaRPr b="1" sz="1800"/>
          </a:p>
        </p:txBody>
      </p:sp>
      <p:sp>
        <p:nvSpPr>
          <p:cNvPr id="141" name="Google Shape;141;g30ccfebd245_0_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42" name="Google Shape;142;g30ccfebd245_0_0"/>
          <p:cNvSpPr txBox="1"/>
          <p:nvPr>
            <p:ph idx="1" type="body"/>
          </p:nvPr>
        </p:nvSpPr>
        <p:spPr>
          <a:xfrm>
            <a:off x="742325" y="478525"/>
            <a:ext cx="7360800" cy="297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#include &lt;stdio.h&gt;</a:t>
            </a:r>
            <a:endParaRPr sz="1600"/>
          </a:p>
          <a:p>
            <a:pPr indent="0" lvl="0" marL="0" rtl="0" algn="l">
              <a:spcBef>
                <a:spcPts val="0"/>
              </a:spcBef>
              <a:spcAft>
                <a:spcPts val="0"/>
              </a:spcAft>
              <a:buNone/>
            </a:pPr>
            <a:r>
              <a:rPr lang="en" sz="1600"/>
              <a:t>int main()</a:t>
            </a:r>
            <a:endParaRPr sz="1600"/>
          </a:p>
          <a:p>
            <a:pPr indent="0" lvl="0" marL="0" rtl="0" algn="l">
              <a:spcBef>
                <a:spcPts val="0"/>
              </a:spcBef>
              <a:spcAft>
                <a:spcPts val="0"/>
              </a:spcAft>
              <a:buNone/>
            </a:pPr>
            <a:r>
              <a:rPr lang="en" sz="1600"/>
              <a:t>{</a:t>
            </a:r>
            <a:endParaRPr sz="1600"/>
          </a:p>
          <a:p>
            <a:pPr indent="0" lvl="0" marL="0" rtl="0" algn="l">
              <a:spcBef>
                <a:spcPts val="0"/>
              </a:spcBef>
              <a:spcAft>
                <a:spcPts val="0"/>
              </a:spcAft>
              <a:buNone/>
            </a:pPr>
            <a:r>
              <a:rPr lang="en" sz="1600"/>
              <a:t>int a,b,sum;</a:t>
            </a:r>
            <a:endParaRPr sz="1600"/>
          </a:p>
          <a:p>
            <a:pPr indent="0" lvl="0" marL="0" rtl="0" algn="l">
              <a:spcBef>
                <a:spcPts val="0"/>
              </a:spcBef>
              <a:spcAft>
                <a:spcPts val="0"/>
              </a:spcAft>
              <a:buNone/>
            </a:pPr>
            <a:r>
              <a:rPr lang="en" sz="1600"/>
              <a:t>printf("Enter a and b:\n");</a:t>
            </a:r>
            <a:endParaRPr sz="1600"/>
          </a:p>
          <a:p>
            <a:pPr indent="0" lvl="0" marL="0" rtl="0" algn="l">
              <a:spcBef>
                <a:spcPts val="0"/>
              </a:spcBef>
              <a:spcAft>
                <a:spcPts val="0"/>
              </a:spcAft>
              <a:buNone/>
            </a:pPr>
            <a:r>
              <a:rPr lang="en" sz="1600"/>
              <a:t>scanf("%d %d",&amp;a,&amp;b);</a:t>
            </a:r>
            <a:endParaRPr sz="1600"/>
          </a:p>
          <a:p>
            <a:pPr indent="0" lvl="0" marL="0" rtl="0" algn="l">
              <a:spcBef>
                <a:spcPts val="0"/>
              </a:spcBef>
              <a:spcAft>
                <a:spcPts val="0"/>
              </a:spcAft>
              <a:buNone/>
            </a:pPr>
            <a:r>
              <a:rPr lang="en" sz="1600"/>
              <a:t>sum=a+b;</a:t>
            </a:r>
            <a:endParaRPr sz="1600"/>
          </a:p>
          <a:p>
            <a:pPr indent="0" lvl="0" marL="0" rtl="0" algn="l">
              <a:spcBef>
                <a:spcPts val="0"/>
              </a:spcBef>
              <a:spcAft>
                <a:spcPts val="0"/>
              </a:spcAft>
              <a:buNone/>
            </a:pPr>
            <a:r>
              <a:rPr lang="en" sz="1600"/>
              <a:t>printf("The sum of  %d + %d = %d\n",a,b,sum);</a:t>
            </a:r>
            <a:endParaRPr sz="1600"/>
          </a:p>
          <a:p>
            <a:pPr indent="0" lvl="0" marL="0" rtl="0" algn="l">
              <a:spcBef>
                <a:spcPts val="0"/>
              </a:spcBef>
              <a:spcAft>
                <a:spcPts val="0"/>
              </a:spcAft>
              <a:buNone/>
            </a:pPr>
            <a:r>
              <a:rPr lang="en" sz="1600"/>
              <a:t>return 0;</a:t>
            </a:r>
            <a:endParaRPr sz="1600"/>
          </a:p>
          <a:p>
            <a:pPr indent="0" lvl="0" marL="0" rtl="0" algn="l">
              <a:spcBef>
                <a:spcPts val="0"/>
              </a:spcBef>
              <a:spcAft>
                <a:spcPts val="0"/>
              </a:spcAft>
              <a:buNone/>
            </a:pPr>
            <a:r>
              <a:rPr lang="en" sz="1600"/>
              <a:t>}</a:t>
            </a:r>
            <a:endParaRPr sz="1600"/>
          </a:p>
        </p:txBody>
      </p:sp>
      <p:sp>
        <p:nvSpPr>
          <p:cNvPr id="143" name="Google Shape;143;g30ccfebd245_0_0"/>
          <p:cNvSpPr txBox="1"/>
          <p:nvPr/>
        </p:nvSpPr>
        <p:spPr>
          <a:xfrm>
            <a:off x="5058150" y="526425"/>
            <a:ext cx="30000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rPr>
              <a:t>Save, </a:t>
            </a:r>
            <a:r>
              <a:rPr lang="en" sz="1800">
                <a:solidFill>
                  <a:schemeClr val="dk1"/>
                </a:solidFill>
              </a:rPr>
              <a:t>Compile and run the  C program as a C++ program under name addition.cpp </a:t>
            </a:r>
            <a:endParaRPr sz="1800">
              <a:solidFill>
                <a:schemeClr val="dk1"/>
              </a:solidFill>
            </a:endParaRPr>
          </a:p>
        </p:txBody>
      </p:sp>
      <p:pic>
        <p:nvPicPr>
          <p:cNvPr id="144" name="Google Shape;144;g30ccfebd245_0_0"/>
          <p:cNvPicPr preferRelativeResize="0"/>
          <p:nvPr/>
        </p:nvPicPr>
        <p:blipFill>
          <a:blip r:embed="rId3">
            <a:alphaModFix/>
          </a:blip>
          <a:stretch>
            <a:fillRect/>
          </a:stretch>
        </p:blipFill>
        <p:spPr>
          <a:xfrm>
            <a:off x="1022138" y="3526527"/>
            <a:ext cx="7099736" cy="1293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0ccfebd245_0_12"/>
          <p:cNvSpPr txBox="1"/>
          <p:nvPr>
            <p:ph type="title"/>
          </p:nvPr>
        </p:nvSpPr>
        <p:spPr>
          <a:xfrm>
            <a:off x="155200" y="395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Example 2(cont’d) : Addition.cpp rewritten using C++ features not available in C</a:t>
            </a:r>
            <a:endParaRPr b="1" sz="1600"/>
          </a:p>
        </p:txBody>
      </p:sp>
      <p:sp>
        <p:nvSpPr>
          <p:cNvPr id="150" name="Google Shape;150;g30ccfebd245_0_1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1" name="Google Shape;151;g30ccfebd245_0_12"/>
          <p:cNvSpPr txBox="1"/>
          <p:nvPr>
            <p:ph idx="1" type="body"/>
          </p:nvPr>
        </p:nvSpPr>
        <p:spPr>
          <a:xfrm>
            <a:off x="742325" y="478525"/>
            <a:ext cx="7360800" cy="297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t>#include &lt;iostream&gt;</a:t>
            </a:r>
            <a:endParaRPr sz="1600"/>
          </a:p>
          <a:p>
            <a:pPr indent="0" lvl="0" marL="0" rtl="0" algn="l">
              <a:spcBef>
                <a:spcPts val="0"/>
              </a:spcBef>
              <a:spcAft>
                <a:spcPts val="0"/>
              </a:spcAft>
              <a:buClr>
                <a:schemeClr val="dk1"/>
              </a:buClr>
              <a:buSzPts val="1100"/>
              <a:buFont typeface="Arial"/>
              <a:buNone/>
            </a:pPr>
            <a:r>
              <a:rPr lang="en" sz="1600"/>
              <a:t>using namespace std;</a:t>
            </a:r>
            <a:endParaRPr sz="1600"/>
          </a:p>
          <a:p>
            <a:pPr indent="0" lvl="0" marL="0" rtl="0" algn="l">
              <a:spcBef>
                <a:spcPts val="0"/>
              </a:spcBef>
              <a:spcAft>
                <a:spcPts val="0"/>
              </a:spcAft>
              <a:buClr>
                <a:schemeClr val="dk1"/>
              </a:buClr>
              <a:buSzPts val="1100"/>
              <a:buFont typeface="Arial"/>
              <a:buNone/>
            </a:pPr>
            <a:r>
              <a:rPr lang="en" sz="1600"/>
              <a:t>int main()</a:t>
            </a:r>
            <a:endParaRPr sz="1600"/>
          </a:p>
          <a:p>
            <a:pPr indent="0" lvl="0" marL="0" rtl="0" algn="l">
              <a:spcBef>
                <a:spcPts val="0"/>
              </a:spcBef>
              <a:spcAft>
                <a:spcPts val="0"/>
              </a:spcAft>
              <a:buClr>
                <a:schemeClr val="dk1"/>
              </a:buClr>
              <a:buSzPts val="1100"/>
              <a:buFont typeface="Arial"/>
              <a:buNone/>
            </a:pPr>
            <a:r>
              <a:rPr lang="en" sz="1600"/>
              <a:t>{</a:t>
            </a:r>
            <a:endParaRPr sz="1600"/>
          </a:p>
          <a:p>
            <a:pPr indent="0" lvl="0" marL="0" rtl="0" algn="l">
              <a:spcBef>
                <a:spcPts val="0"/>
              </a:spcBef>
              <a:spcAft>
                <a:spcPts val="0"/>
              </a:spcAft>
              <a:buClr>
                <a:schemeClr val="dk1"/>
              </a:buClr>
              <a:buSzPts val="1100"/>
              <a:buFont typeface="Arial"/>
              <a:buNone/>
            </a:pPr>
            <a:r>
              <a:rPr lang="en" sz="1600"/>
              <a:t>int a,b,sum;</a:t>
            </a:r>
            <a:endParaRPr sz="1600"/>
          </a:p>
          <a:p>
            <a:pPr indent="0" lvl="0" marL="0" rtl="0" algn="l">
              <a:spcBef>
                <a:spcPts val="0"/>
              </a:spcBef>
              <a:spcAft>
                <a:spcPts val="0"/>
              </a:spcAft>
              <a:buClr>
                <a:schemeClr val="dk1"/>
              </a:buClr>
              <a:buSzPts val="1100"/>
              <a:buFont typeface="Arial"/>
              <a:buNone/>
            </a:pPr>
            <a:r>
              <a:rPr lang="en" sz="1600"/>
              <a:t>cout&lt;&lt;"Enter a and b:\n";</a:t>
            </a:r>
            <a:endParaRPr sz="1600"/>
          </a:p>
          <a:p>
            <a:pPr indent="0" lvl="0" marL="0" rtl="0" algn="l">
              <a:spcBef>
                <a:spcPts val="0"/>
              </a:spcBef>
              <a:spcAft>
                <a:spcPts val="0"/>
              </a:spcAft>
              <a:buClr>
                <a:schemeClr val="dk1"/>
              </a:buClr>
              <a:buSzPts val="1100"/>
              <a:buFont typeface="Arial"/>
              <a:buNone/>
            </a:pPr>
            <a:r>
              <a:rPr lang="en" sz="1600"/>
              <a:t>cin&gt;&gt;a&gt;&gt;b;</a:t>
            </a:r>
            <a:endParaRPr sz="1600"/>
          </a:p>
          <a:p>
            <a:pPr indent="0" lvl="0" marL="0" rtl="0" algn="l">
              <a:spcBef>
                <a:spcPts val="0"/>
              </a:spcBef>
              <a:spcAft>
                <a:spcPts val="0"/>
              </a:spcAft>
              <a:buClr>
                <a:schemeClr val="dk1"/>
              </a:buClr>
              <a:buSzPts val="1100"/>
              <a:buFont typeface="Arial"/>
              <a:buNone/>
            </a:pPr>
            <a:r>
              <a:rPr lang="en" sz="1600"/>
              <a:t>sum=a+b;</a:t>
            </a:r>
            <a:endParaRPr sz="1600"/>
          </a:p>
          <a:p>
            <a:pPr indent="0" lvl="0" marL="0" rtl="0" algn="l">
              <a:spcBef>
                <a:spcPts val="0"/>
              </a:spcBef>
              <a:spcAft>
                <a:spcPts val="0"/>
              </a:spcAft>
              <a:buClr>
                <a:schemeClr val="dk1"/>
              </a:buClr>
              <a:buSzPts val="1100"/>
              <a:buFont typeface="Arial"/>
              <a:buNone/>
            </a:pPr>
            <a:r>
              <a:rPr lang="en" sz="1600"/>
              <a:t>cout&lt;&lt;"The sum of "&lt;&lt; a&lt;&lt;"+"&lt;&lt;b&lt;&lt;"="&lt;&lt;sum&lt;&lt;endl;</a:t>
            </a:r>
            <a:endParaRPr sz="1600"/>
          </a:p>
          <a:p>
            <a:pPr indent="0" lvl="0" marL="0" rtl="0" algn="l">
              <a:spcBef>
                <a:spcPts val="0"/>
              </a:spcBef>
              <a:spcAft>
                <a:spcPts val="0"/>
              </a:spcAft>
              <a:buClr>
                <a:schemeClr val="dk1"/>
              </a:buClr>
              <a:buSzPts val="1100"/>
              <a:buFont typeface="Arial"/>
              <a:buNone/>
            </a:pPr>
            <a:r>
              <a:rPr lang="en" sz="1600"/>
              <a:t>return 0;</a:t>
            </a:r>
            <a:endParaRPr sz="1600"/>
          </a:p>
          <a:p>
            <a:pPr indent="0" lvl="0" marL="0" rtl="0" algn="l">
              <a:spcBef>
                <a:spcPts val="0"/>
              </a:spcBef>
              <a:spcAft>
                <a:spcPts val="0"/>
              </a:spcAft>
              <a:buClr>
                <a:schemeClr val="dk1"/>
              </a:buClr>
              <a:buSzPts val="1100"/>
              <a:buFont typeface="Arial"/>
              <a:buNone/>
            </a:pPr>
            <a:r>
              <a:rPr lang="en" sz="1600"/>
              <a:t>}</a:t>
            </a:r>
            <a:endParaRPr sz="1600"/>
          </a:p>
          <a:p>
            <a:pPr indent="0" lvl="0" marL="0" rtl="0" algn="l">
              <a:spcBef>
                <a:spcPts val="0"/>
              </a:spcBef>
              <a:spcAft>
                <a:spcPts val="0"/>
              </a:spcAft>
              <a:buNone/>
            </a:pPr>
            <a:r>
              <a:t/>
            </a:r>
            <a:endParaRPr sz="1600"/>
          </a:p>
        </p:txBody>
      </p:sp>
      <p:sp>
        <p:nvSpPr>
          <p:cNvPr id="152" name="Google Shape;152;g30ccfebd245_0_12"/>
          <p:cNvSpPr txBox="1"/>
          <p:nvPr/>
        </p:nvSpPr>
        <p:spPr>
          <a:xfrm>
            <a:off x="5058150" y="526425"/>
            <a:ext cx="3000000" cy="1569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highlight>
                  <a:srgbClr val="D9EAD3"/>
                </a:highlight>
              </a:rPr>
              <a:t>The previous program is </a:t>
            </a:r>
            <a:r>
              <a:rPr lang="en" sz="1800">
                <a:solidFill>
                  <a:schemeClr val="dk1"/>
                </a:solidFill>
                <a:highlight>
                  <a:srgbClr val="D9EAD3"/>
                </a:highlight>
              </a:rPr>
              <a:t>Written  using alternative C++ features</a:t>
            </a:r>
            <a:endParaRPr sz="1800">
              <a:solidFill>
                <a:schemeClr val="dk1"/>
              </a:solidFill>
              <a:highlight>
                <a:srgbClr val="D9EAD3"/>
              </a:highlight>
            </a:endParaRPr>
          </a:p>
          <a:p>
            <a:pPr indent="0" lvl="0" marL="0" rtl="0" algn="ctr">
              <a:spcBef>
                <a:spcPts val="0"/>
              </a:spcBef>
              <a:spcAft>
                <a:spcPts val="0"/>
              </a:spcAft>
              <a:buNone/>
            </a:pPr>
            <a:r>
              <a:rPr lang="en" sz="1800">
                <a:solidFill>
                  <a:schemeClr val="dk1"/>
                </a:solidFill>
                <a:highlight>
                  <a:srgbClr val="D9EAD3"/>
                </a:highlight>
              </a:rPr>
              <a:t>Note the use of iostream, namespacem cin and cout</a:t>
            </a:r>
            <a:endParaRPr sz="1800">
              <a:solidFill>
                <a:schemeClr val="dk1"/>
              </a:solidFill>
              <a:highlight>
                <a:srgbClr val="D9EAD3"/>
              </a:highlight>
            </a:endParaRPr>
          </a:p>
        </p:txBody>
      </p:sp>
      <p:pic>
        <p:nvPicPr>
          <p:cNvPr id="153" name="Google Shape;153;g30ccfebd245_0_12"/>
          <p:cNvPicPr preferRelativeResize="0"/>
          <p:nvPr/>
        </p:nvPicPr>
        <p:blipFill>
          <a:blip r:embed="rId3">
            <a:alphaModFix/>
          </a:blip>
          <a:stretch>
            <a:fillRect/>
          </a:stretch>
        </p:blipFill>
        <p:spPr>
          <a:xfrm>
            <a:off x="1022125" y="3697252"/>
            <a:ext cx="7099736" cy="1293000"/>
          </a:xfrm>
          <a:prstGeom prst="rect">
            <a:avLst/>
          </a:prstGeom>
          <a:noFill/>
          <a:ln>
            <a:noFill/>
          </a:ln>
        </p:spPr>
      </p:pic>
      <p:sp>
        <p:nvSpPr>
          <p:cNvPr id="154" name="Google Shape;154;g30ccfebd245_0_12"/>
          <p:cNvSpPr txBox="1"/>
          <p:nvPr/>
        </p:nvSpPr>
        <p:spPr>
          <a:xfrm>
            <a:off x="6296550" y="2390850"/>
            <a:ext cx="2283000" cy="715800"/>
          </a:xfrm>
          <a:prstGeom prst="rect">
            <a:avLst/>
          </a:prstGeom>
          <a:noFill/>
          <a:ln>
            <a:noFill/>
          </a:ln>
        </p:spPr>
        <p:txBody>
          <a:bodyPr anchorCtr="0" anchor="t" bIns="91425" lIns="91425" spcFirstLastPara="1" rIns="91425" wrap="square" tIns="91425">
            <a:spAutoFit/>
          </a:bodyPr>
          <a:lstStyle/>
          <a:p>
            <a:pPr indent="0" lvl="0" marL="0" rtl="0" algn="l">
              <a:spcBef>
                <a:spcPts val="1400"/>
              </a:spcBef>
              <a:spcAft>
                <a:spcPts val="0"/>
              </a:spcAft>
              <a:buNone/>
            </a:pPr>
            <a:r>
              <a:rPr b="1" lang="en" sz="1150">
                <a:solidFill>
                  <a:schemeClr val="dk1"/>
                </a:solidFill>
                <a:highlight>
                  <a:srgbClr val="FFFFCC"/>
                </a:highlight>
                <a:latin typeface="Verdana"/>
                <a:ea typeface="Verdana"/>
                <a:cs typeface="Verdana"/>
                <a:sym typeface="Verdana"/>
              </a:rPr>
              <a:t>Note:</a:t>
            </a:r>
            <a:r>
              <a:rPr lang="en" sz="1150">
                <a:solidFill>
                  <a:schemeClr val="dk1"/>
                </a:solidFill>
                <a:highlight>
                  <a:srgbClr val="FFFFCC"/>
                </a:highlight>
                <a:latin typeface="Verdana"/>
                <a:ea typeface="Verdana"/>
                <a:cs typeface="Verdana"/>
                <a:sym typeface="Verdana"/>
              </a:rPr>
              <a:t> </a:t>
            </a:r>
            <a:r>
              <a:rPr lang="en" sz="1150">
                <a:solidFill>
                  <a:schemeClr val="dk1"/>
                </a:solidFill>
                <a:highlight>
                  <a:srgbClr val="FFFFCC"/>
                </a:highlight>
                <a:latin typeface="Verdana"/>
                <a:ea typeface="Verdana"/>
                <a:cs typeface="Verdana"/>
                <a:sym typeface="Verdana"/>
              </a:rPr>
              <a:t>Don't worry if you don't understand the details, everything will be explained shortly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2"/>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 Syntax</a:t>
            </a:r>
            <a:endParaRPr/>
          </a:p>
        </p:txBody>
      </p:sp>
      <p:sp>
        <p:nvSpPr>
          <p:cNvPr id="160" name="Google Shape;160;p12"/>
          <p:cNvSpPr txBox="1"/>
          <p:nvPr>
            <p:ph idx="1" type="body"/>
          </p:nvPr>
        </p:nvSpPr>
        <p:spPr>
          <a:xfrm>
            <a:off x="311700" y="542875"/>
            <a:ext cx="8520600" cy="4675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In C++, a program may consist of objects, functions, variables, and other components. However, regardless of size or complexity of a C++ program, the program has to include directives, and at least one function called main. The following is the basic structure of C++ program:</a:t>
            </a:r>
            <a:endParaRPr/>
          </a:p>
          <a:p>
            <a:pPr indent="0" lvl="0" marL="0" rtl="0" algn="l">
              <a:lnSpc>
                <a:spcPct val="115000"/>
              </a:lnSpc>
              <a:spcBef>
                <a:spcPts val="1600"/>
              </a:spcBef>
              <a:spcAft>
                <a:spcPts val="1600"/>
              </a:spcAft>
              <a:buSzPts val="1800"/>
              <a:buNone/>
            </a:pPr>
            <a:r>
              <a:t/>
            </a:r>
            <a:endParaRPr/>
          </a:p>
        </p:txBody>
      </p:sp>
      <p:sp>
        <p:nvSpPr>
          <p:cNvPr id="161" name="Google Shape;161;p12"/>
          <p:cNvSpPr txBox="1"/>
          <p:nvPr/>
        </p:nvSpPr>
        <p:spPr>
          <a:xfrm>
            <a:off x="1914850" y="2130825"/>
            <a:ext cx="3000000" cy="3087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200000"/>
              </a:lnSpc>
              <a:spcBef>
                <a:spcPts val="0"/>
              </a:spcBef>
              <a:spcAft>
                <a:spcPts val="0"/>
              </a:spcAft>
              <a:buClr>
                <a:srgbClr val="000000"/>
              </a:buClr>
              <a:buSzPts val="1400"/>
              <a:buFont typeface="Arial"/>
              <a:buNone/>
            </a:pPr>
            <a:r>
              <a:rPr b="0" i="0" lang="en" sz="1400" u="none" cap="none" strike="noStrike">
                <a:solidFill>
                  <a:srgbClr val="FF0000"/>
                </a:solidFill>
                <a:latin typeface="Arial"/>
                <a:ea typeface="Arial"/>
                <a:cs typeface="Arial"/>
                <a:sym typeface="Arial"/>
              </a:rPr>
              <a:t>#include directive;</a:t>
            </a:r>
            <a:endParaRPr b="0" i="0" sz="1400" u="none" cap="none" strike="noStrike">
              <a:solidFill>
                <a:srgbClr val="FF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global variables/constants;</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user_defined_functions</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return_type</a:t>
            </a:r>
            <a:r>
              <a:rPr b="0" i="0" lang="en" sz="1400" u="none" cap="none" strike="noStrike">
                <a:solidFill>
                  <a:srgbClr val="000000"/>
                </a:solidFill>
                <a:latin typeface="Arial"/>
                <a:ea typeface="Arial"/>
                <a:cs typeface="Arial"/>
                <a:sym typeface="Arial"/>
              </a:rPr>
              <a:t> main(){</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executable statements //comment</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return </a:t>
            </a:r>
            <a:r>
              <a:rPr b="1" i="0" lang="en" sz="1400" u="none" cap="none" strike="noStrike">
                <a:solidFill>
                  <a:srgbClr val="000000"/>
                </a:solidFill>
                <a:latin typeface="Arial"/>
                <a:ea typeface="Arial"/>
                <a:cs typeface="Arial"/>
                <a:sym typeface="Arial"/>
              </a:rPr>
              <a:t>something</a:t>
            </a:r>
            <a:endParaRPr b="1"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62" name="Google Shape;162;p12"/>
          <p:cNvSpPr txBox="1"/>
          <p:nvPr/>
        </p:nvSpPr>
        <p:spPr>
          <a:xfrm>
            <a:off x="5867125" y="2536725"/>
            <a:ext cx="3000000" cy="1927200"/>
          </a:xfrm>
          <a:prstGeom prst="rect">
            <a:avLst/>
          </a:prstGeom>
          <a:solidFill>
            <a:srgbClr val="D9EAD3"/>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#include &lt;iostream&gt;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using namespace std;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int main()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cout &lt;&lt; "Hello World!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return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cxnSp>
        <p:nvCxnSpPr>
          <p:cNvPr id="163" name="Google Shape;163;p12"/>
          <p:cNvCxnSpPr>
            <a:stCxn id="161" idx="3"/>
          </p:cNvCxnSpPr>
          <p:nvPr/>
        </p:nvCxnSpPr>
        <p:spPr>
          <a:xfrm>
            <a:off x="4914850" y="3674625"/>
            <a:ext cx="897000" cy="8100"/>
          </a:xfrm>
          <a:prstGeom prst="straightConnector1">
            <a:avLst/>
          </a:prstGeom>
          <a:noFill/>
          <a:ln cap="flat" cmpd="sng" w="28575">
            <a:solidFill>
              <a:schemeClr val="dk2"/>
            </a:solidFill>
            <a:prstDash val="solid"/>
            <a:round/>
            <a:headEnd len="med" w="med" type="none"/>
            <a:tailEnd len="med" w="med" type="triangle"/>
          </a:ln>
        </p:spPr>
      </p:cxnSp>
      <p:sp>
        <p:nvSpPr>
          <p:cNvPr id="164" name="Google Shape;164;p1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4"/>
          <p:cNvSpPr txBox="1"/>
          <p:nvPr>
            <p:ph type="title"/>
          </p:nvPr>
        </p:nvSpPr>
        <p:spPr>
          <a:xfrm>
            <a:off x="311700" y="-88375"/>
            <a:ext cx="8520600" cy="731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Example program explained</a:t>
            </a:r>
            <a:endParaRPr/>
          </a:p>
        </p:txBody>
      </p:sp>
      <p:sp>
        <p:nvSpPr>
          <p:cNvPr id="170" name="Google Shape;170;p14"/>
          <p:cNvSpPr txBox="1"/>
          <p:nvPr>
            <p:ph idx="1" type="body"/>
          </p:nvPr>
        </p:nvSpPr>
        <p:spPr>
          <a:xfrm>
            <a:off x="0" y="466675"/>
            <a:ext cx="9144000" cy="453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Line 1: </a:t>
            </a:r>
            <a:r>
              <a:rPr lang="en" sz="1200">
                <a:solidFill>
                  <a:srgbClr val="DC143C"/>
                </a:solidFill>
                <a:highlight>
                  <a:srgbClr val="F1F1F1"/>
                </a:highlight>
                <a:latin typeface="Consolas"/>
                <a:ea typeface="Consolas"/>
                <a:cs typeface="Consolas"/>
                <a:sym typeface="Consolas"/>
              </a:rPr>
              <a:t>#include &lt;iostream&gt;</a:t>
            </a:r>
            <a:r>
              <a:rPr lang="en" sz="1150">
                <a:solidFill>
                  <a:schemeClr val="dk1"/>
                </a:solidFill>
                <a:highlight>
                  <a:srgbClr val="FFFFFF"/>
                </a:highlight>
                <a:latin typeface="Verdana"/>
                <a:ea typeface="Verdana"/>
                <a:cs typeface="Verdana"/>
                <a:sym typeface="Verdana"/>
              </a:rPr>
              <a:t> is a header file library that lets us work with input and output objects, such as </a:t>
            </a:r>
            <a:r>
              <a:rPr lang="en" sz="1200">
                <a:solidFill>
                  <a:srgbClr val="DC143C"/>
                </a:solidFill>
                <a:highlight>
                  <a:srgbClr val="F1F1F1"/>
                </a:highlight>
                <a:latin typeface="Consolas"/>
                <a:ea typeface="Consolas"/>
                <a:cs typeface="Consolas"/>
                <a:sym typeface="Consolas"/>
              </a:rPr>
              <a:t>cout</a:t>
            </a:r>
            <a:r>
              <a:rPr lang="en" sz="1150">
                <a:solidFill>
                  <a:schemeClr val="dk1"/>
                </a:solidFill>
                <a:highlight>
                  <a:srgbClr val="FFFFFF"/>
                </a:highlight>
                <a:latin typeface="Verdana"/>
                <a:ea typeface="Verdana"/>
                <a:cs typeface="Verdana"/>
                <a:sym typeface="Verdana"/>
              </a:rPr>
              <a:t> (used in line 5). Header files add functionality to C++ programs.</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Line 2: </a:t>
            </a:r>
            <a:r>
              <a:rPr lang="en" sz="1200">
                <a:solidFill>
                  <a:srgbClr val="DC143C"/>
                </a:solidFill>
                <a:highlight>
                  <a:srgbClr val="F1F1F1"/>
                </a:highlight>
                <a:latin typeface="Consolas"/>
                <a:ea typeface="Consolas"/>
                <a:cs typeface="Consolas"/>
                <a:sym typeface="Consolas"/>
              </a:rPr>
              <a:t>using namespace std</a:t>
            </a:r>
            <a:r>
              <a:rPr lang="en" sz="1150">
                <a:solidFill>
                  <a:schemeClr val="dk1"/>
                </a:solidFill>
                <a:highlight>
                  <a:srgbClr val="FFFFFF"/>
                </a:highlight>
                <a:latin typeface="Verdana"/>
                <a:ea typeface="Verdana"/>
                <a:cs typeface="Verdana"/>
                <a:sym typeface="Verdana"/>
              </a:rPr>
              <a:t> means that we can use names for objects and variables from the standard library. Using namespace std; namespace is a feature in C++ used to ensure that identifiers do not overlap due to naming conflict. Identifiers may overlap by sharing different parts of a program. Each namespace such as std (standard) defines a scope in which identifiers are placed.</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1400"/>
              </a:spcBef>
              <a:spcAft>
                <a:spcPts val="0"/>
              </a:spcAft>
              <a:buSzPts val="1800"/>
              <a:buNone/>
            </a:pPr>
            <a:r>
              <a:rPr lang="en" sz="1150">
                <a:solidFill>
                  <a:schemeClr val="dk1"/>
                </a:solidFill>
                <a:highlight>
                  <a:srgbClr val="FFFFCC"/>
                </a:highlight>
                <a:latin typeface="Verdana"/>
                <a:ea typeface="Verdana"/>
                <a:cs typeface="Verdana"/>
                <a:sym typeface="Verdana"/>
              </a:rPr>
              <a:t>Don't worry if you don't understand how </a:t>
            </a:r>
            <a:r>
              <a:rPr lang="en" sz="1200">
                <a:solidFill>
                  <a:srgbClr val="DC143C"/>
                </a:solidFill>
                <a:highlight>
                  <a:srgbClr val="F1F1F1"/>
                </a:highlight>
                <a:latin typeface="Consolas"/>
                <a:ea typeface="Consolas"/>
                <a:cs typeface="Consolas"/>
                <a:sym typeface="Consolas"/>
              </a:rPr>
              <a:t>using namespace std</a:t>
            </a:r>
            <a:r>
              <a:rPr lang="en" sz="1150">
                <a:solidFill>
                  <a:schemeClr val="dk1"/>
                </a:solidFill>
                <a:highlight>
                  <a:srgbClr val="FFFFCC"/>
                </a:highlight>
                <a:latin typeface="Verdana"/>
                <a:ea typeface="Verdana"/>
                <a:cs typeface="Verdana"/>
                <a:sym typeface="Verdana"/>
              </a:rPr>
              <a:t> works. Just think of it as something that (almost) always appears in your program.</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Line 3: Another thing that always appear in a C++ program, is </a:t>
            </a:r>
            <a:r>
              <a:rPr lang="en" sz="1200">
                <a:solidFill>
                  <a:srgbClr val="DC143C"/>
                </a:solidFill>
                <a:highlight>
                  <a:srgbClr val="F1F1F1"/>
                </a:highlight>
                <a:latin typeface="Consolas"/>
                <a:ea typeface="Consolas"/>
                <a:cs typeface="Consolas"/>
                <a:sym typeface="Consolas"/>
              </a:rPr>
              <a:t>int main()</a:t>
            </a:r>
            <a:r>
              <a:rPr lang="en" sz="1150">
                <a:solidFill>
                  <a:schemeClr val="dk1"/>
                </a:solidFill>
                <a:highlight>
                  <a:srgbClr val="FFFFFF"/>
                </a:highlight>
                <a:latin typeface="Verdana"/>
                <a:ea typeface="Verdana"/>
                <a:cs typeface="Verdana"/>
                <a:sym typeface="Verdana"/>
              </a:rPr>
              <a:t>. This is called a function. Any code inside its curly brackets </a:t>
            </a:r>
            <a:r>
              <a:rPr lang="en" sz="1200">
                <a:solidFill>
                  <a:srgbClr val="DC143C"/>
                </a:solidFill>
                <a:highlight>
                  <a:srgbClr val="F1F1F1"/>
                </a:highlight>
                <a:latin typeface="Consolas"/>
                <a:ea typeface="Consolas"/>
                <a:cs typeface="Consolas"/>
                <a:sym typeface="Consolas"/>
              </a:rPr>
              <a:t>{}</a:t>
            </a:r>
            <a:r>
              <a:rPr lang="en" sz="1150">
                <a:solidFill>
                  <a:schemeClr val="dk1"/>
                </a:solidFill>
                <a:highlight>
                  <a:srgbClr val="FFFFFF"/>
                </a:highlight>
                <a:latin typeface="Verdana"/>
                <a:ea typeface="Verdana"/>
                <a:cs typeface="Verdana"/>
                <a:sym typeface="Verdana"/>
              </a:rPr>
              <a:t> will be executed.</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Line 4: </a:t>
            </a:r>
            <a:r>
              <a:rPr lang="en" sz="1200">
                <a:solidFill>
                  <a:srgbClr val="DC143C"/>
                </a:solidFill>
                <a:highlight>
                  <a:srgbClr val="F1F1F1"/>
                </a:highlight>
                <a:latin typeface="Consolas"/>
                <a:ea typeface="Consolas"/>
                <a:cs typeface="Consolas"/>
                <a:sym typeface="Consolas"/>
              </a:rPr>
              <a:t>cout: Console output</a:t>
            </a:r>
            <a:r>
              <a:rPr lang="en" sz="1150">
                <a:solidFill>
                  <a:schemeClr val="dk1"/>
                </a:solidFill>
                <a:highlight>
                  <a:srgbClr val="FFFFFF"/>
                </a:highlight>
                <a:latin typeface="Verdana"/>
                <a:ea typeface="Verdana"/>
                <a:cs typeface="Verdana"/>
                <a:sym typeface="Verdana"/>
              </a:rPr>
              <a:t> (pronounced "see-out") is an object used to output/print text. In our example it will output "Hello World".</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Note: Every C++ statement ends with a semicolon </a:t>
            </a:r>
            <a:r>
              <a:rPr lang="en" sz="1200">
                <a:solidFill>
                  <a:srgbClr val="DC143C"/>
                </a:solidFill>
                <a:highlight>
                  <a:srgbClr val="F1F1F1"/>
                </a:highlight>
                <a:latin typeface="Consolas"/>
                <a:ea typeface="Consolas"/>
                <a:cs typeface="Consolas"/>
                <a:sym typeface="Consolas"/>
              </a:rPr>
              <a:t>;</a:t>
            </a:r>
            <a:r>
              <a:rPr lang="en" sz="1150">
                <a:solidFill>
                  <a:schemeClr val="dk1"/>
                </a:solidFill>
                <a:highlight>
                  <a:srgbClr val="FFFFFF"/>
                </a:highlight>
                <a:latin typeface="Verdana"/>
                <a:ea typeface="Verdana"/>
                <a:cs typeface="Verdana"/>
                <a:sym typeface="Verdana"/>
              </a:rPr>
              <a: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Note: The body of </a:t>
            </a:r>
            <a:r>
              <a:rPr lang="en" sz="1200">
                <a:solidFill>
                  <a:srgbClr val="DC143C"/>
                </a:solidFill>
                <a:highlight>
                  <a:srgbClr val="F1F1F1"/>
                </a:highlight>
                <a:latin typeface="Consolas"/>
                <a:ea typeface="Consolas"/>
                <a:cs typeface="Consolas"/>
                <a:sym typeface="Consolas"/>
              </a:rPr>
              <a:t>int main()</a:t>
            </a:r>
            <a:r>
              <a:rPr lang="en" sz="1150">
                <a:solidFill>
                  <a:schemeClr val="dk1"/>
                </a:solidFill>
                <a:highlight>
                  <a:srgbClr val="FFFFFF"/>
                </a:highlight>
                <a:latin typeface="Verdana"/>
                <a:ea typeface="Verdana"/>
                <a:cs typeface="Verdana"/>
                <a:sym typeface="Verdana"/>
              </a:rPr>
              <a:t> could also been written as:</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1400"/>
              </a:spcBef>
              <a:spcAft>
                <a:spcPts val="0"/>
              </a:spcAft>
              <a:buClr>
                <a:schemeClr val="dk1"/>
              </a:buClr>
              <a:buSzPts val="1100"/>
              <a:buFont typeface="Arial"/>
              <a:buNone/>
            </a:pPr>
            <a:r>
              <a:rPr lang="en" sz="1200">
                <a:solidFill>
                  <a:srgbClr val="DC143C"/>
                </a:solidFill>
                <a:highlight>
                  <a:srgbClr val="F1F1F1"/>
                </a:highlight>
                <a:latin typeface="Consolas"/>
                <a:ea typeface="Consolas"/>
                <a:cs typeface="Consolas"/>
                <a:sym typeface="Consolas"/>
              </a:rPr>
              <a:t>int main () { cout &lt;&lt; "Hello World! "; return 0; }</a:t>
            </a:r>
            <a:endParaRPr sz="1200">
              <a:solidFill>
                <a:srgbClr val="DC143C"/>
              </a:solidFill>
              <a:highlight>
                <a:srgbClr val="F1F1F1"/>
              </a:highlight>
              <a:latin typeface="Consolas"/>
              <a:ea typeface="Consolas"/>
              <a:cs typeface="Consolas"/>
              <a:sym typeface="Consolas"/>
            </a:endParaRPr>
          </a:p>
          <a:p>
            <a:pPr indent="0" lvl="0" marL="0" rtl="0" algn="l">
              <a:lnSpc>
                <a:spcPct val="100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Remember: The compiler ignores white spaces. However, multiple lines makes the code more readable.</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Line 5: </a:t>
            </a:r>
            <a:r>
              <a:rPr lang="en" sz="1200">
                <a:solidFill>
                  <a:srgbClr val="DC143C"/>
                </a:solidFill>
                <a:highlight>
                  <a:srgbClr val="F1F1F1"/>
                </a:highlight>
                <a:latin typeface="Consolas"/>
                <a:ea typeface="Consolas"/>
                <a:cs typeface="Consolas"/>
                <a:sym typeface="Consolas"/>
              </a:rPr>
              <a:t>return 0</a:t>
            </a:r>
            <a:r>
              <a:rPr lang="en" sz="1150">
                <a:solidFill>
                  <a:schemeClr val="dk1"/>
                </a:solidFill>
                <a:highlight>
                  <a:srgbClr val="FFFFFF"/>
                </a:highlight>
                <a:latin typeface="Verdana"/>
                <a:ea typeface="Verdana"/>
                <a:cs typeface="Verdana"/>
                <a:sym typeface="Verdana"/>
              </a:rPr>
              <a:t> ends the main function.</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1400"/>
              </a:spcBef>
              <a:spcAft>
                <a:spcPts val="1600"/>
              </a:spcAft>
              <a:buSzPts val="1800"/>
              <a:buNone/>
            </a:pPr>
            <a:r>
              <a:t/>
            </a:r>
            <a:endParaRPr/>
          </a:p>
        </p:txBody>
      </p:sp>
      <p:sp>
        <p:nvSpPr>
          <p:cNvPr id="171" name="Google Shape;171;p1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5"/>
          <p:cNvSpPr txBox="1"/>
          <p:nvPr>
            <p:ph type="title"/>
          </p:nvPr>
        </p:nvSpPr>
        <p:spPr>
          <a:xfrm>
            <a:off x="311700" y="-12175"/>
            <a:ext cx="42603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800"/>
              </a:spcBef>
              <a:spcAft>
                <a:spcPts val="800"/>
              </a:spcAft>
              <a:buClr>
                <a:schemeClr val="dk1"/>
              </a:buClr>
              <a:buSzPts val="1100"/>
              <a:buFont typeface="Arial"/>
              <a:buNone/>
            </a:pPr>
            <a:r>
              <a:rPr b="1" lang="en" sz="2400">
                <a:highlight>
                  <a:srgbClr val="FFFFFF"/>
                </a:highlight>
              </a:rPr>
              <a:t>C++ Output</a:t>
            </a:r>
            <a:r>
              <a:rPr lang="en" sz="2400">
                <a:highlight>
                  <a:srgbClr val="FFFFFF"/>
                </a:highlight>
              </a:rPr>
              <a:t> (Output stream)</a:t>
            </a:r>
            <a:endParaRPr/>
          </a:p>
        </p:txBody>
      </p:sp>
      <p:sp>
        <p:nvSpPr>
          <p:cNvPr id="177" name="Google Shape;177;p15"/>
          <p:cNvSpPr txBox="1"/>
          <p:nvPr>
            <p:ph idx="1" type="body"/>
          </p:nvPr>
        </p:nvSpPr>
        <p:spPr>
          <a:xfrm>
            <a:off x="0" y="501300"/>
            <a:ext cx="4810500" cy="4642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Output capabilities in C++ are provided by a library file known as ostream. The ostream has an object called cout that stands for console out that prints output on a standard output, usually a display screen. The object is used in conjunction with stream insertion operator, which is written as &lt;&lt; (two “less than” signs).</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The </a:t>
            </a:r>
            <a:r>
              <a:rPr lang="en" sz="1200">
                <a:solidFill>
                  <a:srgbClr val="DC143C"/>
                </a:solidFill>
                <a:highlight>
                  <a:srgbClr val="F1F1F1"/>
                </a:highlight>
                <a:latin typeface="Consolas"/>
                <a:ea typeface="Consolas"/>
                <a:cs typeface="Consolas"/>
                <a:sym typeface="Consolas"/>
              </a:rPr>
              <a:t>cout</a:t>
            </a:r>
            <a:r>
              <a:rPr lang="en" sz="1150">
                <a:solidFill>
                  <a:schemeClr val="dk1"/>
                </a:solidFill>
                <a:highlight>
                  <a:srgbClr val="FFFFFF"/>
                </a:highlight>
                <a:latin typeface="Verdana"/>
                <a:ea typeface="Verdana"/>
                <a:cs typeface="Verdana"/>
                <a:sym typeface="Verdana"/>
              </a:rPr>
              <a:t> object, together with the </a:t>
            </a:r>
            <a:r>
              <a:rPr lang="en" sz="1200">
                <a:solidFill>
                  <a:srgbClr val="DC143C"/>
                </a:solidFill>
                <a:highlight>
                  <a:srgbClr val="F1F1F1"/>
                </a:highlight>
                <a:latin typeface="Consolas"/>
                <a:ea typeface="Consolas"/>
                <a:cs typeface="Consolas"/>
                <a:sym typeface="Consolas"/>
              </a:rPr>
              <a:t>&lt;&lt;</a:t>
            </a:r>
            <a:r>
              <a:rPr lang="en" sz="1150">
                <a:solidFill>
                  <a:schemeClr val="dk1"/>
                </a:solidFill>
                <a:highlight>
                  <a:srgbClr val="FFFFFF"/>
                </a:highlight>
                <a:latin typeface="Verdana"/>
                <a:ea typeface="Verdana"/>
                <a:cs typeface="Verdana"/>
                <a:sym typeface="Verdana"/>
              </a:rPr>
              <a:t> operator, is used to output values/print text:</a:t>
            </a:r>
            <a:endParaRPr sz="1150">
              <a:solidFill>
                <a:schemeClr val="dk1"/>
              </a:solidFill>
              <a:highlight>
                <a:srgbClr val="FFFFFF"/>
              </a:highlight>
              <a:latin typeface="Verdana"/>
              <a:ea typeface="Verdana"/>
              <a:cs typeface="Verdana"/>
              <a:sym typeface="Verdana"/>
            </a:endParaRPr>
          </a:p>
          <a:p>
            <a:pPr indent="0" lvl="0" marL="0" marR="114300" rtl="0" algn="l">
              <a:lnSpc>
                <a:spcPct val="115000"/>
              </a:lnSpc>
              <a:spcBef>
                <a:spcPts val="1400"/>
              </a:spcBef>
              <a:spcAft>
                <a:spcPts val="0"/>
              </a:spcAft>
              <a:buClr>
                <a:schemeClr val="dk1"/>
              </a:buClr>
              <a:buSzPts val="1100"/>
              <a:buFont typeface="Arial"/>
              <a:buNone/>
            </a:pPr>
            <a:r>
              <a:rPr lang="en" sz="1200">
                <a:solidFill>
                  <a:srgbClr val="DC143C"/>
                </a:solidFill>
                <a:highlight>
                  <a:srgbClr val="F1F1F1"/>
                </a:highlight>
                <a:latin typeface="Consolas"/>
                <a:ea typeface="Consolas"/>
                <a:cs typeface="Consolas"/>
                <a:sym typeface="Consolas"/>
              </a:rPr>
              <a:t>cout</a:t>
            </a:r>
            <a:r>
              <a:rPr lang="en" sz="1150">
                <a:solidFill>
                  <a:schemeClr val="dk1"/>
                </a:solidFill>
                <a:highlight>
                  <a:srgbClr val="FFFFCC"/>
                </a:highlight>
                <a:latin typeface="Verdana"/>
                <a:ea typeface="Verdana"/>
                <a:cs typeface="Verdana"/>
                <a:sym typeface="Verdana"/>
              </a:rPr>
              <a:t> is pronounced "see-out". Used for output, and uses the </a:t>
            </a:r>
            <a:r>
              <a:rPr b="1" lang="en" sz="1350">
                <a:solidFill>
                  <a:schemeClr val="dk1"/>
                </a:solidFill>
                <a:highlight>
                  <a:srgbClr val="FFFFCC"/>
                </a:highlight>
                <a:latin typeface="Verdana"/>
                <a:ea typeface="Verdana"/>
                <a:cs typeface="Verdana"/>
                <a:sym typeface="Verdana"/>
              </a:rPr>
              <a:t>insertion operator (</a:t>
            </a:r>
            <a:r>
              <a:rPr b="1" lang="en" sz="1400">
                <a:solidFill>
                  <a:srgbClr val="DC143C"/>
                </a:solidFill>
                <a:highlight>
                  <a:srgbClr val="F1F1F1"/>
                </a:highlight>
                <a:latin typeface="Consolas"/>
                <a:ea typeface="Consolas"/>
                <a:cs typeface="Consolas"/>
                <a:sym typeface="Consolas"/>
              </a:rPr>
              <a:t>&lt;&lt;</a:t>
            </a:r>
            <a:r>
              <a:rPr b="1" lang="en" sz="1350">
                <a:solidFill>
                  <a:schemeClr val="dk1"/>
                </a:solidFill>
                <a:highlight>
                  <a:srgbClr val="FFFFCC"/>
                </a:highlight>
                <a:latin typeface="Verdana"/>
                <a:ea typeface="Verdana"/>
                <a:cs typeface="Verdana"/>
                <a:sym typeface="Verdana"/>
              </a:rPr>
              <a:t>)</a:t>
            </a:r>
            <a:endParaRPr b="1" sz="1350">
              <a:solidFill>
                <a:schemeClr val="dk1"/>
              </a:solidFill>
              <a:highlight>
                <a:srgbClr val="FFFFFF"/>
              </a:highlight>
              <a:latin typeface="Verdana"/>
              <a:ea typeface="Verdana"/>
              <a:cs typeface="Verdana"/>
              <a:sym typeface="Verdana"/>
            </a:endParaRPr>
          </a:p>
          <a:p>
            <a:pPr indent="0" lvl="0" marL="0" rtl="0" algn="l">
              <a:lnSpc>
                <a:spcPct val="115000"/>
              </a:lnSpc>
              <a:spcBef>
                <a:spcPts val="0"/>
              </a:spcBef>
              <a:spcAft>
                <a:spcPts val="0"/>
              </a:spcAft>
              <a:buSzPts val="1800"/>
              <a:buNone/>
            </a:pPr>
            <a:r>
              <a:rPr lang="en" sz="1150">
                <a:solidFill>
                  <a:schemeClr val="dk1"/>
                </a:solidFill>
                <a:highlight>
                  <a:srgbClr val="FFFFFF"/>
                </a:highlight>
                <a:latin typeface="Verdana"/>
                <a:ea typeface="Verdana"/>
                <a:cs typeface="Verdana"/>
                <a:sym typeface="Verdana"/>
              </a:rPr>
              <a:t>You can add as many </a:t>
            </a:r>
            <a:r>
              <a:rPr lang="en" sz="1200">
                <a:solidFill>
                  <a:srgbClr val="DC143C"/>
                </a:solidFill>
                <a:highlight>
                  <a:srgbClr val="F1F1F1"/>
                </a:highlight>
                <a:latin typeface="Consolas"/>
                <a:ea typeface="Consolas"/>
                <a:cs typeface="Consolas"/>
                <a:sym typeface="Consolas"/>
              </a:rPr>
              <a:t>cout</a:t>
            </a:r>
            <a:r>
              <a:rPr lang="en" sz="1150">
                <a:solidFill>
                  <a:schemeClr val="dk1"/>
                </a:solidFill>
                <a:highlight>
                  <a:srgbClr val="FFFFFF"/>
                </a:highlight>
                <a:latin typeface="Verdana"/>
                <a:ea typeface="Verdana"/>
                <a:cs typeface="Verdana"/>
                <a:sym typeface="Verdana"/>
              </a:rPr>
              <a:t> objects as you want. However, note that it does not insert a new line at the end of the output:</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#include &lt;iostream&gt;</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using namespace std;</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150">
                <a:solidFill>
                  <a:srgbClr val="0000CD"/>
                </a:solidFill>
                <a:highlight>
                  <a:srgbClr val="FFFFFF"/>
                </a:highlight>
                <a:latin typeface="Consolas"/>
                <a:ea typeface="Consolas"/>
                <a:cs typeface="Consolas"/>
                <a:sym typeface="Consolas"/>
              </a:rPr>
              <a:t>int</a:t>
            </a:r>
            <a:r>
              <a:rPr lang="en" sz="1150">
                <a:solidFill>
                  <a:schemeClr val="dk1"/>
                </a:solidFill>
                <a:highlight>
                  <a:srgbClr val="FFFFFF"/>
                </a:highlight>
                <a:latin typeface="Consolas"/>
                <a:ea typeface="Consolas"/>
                <a:cs typeface="Consolas"/>
                <a:sym typeface="Consolas"/>
              </a:rPr>
              <a:t> main() {</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  cout &lt;&lt; </a:t>
            </a:r>
            <a:r>
              <a:rPr lang="en" sz="1150">
                <a:solidFill>
                  <a:srgbClr val="A52A2A"/>
                </a:solidFill>
                <a:highlight>
                  <a:srgbClr val="FFFFFF"/>
                </a:highlight>
                <a:latin typeface="Consolas"/>
                <a:ea typeface="Consolas"/>
                <a:cs typeface="Consolas"/>
                <a:sym typeface="Consolas"/>
              </a:rPr>
              <a:t>"Hello World!"</a:t>
            </a:r>
            <a:r>
              <a:rPr lang="en" sz="1150">
                <a:solidFill>
                  <a:schemeClr val="dk1"/>
                </a:solidFill>
                <a:highlight>
                  <a:srgbClr val="FFFFFF"/>
                </a:highlight>
                <a:latin typeface="Consolas"/>
                <a:ea typeface="Consolas"/>
                <a:cs typeface="Consolas"/>
                <a:sym typeface="Consolas"/>
              </a:rPr>
              <a:t>;</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  cout &lt;&lt; </a:t>
            </a:r>
            <a:r>
              <a:rPr lang="en" sz="1150">
                <a:solidFill>
                  <a:srgbClr val="A52A2A"/>
                </a:solidFill>
                <a:highlight>
                  <a:srgbClr val="FFFFFF"/>
                </a:highlight>
                <a:latin typeface="Consolas"/>
                <a:ea typeface="Consolas"/>
                <a:cs typeface="Consolas"/>
                <a:sym typeface="Consolas"/>
              </a:rPr>
              <a:t>"I am learning C++"</a:t>
            </a:r>
            <a:r>
              <a:rPr lang="en" sz="1150">
                <a:solidFill>
                  <a:schemeClr val="dk1"/>
                </a:solidFill>
                <a:highlight>
                  <a:srgbClr val="FFFFFF"/>
                </a:highlight>
                <a:latin typeface="Consolas"/>
                <a:ea typeface="Consolas"/>
                <a:cs typeface="Consolas"/>
                <a:sym typeface="Consolas"/>
              </a:rPr>
              <a:t>;</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  </a:t>
            </a:r>
            <a:r>
              <a:rPr lang="en" sz="1150">
                <a:solidFill>
                  <a:srgbClr val="0000CD"/>
                </a:solidFill>
                <a:highlight>
                  <a:srgbClr val="FFFFFF"/>
                </a:highlight>
                <a:latin typeface="Consolas"/>
                <a:ea typeface="Consolas"/>
                <a:cs typeface="Consolas"/>
                <a:sym typeface="Consolas"/>
              </a:rPr>
              <a:t>return</a:t>
            </a:r>
            <a:r>
              <a:rPr lang="en" sz="1150">
                <a:solidFill>
                  <a:schemeClr val="dk1"/>
                </a:solidFill>
                <a:highlight>
                  <a:srgbClr val="FFFFFF"/>
                </a:highlight>
                <a:latin typeface="Consolas"/>
                <a:ea typeface="Consolas"/>
                <a:cs typeface="Consolas"/>
                <a:sym typeface="Consolas"/>
              </a:rPr>
              <a:t> </a:t>
            </a:r>
            <a:r>
              <a:rPr lang="en" sz="1150">
                <a:solidFill>
                  <a:srgbClr val="FF0000"/>
                </a:solidFill>
                <a:highlight>
                  <a:srgbClr val="FFFFFF"/>
                </a:highlight>
                <a:latin typeface="Consolas"/>
                <a:ea typeface="Consolas"/>
                <a:cs typeface="Consolas"/>
                <a:sym typeface="Consolas"/>
              </a:rPr>
              <a:t>0</a:t>
            </a:r>
            <a:r>
              <a:rPr lang="en" sz="1150">
                <a:solidFill>
                  <a:schemeClr val="dk1"/>
                </a:solidFill>
                <a:highlight>
                  <a:srgbClr val="FFFFFF"/>
                </a:highlight>
                <a:latin typeface="Consolas"/>
                <a:ea typeface="Consolas"/>
                <a:cs typeface="Consolas"/>
                <a:sym typeface="Consolas"/>
              </a:rPr>
              <a:t>;</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1600"/>
              </a:spcAft>
              <a:buSzPts val="1800"/>
              <a:buNone/>
            </a:pPr>
            <a:r>
              <a:rPr lang="en" sz="1150">
                <a:solidFill>
                  <a:schemeClr val="dk1"/>
                </a:solidFill>
                <a:highlight>
                  <a:srgbClr val="FFFFFF"/>
                </a:highlight>
                <a:latin typeface="Consolas"/>
                <a:ea typeface="Consolas"/>
                <a:cs typeface="Consolas"/>
                <a:sym typeface="Consolas"/>
              </a:rPr>
              <a:t>}</a:t>
            </a:r>
            <a:endParaRPr sz="1150">
              <a:solidFill>
                <a:schemeClr val="dk1"/>
              </a:solidFill>
              <a:highlight>
                <a:srgbClr val="FFFFFF"/>
              </a:highlight>
              <a:latin typeface="Verdana"/>
              <a:ea typeface="Verdana"/>
              <a:cs typeface="Verdana"/>
              <a:sym typeface="Verdana"/>
            </a:endParaRPr>
          </a:p>
        </p:txBody>
      </p:sp>
      <p:sp>
        <p:nvSpPr>
          <p:cNvPr id="178" name="Google Shape;178;p15"/>
          <p:cNvSpPr txBox="1"/>
          <p:nvPr>
            <p:ph idx="1" type="body"/>
          </p:nvPr>
        </p:nvSpPr>
        <p:spPr>
          <a:xfrm>
            <a:off x="4893225" y="193625"/>
            <a:ext cx="4330500" cy="4950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800"/>
              </a:spcBef>
              <a:spcAft>
                <a:spcPts val="0"/>
              </a:spcAft>
              <a:buClr>
                <a:schemeClr val="dk1"/>
              </a:buClr>
              <a:buSzPts val="1100"/>
              <a:buFont typeface="Arial"/>
              <a:buNone/>
            </a:pPr>
            <a:r>
              <a:rPr lang="en" sz="2400">
                <a:solidFill>
                  <a:schemeClr val="dk1"/>
                </a:solidFill>
                <a:highlight>
                  <a:srgbClr val="FFFFFF"/>
                </a:highlight>
              </a:rPr>
              <a:t>New Lines</a:t>
            </a:r>
            <a:r>
              <a:rPr lang="en" sz="1100">
                <a:solidFill>
                  <a:schemeClr val="dk1"/>
                </a:solidFill>
              </a:rPr>
              <a:t>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latin typeface="Verdana"/>
                <a:ea typeface="Verdana"/>
                <a:cs typeface="Verdana"/>
                <a:sym typeface="Verdana"/>
              </a:rPr>
              <a:t>To insert a new line, you can use the </a:t>
            </a:r>
            <a:r>
              <a:rPr lang="en" sz="1100">
                <a:solidFill>
                  <a:srgbClr val="DC143C"/>
                </a:solidFill>
                <a:highlight>
                  <a:srgbClr val="F1F1F1"/>
                </a:highlight>
                <a:latin typeface="Consolas"/>
                <a:ea typeface="Consolas"/>
                <a:cs typeface="Consolas"/>
                <a:sym typeface="Consolas"/>
              </a:rPr>
              <a:t>\n</a:t>
            </a:r>
            <a:r>
              <a:rPr lang="en" sz="1100">
                <a:solidFill>
                  <a:schemeClr val="dk1"/>
                </a:solidFill>
                <a:latin typeface="Verdana"/>
                <a:ea typeface="Verdana"/>
                <a:cs typeface="Verdana"/>
                <a:sym typeface="Verdana"/>
              </a:rPr>
              <a:t> character. Two </a:t>
            </a:r>
            <a:r>
              <a:rPr lang="en" sz="1100">
                <a:solidFill>
                  <a:srgbClr val="DC143C"/>
                </a:solidFill>
                <a:highlight>
                  <a:srgbClr val="F1F1F1"/>
                </a:highlight>
                <a:latin typeface="Consolas"/>
                <a:ea typeface="Consolas"/>
                <a:cs typeface="Consolas"/>
                <a:sym typeface="Consolas"/>
              </a:rPr>
              <a:t>\n</a:t>
            </a:r>
            <a:r>
              <a:rPr lang="en" sz="1100">
                <a:solidFill>
                  <a:schemeClr val="dk1"/>
                </a:solidFill>
                <a:latin typeface="Verdana"/>
                <a:ea typeface="Verdana"/>
                <a:cs typeface="Verdana"/>
                <a:sym typeface="Verdana"/>
              </a:rPr>
              <a:t> characters after each other will create a blank line:</a:t>
            </a:r>
            <a:endParaRPr sz="1100">
              <a:solidFill>
                <a:schemeClr val="dk1"/>
              </a:solidFill>
              <a:latin typeface="Verdana"/>
              <a:ea typeface="Verdana"/>
              <a:cs typeface="Verdana"/>
              <a:sym typeface="Verdana"/>
            </a:endParaRPr>
          </a:p>
          <a:p>
            <a:pPr indent="0" lvl="0" marL="0" rtl="0" algn="l">
              <a:lnSpc>
                <a:spcPct val="115000"/>
              </a:lnSpc>
              <a:spcBef>
                <a:spcPts val="70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#include &lt;iostream&gt;</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160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using namespace std;</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150">
                <a:solidFill>
                  <a:srgbClr val="0000CD"/>
                </a:solidFill>
                <a:highlight>
                  <a:srgbClr val="FFFFFF"/>
                </a:highlight>
                <a:latin typeface="Consolas"/>
                <a:ea typeface="Consolas"/>
                <a:cs typeface="Consolas"/>
                <a:sym typeface="Consolas"/>
              </a:rPr>
              <a:t>int</a:t>
            </a:r>
            <a:r>
              <a:rPr lang="en" sz="1150">
                <a:solidFill>
                  <a:schemeClr val="dk1"/>
                </a:solidFill>
                <a:highlight>
                  <a:srgbClr val="FFFFFF"/>
                </a:highlight>
                <a:latin typeface="Consolas"/>
                <a:ea typeface="Consolas"/>
                <a:cs typeface="Consolas"/>
                <a:sym typeface="Consolas"/>
              </a:rPr>
              <a:t> main() {</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  cout &lt;&lt; </a:t>
            </a:r>
            <a:r>
              <a:rPr lang="en" sz="1150">
                <a:solidFill>
                  <a:srgbClr val="A52A2A"/>
                </a:solidFill>
                <a:highlight>
                  <a:srgbClr val="FFFFFF"/>
                </a:highlight>
                <a:latin typeface="Consolas"/>
                <a:ea typeface="Consolas"/>
                <a:cs typeface="Consolas"/>
                <a:sym typeface="Consolas"/>
              </a:rPr>
              <a:t>"Hello World! \n"</a:t>
            </a:r>
            <a:r>
              <a:rPr lang="en" sz="1150">
                <a:solidFill>
                  <a:schemeClr val="dk1"/>
                </a:solidFill>
                <a:highlight>
                  <a:srgbClr val="FFFFFF"/>
                </a:highlight>
                <a:latin typeface="Consolas"/>
                <a:ea typeface="Consolas"/>
                <a:cs typeface="Consolas"/>
                <a:sym typeface="Consolas"/>
              </a:rPr>
              <a:t>;//New line</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150">
                <a:solidFill>
                  <a:schemeClr val="dk1"/>
                </a:solidFill>
                <a:highlight>
                  <a:schemeClr val="lt1"/>
                </a:highlight>
                <a:latin typeface="Consolas"/>
                <a:ea typeface="Consolas"/>
                <a:cs typeface="Consolas"/>
                <a:sym typeface="Consolas"/>
              </a:rPr>
              <a:t>  cout &lt;&lt; </a:t>
            </a:r>
            <a:r>
              <a:rPr lang="en" sz="1150">
                <a:solidFill>
                  <a:srgbClr val="A52A2A"/>
                </a:solidFill>
                <a:highlight>
                  <a:schemeClr val="lt1"/>
                </a:highlight>
                <a:latin typeface="Consolas"/>
                <a:ea typeface="Consolas"/>
                <a:cs typeface="Consolas"/>
                <a:sym typeface="Consolas"/>
              </a:rPr>
              <a:t>"Hello World again! \n\n"</a:t>
            </a:r>
            <a:r>
              <a:rPr lang="en" sz="1150">
                <a:solidFill>
                  <a:schemeClr val="dk1"/>
                </a:solidFill>
                <a:highlight>
                  <a:schemeClr val="lt1"/>
                </a:highlight>
                <a:latin typeface="Consolas"/>
                <a:ea typeface="Consolas"/>
                <a:cs typeface="Consolas"/>
                <a:sym typeface="Consolas"/>
              </a:rPr>
              <a:t>;// Blank line</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  cout &lt;&lt; </a:t>
            </a:r>
            <a:r>
              <a:rPr lang="en" sz="1150">
                <a:solidFill>
                  <a:srgbClr val="A52A2A"/>
                </a:solidFill>
                <a:highlight>
                  <a:srgbClr val="FFFFFF"/>
                </a:highlight>
                <a:latin typeface="Consolas"/>
                <a:ea typeface="Consolas"/>
                <a:cs typeface="Consolas"/>
                <a:sym typeface="Consolas"/>
              </a:rPr>
              <a:t>"I am learning C++"</a:t>
            </a:r>
            <a:r>
              <a:rPr lang="en" sz="1150">
                <a:solidFill>
                  <a:schemeClr val="dk1"/>
                </a:solidFill>
                <a:highlight>
                  <a:srgbClr val="FFFFFF"/>
                </a:highlight>
                <a:latin typeface="Consolas"/>
                <a:ea typeface="Consolas"/>
                <a:cs typeface="Consolas"/>
                <a:sym typeface="Consolas"/>
              </a:rPr>
              <a:t>;</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  </a:t>
            </a:r>
            <a:r>
              <a:rPr lang="en" sz="1150">
                <a:solidFill>
                  <a:srgbClr val="0000CD"/>
                </a:solidFill>
                <a:highlight>
                  <a:srgbClr val="FFFFFF"/>
                </a:highlight>
                <a:latin typeface="Consolas"/>
                <a:ea typeface="Consolas"/>
                <a:cs typeface="Consolas"/>
                <a:sym typeface="Consolas"/>
              </a:rPr>
              <a:t>return</a:t>
            </a:r>
            <a:r>
              <a:rPr lang="en" sz="1150">
                <a:solidFill>
                  <a:schemeClr val="dk1"/>
                </a:solidFill>
                <a:highlight>
                  <a:srgbClr val="FFFFFF"/>
                </a:highlight>
                <a:latin typeface="Consolas"/>
                <a:ea typeface="Consolas"/>
                <a:cs typeface="Consolas"/>
                <a:sym typeface="Consolas"/>
              </a:rPr>
              <a:t> </a:t>
            </a:r>
            <a:r>
              <a:rPr lang="en" sz="1150">
                <a:solidFill>
                  <a:srgbClr val="FF0000"/>
                </a:solidFill>
                <a:highlight>
                  <a:srgbClr val="FFFFFF"/>
                </a:highlight>
                <a:latin typeface="Consolas"/>
                <a:ea typeface="Consolas"/>
                <a:cs typeface="Consolas"/>
                <a:sym typeface="Consolas"/>
              </a:rPr>
              <a:t>0</a:t>
            </a:r>
            <a:r>
              <a:rPr lang="en" sz="1150">
                <a:solidFill>
                  <a:schemeClr val="dk1"/>
                </a:solidFill>
                <a:highlight>
                  <a:srgbClr val="FFFFFF"/>
                </a:highlight>
                <a:latin typeface="Consolas"/>
                <a:ea typeface="Consolas"/>
                <a:cs typeface="Consolas"/>
                <a:sym typeface="Consolas"/>
              </a:rPr>
              <a:t>;</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lang="en" sz="1150">
                <a:solidFill>
                  <a:schemeClr val="dk1"/>
                </a:solidFill>
                <a:highlight>
                  <a:srgbClr val="FFFFFF"/>
                </a:highlight>
                <a:latin typeface="Consolas"/>
                <a:ea typeface="Consolas"/>
                <a:cs typeface="Consolas"/>
                <a:sym typeface="Consolas"/>
              </a:rPr>
              <a:t>}</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lang="en" sz="1150">
                <a:solidFill>
                  <a:schemeClr val="dk1"/>
                </a:solidFill>
                <a:highlight>
                  <a:srgbClr val="FFFFFF"/>
                </a:highlight>
                <a:latin typeface="Verdana"/>
                <a:ea typeface="Verdana"/>
                <a:cs typeface="Verdana"/>
                <a:sym typeface="Verdana"/>
              </a:rPr>
              <a:t>Another way to insert a new line, is with the </a:t>
            </a:r>
            <a:r>
              <a:rPr lang="en" sz="1200">
                <a:solidFill>
                  <a:srgbClr val="DC143C"/>
                </a:solidFill>
                <a:highlight>
                  <a:srgbClr val="F1F1F1"/>
                </a:highlight>
                <a:latin typeface="Consolas"/>
                <a:ea typeface="Consolas"/>
                <a:cs typeface="Consolas"/>
                <a:sym typeface="Consolas"/>
              </a:rPr>
              <a:t>endl</a:t>
            </a:r>
            <a:r>
              <a:rPr lang="en" sz="1150">
                <a:solidFill>
                  <a:schemeClr val="dk1"/>
                </a:solidFill>
                <a:highlight>
                  <a:srgbClr val="FFFFFF"/>
                </a:highlight>
                <a:latin typeface="Verdana"/>
                <a:ea typeface="Verdana"/>
                <a:cs typeface="Verdana"/>
                <a:sym typeface="Verdana"/>
              </a:rPr>
              <a:t> manipulator:</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160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#include &lt;iostream&gt;</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using namespace std;</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150">
                <a:solidFill>
                  <a:srgbClr val="0000CD"/>
                </a:solidFill>
                <a:highlight>
                  <a:srgbClr val="FFFFFF"/>
                </a:highlight>
                <a:latin typeface="Consolas"/>
                <a:ea typeface="Consolas"/>
                <a:cs typeface="Consolas"/>
                <a:sym typeface="Consolas"/>
              </a:rPr>
              <a:t>int</a:t>
            </a:r>
            <a:r>
              <a:rPr lang="en" sz="1150">
                <a:solidFill>
                  <a:schemeClr val="dk1"/>
                </a:solidFill>
                <a:highlight>
                  <a:srgbClr val="FFFFFF"/>
                </a:highlight>
                <a:latin typeface="Consolas"/>
                <a:ea typeface="Consolas"/>
                <a:cs typeface="Consolas"/>
                <a:sym typeface="Consolas"/>
              </a:rPr>
              <a:t> main() {</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  cout &lt;&lt; </a:t>
            </a:r>
            <a:r>
              <a:rPr lang="en" sz="1150">
                <a:solidFill>
                  <a:srgbClr val="A52A2A"/>
                </a:solidFill>
                <a:highlight>
                  <a:srgbClr val="FFFFFF"/>
                </a:highlight>
                <a:latin typeface="Consolas"/>
                <a:ea typeface="Consolas"/>
                <a:cs typeface="Consolas"/>
                <a:sym typeface="Consolas"/>
              </a:rPr>
              <a:t>"Hello World!"</a:t>
            </a:r>
            <a:r>
              <a:rPr lang="en" sz="1150">
                <a:solidFill>
                  <a:schemeClr val="dk1"/>
                </a:solidFill>
                <a:highlight>
                  <a:srgbClr val="FFFFFF"/>
                </a:highlight>
                <a:latin typeface="Consolas"/>
                <a:ea typeface="Consolas"/>
                <a:cs typeface="Consolas"/>
                <a:sym typeface="Consolas"/>
              </a:rPr>
              <a:t> &lt;&lt; endl;</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  cout &lt;&lt; </a:t>
            </a:r>
            <a:r>
              <a:rPr lang="en" sz="1150">
                <a:solidFill>
                  <a:srgbClr val="A52A2A"/>
                </a:solidFill>
                <a:highlight>
                  <a:srgbClr val="FFFFFF"/>
                </a:highlight>
                <a:latin typeface="Consolas"/>
                <a:ea typeface="Consolas"/>
                <a:cs typeface="Consolas"/>
                <a:sym typeface="Consolas"/>
              </a:rPr>
              <a:t>"I am learning C++"</a:t>
            </a:r>
            <a:r>
              <a:rPr lang="en" sz="1150">
                <a:solidFill>
                  <a:schemeClr val="dk1"/>
                </a:solidFill>
                <a:highlight>
                  <a:srgbClr val="FFFFFF"/>
                </a:highlight>
                <a:latin typeface="Consolas"/>
                <a:ea typeface="Consolas"/>
                <a:cs typeface="Consolas"/>
                <a:sym typeface="Consolas"/>
              </a:rPr>
              <a:t>;</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  </a:t>
            </a:r>
            <a:r>
              <a:rPr lang="en" sz="1150">
                <a:solidFill>
                  <a:srgbClr val="0000CD"/>
                </a:solidFill>
                <a:highlight>
                  <a:srgbClr val="FFFFFF"/>
                </a:highlight>
                <a:latin typeface="Consolas"/>
                <a:ea typeface="Consolas"/>
                <a:cs typeface="Consolas"/>
                <a:sym typeface="Consolas"/>
              </a:rPr>
              <a:t>return</a:t>
            </a:r>
            <a:r>
              <a:rPr lang="en" sz="1150">
                <a:solidFill>
                  <a:schemeClr val="dk1"/>
                </a:solidFill>
                <a:highlight>
                  <a:srgbClr val="FFFFFF"/>
                </a:highlight>
                <a:latin typeface="Consolas"/>
                <a:ea typeface="Consolas"/>
                <a:cs typeface="Consolas"/>
                <a:sym typeface="Consolas"/>
              </a:rPr>
              <a:t> </a:t>
            </a:r>
            <a:r>
              <a:rPr lang="en" sz="1150">
                <a:solidFill>
                  <a:srgbClr val="FF0000"/>
                </a:solidFill>
                <a:highlight>
                  <a:srgbClr val="FFFFFF"/>
                </a:highlight>
                <a:latin typeface="Consolas"/>
                <a:ea typeface="Consolas"/>
                <a:cs typeface="Consolas"/>
                <a:sym typeface="Consolas"/>
              </a:rPr>
              <a:t>0</a:t>
            </a:r>
            <a:r>
              <a:rPr lang="en" sz="1150">
                <a:solidFill>
                  <a:schemeClr val="dk1"/>
                </a:solidFill>
                <a:highlight>
                  <a:srgbClr val="FFFFFF"/>
                </a:highlight>
                <a:latin typeface="Consolas"/>
                <a:ea typeface="Consolas"/>
                <a:cs typeface="Consolas"/>
                <a:sym typeface="Consolas"/>
              </a:rPr>
              <a:t>;</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lang="en" sz="1150">
                <a:solidFill>
                  <a:schemeClr val="dk1"/>
                </a:solidFill>
                <a:highlight>
                  <a:srgbClr val="FFFFFF"/>
                </a:highlight>
                <a:latin typeface="Consolas"/>
                <a:ea typeface="Consolas"/>
                <a:cs typeface="Consolas"/>
                <a:sym typeface="Consolas"/>
              </a:rPr>
              <a:t>}</a:t>
            </a:r>
            <a:endParaRPr sz="1150">
              <a:solidFill>
                <a:schemeClr val="dk1"/>
              </a:solidFill>
              <a:highlight>
                <a:srgbClr val="FFFFFF"/>
              </a:highlight>
              <a:latin typeface="Verdana"/>
              <a:ea typeface="Verdana"/>
              <a:cs typeface="Verdana"/>
              <a:sym typeface="Verdana"/>
            </a:endParaRPr>
          </a:p>
        </p:txBody>
      </p:sp>
      <p:sp>
        <p:nvSpPr>
          <p:cNvPr id="179" name="Google Shape;179;p1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283038813be_0_7"/>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t>C++ input stream</a:t>
            </a:r>
            <a:r>
              <a:rPr lang="en"/>
              <a:t>(User input)</a:t>
            </a:r>
            <a:endParaRPr/>
          </a:p>
        </p:txBody>
      </p:sp>
      <p:sp>
        <p:nvSpPr>
          <p:cNvPr id="185" name="Google Shape;185;g283038813be_0_7"/>
          <p:cNvSpPr txBox="1"/>
          <p:nvPr>
            <p:ph idx="1" type="body"/>
          </p:nvPr>
        </p:nvSpPr>
        <p:spPr>
          <a:xfrm>
            <a:off x="311700" y="771475"/>
            <a:ext cx="5499000" cy="43719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In C++ handling input is done using the cin combined with </a:t>
            </a:r>
            <a:r>
              <a:rPr b="1" lang="en" sz="1150">
                <a:solidFill>
                  <a:schemeClr val="dk1"/>
                </a:solidFill>
                <a:highlight>
                  <a:srgbClr val="FFFFFF"/>
                </a:highlight>
                <a:latin typeface="Verdana"/>
                <a:ea typeface="Verdana"/>
                <a:cs typeface="Verdana"/>
                <a:sym typeface="Verdana"/>
              </a:rPr>
              <a:t>&gt;&gt; </a:t>
            </a:r>
            <a:r>
              <a:rPr lang="en" sz="1150">
                <a:solidFill>
                  <a:schemeClr val="dk1"/>
                </a:solidFill>
                <a:highlight>
                  <a:srgbClr val="FFFFFF"/>
                </a:highlight>
                <a:latin typeface="Verdana"/>
                <a:ea typeface="Verdana"/>
                <a:cs typeface="Verdana"/>
                <a:sym typeface="Verdana"/>
              </a:rPr>
              <a:t>known as stream</a:t>
            </a:r>
            <a:endParaRPr sz="1150">
              <a:solidFill>
                <a:schemeClr val="dk1"/>
              </a:solidFill>
              <a:highlight>
                <a:srgbClr val="FFFFFF"/>
              </a:highlight>
              <a:latin typeface="Verdana"/>
              <a:ea typeface="Verdana"/>
              <a:cs typeface="Verdana"/>
              <a:sym typeface="Verdana"/>
            </a:endParaRPr>
          </a:p>
          <a:p>
            <a:pPr indent="0" lvl="0" marL="0" rtl="0" algn="just">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extraction operator. cin represents the standard input device (or </a:t>
            </a:r>
            <a:r>
              <a:rPr b="1" lang="en" sz="1150">
                <a:solidFill>
                  <a:schemeClr val="dk1"/>
                </a:solidFill>
                <a:highlight>
                  <a:srgbClr val="FFFFFF"/>
                </a:highlight>
                <a:latin typeface="Verdana"/>
                <a:ea typeface="Verdana"/>
                <a:cs typeface="Verdana"/>
                <a:sym typeface="Verdana"/>
              </a:rPr>
              <a:t>C</a:t>
            </a:r>
            <a:r>
              <a:rPr lang="en" sz="1150">
                <a:solidFill>
                  <a:schemeClr val="dk1"/>
                </a:solidFill>
                <a:highlight>
                  <a:srgbClr val="FFFFFF"/>
                </a:highlight>
                <a:latin typeface="Verdana"/>
                <a:ea typeface="Verdana"/>
                <a:cs typeface="Verdana"/>
                <a:sym typeface="Verdana"/>
              </a:rPr>
              <a:t>onsole</a:t>
            </a:r>
            <a:r>
              <a:rPr b="1" lang="en" sz="1150">
                <a:solidFill>
                  <a:schemeClr val="dk1"/>
                </a:solidFill>
                <a:highlight>
                  <a:srgbClr val="FFFFFF"/>
                </a:highlight>
                <a:latin typeface="Verdana"/>
                <a:ea typeface="Verdana"/>
                <a:cs typeface="Verdana"/>
                <a:sym typeface="Verdana"/>
              </a:rPr>
              <a:t> IN</a:t>
            </a:r>
            <a:r>
              <a:rPr lang="en" sz="1150">
                <a:solidFill>
                  <a:schemeClr val="dk1"/>
                </a:solidFill>
                <a:highlight>
                  <a:srgbClr val="FFFFFF"/>
                </a:highlight>
                <a:latin typeface="Verdana"/>
                <a:ea typeface="Verdana"/>
                <a:cs typeface="Verdana"/>
                <a:sym typeface="Verdana"/>
              </a:rPr>
              <a:t>put),</a:t>
            </a:r>
            <a:endParaRPr sz="1150">
              <a:solidFill>
                <a:schemeClr val="dk1"/>
              </a:solidFill>
              <a:highlight>
                <a:srgbClr val="FFFFFF"/>
              </a:highlight>
              <a:latin typeface="Verdana"/>
              <a:ea typeface="Verdana"/>
              <a:cs typeface="Verdana"/>
              <a:sym typeface="Verdana"/>
            </a:endParaRPr>
          </a:p>
          <a:p>
            <a:pPr indent="0" lvl="0" marL="0" rtl="0" algn="just">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i.e., keyboard. The symbol &gt;&gt; after the cin. The &gt;&gt; operator causes data input such</a:t>
            </a:r>
            <a:endParaRPr sz="1150">
              <a:solidFill>
                <a:schemeClr val="dk1"/>
              </a:solidFill>
              <a:highlight>
                <a:srgbClr val="FFFFFF"/>
              </a:highlight>
              <a:latin typeface="Verdana"/>
              <a:ea typeface="Verdana"/>
              <a:cs typeface="Verdana"/>
              <a:sym typeface="Verdana"/>
            </a:endParaRPr>
          </a:p>
          <a:p>
            <a:pPr indent="0" lvl="0" marL="0" rtl="0" algn="just">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as an integer value to be input from cin into computer memory.</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You have already learned that </a:t>
            </a:r>
            <a:r>
              <a:rPr lang="en" sz="1200">
                <a:solidFill>
                  <a:srgbClr val="DC143C"/>
                </a:solidFill>
                <a:highlight>
                  <a:srgbClr val="F1F1F1"/>
                </a:highlight>
                <a:latin typeface="Consolas"/>
                <a:ea typeface="Consolas"/>
                <a:cs typeface="Consolas"/>
                <a:sym typeface="Consolas"/>
              </a:rPr>
              <a:t>cout</a:t>
            </a:r>
            <a:r>
              <a:rPr lang="en" sz="1150">
                <a:solidFill>
                  <a:schemeClr val="dk1"/>
                </a:solidFill>
                <a:highlight>
                  <a:srgbClr val="FFFFFF"/>
                </a:highlight>
                <a:latin typeface="Verdana"/>
                <a:ea typeface="Verdana"/>
                <a:cs typeface="Verdana"/>
                <a:sym typeface="Verdana"/>
              </a:rPr>
              <a:t> is used to output (print) values. Now we will use </a:t>
            </a:r>
            <a:r>
              <a:rPr lang="en" sz="1200">
                <a:solidFill>
                  <a:srgbClr val="DC143C"/>
                </a:solidFill>
                <a:highlight>
                  <a:srgbClr val="F1F1F1"/>
                </a:highlight>
                <a:latin typeface="Consolas"/>
                <a:ea typeface="Consolas"/>
                <a:cs typeface="Consolas"/>
                <a:sym typeface="Consolas"/>
              </a:rPr>
              <a:t>cin</a:t>
            </a:r>
            <a:r>
              <a:rPr lang="en" sz="1150">
                <a:solidFill>
                  <a:schemeClr val="dk1"/>
                </a:solidFill>
                <a:highlight>
                  <a:srgbClr val="FFFFFF"/>
                </a:highlight>
                <a:latin typeface="Verdana"/>
                <a:ea typeface="Verdana"/>
                <a:cs typeface="Verdana"/>
                <a:sym typeface="Verdana"/>
              </a:rPr>
              <a:t> to get user input.</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1400"/>
              </a:spcBef>
              <a:spcAft>
                <a:spcPts val="0"/>
              </a:spcAft>
              <a:buClr>
                <a:schemeClr val="dk1"/>
              </a:buClr>
              <a:buSzPts val="1100"/>
              <a:buFont typeface="Arial"/>
              <a:buNone/>
            </a:pPr>
            <a:r>
              <a:rPr lang="en" sz="1200">
                <a:solidFill>
                  <a:srgbClr val="DC143C"/>
                </a:solidFill>
                <a:highlight>
                  <a:srgbClr val="F1F1F1"/>
                </a:highlight>
                <a:latin typeface="Consolas"/>
                <a:ea typeface="Consolas"/>
                <a:cs typeface="Consolas"/>
                <a:sym typeface="Consolas"/>
              </a:rPr>
              <a:t>cin</a:t>
            </a:r>
            <a:r>
              <a:rPr lang="en" sz="1150">
                <a:solidFill>
                  <a:schemeClr val="dk1"/>
                </a:solidFill>
                <a:highlight>
                  <a:srgbClr val="FFFFFF"/>
                </a:highlight>
                <a:latin typeface="Verdana"/>
                <a:ea typeface="Verdana"/>
                <a:cs typeface="Verdana"/>
                <a:sym typeface="Verdana"/>
              </a:rPr>
              <a:t>:Console input </a:t>
            </a:r>
            <a:r>
              <a:rPr lang="en" sz="1150">
                <a:solidFill>
                  <a:schemeClr val="dk1"/>
                </a:solidFill>
                <a:highlight>
                  <a:srgbClr val="FFFFFF"/>
                </a:highlight>
                <a:latin typeface="Verdana"/>
                <a:ea typeface="Verdana"/>
                <a:cs typeface="Verdana"/>
                <a:sym typeface="Verdana"/>
              </a:rPr>
              <a:t>is a predefined variable that reads data from the keyboard with the </a:t>
            </a:r>
            <a:r>
              <a:rPr b="1" lang="en" sz="1150">
                <a:solidFill>
                  <a:schemeClr val="dk1"/>
                </a:solidFill>
                <a:highlight>
                  <a:srgbClr val="FFFFFF"/>
                </a:highlight>
                <a:latin typeface="Verdana"/>
                <a:ea typeface="Verdana"/>
                <a:cs typeface="Verdana"/>
                <a:sym typeface="Verdana"/>
              </a:rPr>
              <a:t>extraction operator </a:t>
            </a:r>
            <a:r>
              <a:rPr lang="en" sz="1150">
                <a:solidFill>
                  <a:schemeClr val="dk1"/>
                </a:solidFill>
                <a:highlight>
                  <a:srgbClr val="FFFFFF"/>
                </a:highlight>
                <a:latin typeface="Verdana"/>
                <a:ea typeface="Verdana"/>
                <a:cs typeface="Verdana"/>
                <a:sym typeface="Verdana"/>
              </a:rPr>
              <a:t>(</a:t>
            </a:r>
            <a:r>
              <a:rPr lang="en" sz="1200">
                <a:solidFill>
                  <a:srgbClr val="DC143C"/>
                </a:solidFill>
                <a:highlight>
                  <a:srgbClr val="F1F1F1"/>
                </a:highlight>
                <a:latin typeface="Consolas"/>
                <a:ea typeface="Consolas"/>
                <a:cs typeface="Consolas"/>
                <a:sym typeface="Consolas"/>
              </a:rPr>
              <a:t>&gt;&gt;</a:t>
            </a:r>
            <a:r>
              <a:rPr lang="en" sz="1150">
                <a:solidFill>
                  <a:schemeClr val="dk1"/>
                </a:solidFill>
                <a:highlight>
                  <a:srgbClr val="FFFFFF"/>
                </a:highlight>
                <a:latin typeface="Verdana"/>
                <a:ea typeface="Verdana"/>
                <a:cs typeface="Verdana"/>
                <a:sym typeface="Verdana"/>
              </a:rPr>
              <a:t>).</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In the following example, the user can input a number, which is stored in the variable </a:t>
            </a:r>
            <a:r>
              <a:rPr lang="en" sz="1200">
                <a:solidFill>
                  <a:srgbClr val="DC143C"/>
                </a:solidFill>
                <a:highlight>
                  <a:srgbClr val="F1F1F1"/>
                </a:highlight>
                <a:latin typeface="Consolas"/>
                <a:ea typeface="Consolas"/>
                <a:cs typeface="Consolas"/>
                <a:sym typeface="Consolas"/>
              </a:rPr>
              <a:t>x</a:t>
            </a:r>
            <a:r>
              <a:rPr lang="en" sz="1150">
                <a:solidFill>
                  <a:schemeClr val="dk1"/>
                </a:solidFill>
                <a:highlight>
                  <a:srgbClr val="FFFFFF"/>
                </a:highlight>
                <a:latin typeface="Verdana"/>
                <a:ea typeface="Verdana"/>
                <a:cs typeface="Verdana"/>
                <a:sym typeface="Verdana"/>
              </a:rPr>
              <a:t>. Then we print the value of </a:t>
            </a:r>
            <a:r>
              <a:rPr lang="en" sz="1200">
                <a:solidFill>
                  <a:srgbClr val="DC143C"/>
                </a:solidFill>
                <a:highlight>
                  <a:srgbClr val="F1F1F1"/>
                </a:highlight>
                <a:latin typeface="Consolas"/>
                <a:ea typeface="Consolas"/>
                <a:cs typeface="Consolas"/>
                <a:sym typeface="Consolas"/>
              </a:rPr>
              <a:t>x</a:t>
            </a:r>
            <a:r>
              <a:rPr lang="en" sz="1150">
                <a:solidFill>
                  <a:schemeClr val="dk1"/>
                </a:solidFill>
                <a:highlight>
                  <a:srgbClr val="FFFFFF"/>
                </a:highlight>
                <a:latin typeface="Verdana"/>
                <a:ea typeface="Verdana"/>
                <a:cs typeface="Verdana"/>
                <a:sym typeface="Verdana"/>
              </a:rPr>
              <a:t>:</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2600"/>
              </a:spcBef>
              <a:spcAft>
                <a:spcPts val="0"/>
              </a:spcAft>
              <a:buClr>
                <a:schemeClr val="dk1"/>
              </a:buClr>
              <a:buSzPts val="1100"/>
              <a:buFont typeface="Arial"/>
              <a:buNone/>
            </a:pPr>
            <a:r>
              <a:rPr lang="en">
                <a:solidFill>
                  <a:schemeClr val="dk1"/>
                </a:solidFill>
                <a:highlight>
                  <a:srgbClr val="F1F1F1"/>
                </a:highlight>
              </a:rPr>
              <a:t>Example</a:t>
            </a:r>
            <a:endParaRPr>
              <a:solidFill>
                <a:schemeClr val="dk1"/>
              </a:solidFill>
              <a:highlight>
                <a:srgbClr val="F1F1F1"/>
              </a:highlight>
            </a:endParaRPr>
          </a:p>
          <a:p>
            <a:pPr indent="0" lvl="0" marL="114300" marR="114300" rtl="0" algn="l">
              <a:lnSpc>
                <a:spcPct val="115000"/>
              </a:lnSpc>
              <a:spcBef>
                <a:spcPts val="2600"/>
              </a:spcBef>
              <a:spcAft>
                <a:spcPts val="0"/>
              </a:spcAft>
              <a:buClr>
                <a:schemeClr val="dk1"/>
              </a:buClr>
              <a:buSzPts val="1100"/>
              <a:buFont typeface="Arial"/>
              <a:buNone/>
            </a:pPr>
            <a:r>
              <a:rPr lang="en" sz="1150">
                <a:solidFill>
                  <a:srgbClr val="0000CD"/>
                </a:solidFill>
                <a:highlight>
                  <a:srgbClr val="FFFFFF"/>
                </a:highlight>
                <a:latin typeface="Consolas"/>
                <a:ea typeface="Consolas"/>
                <a:cs typeface="Consolas"/>
                <a:sym typeface="Consolas"/>
              </a:rPr>
              <a:t>int</a:t>
            </a:r>
            <a:r>
              <a:rPr lang="en" sz="1150">
                <a:solidFill>
                  <a:schemeClr val="dk1"/>
                </a:solidFill>
                <a:highlight>
                  <a:srgbClr val="FFFFFF"/>
                </a:highlight>
                <a:latin typeface="Consolas"/>
                <a:ea typeface="Consolas"/>
                <a:cs typeface="Consolas"/>
                <a:sym typeface="Consolas"/>
              </a:rPr>
              <a:t> x; </a:t>
            </a:r>
            <a:endParaRPr sz="1150">
              <a:solidFill>
                <a:schemeClr val="dk1"/>
              </a:solidFill>
              <a:highlight>
                <a:srgbClr val="FFFFFF"/>
              </a:highlight>
              <a:latin typeface="Consolas"/>
              <a:ea typeface="Consolas"/>
              <a:cs typeface="Consolas"/>
              <a:sym typeface="Consolas"/>
            </a:endParaRPr>
          </a:p>
          <a:p>
            <a:pPr indent="0" lvl="0" marL="114300" marR="114300" rtl="0" algn="l">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cout &lt;&lt; </a:t>
            </a:r>
            <a:r>
              <a:rPr lang="en" sz="1150">
                <a:solidFill>
                  <a:srgbClr val="A52A2A"/>
                </a:solidFill>
                <a:highlight>
                  <a:srgbClr val="FFFFFF"/>
                </a:highlight>
                <a:latin typeface="Consolas"/>
                <a:ea typeface="Consolas"/>
                <a:cs typeface="Consolas"/>
                <a:sym typeface="Consolas"/>
              </a:rPr>
              <a:t>"Type a number: "</a:t>
            </a:r>
            <a:r>
              <a:rPr lang="en" sz="1150">
                <a:solidFill>
                  <a:schemeClr val="dk1"/>
                </a:solidFill>
                <a:highlight>
                  <a:srgbClr val="FFFFFF"/>
                </a:highlight>
                <a:latin typeface="Consolas"/>
                <a:ea typeface="Consolas"/>
                <a:cs typeface="Consolas"/>
                <a:sym typeface="Consolas"/>
              </a:rPr>
              <a:t>; </a:t>
            </a:r>
            <a:r>
              <a:rPr lang="en" sz="1150">
                <a:solidFill>
                  <a:srgbClr val="008000"/>
                </a:solidFill>
                <a:highlight>
                  <a:srgbClr val="FFFFFF"/>
                </a:highlight>
                <a:latin typeface="Consolas"/>
                <a:ea typeface="Consolas"/>
                <a:cs typeface="Consolas"/>
                <a:sym typeface="Consolas"/>
              </a:rPr>
              <a:t>// Type a number and press enter</a:t>
            </a:r>
            <a:endParaRPr sz="1150">
              <a:solidFill>
                <a:srgbClr val="008000"/>
              </a:solidFill>
              <a:highlight>
                <a:srgbClr val="FFFFFF"/>
              </a:highlight>
              <a:latin typeface="Consolas"/>
              <a:ea typeface="Consolas"/>
              <a:cs typeface="Consolas"/>
              <a:sym typeface="Consolas"/>
            </a:endParaRPr>
          </a:p>
          <a:p>
            <a:pPr indent="0" lvl="0" marL="114300" marR="114300" rtl="0" algn="l">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cin &gt;&gt; x; </a:t>
            </a:r>
            <a:r>
              <a:rPr lang="en" sz="1150">
                <a:solidFill>
                  <a:srgbClr val="008000"/>
                </a:solidFill>
                <a:highlight>
                  <a:srgbClr val="FFFFFF"/>
                </a:highlight>
                <a:latin typeface="Consolas"/>
                <a:ea typeface="Consolas"/>
                <a:cs typeface="Consolas"/>
                <a:sym typeface="Consolas"/>
              </a:rPr>
              <a:t>// Get user input from the keyboard</a:t>
            </a:r>
            <a:endParaRPr sz="1150">
              <a:solidFill>
                <a:srgbClr val="008000"/>
              </a:solidFill>
              <a:highlight>
                <a:srgbClr val="FFFFFF"/>
              </a:highlight>
              <a:latin typeface="Consolas"/>
              <a:ea typeface="Consolas"/>
              <a:cs typeface="Consolas"/>
              <a:sym typeface="Consolas"/>
            </a:endParaRPr>
          </a:p>
          <a:p>
            <a:pPr indent="0" lvl="0" marL="114300" marR="114300" rtl="0" algn="l">
              <a:lnSpc>
                <a:spcPct val="115000"/>
              </a:lnSpc>
              <a:spcBef>
                <a:spcPts val="0"/>
              </a:spcBef>
              <a:spcAft>
                <a:spcPts val="0"/>
              </a:spcAft>
              <a:buSzPts val="1800"/>
              <a:buNone/>
            </a:pPr>
            <a:r>
              <a:rPr lang="en" sz="1150">
                <a:solidFill>
                  <a:schemeClr val="dk1"/>
                </a:solidFill>
                <a:highlight>
                  <a:srgbClr val="FFFFFF"/>
                </a:highlight>
                <a:latin typeface="Consolas"/>
                <a:ea typeface="Consolas"/>
                <a:cs typeface="Consolas"/>
                <a:sym typeface="Consolas"/>
              </a:rPr>
              <a:t>cout &lt;&lt; </a:t>
            </a:r>
            <a:r>
              <a:rPr lang="en" sz="1150">
                <a:solidFill>
                  <a:srgbClr val="A52A2A"/>
                </a:solidFill>
                <a:highlight>
                  <a:srgbClr val="FFFFFF"/>
                </a:highlight>
                <a:latin typeface="Consolas"/>
                <a:ea typeface="Consolas"/>
                <a:cs typeface="Consolas"/>
                <a:sym typeface="Consolas"/>
              </a:rPr>
              <a:t>"Your number is: "</a:t>
            </a:r>
            <a:r>
              <a:rPr lang="en" sz="1150">
                <a:solidFill>
                  <a:schemeClr val="dk1"/>
                </a:solidFill>
                <a:highlight>
                  <a:srgbClr val="FFFFFF"/>
                </a:highlight>
                <a:latin typeface="Consolas"/>
                <a:ea typeface="Consolas"/>
                <a:cs typeface="Consolas"/>
                <a:sym typeface="Consolas"/>
              </a:rPr>
              <a:t> &lt;&lt; x; </a:t>
            </a:r>
            <a:r>
              <a:rPr lang="en" sz="1150">
                <a:solidFill>
                  <a:srgbClr val="008000"/>
                </a:solidFill>
                <a:highlight>
                  <a:srgbClr val="FFFFFF"/>
                </a:highlight>
                <a:latin typeface="Consolas"/>
                <a:ea typeface="Consolas"/>
                <a:cs typeface="Consolas"/>
                <a:sym typeface="Consolas"/>
              </a:rPr>
              <a:t>// Display the input value</a:t>
            </a:r>
            <a:endParaRPr sz="1150">
              <a:solidFill>
                <a:srgbClr val="008000"/>
              </a:solidFill>
              <a:highlight>
                <a:srgbClr val="FFFFFF"/>
              </a:highlight>
              <a:latin typeface="Consolas"/>
              <a:ea typeface="Consolas"/>
              <a:cs typeface="Consolas"/>
              <a:sym typeface="Consolas"/>
            </a:endParaRPr>
          </a:p>
          <a:p>
            <a:pPr indent="0" lvl="0" marL="114300" marR="114300" rtl="0" algn="l">
              <a:lnSpc>
                <a:spcPct val="115000"/>
              </a:lnSpc>
              <a:spcBef>
                <a:spcPts val="0"/>
              </a:spcBef>
              <a:spcAft>
                <a:spcPts val="0"/>
              </a:spcAft>
              <a:buSzPts val="1800"/>
              <a:buNone/>
            </a:pPr>
            <a:r>
              <a:rPr lang="en" sz="1200">
                <a:solidFill>
                  <a:srgbClr val="DC143C"/>
                </a:solidFill>
                <a:highlight>
                  <a:srgbClr val="F1F1F1"/>
                </a:highlight>
                <a:latin typeface="Consolas"/>
                <a:ea typeface="Consolas"/>
                <a:cs typeface="Consolas"/>
                <a:sym typeface="Consolas"/>
              </a:rPr>
              <a:t>cout</a:t>
            </a:r>
            <a:r>
              <a:rPr lang="en" sz="1150">
                <a:solidFill>
                  <a:schemeClr val="dk1"/>
                </a:solidFill>
                <a:highlight>
                  <a:srgbClr val="FFFFCC"/>
                </a:highlight>
                <a:latin typeface="Verdana"/>
                <a:ea typeface="Verdana"/>
                <a:cs typeface="Verdana"/>
                <a:sym typeface="Verdana"/>
              </a:rPr>
              <a:t> is pronounced "see-out". Used for output, and uses the insertion operator (</a:t>
            </a:r>
            <a:r>
              <a:rPr lang="en" sz="1200">
                <a:solidFill>
                  <a:srgbClr val="DC143C"/>
                </a:solidFill>
                <a:highlight>
                  <a:srgbClr val="F1F1F1"/>
                </a:highlight>
                <a:latin typeface="Consolas"/>
                <a:ea typeface="Consolas"/>
                <a:cs typeface="Consolas"/>
                <a:sym typeface="Consolas"/>
              </a:rPr>
              <a:t>&lt;&lt;</a:t>
            </a:r>
            <a:r>
              <a:rPr lang="en" sz="1150">
                <a:solidFill>
                  <a:schemeClr val="dk1"/>
                </a:solidFill>
                <a:highlight>
                  <a:srgbClr val="FFFFCC"/>
                </a:highlight>
                <a:latin typeface="Verdana"/>
                <a:ea typeface="Verdana"/>
                <a:cs typeface="Verdana"/>
                <a:sym typeface="Verdana"/>
              </a:rPr>
              <a:t>)</a:t>
            </a:r>
            <a:endParaRPr sz="1150">
              <a:solidFill>
                <a:srgbClr val="008000"/>
              </a:solidFill>
              <a:highlight>
                <a:srgbClr val="FFFFFF"/>
              </a:highlight>
              <a:latin typeface="Consolas"/>
              <a:ea typeface="Consolas"/>
              <a:cs typeface="Consolas"/>
              <a:sym typeface="Consolas"/>
            </a:endParaRPr>
          </a:p>
          <a:p>
            <a:pPr indent="0" lvl="0" marL="114300" marR="114300" rtl="0" algn="l">
              <a:lnSpc>
                <a:spcPct val="115000"/>
              </a:lnSpc>
              <a:spcBef>
                <a:spcPts val="0"/>
              </a:spcBef>
              <a:spcAft>
                <a:spcPts val="0"/>
              </a:spcAft>
              <a:buClr>
                <a:schemeClr val="dk1"/>
              </a:buClr>
              <a:buSzPts val="1100"/>
              <a:buFont typeface="Arial"/>
              <a:buNone/>
            </a:pPr>
            <a:r>
              <a:rPr lang="en" sz="1200">
                <a:solidFill>
                  <a:srgbClr val="DC143C"/>
                </a:solidFill>
                <a:highlight>
                  <a:srgbClr val="F1F1F1"/>
                </a:highlight>
                <a:latin typeface="Consolas"/>
                <a:ea typeface="Consolas"/>
                <a:cs typeface="Consolas"/>
                <a:sym typeface="Consolas"/>
              </a:rPr>
              <a:t>cin</a:t>
            </a:r>
            <a:r>
              <a:rPr lang="en" sz="1150">
                <a:solidFill>
                  <a:schemeClr val="dk1"/>
                </a:solidFill>
                <a:highlight>
                  <a:srgbClr val="FFFFCC"/>
                </a:highlight>
                <a:latin typeface="Verdana"/>
                <a:ea typeface="Verdana"/>
                <a:cs typeface="Verdana"/>
                <a:sym typeface="Verdana"/>
              </a:rPr>
              <a:t> is pronounced "see-in". Used for input, and uses the extraction operator (</a:t>
            </a:r>
            <a:r>
              <a:rPr lang="en" sz="1200">
                <a:solidFill>
                  <a:srgbClr val="DC143C"/>
                </a:solidFill>
                <a:highlight>
                  <a:srgbClr val="F1F1F1"/>
                </a:highlight>
                <a:latin typeface="Consolas"/>
                <a:ea typeface="Consolas"/>
                <a:cs typeface="Consolas"/>
                <a:sym typeface="Consolas"/>
              </a:rPr>
              <a:t>&gt;&gt;</a:t>
            </a:r>
            <a:r>
              <a:rPr lang="en" sz="1150">
                <a:solidFill>
                  <a:schemeClr val="dk1"/>
                </a:solidFill>
                <a:highlight>
                  <a:srgbClr val="FFFFCC"/>
                </a:highlight>
                <a:latin typeface="Verdana"/>
                <a:ea typeface="Verdana"/>
                <a:cs typeface="Verdana"/>
                <a:sym typeface="Verdana"/>
              </a:rPr>
              <a:t>)</a:t>
            </a:r>
            <a:endParaRPr sz="1150">
              <a:solidFill>
                <a:srgbClr val="008000"/>
              </a:solidFill>
              <a:highlight>
                <a:srgbClr val="FFFFFF"/>
              </a:highlight>
              <a:latin typeface="Consolas"/>
              <a:ea typeface="Consolas"/>
              <a:cs typeface="Consolas"/>
              <a:sym typeface="Consolas"/>
            </a:endParaRPr>
          </a:p>
          <a:p>
            <a:pPr indent="0" lvl="0" marL="0" rtl="0" algn="l">
              <a:lnSpc>
                <a:spcPct val="115000"/>
              </a:lnSpc>
              <a:spcBef>
                <a:spcPts val="0"/>
              </a:spcBef>
              <a:spcAft>
                <a:spcPts val="1600"/>
              </a:spcAft>
              <a:buSzPts val="1800"/>
              <a:buNone/>
            </a:pPr>
            <a:r>
              <a:t/>
            </a:r>
            <a:endParaRPr/>
          </a:p>
        </p:txBody>
      </p:sp>
      <p:sp>
        <p:nvSpPr>
          <p:cNvPr id="186" name="Google Shape;186;g283038813be_0_7"/>
          <p:cNvSpPr txBox="1"/>
          <p:nvPr/>
        </p:nvSpPr>
        <p:spPr>
          <a:xfrm>
            <a:off x="6271075" y="1954350"/>
            <a:ext cx="3000000" cy="30000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50"/>
              <a:buFont typeface="Arial"/>
              <a:buNone/>
            </a:pPr>
            <a:r>
              <a:rPr b="0" i="0" lang="en" sz="1150" u="none" cap="none" strike="noStrike">
                <a:solidFill>
                  <a:srgbClr val="0000CD"/>
                </a:solidFill>
                <a:highlight>
                  <a:srgbClr val="FFFFFF"/>
                </a:highlight>
                <a:latin typeface="Consolas"/>
                <a:ea typeface="Consolas"/>
                <a:cs typeface="Consolas"/>
                <a:sym typeface="Consolas"/>
              </a:rPr>
              <a:t>int</a:t>
            </a:r>
            <a:r>
              <a:rPr b="0" i="0" lang="en" sz="1150" u="none" cap="none" strike="noStrike">
                <a:solidFill>
                  <a:schemeClr val="dk1"/>
                </a:solidFill>
                <a:highlight>
                  <a:srgbClr val="FFFFFF"/>
                </a:highlight>
                <a:latin typeface="Consolas"/>
                <a:ea typeface="Consolas"/>
                <a:cs typeface="Consolas"/>
                <a:sym typeface="Consolas"/>
              </a:rPr>
              <a:t> x, y;</a:t>
            </a:r>
            <a:endParaRPr b="0" i="0" sz="1150" u="none" cap="none" strike="noStrike">
              <a:solidFill>
                <a:schemeClr val="dk1"/>
              </a:solidFill>
              <a:highlight>
                <a:srgbClr val="FFFFFF"/>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50"/>
              <a:buFont typeface="Arial"/>
              <a:buNone/>
            </a:pPr>
            <a:r>
              <a:rPr b="0" i="0" lang="en" sz="1150" u="none" cap="none" strike="noStrike">
                <a:solidFill>
                  <a:srgbClr val="0000CD"/>
                </a:solidFill>
                <a:highlight>
                  <a:srgbClr val="FFFFFF"/>
                </a:highlight>
                <a:latin typeface="Consolas"/>
                <a:ea typeface="Consolas"/>
                <a:cs typeface="Consolas"/>
                <a:sym typeface="Consolas"/>
              </a:rPr>
              <a:t>int</a:t>
            </a:r>
            <a:r>
              <a:rPr b="0" i="0" lang="en" sz="1150" u="none" cap="none" strike="noStrike">
                <a:solidFill>
                  <a:schemeClr val="dk1"/>
                </a:solidFill>
                <a:highlight>
                  <a:srgbClr val="FFFFFF"/>
                </a:highlight>
                <a:latin typeface="Consolas"/>
                <a:ea typeface="Consolas"/>
                <a:cs typeface="Consolas"/>
                <a:sym typeface="Consolas"/>
              </a:rPr>
              <a:t> sum;</a:t>
            </a:r>
            <a:endParaRPr b="0" i="0" sz="1150" u="none" cap="none" strike="noStrike">
              <a:solidFill>
                <a:schemeClr val="dk1"/>
              </a:solidFill>
              <a:highlight>
                <a:srgbClr val="FFFFFF"/>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50"/>
              <a:buFont typeface="Arial"/>
              <a:buNone/>
            </a:pPr>
            <a:r>
              <a:rPr b="0" i="0" lang="en" sz="1150" u="none" cap="none" strike="noStrike">
                <a:solidFill>
                  <a:schemeClr val="dk1"/>
                </a:solidFill>
                <a:highlight>
                  <a:srgbClr val="FFFFFF"/>
                </a:highlight>
                <a:latin typeface="Consolas"/>
                <a:ea typeface="Consolas"/>
                <a:cs typeface="Consolas"/>
                <a:sym typeface="Consolas"/>
              </a:rPr>
              <a:t>cout &lt;&lt; </a:t>
            </a:r>
            <a:r>
              <a:rPr b="0" i="0" lang="en" sz="1150" u="none" cap="none" strike="noStrike">
                <a:solidFill>
                  <a:srgbClr val="A52A2A"/>
                </a:solidFill>
                <a:highlight>
                  <a:srgbClr val="FFFFFF"/>
                </a:highlight>
                <a:latin typeface="Consolas"/>
                <a:ea typeface="Consolas"/>
                <a:cs typeface="Consolas"/>
                <a:sym typeface="Consolas"/>
              </a:rPr>
              <a:t>"Type a number: "</a:t>
            </a:r>
            <a:r>
              <a:rPr b="0" i="0" lang="en" sz="1150" u="none" cap="none" strike="noStrike">
                <a:solidFill>
                  <a:schemeClr val="dk1"/>
                </a:solidFill>
                <a:highlight>
                  <a:srgbClr val="FFFFFF"/>
                </a:highlight>
                <a:latin typeface="Consolas"/>
                <a:ea typeface="Consolas"/>
                <a:cs typeface="Consolas"/>
                <a:sym typeface="Consolas"/>
              </a:rPr>
              <a:t>;</a:t>
            </a:r>
            <a:endParaRPr b="0" i="0" sz="1150" u="none" cap="none" strike="noStrike">
              <a:solidFill>
                <a:schemeClr val="dk1"/>
              </a:solidFill>
              <a:highlight>
                <a:srgbClr val="FFFFFF"/>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50"/>
              <a:buFont typeface="Arial"/>
              <a:buNone/>
            </a:pPr>
            <a:r>
              <a:rPr b="0" i="0" lang="en" sz="1150" u="none" cap="none" strike="noStrike">
                <a:solidFill>
                  <a:schemeClr val="dk1"/>
                </a:solidFill>
                <a:highlight>
                  <a:srgbClr val="FFFFFF"/>
                </a:highlight>
                <a:latin typeface="Consolas"/>
                <a:ea typeface="Consolas"/>
                <a:cs typeface="Consolas"/>
                <a:sym typeface="Consolas"/>
              </a:rPr>
              <a:t>cin &gt;&gt; x;</a:t>
            </a:r>
            <a:endParaRPr b="0" i="0" sz="1150" u="none" cap="none" strike="noStrike">
              <a:solidFill>
                <a:schemeClr val="dk1"/>
              </a:solidFill>
              <a:highlight>
                <a:srgbClr val="FFFFFF"/>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50"/>
              <a:buFont typeface="Arial"/>
              <a:buNone/>
            </a:pPr>
            <a:r>
              <a:rPr b="0" i="0" lang="en" sz="1150" u="none" cap="none" strike="noStrike">
                <a:solidFill>
                  <a:schemeClr val="dk1"/>
                </a:solidFill>
                <a:highlight>
                  <a:srgbClr val="FFFFFF"/>
                </a:highlight>
                <a:latin typeface="Consolas"/>
                <a:ea typeface="Consolas"/>
                <a:cs typeface="Consolas"/>
                <a:sym typeface="Consolas"/>
              </a:rPr>
              <a:t>cout &lt;&lt; </a:t>
            </a:r>
            <a:r>
              <a:rPr b="0" i="0" lang="en" sz="1150" u="none" cap="none" strike="noStrike">
                <a:solidFill>
                  <a:srgbClr val="A52A2A"/>
                </a:solidFill>
                <a:highlight>
                  <a:srgbClr val="FFFFFF"/>
                </a:highlight>
                <a:latin typeface="Consolas"/>
                <a:ea typeface="Consolas"/>
                <a:cs typeface="Consolas"/>
                <a:sym typeface="Consolas"/>
              </a:rPr>
              <a:t>"Type another number: "</a:t>
            </a:r>
            <a:r>
              <a:rPr b="0" i="0" lang="en" sz="1150" u="none" cap="none" strike="noStrike">
                <a:solidFill>
                  <a:schemeClr val="dk1"/>
                </a:solidFill>
                <a:highlight>
                  <a:srgbClr val="FFFFFF"/>
                </a:highlight>
                <a:latin typeface="Consolas"/>
                <a:ea typeface="Consolas"/>
                <a:cs typeface="Consolas"/>
                <a:sym typeface="Consolas"/>
              </a:rPr>
              <a:t>;</a:t>
            </a:r>
            <a:endParaRPr b="0" i="0" sz="1150" u="none" cap="none" strike="noStrike">
              <a:solidFill>
                <a:schemeClr val="dk1"/>
              </a:solidFill>
              <a:highlight>
                <a:srgbClr val="FFFFFF"/>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50"/>
              <a:buFont typeface="Arial"/>
              <a:buNone/>
            </a:pPr>
            <a:r>
              <a:rPr b="0" i="0" lang="en" sz="1150" u="none" cap="none" strike="noStrike">
                <a:solidFill>
                  <a:schemeClr val="dk1"/>
                </a:solidFill>
                <a:highlight>
                  <a:srgbClr val="FFFFFF"/>
                </a:highlight>
                <a:latin typeface="Consolas"/>
                <a:ea typeface="Consolas"/>
                <a:cs typeface="Consolas"/>
                <a:sym typeface="Consolas"/>
              </a:rPr>
              <a:t>cin &gt;&gt; y;</a:t>
            </a:r>
            <a:endParaRPr b="0" i="0" sz="1150" u="none" cap="none" strike="noStrike">
              <a:solidFill>
                <a:schemeClr val="dk1"/>
              </a:solidFill>
              <a:highlight>
                <a:srgbClr val="FFFFFF"/>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50"/>
              <a:buFont typeface="Arial"/>
              <a:buNone/>
            </a:pPr>
            <a:r>
              <a:rPr b="0" i="0" lang="en" sz="1150" u="none" cap="none" strike="noStrike">
                <a:solidFill>
                  <a:schemeClr val="dk1"/>
                </a:solidFill>
                <a:highlight>
                  <a:srgbClr val="FFFFFF"/>
                </a:highlight>
                <a:latin typeface="Consolas"/>
                <a:ea typeface="Consolas"/>
                <a:cs typeface="Consolas"/>
                <a:sym typeface="Consolas"/>
              </a:rPr>
              <a:t>sum = x + y;</a:t>
            </a:r>
            <a:endParaRPr b="0" i="0" sz="1150" u="none" cap="none" strike="noStrike">
              <a:solidFill>
                <a:schemeClr val="dk1"/>
              </a:solidFill>
              <a:highlight>
                <a:srgbClr val="FFFFFF"/>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50"/>
              <a:buFont typeface="Arial"/>
              <a:buNone/>
            </a:pPr>
            <a:r>
              <a:rPr b="0" i="0" lang="en" sz="1150" u="none" cap="none" strike="noStrike">
                <a:solidFill>
                  <a:schemeClr val="dk1"/>
                </a:solidFill>
                <a:highlight>
                  <a:srgbClr val="FFFFFF"/>
                </a:highlight>
                <a:latin typeface="Consolas"/>
                <a:ea typeface="Consolas"/>
                <a:cs typeface="Consolas"/>
                <a:sym typeface="Consolas"/>
              </a:rPr>
              <a:t>cout &lt;&lt; </a:t>
            </a:r>
            <a:r>
              <a:rPr b="0" i="0" lang="en" sz="1150" u="none" cap="none" strike="noStrike">
                <a:solidFill>
                  <a:srgbClr val="A52A2A"/>
                </a:solidFill>
                <a:highlight>
                  <a:srgbClr val="FFFFFF"/>
                </a:highlight>
                <a:latin typeface="Consolas"/>
                <a:ea typeface="Consolas"/>
                <a:cs typeface="Consolas"/>
                <a:sym typeface="Consolas"/>
              </a:rPr>
              <a:t>"Sum is: "</a:t>
            </a:r>
            <a:r>
              <a:rPr b="0" i="0" lang="en" sz="1150" u="none" cap="none" strike="noStrike">
                <a:solidFill>
                  <a:schemeClr val="dk1"/>
                </a:solidFill>
                <a:highlight>
                  <a:srgbClr val="FFFFFF"/>
                </a:highlight>
                <a:latin typeface="Consolas"/>
                <a:ea typeface="Consolas"/>
                <a:cs typeface="Consolas"/>
                <a:sym typeface="Consolas"/>
              </a:rPr>
              <a:t> &lt;&lt; sum;</a:t>
            </a:r>
            <a:endParaRPr b="0" i="0" sz="1400" u="none" cap="none" strike="noStrike">
              <a:solidFill>
                <a:srgbClr val="000000"/>
              </a:solidFill>
              <a:latin typeface="Arial"/>
              <a:ea typeface="Arial"/>
              <a:cs typeface="Arial"/>
              <a:sym typeface="Arial"/>
            </a:endParaRPr>
          </a:p>
        </p:txBody>
      </p:sp>
      <p:sp>
        <p:nvSpPr>
          <p:cNvPr id="187" name="Google Shape;187;g283038813be_0_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7"/>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t>Data types</a:t>
            </a:r>
            <a:endParaRPr b="1"/>
          </a:p>
        </p:txBody>
      </p:sp>
      <p:sp>
        <p:nvSpPr>
          <p:cNvPr id="193" name="Google Shape;193;p17"/>
          <p:cNvSpPr txBox="1"/>
          <p:nvPr/>
        </p:nvSpPr>
        <p:spPr>
          <a:xfrm>
            <a:off x="0" y="567250"/>
            <a:ext cx="9144000" cy="4195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The computer memory is organised </a:t>
            </a:r>
            <a:r>
              <a:rPr lang="en" sz="1800"/>
              <a:t>into</a:t>
            </a:r>
            <a:r>
              <a:rPr b="0" i="0" lang="en" sz="1800" u="none" cap="none" strike="noStrike">
                <a:solidFill>
                  <a:srgbClr val="000000"/>
                </a:solidFill>
                <a:latin typeface="Arial"/>
                <a:ea typeface="Arial"/>
                <a:cs typeface="Arial"/>
                <a:sym typeface="Arial"/>
              </a:rPr>
              <a:t> cells that can store one or more bytes. A byte is the minimum amount of memory that we can manage in C++. To declare a variable, you must declare the type of variable so that the computer reserves enough bytes to store a value of that type.</a:t>
            </a:r>
            <a:endParaRPr b="0" i="0" sz="18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1" lang="en" sz="1800"/>
              <a:t>Primitive types:</a:t>
            </a:r>
            <a:endParaRPr b="1" sz="1800"/>
          </a:p>
          <a:p>
            <a:pPr indent="0" lvl="0" marL="0" marR="0" rtl="0" algn="l">
              <a:lnSpc>
                <a:spcPct val="115000"/>
              </a:lnSpc>
              <a:spcBef>
                <a:spcPts val="0"/>
              </a:spcBef>
              <a:spcAft>
                <a:spcPts val="0"/>
              </a:spcAft>
              <a:buClr>
                <a:srgbClr val="000000"/>
              </a:buClr>
              <a:buSzPts val="1800"/>
              <a:buFont typeface="Arial"/>
              <a:buNone/>
            </a:pPr>
            <a:r>
              <a:rPr lang="en" sz="1800"/>
              <a:t> int, float, double, boolean and char</a:t>
            </a:r>
            <a:endParaRPr sz="1800"/>
          </a:p>
          <a:p>
            <a:pPr indent="0" lvl="0" marL="0" rtl="0" algn="l">
              <a:lnSpc>
                <a:spcPct val="115000"/>
              </a:lnSpc>
              <a:spcBef>
                <a:spcPts val="1100"/>
              </a:spcBef>
              <a:spcAft>
                <a:spcPts val="0"/>
              </a:spcAft>
              <a:buClr>
                <a:schemeClr val="dk1"/>
              </a:buClr>
              <a:buSzPts val="1100"/>
              <a:buFont typeface="Arial"/>
              <a:buNone/>
            </a:pPr>
            <a:r>
              <a:rPr b="1" lang="en" sz="2400">
                <a:solidFill>
                  <a:schemeClr val="dk1"/>
                </a:solidFill>
                <a:latin typeface="Verdana"/>
                <a:ea typeface="Verdana"/>
                <a:cs typeface="Verdana"/>
                <a:sym typeface="Verdana"/>
              </a:rPr>
              <a:t>Complex data types</a:t>
            </a:r>
            <a:endParaRPr b="1" sz="2400">
              <a:solidFill>
                <a:schemeClr val="dk1"/>
              </a:solidFill>
              <a:latin typeface="Verdana"/>
              <a:ea typeface="Verdana"/>
              <a:cs typeface="Verdana"/>
              <a:sym typeface="Verdana"/>
            </a:endParaRPr>
          </a:p>
          <a:p>
            <a:pPr indent="0" lvl="0" marL="0" rtl="0" algn="l">
              <a:lnSpc>
                <a:spcPct val="115000"/>
              </a:lnSpc>
              <a:spcBef>
                <a:spcPts val="1100"/>
              </a:spcBef>
              <a:spcAft>
                <a:spcPts val="1100"/>
              </a:spcAft>
              <a:buClr>
                <a:schemeClr val="dk1"/>
              </a:buClr>
              <a:buSzPts val="1100"/>
              <a:buFont typeface="Arial"/>
              <a:buNone/>
            </a:pPr>
            <a:r>
              <a:rPr lang="en" sz="1800">
                <a:solidFill>
                  <a:schemeClr val="dk1"/>
                </a:solidFill>
                <a:latin typeface="Verdana"/>
                <a:ea typeface="Verdana"/>
                <a:cs typeface="Verdana"/>
                <a:sym typeface="Verdana"/>
              </a:rPr>
              <a:t>A complex data type is a combination data of similar or different types. C++ supports complex data types such as string, array, struct (record), enumerated type, linked lists, and pointers. Apart from string data type, other examples of complex data types include arrays, linked lists, stacks, queues, trees and graphs. </a:t>
            </a:r>
            <a:endParaRPr sz="1800"/>
          </a:p>
        </p:txBody>
      </p:sp>
      <p:sp>
        <p:nvSpPr>
          <p:cNvPr id="194" name="Google Shape;194;p1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2"/>
          <p:cNvSpPr txBox="1"/>
          <p:nvPr>
            <p:ph type="title"/>
          </p:nvPr>
        </p:nvSpPr>
        <p:spPr>
          <a:xfrm>
            <a:off x="311700" y="2164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800"/>
              </a:spcBef>
              <a:spcAft>
                <a:spcPts val="0"/>
              </a:spcAft>
              <a:buClr>
                <a:schemeClr val="dk1"/>
              </a:buClr>
              <a:buSzPts val="1100"/>
              <a:buFont typeface="Arial"/>
              <a:buNone/>
            </a:pPr>
            <a:r>
              <a:rPr lang="en" sz="2400">
                <a:highlight>
                  <a:srgbClr val="FFFFFF"/>
                </a:highlight>
              </a:rPr>
              <a:t>C++ Strings</a:t>
            </a:r>
            <a:endParaRPr sz="2400">
              <a:highlight>
                <a:srgbClr val="FFFFFF"/>
              </a:highlight>
            </a:endParaRPr>
          </a:p>
          <a:p>
            <a:pPr indent="0" lvl="0" marL="0" rtl="0" algn="l">
              <a:lnSpc>
                <a:spcPct val="100000"/>
              </a:lnSpc>
              <a:spcBef>
                <a:spcPts val="800"/>
              </a:spcBef>
              <a:spcAft>
                <a:spcPts val="0"/>
              </a:spcAft>
              <a:buSzPts val="2800"/>
              <a:buNone/>
            </a:pPr>
            <a:r>
              <a:t/>
            </a:r>
            <a:endParaRPr/>
          </a:p>
        </p:txBody>
      </p:sp>
      <p:sp>
        <p:nvSpPr>
          <p:cNvPr id="200" name="Google Shape;200;p22"/>
          <p:cNvSpPr txBox="1"/>
          <p:nvPr>
            <p:ph idx="1" type="body"/>
          </p:nvPr>
        </p:nvSpPr>
        <p:spPr>
          <a:xfrm>
            <a:off x="311700" y="8476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Strings are used for storing text.</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1400"/>
              </a:spcBef>
              <a:spcAft>
                <a:spcPts val="0"/>
              </a:spcAft>
              <a:buSzPts val="1800"/>
              <a:buNone/>
            </a:pPr>
            <a:r>
              <a:rPr lang="en" sz="1150">
                <a:solidFill>
                  <a:schemeClr val="dk1"/>
                </a:solidFill>
                <a:highlight>
                  <a:srgbClr val="FFFFFF"/>
                </a:highlight>
                <a:latin typeface="Verdana"/>
                <a:ea typeface="Verdana"/>
                <a:cs typeface="Verdana"/>
                <a:sym typeface="Verdana"/>
              </a:rPr>
              <a:t>A </a:t>
            </a:r>
            <a:r>
              <a:rPr lang="en" sz="1200">
                <a:solidFill>
                  <a:srgbClr val="DC143C"/>
                </a:solidFill>
                <a:highlight>
                  <a:srgbClr val="F1F1F1"/>
                </a:highlight>
                <a:latin typeface="Consolas"/>
                <a:ea typeface="Consolas"/>
                <a:cs typeface="Consolas"/>
                <a:sym typeface="Consolas"/>
              </a:rPr>
              <a:t>string</a:t>
            </a:r>
            <a:r>
              <a:rPr lang="en" sz="1150">
                <a:solidFill>
                  <a:schemeClr val="dk1"/>
                </a:solidFill>
                <a:highlight>
                  <a:srgbClr val="FFFFFF"/>
                </a:highlight>
                <a:latin typeface="Verdana"/>
                <a:ea typeface="Verdana"/>
                <a:cs typeface="Verdana"/>
                <a:sym typeface="Verdana"/>
              </a:rPr>
              <a:t> variable contains a collection of characters surrounded by double quotes: eg.  </a:t>
            </a:r>
            <a:r>
              <a:rPr lang="en" sz="1150">
                <a:solidFill>
                  <a:schemeClr val="dk1"/>
                </a:solidFill>
                <a:highlight>
                  <a:srgbClr val="FFFFFF"/>
                </a:highlight>
                <a:latin typeface="Consolas"/>
                <a:ea typeface="Consolas"/>
                <a:cs typeface="Consolas"/>
                <a:sym typeface="Consolas"/>
              </a:rPr>
              <a:t>string greeting = </a:t>
            </a:r>
            <a:r>
              <a:rPr lang="en" sz="1150">
                <a:solidFill>
                  <a:srgbClr val="A52A2A"/>
                </a:solidFill>
                <a:highlight>
                  <a:srgbClr val="FFFFFF"/>
                </a:highlight>
                <a:latin typeface="Consolas"/>
                <a:ea typeface="Consolas"/>
                <a:cs typeface="Consolas"/>
                <a:sym typeface="Consolas"/>
              </a:rPr>
              <a:t>"Hello"</a:t>
            </a:r>
            <a:r>
              <a:rPr lang="en" sz="1150">
                <a:solidFill>
                  <a:schemeClr val="dk1"/>
                </a:solidFill>
                <a:highlight>
                  <a:srgbClr val="FFFFFF"/>
                </a:highlight>
                <a:latin typeface="Consolas"/>
                <a:ea typeface="Consolas"/>
                <a:cs typeface="Consolas"/>
                <a:sym typeface="Consolas"/>
              </a:rPr>
              <a:t>;</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To use strings, you must include an additional header file in the source code, the </a:t>
            </a:r>
            <a:r>
              <a:rPr lang="en" sz="1200">
                <a:solidFill>
                  <a:srgbClr val="DC143C"/>
                </a:solidFill>
                <a:highlight>
                  <a:srgbClr val="F1F1F1"/>
                </a:highlight>
                <a:latin typeface="Consolas"/>
                <a:ea typeface="Consolas"/>
                <a:cs typeface="Consolas"/>
                <a:sym typeface="Consolas"/>
              </a:rPr>
              <a:t>&lt;string&gt;</a:t>
            </a:r>
            <a:r>
              <a:rPr lang="en" sz="1150">
                <a:solidFill>
                  <a:schemeClr val="dk1"/>
                </a:solidFill>
                <a:highlight>
                  <a:srgbClr val="FFFFFF"/>
                </a:highlight>
                <a:latin typeface="Verdana"/>
                <a:ea typeface="Verdana"/>
                <a:cs typeface="Verdana"/>
                <a:sym typeface="Verdana"/>
              </a:rPr>
              <a:t> library:</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1400"/>
              </a:spcBef>
              <a:spcAft>
                <a:spcPts val="0"/>
              </a:spcAft>
              <a:buClr>
                <a:schemeClr val="dk1"/>
              </a:buClr>
              <a:buSzPts val="1100"/>
              <a:buFont typeface="Arial"/>
              <a:buNone/>
            </a:pPr>
            <a:r>
              <a:rPr lang="en" sz="2400">
                <a:solidFill>
                  <a:schemeClr val="dk1"/>
                </a:solidFill>
                <a:highlight>
                  <a:srgbClr val="FFFFFF"/>
                </a:highlight>
              </a:rPr>
              <a:t>String Concatenation</a:t>
            </a:r>
            <a:endParaRPr sz="2400">
              <a:solidFill>
                <a:schemeClr val="dk1"/>
              </a:solidFill>
              <a:highlight>
                <a:srgbClr val="FFFFFF"/>
              </a:highlight>
            </a:endParaRPr>
          </a:p>
          <a:p>
            <a:pPr indent="0" lvl="0" marL="0" rtl="0" algn="l">
              <a:lnSpc>
                <a:spcPct val="115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The </a:t>
            </a:r>
            <a:r>
              <a:rPr lang="en" sz="1200">
                <a:solidFill>
                  <a:srgbClr val="DC143C"/>
                </a:solidFill>
                <a:highlight>
                  <a:srgbClr val="F1F1F1"/>
                </a:highlight>
                <a:latin typeface="Consolas"/>
                <a:ea typeface="Consolas"/>
                <a:cs typeface="Consolas"/>
                <a:sym typeface="Consolas"/>
              </a:rPr>
              <a:t>+</a:t>
            </a:r>
            <a:r>
              <a:rPr lang="en" sz="1150">
                <a:solidFill>
                  <a:schemeClr val="dk1"/>
                </a:solidFill>
                <a:highlight>
                  <a:srgbClr val="FFFFFF"/>
                </a:highlight>
                <a:latin typeface="Verdana"/>
                <a:ea typeface="Verdana"/>
                <a:cs typeface="Verdana"/>
                <a:sym typeface="Verdana"/>
              </a:rPr>
              <a:t> operator can be used between strings to add them together to make a new string. This is called concatenation:</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2600"/>
              </a:spcBef>
              <a:spcAft>
                <a:spcPts val="0"/>
              </a:spcAft>
              <a:buClr>
                <a:schemeClr val="dk1"/>
              </a:buClr>
              <a:buSzPts val="1100"/>
              <a:buFont typeface="Arial"/>
              <a:buNone/>
            </a:pPr>
            <a:r>
              <a:rPr lang="en">
                <a:solidFill>
                  <a:schemeClr val="dk1"/>
                </a:solidFill>
                <a:highlight>
                  <a:srgbClr val="F1F1F1"/>
                </a:highlight>
              </a:rPr>
              <a:t>Example</a:t>
            </a:r>
            <a:endParaRPr>
              <a:solidFill>
                <a:schemeClr val="dk1"/>
              </a:solidFill>
              <a:highlight>
                <a:srgbClr val="F1F1F1"/>
              </a:highlight>
            </a:endParaRPr>
          </a:p>
          <a:p>
            <a:pPr indent="0" lvl="0" marL="114300" marR="114300" rtl="0" algn="l">
              <a:lnSpc>
                <a:spcPct val="115000"/>
              </a:lnSpc>
              <a:spcBef>
                <a:spcPts val="260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string firstName = </a:t>
            </a:r>
            <a:r>
              <a:rPr lang="en" sz="1150">
                <a:solidFill>
                  <a:srgbClr val="A52A2A"/>
                </a:solidFill>
                <a:highlight>
                  <a:srgbClr val="FFFFFF"/>
                </a:highlight>
                <a:latin typeface="Consolas"/>
                <a:ea typeface="Consolas"/>
                <a:cs typeface="Consolas"/>
                <a:sym typeface="Consolas"/>
              </a:rPr>
              <a:t>"John "</a:t>
            </a:r>
            <a:r>
              <a:rPr lang="en" sz="1150">
                <a:solidFill>
                  <a:schemeClr val="dk1"/>
                </a:solidFill>
                <a:highlight>
                  <a:srgbClr val="FFFFFF"/>
                </a:highlight>
                <a:latin typeface="Consolas"/>
                <a:ea typeface="Consolas"/>
                <a:cs typeface="Consolas"/>
                <a:sym typeface="Consolas"/>
              </a:rPr>
              <a:t>;</a:t>
            </a:r>
            <a:endParaRPr sz="1150">
              <a:solidFill>
                <a:schemeClr val="dk1"/>
              </a:solidFill>
              <a:highlight>
                <a:srgbClr val="FFFFFF"/>
              </a:highlight>
              <a:latin typeface="Consolas"/>
              <a:ea typeface="Consolas"/>
              <a:cs typeface="Consolas"/>
              <a:sym typeface="Consolas"/>
            </a:endParaRPr>
          </a:p>
          <a:p>
            <a:pPr indent="0" lvl="0" marL="114300" marR="114300" rtl="0" algn="l">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string lastName = </a:t>
            </a:r>
            <a:r>
              <a:rPr lang="en" sz="1150">
                <a:solidFill>
                  <a:srgbClr val="A52A2A"/>
                </a:solidFill>
                <a:highlight>
                  <a:srgbClr val="FFFFFF"/>
                </a:highlight>
                <a:latin typeface="Consolas"/>
                <a:ea typeface="Consolas"/>
                <a:cs typeface="Consolas"/>
                <a:sym typeface="Consolas"/>
              </a:rPr>
              <a:t>"Doe"</a:t>
            </a:r>
            <a:r>
              <a:rPr lang="en" sz="1150">
                <a:solidFill>
                  <a:schemeClr val="dk1"/>
                </a:solidFill>
                <a:highlight>
                  <a:srgbClr val="FFFFFF"/>
                </a:highlight>
                <a:latin typeface="Consolas"/>
                <a:ea typeface="Consolas"/>
                <a:cs typeface="Consolas"/>
                <a:sym typeface="Consolas"/>
              </a:rPr>
              <a:t>;</a:t>
            </a:r>
            <a:endParaRPr sz="1150">
              <a:solidFill>
                <a:schemeClr val="dk1"/>
              </a:solidFill>
              <a:highlight>
                <a:srgbClr val="FFFFFF"/>
              </a:highlight>
              <a:latin typeface="Consolas"/>
              <a:ea typeface="Consolas"/>
              <a:cs typeface="Consolas"/>
              <a:sym typeface="Consolas"/>
            </a:endParaRPr>
          </a:p>
          <a:p>
            <a:pPr indent="0" lvl="0" marL="114300" marR="114300" rtl="0" algn="l">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string fullName = firstName + lastName;</a:t>
            </a:r>
            <a:endParaRPr sz="1150">
              <a:solidFill>
                <a:schemeClr val="dk1"/>
              </a:solidFill>
              <a:highlight>
                <a:srgbClr val="FFFFFF"/>
              </a:highlight>
              <a:latin typeface="Consolas"/>
              <a:ea typeface="Consolas"/>
              <a:cs typeface="Consolas"/>
              <a:sym typeface="Consolas"/>
            </a:endParaRPr>
          </a:p>
          <a:p>
            <a:pPr indent="0" lvl="0" marL="114300" marR="114300" rtl="0" algn="l">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cout &lt;&lt; fullName;</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1600"/>
              </a:spcAft>
              <a:buSzPts val="1800"/>
              <a:buNone/>
            </a:pPr>
            <a:r>
              <a:t/>
            </a:r>
            <a:endParaRPr/>
          </a:p>
        </p:txBody>
      </p:sp>
      <p:sp>
        <p:nvSpPr>
          <p:cNvPr id="201" name="Google Shape;201;p2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String length</a:t>
            </a:r>
            <a:endParaRPr/>
          </a:p>
        </p:txBody>
      </p:sp>
      <p:sp>
        <p:nvSpPr>
          <p:cNvPr id="207" name="Google Shape;207;p23"/>
          <p:cNvSpPr txBox="1"/>
          <p:nvPr>
            <p:ph idx="1" type="body"/>
          </p:nvPr>
        </p:nvSpPr>
        <p:spPr>
          <a:xfrm>
            <a:off x="311700" y="1152475"/>
            <a:ext cx="5355900" cy="3863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A string in C++ is actually an object, which contain functions that can perform certain operations on strings. For example, the length of a string can be found with the </a:t>
            </a:r>
            <a:r>
              <a:rPr lang="en" sz="1200">
                <a:solidFill>
                  <a:srgbClr val="DC143C"/>
                </a:solidFill>
                <a:highlight>
                  <a:srgbClr val="F1F1F1"/>
                </a:highlight>
                <a:latin typeface="Consolas"/>
                <a:ea typeface="Consolas"/>
                <a:cs typeface="Consolas"/>
                <a:sym typeface="Consolas"/>
              </a:rPr>
              <a:t>length()</a:t>
            </a:r>
            <a:r>
              <a:rPr lang="en" sz="1150">
                <a:solidFill>
                  <a:schemeClr val="dk1"/>
                </a:solidFill>
                <a:highlight>
                  <a:srgbClr val="FFFFFF"/>
                </a:highlight>
                <a:latin typeface="Verdana"/>
                <a:ea typeface="Verdana"/>
                <a:cs typeface="Verdana"/>
                <a:sym typeface="Verdana"/>
              </a:rPr>
              <a:t> function:</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1400"/>
              </a:spcBef>
              <a:spcAft>
                <a:spcPts val="0"/>
              </a:spcAft>
              <a:buSzPts val="1800"/>
              <a:buNone/>
            </a:pPr>
            <a:r>
              <a:rPr lang="en" sz="1150">
                <a:solidFill>
                  <a:schemeClr val="dk1"/>
                </a:solidFill>
                <a:highlight>
                  <a:srgbClr val="FFFFFF"/>
                </a:highlight>
                <a:latin typeface="Consolas"/>
                <a:ea typeface="Consolas"/>
                <a:cs typeface="Consolas"/>
                <a:sym typeface="Consolas"/>
              </a:rPr>
              <a:t>string txt = </a:t>
            </a:r>
            <a:r>
              <a:rPr lang="en" sz="1150">
                <a:solidFill>
                  <a:srgbClr val="A52A2A"/>
                </a:solidFill>
                <a:highlight>
                  <a:srgbClr val="FFFFFF"/>
                </a:highlight>
                <a:latin typeface="Consolas"/>
                <a:ea typeface="Consolas"/>
                <a:cs typeface="Consolas"/>
                <a:sym typeface="Consolas"/>
              </a:rPr>
              <a:t>"ABCDEFGHIJKLMNOPQRSTUVWXYZ"</a:t>
            </a:r>
            <a:r>
              <a:rPr lang="en" sz="1150">
                <a:solidFill>
                  <a:schemeClr val="dk1"/>
                </a:solidFill>
                <a:highlight>
                  <a:srgbClr val="FFFFFF"/>
                </a:highlight>
                <a:latin typeface="Consolas"/>
                <a:ea typeface="Consolas"/>
                <a:cs typeface="Consolas"/>
                <a:sym typeface="Consolas"/>
              </a:rPr>
              <a:t>;</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lang="en" sz="1150">
                <a:solidFill>
                  <a:schemeClr val="dk1"/>
                </a:solidFill>
                <a:highlight>
                  <a:srgbClr val="FFFFFF"/>
                </a:highlight>
                <a:latin typeface="Consolas"/>
                <a:ea typeface="Consolas"/>
                <a:cs typeface="Consolas"/>
                <a:sym typeface="Consolas"/>
              </a:rPr>
              <a:t>cout &lt;&lt; </a:t>
            </a:r>
            <a:r>
              <a:rPr lang="en" sz="1150">
                <a:solidFill>
                  <a:srgbClr val="A52A2A"/>
                </a:solidFill>
                <a:highlight>
                  <a:srgbClr val="FFFFFF"/>
                </a:highlight>
                <a:latin typeface="Consolas"/>
                <a:ea typeface="Consolas"/>
                <a:cs typeface="Consolas"/>
                <a:sym typeface="Consolas"/>
              </a:rPr>
              <a:t>"The length of the txt string is: "</a:t>
            </a:r>
            <a:r>
              <a:rPr lang="en" sz="1150">
                <a:solidFill>
                  <a:schemeClr val="dk1"/>
                </a:solidFill>
                <a:highlight>
                  <a:srgbClr val="FFFFFF"/>
                </a:highlight>
                <a:latin typeface="Consolas"/>
                <a:ea typeface="Consolas"/>
                <a:cs typeface="Consolas"/>
                <a:sym typeface="Consolas"/>
              </a:rPr>
              <a:t> &lt;&lt; txt.length()</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800"/>
              </a:spcBef>
              <a:spcAft>
                <a:spcPts val="0"/>
              </a:spcAft>
              <a:buSzPts val="1800"/>
              <a:buNone/>
            </a:pPr>
            <a:r>
              <a:rPr lang="en" sz="2400">
                <a:solidFill>
                  <a:schemeClr val="dk1"/>
                </a:solidFill>
                <a:highlight>
                  <a:srgbClr val="FFFFFF"/>
                </a:highlight>
              </a:rPr>
              <a:t>Access Strings</a:t>
            </a:r>
            <a:endParaRPr sz="2400">
              <a:solidFill>
                <a:schemeClr val="dk1"/>
              </a:solidFill>
              <a:highlight>
                <a:srgbClr val="FFFFFF"/>
              </a:highlight>
            </a:endParaRPr>
          </a:p>
          <a:p>
            <a:pPr indent="0" lvl="0" marL="0" rtl="0" algn="l">
              <a:lnSpc>
                <a:spcPct val="115000"/>
              </a:lnSpc>
              <a:spcBef>
                <a:spcPts val="1400"/>
              </a:spcBef>
              <a:spcAft>
                <a:spcPts val="0"/>
              </a:spcAft>
              <a:buSzPts val="1800"/>
              <a:buNone/>
            </a:pPr>
            <a:r>
              <a:rPr lang="en" sz="1150">
                <a:solidFill>
                  <a:schemeClr val="dk1"/>
                </a:solidFill>
                <a:highlight>
                  <a:srgbClr val="FFFFFF"/>
                </a:highlight>
                <a:latin typeface="Verdana"/>
                <a:ea typeface="Verdana"/>
                <a:cs typeface="Verdana"/>
                <a:sym typeface="Verdana"/>
              </a:rPr>
              <a:t>You can access the characters in a string by referring to its index number inside square brackets </a:t>
            </a:r>
            <a:r>
              <a:rPr lang="en" sz="1200">
                <a:solidFill>
                  <a:srgbClr val="DC143C"/>
                </a:solidFill>
                <a:highlight>
                  <a:srgbClr val="F1F1F1"/>
                </a:highlight>
                <a:latin typeface="Consolas"/>
                <a:ea typeface="Consolas"/>
                <a:cs typeface="Consolas"/>
                <a:sym typeface="Consolas"/>
              </a:rPr>
              <a:t>[]</a:t>
            </a:r>
            <a:r>
              <a:rPr lang="en" sz="1150">
                <a:solidFill>
                  <a:schemeClr val="dk1"/>
                </a:solidFill>
                <a:highlight>
                  <a:srgbClr val="FFFFFF"/>
                </a:highlight>
                <a:latin typeface="Verdana"/>
                <a:ea typeface="Verdana"/>
                <a:cs typeface="Verdana"/>
                <a:sym typeface="Verdana"/>
              </a:rPr>
              <a:t>.</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1400"/>
              </a:spcBef>
              <a:spcAft>
                <a:spcPts val="0"/>
              </a:spcAft>
              <a:buSzPts val="1800"/>
              <a:buNone/>
            </a:pPr>
            <a:r>
              <a:rPr lang="en" sz="1150">
                <a:solidFill>
                  <a:schemeClr val="dk1"/>
                </a:solidFill>
                <a:highlight>
                  <a:srgbClr val="FFFFFF"/>
                </a:highlight>
                <a:latin typeface="Verdana"/>
                <a:ea typeface="Verdana"/>
                <a:cs typeface="Verdana"/>
                <a:sym typeface="Verdana"/>
              </a:rPr>
              <a:t>This example prints the first character in myString:</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1400"/>
              </a:spcBef>
              <a:spcAft>
                <a:spcPts val="0"/>
              </a:spcAft>
              <a:buSzPts val="1800"/>
              <a:buNone/>
            </a:pPr>
            <a:r>
              <a:rPr lang="en" sz="1150">
                <a:solidFill>
                  <a:schemeClr val="dk1"/>
                </a:solidFill>
                <a:highlight>
                  <a:srgbClr val="FFFFFF"/>
                </a:highlight>
                <a:latin typeface="Consolas"/>
                <a:ea typeface="Consolas"/>
                <a:cs typeface="Consolas"/>
                <a:sym typeface="Consolas"/>
              </a:rPr>
              <a:t>string myString = </a:t>
            </a:r>
            <a:r>
              <a:rPr lang="en" sz="1150">
                <a:solidFill>
                  <a:srgbClr val="A52A2A"/>
                </a:solidFill>
                <a:highlight>
                  <a:srgbClr val="FFFFFF"/>
                </a:highlight>
                <a:latin typeface="Consolas"/>
                <a:ea typeface="Consolas"/>
                <a:cs typeface="Consolas"/>
                <a:sym typeface="Consolas"/>
              </a:rPr>
              <a:t>"Hello"</a:t>
            </a:r>
            <a:r>
              <a:rPr lang="en" sz="1150">
                <a:solidFill>
                  <a:schemeClr val="dk1"/>
                </a:solidFill>
                <a:highlight>
                  <a:srgbClr val="FFFFFF"/>
                </a:highlight>
                <a:latin typeface="Consolas"/>
                <a:ea typeface="Consolas"/>
                <a:cs typeface="Consolas"/>
                <a:sym typeface="Consolas"/>
              </a:rPr>
              <a:t>;</a:t>
            </a:r>
            <a:endParaRPr sz="1150">
              <a:solidFill>
                <a:schemeClr val="dk1"/>
              </a:solidFill>
              <a:highlight>
                <a:srgbClr val="FFFFFF"/>
              </a:highlight>
              <a:latin typeface="Consolas"/>
              <a:ea typeface="Consolas"/>
              <a:cs typeface="Consolas"/>
              <a:sym typeface="Consolas"/>
            </a:endParaRPr>
          </a:p>
          <a:p>
            <a:pPr indent="0" lvl="0" marL="114300" marR="114300" rtl="0" algn="l">
              <a:lnSpc>
                <a:spcPct val="115000"/>
              </a:lnSpc>
              <a:spcBef>
                <a:spcPts val="1400"/>
              </a:spcBef>
              <a:spcAft>
                <a:spcPts val="0"/>
              </a:spcAft>
              <a:buSzPts val="1800"/>
              <a:buNone/>
            </a:pPr>
            <a:r>
              <a:rPr lang="en" sz="1150">
                <a:solidFill>
                  <a:schemeClr val="dk1"/>
                </a:solidFill>
                <a:highlight>
                  <a:srgbClr val="FFFFFF"/>
                </a:highlight>
                <a:latin typeface="Consolas"/>
                <a:ea typeface="Consolas"/>
                <a:cs typeface="Consolas"/>
                <a:sym typeface="Consolas"/>
              </a:rPr>
              <a:t>cout &lt;&lt; myString[</a:t>
            </a:r>
            <a:r>
              <a:rPr lang="en" sz="1150">
                <a:solidFill>
                  <a:srgbClr val="FF0000"/>
                </a:solidFill>
                <a:highlight>
                  <a:srgbClr val="FFFFFF"/>
                </a:highlight>
                <a:latin typeface="Consolas"/>
                <a:ea typeface="Consolas"/>
                <a:cs typeface="Consolas"/>
                <a:sym typeface="Consolas"/>
              </a:rPr>
              <a:t>0</a:t>
            </a:r>
            <a:r>
              <a:rPr lang="en" sz="1150">
                <a:solidFill>
                  <a:schemeClr val="dk1"/>
                </a:solidFill>
                <a:highlight>
                  <a:srgbClr val="FFFFFF"/>
                </a:highlight>
                <a:latin typeface="Consolas"/>
                <a:ea typeface="Consolas"/>
                <a:cs typeface="Consolas"/>
                <a:sym typeface="Consolas"/>
              </a:rPr>
              <a:t>];</a:t>
            </a:r>
            <a:endParaRPr sz="1150">
              <a:solidFill>
                <a:schemeClr val="dk1"/>
              </a:solidFill>
              <a:highlight>
                <a:srgbClr val="FFFFFF"/>
              </a:highlight>
              <a:latin typeface="Consolas"/>
              <a:ea typeface="Consolas"/>
              <a:cs typeface="Consolas"/>
              <a:sym typeface="Consolas"/>
            </a:endParaRPr>
          </a:p>
          <a:p>
            <a:pPr indent="0" lvl="0" marL="114300" marR="114300" rtl="0" algn="l">
              <a:lnSpc>
                <a:spcPct val="115000"/>
              </a:lnSpc>
              <a:spcBef>
                <a:spcPts val="0"/>
              </a:spcBef>
              <a:spcAft>
                <a:spcPts val="0"/>
              </a:spcAft>
              <a:buSzPts val="1800"/>
              <a:buNone/>
            </a:pPr>
            <a:r>
              <a:rPr lang="en" sz="1150">
                <a:solidFill>
                  <a:srgbClr val="008000"/>
                </a:solidFill>
                <a:highlight>
                  <a:srgbClr val="FFFFFF"/>
                </a:highlight>
                <a:latin typeface="Consolas"/>
                <a:ea typeface="Consolas"/>
                <a:cs typeface="Consolas"/>
                <a:sym typeface="Consolas"/>
              </a:rPr>
              <a:t>// Outputs H</a:t>
            </a:r>
            <a:endParaRPr>
              <a:solidFill>
                <a:schemeClr val="dk1"/>
              </a:solidFill>
              <a:highlight>
                <a:srgbClr val="F1F1F1"/>
              </a:highlight>
            </a:endParaRPr>
          </a:p>
          <a:p>
            <a:pPr indent="0" lvl="0" marL="114300" marR="114300" rtl="0" algn="l">
              <a:lnSpc>
                <a:spcPct val="115000"/>
              </a:lnSpc>
              <a:spcBef>
                <a:spcPts val="1800"/>
              </a:spcBef>
              <a:spcAft>
                <a:spcPts val="0"/>
              </a:spcAft>
              <a:buClr>
                <a:schemeClr val="dk1"/>
              </a:buClr>
              <a:buSzPts val="1100"/>
              <a:buFont typeface="Arial"/>
              <a:buNone/>
            </a:pPr>
            <a:r>
              <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1800"/>
              </a:spcBef>
              <a:spcAft>
                <a:spcPts val="1600"/>
              </a:spcAft>
              <a:buSzPts val="1800"/>
              <a:buNone/>
            </a:pPr>
            <a:r>
              <a:t/>
            </a:r>
            <a:endParaRPr/>
          </a:p>
        </p:txBody>
      </p:sp>
      <p:sp>
        <p:nvSpPr>
          <p:cNvPr id="208" name="Google Shape;208;p23"/>
          <p:cNvSpPr txBox="1"/>
          <p:nvPr/>
        </p:nvSpPr>
        <p:spPr>
          <a:xfrm>
            <a:off x="5991050" y="603250"/>
            <a:ext cx="3000000" cy="4540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800"/>
              </a:spcBef>
              <a:spcAft>
                <a:spcPts val="0"/>
              </a:spcAft>
              <a:buClr>
                <a:srgbClr val="000000"/>
              </a:buClr>
              <a:buSzPts val="2400"/>
              <a:buFont typeface="Arial"/>
              <a:buNone/>
            </a:pPr>
            <a:r>
              <a:rPr b="0" i="0" lang="en" sz="2400" u="none" cap="none" strike="noStrike">
                <a:solidFill>
                  <a:schemeClr val="dk1"/>
                </a:solidFill>
                <a:highlight>
                  <a:srgbClr val="FFFFFF"/>
                </a:highlight>
                <a:latin typeface="Arial"/>
                <a:ea typeface="Arial"/>
                <a:cs typeface="Arial"/>
                <a:sym typeface="Arial"/>
              </a:rPr>
              <a:t>Change String Characters</a:t>
            </a:r>
            <a:endParaRPr b="0" i="0" sz="2400" u="none" cap="none" strike="noStrike">
              <a:solidFill>
                <a:schemeClr val="dk1"/>
              </a:solidFill>
              <a:highlight>
                <a:srgbClr val="FFFFFF"/>
              </a:highlight>
              <a:latin typeface="Arial"/>
              <a:ea typeface="Arial"/>
              <a:cs typeface="Arial"/>
              <a:sym typeface="Arial"/>
            </a:endParaRPr>
          </a:p>
          <a:p>
            <a:pPr indent="0" lvl="0" marL="0" marR="0" rtl="0" algn="l">
              <a:lnSpc>
                <a:spcPct val="115000"/>
              </a:lnSpc>
              <a:spcBef>
                <a:spcPts val="1400"/>
              </a:spcBef>
              <a:spcAft>
                <a:spcPts val="0"/>
              </a:spcAft>
              <a:buClr>
                <a:srgbClr val="000000"/>
              </a:buClr>
              <a:buSzPts val="1150"/>
              <a:buFont typeface="Arial"/>
              <a:buNone/>
            </a:pPr>
            <a:r>
              <a:rPr b="0" i="0" lang="en" sz="1150" u="none" cap="none" strike="noStrike">
                <a:solidFill>
                  <a:schemeClr val="dk1"/>
                </a:solidFill>
                <a:highlight>
                  <a:srgbClr val="FFFFFF"/>
                </a:highlight>
                <a:latin typeface="Verdana"/>
                <a:ea typeface="Verdana"/>
                <a:cs typeface="Verdana"/>
                <a:sym typeface="Verdana"/>
              </a:rPr>
              <a:t>To change the value of a specific character in a string, refer to the index number, and use single quotes:</a:t>
            </a:r>
            <a:endParaRPr b="0" i="0" sz="1150" u="none" cap="none" strike="noStrike">
              <a:solidFill>
                <a:schemeClr val="dk1"/>
              </a:solidFill>
              <a:highlight>
                <a:srgbClr val="FFFFFF"/>
              </a:highlight>
              <a:latin typeface="Verdana"/>
              <a:ea typeface="Verdana"/>
              <a:cs typeface="Verdana"/>
              <a:sym typeface="Verdana"/>
            </a:endParaRPr>
          </a:p>
          <a:p>
            <a:pPr indent="0" lvl="0" marL="0" marR="0" rtl="0" algn="l">
              <a:lnSpc>
                <a:spcPct val="115000"/>
              </a:lnSpc>
              <a:spcBef>
                <a:spcPts val="2600"/>
              </a:spcBef>
              <a:spcAft>
                <a:spcPts val="0"/>
              </a:spcAft>
              <a:buClr>
                <a:srgbClr val="000000"/>
              </a:buClr>
              <a:buSzPts val="1800"/>
              <a:buFont typeface="Arial"/>
              <a:buNone/>
            </a:pPr>
            <a:r>
              <a:rPr b="0" i="0" lang="en" sz="1800" u="none" cap="none" strike="noStrike">
                <a:solidFill>
                  <a:schemeClr val="dk1"/>
                </a:solidFill>
                <a:highlight>
                  <a:srgbClr val="F1F1F1"/>
                </a:highlight>
                <a:latin typeface="Arial"/>
                <a:ea typeface="Arial"/>
                <a:cs typeface="Arial"/>
                <a:sym typeface="Arial"/>
              </a:rPr>
              <a:t>Example</a:t>
            </a:r>
            <a:endParaRPr b="0" i="0" sz="1800" u="none" cap="none" strike="noStrike">
              <a:solidFill>
                <a:schemeClr val="dk1"/>
              </a:solidFill>
              <a:highlight>
                <a:srgbClr val="F1F1F1"/>
              </a:highlight>
              <a:latin typeface="Arial"/>
              <a:ea typeface="Arial"/>
              <a:cs typeface="Arial"/>
              <a:sym typeface="Arial"/>
            </a:endParaRPr>
          </a:p>
          <a:p>
            <a:pPr indent="0" lvl="0" marL="114300" marR="114300" rtl="0" algn="l">
              <a:lnSpc>
                <a:spcPct val="115000"/>
              </a:lnSpc>
              <a:spcBef>
                <a:spcPts val="2600"/>
              </a:spcBef>
              <a:spcAft>
                <a:spcPts val="0"/>
              </a:spcAft>
              <a:buClr>
                <a:srgbClr val="000000"/>
              </a:buClr>
              <a:buSzPts val="1150"/>
              <a:buFont typeface="Arial"/>
              <a:buNone/>
            </a:pPr>
            <a:r>
              <a:rPr b="0" i="0" lang="en" sz="1150" u="none" cap="none" strike="noStrike">
                <a:solidFill>
                  <a:schemeClr val="dk1"/>
                </a:solidFill>
                <a:highlight>
                  <a:srgbClr val="FFFFFF"/>
                </a:highlight>
                <a:latin typeface="Consolas"/>
                <a:ea typeface="Consolas"/>
                <a:cs typeface="Consolas"/>
                <a:sym typeface="Consolas"/>
              </a:rPr>
              <a:t>string myString = </a:t>
            </a:r>
            <a:r>
              <a:rPr b="0" i="0" lang="en" sz="1150" u="none" cap="none" strike="noStrike">
                <a:solidFill>
                  <a:srgbClr val="A52A2A"/>
                </a:solidFill>
                <a:highlight>
                  <a:srgbClr val="FFFFFF"/>
                </a:highlight>
                <a:latin typeface="Consolas"/>
                <a:ea typeface="Consolas"/>
                <a:cs typeface="Consolas"/>
                <a:sym typeface="Consolas"/>
              </a:rPr>
              <a:t>"Hello"</a:t>
            </a:r>
            <a:r>
              <a:rPr b="0" i="0" lang="en" sz="1150" u="none" cap="none" strike="noStrike">
                <a:solidFill>
                  <a:schemeClr val="dk1"/>
                </a:solidFill>
                <a:highlight>
                  <a:srgbClr val="FFFFFF"/>
                </a:highlight>
                <a:latin typeface="Consolas"/>
                <a:ea typeface="Consolas"/>
                <a:cs typeface="Consolas"/>
                <a:sym typeface="Consolas"/>
              </a:rPr>
              <a:t>;</a:t>
            </a:r>
            <a:endParaRPr b="0" i="0" sz="1150" u="none" cap="none" strike="noStrike">
              <a:solidFill>
                <a:schemeClr val="dk1"/>
              </a:solidFill>
              <a:highlight>
                <a:srgbClr val="FFFFFF"/>
              </a:highlight>
              <a:latin typeface="Consolas"/>
              <a:ea typeface="Consolas"/>
              <a:cs typeface="Consolas"/>
              <a:sym typeface="Consolas"/>
            </a:endParaRPr>
          </a:p>
          <a:p>
            <a:pPr indent="0" lvl="0" marL="114300" marR="114300" rtl="0" algn="l">
              <a:lnSpc>
                <a:spcPct val="115000"/>
              </a:lnSpc>
              <a:spcBef>
                <a:spcPts val="1800"/>
              </a:spcBef>
              <a:spcAft>
                <a:spcPts val="0"/>
              </a:spcAft>
              <a:buClr>
                <a:srgbClr val="000000"/>
              </a:buClr>
              <a:buSzPts val="1150"/>
              <a:buFont typeface="Arial"/>
              <a:buNone/>
            </a:pPr>
            <a:r>
              <a:rPr b="0" i="0" lang="en" sz="1150" u="none" cap="none" strike="noStrike">
                <a:solidFill>
                  <a:schemeClr val="dk1"/>
                </a:solidFill>
                <a:highlight>
                  <a:srgbClr val="FFFFFF"/>
                </a:highlight>
                <a:latin typeface="Consolas"/>
                <a:ea typeface="Consolas"/>
                <a:cs typeface="Consolas"/>
                <a:sym typeface="Consolas"/>
              </a:rPr>
              <a:t>myString[</a:t>
            </a:r>
            <a:r>
              <a:rPr b="0" i="0" lang="en" sz="1150" u="none" cap="none" strike="noStrike">
                <a:solidFill>
                  <a:srgbClr val="FF0000"/>
                </a:solidFill>
                <a:highlight>
                  <a:srgbClr val="FFFFFF"/>
                </a:highlight>
                <a:latin typeface="Consolas"/>
                <a:ea typeface="Consolas"/>
                <a:cs typeface="Consolas"/>
                <a:sym typeface="Consolas"/>
              </a:rPr>
              <a:t>0</a:t>
            </a:r>
            <a:r>
              <a:rPr b="0" i="0" lang="en" sz="1150" u="none" cap="none" strike="noStrike">
                <a:solidFill>
                  <a:schemeClr val="dk1"/>
                </a:solidFill>
                <a:highlight>
                  <a:srgbClr val="FFFFFF"/>
                </a:highlight>
                <a:latin typeface="Consolas"/>
                <a:ea typeface="Consolas"/>
                <a:cs typeface="Consolas"/>
                <a:sym typeface="Consolas"/>
              </a:rPr>
              <a:t>] = </a:t>
            </a:r>
            <a:r>
              <a:rPr b="0" i="0" lang="en" sz="1150" u="none" cap="none" strike="noStrike">
                <a:solidFill>
                  <a:srgbClr val="A52A2A"/>
                </a:solidFill>
                <a:highlight>
                  <a:srgbClr val="FFFFFF"/>
                </a:highlight>
                <a:latin typeface="Consolas"/>
                <a:ea typeface="Consolas"/>
                <a:cs typeface="Consolas"/>
                <a:sym typeface="Consolas"/>
              </a:rPr>
              <a:t>'J'</a:t>
            </a:r>
            <a:r>
              <a:rPr b="0" i="0" lang="en" sz="1150" u="none" cap="none" strike="noStrike">
                <a:solidFill>
                  <a:schemeClr val="dk1"/>
                </a:solidFill>
                <a:highlight>
                  <a:srgbClr val="FFFFFF"/>
                </a:highlight>
                <a:latin typeface="Consolas"/>
                <a:ea typeface="Consolas"/>
                <a:cs typeface="Consolas"/>
                <a:sym typeface="Consolas"/>
              </a:rPr>
              <a:t>;</a:t>
            </a:r>
            <a:endParaRPr b="0" i="0" sz="1150" u="none" cap="none" strike="noStrike">
              <a:solidFill>
                <a:schemeClr val="dk1"/>
              </a:solidFill>
              <a:highlight>
                <a:srgbClr val="FFFFFF"/>
              </a:highlight>
              <a:latin typeface="Consolas"/>
              <a:ea typeface="Consolas"/>
              <a:cs typeface="Consolas"/>
              <a:sym typeface="Consolas"/>
            </a:endParaRPr>
          </a:p>
          <a:p>
            <a:pPr indent="0" lvl="0" marL="114300" marR="114300" rtl="0" algn="l">
              <a:lnSpc>
                <a:spcPct val="115000"/>
              </a:lnSpc>
              <a:spcBef>
                <a:spcPts val="1800"/>
              </a:spcBef>
              <a:spcAft>
                <a:spcPts val="0"/>
              </a:spcAft>
              <a:buClr>
                <a:srgbClr val="000000"/>
              </a:buClr>
              <a:buSzPts val="1150"/>
              <a:buFont typeface="Arial"/>
              <a:buNone/>
            </a:pPr>
            <a:r>
              <a:rPr b="0" i="0" lang="en" sz="1150" u="none" cap="none" strike="noStrike">
                <a:solidFill>
                  <a:schemeClr val="dk1"/>
                </a:solidFill>
                <a:highlight>
                  <a:srgbClr val="FFFFFF"/>
                </a:highlight>
                <a:latin typeface="Consolas"/>
                <a:ea typeface="Consolas"/>
                <a:cs typeface="Consolas"/>
                <a:sym typeface="Consolas"/>
              </a:rPr>
              <a:t>cout &lt;&lt; myString;</a:t>
            </a:r>
            <a:endParaRPr b="0" i="0" sz="1150" u="none" cap="none" strike="noStrike">
              <a:solidFill>
                <a:schemeClr val="dk1"/>
              </a:solidFill>
              <a:highlight>
                <a:srgbClr val="FFFFFF"/>
              </a:highlight>
              <a:latin typeface="Consolas"/>
              <a:ea typeface="Consolas"/>
              <a:cs typeface="Consolas"/>
              <a:sym typeface="Consolas"/>
            </a:endParaRPr>
          </a:p>
          <a:p>
            <a:pPr indent="0" lvl="0" marL="114300" marR="114300" rtl="0" algn="l">
              <a:lnSpc>
                <a:spcPct val="115000"/>
              </a:lnSpc>
              <a:spcBef>
                <a:spcPts val="1800"/>
              </a:spcBef>
              <a:spcAft>
                <a:spcPts val="0"/>
              </a:spcAft>
              <a:buClr>
                <a:srgbClr val="000000"/>
              </a:buClr>
              <a:buSzPts val="1150"/>
              <a:buFont typeface="Arial"/>
              <a:buNone/>
            </a:pPr>
            <a:r>
              <a:rPr b="0" i="0" lang="en" sz="1150" u="none" cap="none" strike="noStrike">
                <a:solidFill>
                  <a:srgbClr val="008000"/>
                </a:solidFill>
                <a:highlight>
                  <a:srgbClr val="FFFFFF"/>
                </a:highlight>
                <a:latin typeface="Consolas"/>
                <a:ea typeface="Consolas"/>
                <a:cs typeface="Consolas"/>
                <a:sym typeface="Consolas"/>
              </a:rPr>
              <a:t>// Outputs Jello instead of Hello</a:t>
            </a:r>
            <a:endParaRPr b="0" i="0" sz="1150" u="none" cap="none" strike="noStrike">
              <a:solidFill>
                <a:srgbClr val="008000"/>
              </a:solidFill>
              <a:highlight>
                <a:srgbClr val="FFFFFF"/>
              </a:highlight>
              <a:latin typeface="Consolas"/>
              <a:ea typeface="Consolas"/>
              <a:cs typeface="Consolas"/>
              <a:sym typeface="Consolas"/>
            </a:endParaRPr>
          </a:p>
          <a:p>
            <a:pPr indent="0" lvl="0" marL="152400" marR="152400" rtl="0" algn="ctr">
              <a:lnSpc>
                <a:spcPct val="115000"/>
              </a:lnSpc>
              <a:spcBef>
                <a:spcPts val="1800"/>
              </a:spcBef>
              <a:spcAft>
                <a:spcPts val="0"/>
              </a:spcAft>
              <a:buClr>
                <a:srgbClr val="000000"/>
              </a:buClr>
              <a:buSzPts val="1150"/>
              <a:buFont typeface="Arial"/>
              <a:buNone/>
            </a:pPr>
            <a:r>
              <a:rPr b="0" i="0" lang="en" sz="1150" u="none" cap="none" strike="noStrike">
                <a:solidFill>
                  <a:srgbClr val="FFFFFF"/>
                </a:solidFill>
                <a:highlight>
                  <a:srgbClr val="4CAF50"/>
                </a:highlight>
                <a:uFill>
                  <a:noFill/>
                </a:uFill>
                <a:latin typeface="Verdana"/>
                <a:ea typeface="Verdana"/>
                <a:cs typeface="Verdana"/>
                <a:sym typeface="Verdana"/>
                <a:hlinkClick r:id="rId3">
                  <a:extLst>
                    <a:ext uri="{A12FA001-AC4F-418D-AE19-62706E023703}">
                      <ahyp:hlinkClr val="tx"/>
                    </a:ext>
                  </a:extLst>
                </a:hlinkClick>
              </a:rPr>
              <a:t>Run example »</a:t>
            </a:r>
            <a:endParaRPr b="0" i="0" sz="1150" u="none" cap="none" strike="noStrike">
              <a:solidFill>
                <a:srgbClr val="FFFFFF"/>
              </a:solidFill>
              <a:highlight>
                <a:srgbClr val="4CAF50"/>
              </a:highlight>
              <a:latin typeface="Verdana"/>
              <a:ea typeface="Verdana"/>
              <a:cs typeface="Verdana"/>
              <a:sym typeface="Verdana"/>
            </a:endParaRPr>
          </a:p>
          <a:p>
            <a:pPr indent="0" lvl="0" marL="0" marR="0" rtl="0" algn="l">
              <a:lnSpc>
                <a:spcPct val="115000"/>
              </a:lnSpc>
              <a:spcBef>
                <a:spcPts val="18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209" name="Google Shape;209;p2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User input string</a:t>
            </a:r>
            <a:endParaRPr/>
          </a:p>
        </p:txBody>
      </p:sp>
      <p:sp>
        <p:nvSpPr>
          <p:cNvPr id="215" name="Google Shape;215;p24"/>
          <p:cNvSpPr txBox="1"/>
          <p:nvPr>
            <p:ph idx="1" type="body"/>
          </p:nvPr>
        </p:nvSpPr>
        <p:spPr>
          <a:xfrm>
            <a:off x="311700" y="1152475"/>
            <a:ext cx="4879800" cy="3990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800"/>
              </a:spcBef>
              <a:spcAft>
                <a:spcPts val="0"/>
              </a:spcAft>
              <a:buClr>
                <a:schemeClr val="dk1"/>
              </a:buClr>
              <a:buSzPts val="1100"/>
              <a:buFont typeface="Arial"/>
              <a:buNone/>
            </a:pPr>
            <a:r>
              <a:rPr lang="en" sz="2400">
                <a:solidFill>
                  <a:schemeClr val="dk1"/>
                </a:solidFill>
                <a:highlight>
                  <a:srgbClr val="FFFFFF"/>
                </a:highlight>
              </a:rPr>
              <a:t>User Input Strings</a:t>
            </a:r>
            <a:endParaRPr sz="2400">
              <a:solidFill>
                <a:schemeClr val="dk1"/>
              </a:solidFill>
              <a:highlight>
                <a:srgbClr val="FFFFFF"/>
              </a:highlight>
            </a:endParaRPr>
          </a:p>
          <a:p>
            <a:pPr indent="0" lvl="0" marL="0" rtl="0" algn="l">
              <a:lnSpc>
                <a:spcPct val="115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It is possible to use the extraction operator </a:t>
            </a:r>
            <a:r>
              <a:rPr lang="en" sz="1200">
                <a:solidFill>
                  <a:srgbClr val="DC143C"/>
                </a:solidFill>
                <a:highlight>
                  <a:srgbClr val="F1F1F1"/>
                </a:highlight>
                <a:latin typeface="Consolas"/>
                <a:ea typeface="Consolas"/>
                <a:cs typeface="Consolas"/>
                <a:sym typeface="Consolas"/>
              </a:rPr>
              <a:t>&gt;&gt;</a:t>
            </a:r>
            <a:r>
              <a:rPr lang="en" sz="1150">
                <a:solidFill>
                  <a:schemeClr val="dk1"/>
                </a:solidFill>
                <a:highlight>
                  <a:srgbClr val="FFFFFF"/>
                </a:highlight>
                <a:latin typeface="Verdana"/>
                <a:ea typeface="Verdana"/>
                <a:cs typeface="Verdana"/>
                <a:sym typeface="Verdana"/>
              </a:rPr>
              <a:t> on </a:t>
            </a:r>
            <a:r>
              <a:rPr lang="en" sz="1200">
                <a:solidFill>
                  <a:srgbClr val="DC143C"/>
                </a:solidFill>
                <a:highlight>
                  <a:srgbClr val="F1F1F1"/>
                </a:highlight>
                <a:latin typeface="Consolas"/>
                <a:ea typeface="Consolas"/>
                <a:cs typeface="Consolas"/>
                <a:sym typeface="Consolas"/>
              </a:rPr>
              <a:t>cin</a:t>
            </a:r>
            <a:r>
              <a:rPr lang="en" sz="1150">
                <a:solidFill>
                  <a:schemeClr val="dk1"/>
                </a:solidFill>
                <a:highlight>
                  <a:srgbClr val="FFFFFF"/>
                </a:highlight>
                <a:latin typeface="Verdana"/>
                <a:ea typeface="Verdana"/>
                <a:cs typeface="Verdana"/>
                <a:sym typeface="Verdana"/>
              </a:rPr>
              <a:t> to display a string entered by a user:</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2600"/>
              </a:spcBef>
              <a:spcAft>
                <a:spcPts val="0"/>
              </a:spcAft>
              <a:buClr>
                <a:schemeClr val="dk1"/>
              </a:buClr>
              <a:buSzPts val="1100"/>
              <a:buFont typeface="Arial"/>
              <a:buNone/>
            </a:pPr>
            <a:r>
              <a:rPr lang="en">
                <a:solidFill>
                  <a:schemeClr val="dk1"/>
                </a:solidFill>
                <a:highlight>
                  <a:srgbClr val="F1F1F1"/>
                </a:highlight>
              </a:rPr>
              <a:t>Example</a:t>
            </a:r>
            <a:endParaRPr>
              <a:solidFill>
                <a:schemeClr val="dk1"/>
              </a:solidFill>
              <a:highlight>
                <a:srgbClr val="F1F1F1"/>
              </a:highlight>
            </a:endParaRPr>
          </a:p>
          <a:p>
            <a:pPr indent="0" lvl="0" marL="114300" marR="114300" rtl="0" algn="l">
              <a:lnSpc>
                <a:spcPct val="115000"/>
              </a:lnSpc>
              <a:spcBef>
                <a:spcPts val="260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string firstName;</a:t>
            </a:r>
            <a:endParaRPr sz="1150">
              <a:solidFill>
                <a:schemeClr val="dk1"/>
              </a:solidFill>
              <a:highlight>
                <a:srgbClr val="FFFFFF"/>
              </a:highlight>
              <a:latin typeface="Consolas"/>
              <a:ea typeface="Consolas"/>
              <a:cs typeface="Consolas"/>
              <a:sym typeface="Consolas"/>
            </a:endParaRPr>
          </a:p>
          <a:p>
            <a:pPr indent="0" lvl="0" marL="114300" marR="114300" rtl="0" algn="l">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cout &lt;&lt; </a:t>
            </a:r>
            <a:r>
              <a:rPr lang="en" sz="1150">
                <a:solidFill>
                  <a:srgbClr val="A52A2A"/>
                </a:solidFill>
                <a:highlight>
                  <a:srgbClr val="FFFFFF"/>
                </a:highlight>
                <a:latin typeface="Consolas"/>
                <a:ea typeface="Consolas"/>
                <a:cs typeface="Consolas"/>
                <a:sym typeface="Consolas"/>
              </a:rPr>
              <a:t>"Type your first name: "</a:t>
            </a:r>
            <a:r>
              <a:rPr lang="en" sz="1150">
                <a:solidFill>
                  <a:schemeClr val="dk1"/>
                </a:solidFill>
                <a:highlight>
                  <a:srgbClr val="FFFFFF"/>
                </a:highlight>
                <a:latin typeface="Consolas"/>
                <a:ea typeface="Consolas"/>
                <a:cs typeface="Consolas"/>
                <a:sym typeface="Consolas"/>
              </a:rPr>
              <a:t>; </a:t>
            </a:r>
            <a:endParaRPr sz="1150">
              <a:solidFill>
                <a:schemeClr val="dk1"/>
              </a:solidFill>
              <a:highlight>
                <a:srgbClr val="FFFFFF"/>
              </a:highlight>
              <a:latin typeface="Consolas"/>
              <a:ea typeface="Consolas"/>
              <a:cs typeface="Consolas"/>
              <a:sym typeface="Consolas"/>
            </a:endParaRPr>
          </a:p>
          <a:p>
            <a:pPr indent="0" lvl="0" marL="114300" marR="114300" rtl="0" algn="l">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cin &gt;&gt; firstName; </a:t>
            </a:r>
            <a:r>
              <a:rPr lang="en" sz="1150">
                <a:solidFill>
                  <a:srgbClr val="008000"/>
                </a:solidFill>
                <a:highlight>
                  <a:srgbClr val="FFFFFF"/>
                </a:highlight>
                <a:latin typeface="Consolas"/>
                <a:ea typeface="Consolas"/>
                <a:cs typeface="Consolas"/>
                <a:sym typeface="Consolas"/>
              </a:rPr>
              <a:t>// get user input from the keyboard</a:t>
            </a:r>
            <a:endParaRPr sz="1150">
              <a:solidFill>
                <a:srgbClr val="008000"/>
              </a:solidFill>
              <a:highlight>
                <a:srgbClr val="FFFFFF"/>
              </a:highlight>
              <a:latin typeface="Consolas"/>
              <a:ea typeface="Consolas"/>
              <a:cs typeface="Consolas"/>
              <a:sym typeface="Consolas"/>
            </a:endParaRPr>
          </a:p>
          <a:p>
            <a:pPr indent="0" lvl="0" marL="114300" marR="114300" rtl="0" algn="l">
              <a:lnSpc>
                <a:spcPct val="115000"/>
              </a:lnSpc>
              <a:spcBef>
                <a:spcPts val="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cout &lt;&lt; </a:t>
            </a:r>
            <a:r>
              <a:rPr lang="en" sz="1150">
                <a:solidFill>
                  <a:srgbClr val="A52A2A"/>
                </a:solidFill>
                <a:highlight>
                  <a:srgbClr val="FFFFFF"/>
                </a:highlight>
                <a:latin typeface="Consolas"/>
                <a:ea typeface="Consolas"/>
                <a:cs typeface="Consolas"/>
                <a:sym typeface="Consolas"/>
              </a:rPr>
              <a:t>"Your name is: "</a:t>
            </a:r>
            <a:r>
              <a:rPr lang="en" sz="1150">
                <a:solidFill>
                  <a:schemeClr val="dk1"/>
                </a:solidFill>
                <a:highlight>
                  <a:srgbClr val="FFFFFF"/>
                </a:highlight>
                <a:latin typeface="Consolas"/>
                <a:ea typeface="Consolas"/>
                <a:cs typeface="Consolas"/>
                <a:sym typeface="Consolas"/>
              </a:rPr>
              <a:t> &lt;&lt; firstName;</a:t>
            </a:r>
            <a:endParaRPr sz="1150">
              <a:solidFill>
                <a:schemeClr val="dk1"/>
              </a:solidFill>
              <a:highlight>
                <a:srgbClr val="FFFFFF"/>
              </a:highlight>
              <a:latin typeface="Consolas"/>
              <a:ea typeface="Consolas"/>
              <a:cs typeface="Consolas"/>
              <a:sym typeface="Consolas"/>
            </a:endParaRPr>
          </a:p>
          <a:p>
            <a:pPr indent="0" lvl="0" marL="114300" marR="114300" rtl="0" algn="l">
              <a:lnSpc>
                <a:spcPct val="115000"/>
              </a:lnSpc>
              <a:spcBef>
                <a:spcPts val="0"/>
              </a:spcBef>
              <a:spcAft>
                <a:spcPts val="0"/>
              </a:spcAft>
              <a:buClr>
                <a:schemeClr val="dk1"/>
              </a:buClr>
              <a:buSzPts val="1100"/>
              <a:buFont typeface="Arial"/>
              <a:buNone/>
            </a:pPr>
            <a:r>
              <a:t/>
            </a:r>
            <a:endParaRPr sz="1150">
              <a:solidFill>
                <a:schemeClr val="dk1"/>
              </a:solidFill>
              <a:highlight>
                <a:srgbClr val="FFFFFF"/>
              </a:highlight>
              <a:latin typeface="Consolas"/>
              <a:ea typeface="Consolas"/>
              <a:cs typeface="Consolas"/>
              <a:sym typeface="Consolas"/>
            </a:endParaRPr>
          </a:p>
          <a:p>
            <a:pPr indent="0" lvl="0" marL="114300" marR="114300" rtl="0" algn="l">
              <a:lnSpc>
                <a:spcPct val="115000"/>
              </a:lnSpc>
              <a:spcBef>
                <a:spcPts val="0"/>
              </a:spcBef>
              <a:spcAft>
                <a:spcPts val="0"/>
              </a:spcAft>
              <a:buClr>
                <a:schemeClr val="dk1"/>
              </a:buClr>
              <a:buSzPts val="1100"/>
              <a:buFont typeface="Arial"/>
              <a:buNone/>
            </a:pPr>
            <a:r>
              <a:rPr lang="en" sz="1150">
                <a:solidFill>
                  <a:srgbClr val="008000"/>
                </a:solidFill>
                <a:highlight>
                  <a:srgbClr val="FFFFFF"/>
                </a:highlight>
                <a:latin typeface="Consolas"/>
                <a:ea typeface="Consolas"/>
                <a:cs typeface="Consolas"/>
                <a:sym typeface="Consolas"/>
              </a:rPr>
              <a:t>// Type your first name: John</a:t>
            </a:r>
            <a:endParaRPr sz="1150">
              <a:solidFill>
                <a:srgbClr val="008000"/>
              </a:solidFill>
              <a:highlight>
                <a:srgbClr val="FFFFFF"/>
              </a:highlight>
              <a:latin typeface="Consolas"/>
              <a:ea typeface="Consolas"/>
              <a:cs typeface="Consolas"/>
              <a:sym typeface="Consolas"/>
            </a:endParaRPr>
          </a:p>
          <a:p>
            <a:pPr indent="0" lvl="0" marL="114300" marR="114300" rtl="0" algn="l">
              <a:lnSpc>
                <a:spcPct val="115000"/>
              </a:lnSpc>
              <a:spcBef>
                <a:spcPts val="0"/>
              </a:spcBef>
              <a:spcAft>
                <a:spcPts val="0"/>
              </a:spcAft>
              <a:buClr>
                <a:schemeClr val="dk1"/>
              </a:buClr>
              <a:buSzPts val="1100"/>
              <a:buFont typeface="Arial"/>
              <a:buNone/>
            </a:pPr>
            <a:r>
              <a:rPr lang="en" sz="1150">
                <a:solidFill>
                  <a:srgbClr val="008000"/>
                </a:solidFill>
                <a:highlight>
                  <a:srgbClr val="FFFFFF"/>
                </a:highlight>
                <a:latin typeface="Consolas"/>
                <a:ea typeface="Consolas"/>
                <a:cs typeface="Consolas"/>
                <a:sym typeface="Consolas"/>
              </a:rPr>
              <a:t>// Your name is: John</a:t>
            </a:r>
            <a:endParaRPr sz="1150">
              <a:solidFill>
                <a:srgbClr val="008000"/>
              </a:solidFill>
              <a:highlight>
                <a:srgbClr val="FFFFFF"/>
              </a:highlight>
              <a:latin typeface="Consolas"/>
              <a:ea typeface="Consolas"/>
              <a:cs typeface="Consolas"/>
              <a:sym typeface="Consolas"/>
            </a:endParaRPr>
          </a:p>
          <a:p>
            <a:pPr indent="0" lvl="0" marL="0" rtl="0" algn="l">
              <a:lnSpc>
                <a:spcPct val="115000"/>
              </a:lnSpc>
              <a:spcBef>
                <a:spcPts val="1400"/>
              </a:spcBef>
              <a:spcAft>
                <a:spcPts val="0"/>
              </a:spcAft>
              <a:buClr>
                <a:schemeClr val="dk1"/>
              </a:buClr>
              <a:buSzPts val="1100"/>
              <a:buFont typeface="Arial"/>
              <a:buNone/>
            </a:pPr>
            <a:r>
              <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1400"/>
              </a:spcBef>
              <a:spcAft>
                <a:spcPts val="1600"/>
              </a:spcAft>
              <a:buSzPts val="1800"/>
              <a:buNone/>
            </a:pPr>
            <a:r>
              <a:t/>
            </a:r>
            <a:endParaRPr/>
          </a:p>
        </p:txBody>
      </p:sp>
      <p:sp>
        <p:nvSpPr>
          <p:cNvPr id="216" name="Google Shape;216;p24"/>
          <p:cNvSpPr txBox="1"/>
          <p:nvPr/>
        </p:nvSpPr>
        <p:spPr>
          <a:xfrm>
            <a:off x="5413375" y="1360675"/>
            <a:ext cx="3000000" cy="3000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50"/>
              <a:buFont typeface="Arial"/>
              <a:buNone/>
            </a:pPr>
            <a:r>
              <a:rPr b="0" i="0" lang="en" sz="1150" u="none" cap="none" strike="noStrike">
                <a:solidFill>
                  <a:schemeClr val="dk1"/>
                </a:solidFill>
                <a:highlight>
                  <a:srgbClr val="FFFFFF"/>
                </a:highlight>
                <a:latin typeface="Verdana"/>
                <a:ea typeface="Verdana"/>
                <a:cs typeface="Verdana"/>
                <a:sym typeface="Verdana"/>
              </a:rPr>
              <a:t>However, </a:t>
            </a:r>
            <a:r>
              <a:rPr b="0" i="0" lang="en" sz="1200" u="none" cap="none" strike="noStrike">
                <a:solidFill>
                  <a:srgbClr val="DC143C"/>
                </a:solidFill>
                <a:highlight>
                  <a:srgbClr val="F1F1F1"/>
                </a:highlight>
                <a:latin typeface="Consolas"/>
                <a:ea typeface="Consolas"/>
                <a:cs typeface="Consolas"/>
                <a:sym typeface="Consolas"/>
              </a:rPr>
              <a:t>cin</a:t>
            </a:r>
            <a:r>
              <a:rPr b="0" i="0" lang="en" sz="1150" u="none" cap="none" strike="noStrike">
                <a:solidFill>
                  <a:schemeClr val="dk1"/>
                </a:solidFill>
                <a:highlight>
                  <a:srgbClr val="FFFFFF"/>
                </a:highlight>
                <a:latin typeface="Verdana"/>
                <a:ea typeface="Verdana"/>
                <a:cs typeface="Verdana"/>
                <a:sym typeface="Verdana"/>
              </a:rPr>
              <a:t> considers a space (whitespace, tabs, etc) as a terminating character, which means that it can only display a single word (even if you type many words):</a:t>
            </a:r>
            <a:endParaRPr b="0" i="0" sz="1150" u="none" cap="none" strike="noStrike">
              <a:solidFill>
                <a:schemeClr val="dk1"/>
              </a:solidFill>
              <a:highlight>
                <a:srgbClr val="FFFFFF"/>
              </a:highlight>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150"/>
              <a:buFont typeface="Arial"/>
              <a:buNone/>
            </a:pPr>
            <a:r>
              <a:t/>
            </a:r>
            <a:endParaRPr b="0" i="0" sz="1150" u="none" cap="none" strike="noStrike">
              <a:solidFill>
                <a:schemeClr val="dk1"/>
              </a:solidFill>
              <a:highlight>
                <a:srgbClr val="FFFFFF"/>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50"/>
              <a:buFont typeface="Arial"/>
              <a:buNone/>
            </a:pPr>
            <a:r>
              <a:rPr b="0" i="0" lang="en" sz="1150" u="none" cap="none" strike="noStrike">
                <a:solidFill>
                  <a:schemeClr val="dk1"/>
                </a:solidFill>
                <a:highlight>
                  <a:srgbClr val="FFFFFF"/>
                </a:highlight>
                <a:latin typeface="Consolas"/>
                <a:ea typeface="Consolas"/>
                <a:cs typeface="Consolas"/>
                <a:sym typeface="Consolas"/>
              </a:rPr>
              <a:t>string fullName;</a:t>
            </a:r>
            <a:endParaRPr b="0" i="0" sz="1150" u="none" cap="none" strike="noStrike">
              <a:solidFill>
                <a:schemeClr val="dk1"/>
              </a:solidFill>
              <a:highlight>
                <a:srgbClr val="FFFFFF"/>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50"/>
              <a:buFont typeface="Arial"/>
              <a:buNone/>
            </a:pPr>
            <a:r>
              <a:rPr b="0" i="0" lang="en" sz="1150" u="none" cap="none" strike="noStrike">
                <a:solidFill>
                  <a:schemeClr val="dk1"/>
                </a:solidFill>
                <a:highlight>
                  <a:srgbClr val="FFFFFF"/>
                </a:highlight>
                <a:latin typeface="Consolas"/>
                <a:ea typeface="Consolas"/>
                <a:cs typeface="Consolas"/>
                <a:sym typeface="Consolas"/>
              </a:rPr>
              <a:t>cout &lt;&lt; </a:t>
            </a:r>
            <a:r>
              <a:rPr b="0" i="0" lang="en" sz="1150" u="none" cap="none" strike="noStrike">
                <a:solidFill>
                  <a:srgbClr val="A52A2A"/>
                </a:solidFill>
                <a:highlight>
                  <a:srgbClr val="FFFFFF"/>
                </a:highlight>
                <a:latin typeface="Consolas"/>
                <a:ea typeface="Consolas"/>
                <a:cs typeface="Consolas"/>
                <a:sym typeface="Consolas"/>
              </a:rPr>
              <a:t>"Type your full name: "</a:t>
            </a:r>
            <a:r>
              <a:rPr b="0" i="0" lang="en" sz="1150" u="none" cap="none" strike="noStrike">
                <a:solidFill>
                  <a:schemeClr val="dk1"/>
                </a:solidFill>
                <a:highlight>
                  <a:srgbClr val="FFFFFF"/>
                </a:highlight>
                <a:latin typeface="Consolas"/>
                <a:ea typeface="Consolas"/>
                <a:cs typeface="Consolas"/>
                <a:sym typeface="Consolas"/>
              </a:rPr>
              <a:t>; </a:t>
            </a:r>
            <a:endParaRPr b="0" i="0" sz="1150" u="none" cap="none" strike="noStrike">
              <a:solidFill>
                <a:schemeClr val="dk1"/>
              </a:solidFill>
              <a:highlight>
                <a:srgbClr val="FFFFFF"/>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50"/>
              <a:buFont typeface="Arial"/>
              <a:buNone/>
            </a:pPr>
            <a:r>
              <a:rPr b="0" i="0" lang="en" sz="1150" u="none" cap="none" strike="noStrike">
                <a:solidFill>
                  <a:schemeClr val="dk1"/>
                </a:solidFill>
                <a:highlight>
                  <a:srgbClr val="FFFFFF"/>
                </a:highlight>
                <a:latin typeface="Consolas"/>
                <a:ea typeface="Consolas"/>
                <a:cs typeface="Consolas"/>
                <a:sym typeface="Consolas"/>
              </a:rPr>
              <a:t>cin &gt;&gt; fullName;</a:t>
            </a:r>
            <a:endParaRPr b="0" i="0" sz="1150" u="none" cap="none" strike="noStrike">
              <a:solidFill>
                <a:schemeClr val="dk1"/>
              </a:solidFill>
              <a:highlight>
                <a:srgbClr val="FFFFFF"/>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50"/>
              <a:buFont typeface="Arial"/>
              <a:buNone/>
            </a:pPr>
            <a:r>
              <a:rPr b="0" i="0" lang="en" sz="1150" u="none" cap="none" strike="noStrike">
                <a:solidFill>
                  <a:schemeClr val="dk1"/>
                </a:solidFill>
                <a:highlight>
                  <a:srgbClr val="FFFFFF"/>
                </a:highlight>
                <a:latin typeface="Consolas"/>
                <a:ea typeface="Consolas"/>
                <a:cs typeface="Consolas"/>
                <a:sym typeface="Consolas"/>
              </a:rPr>
              <a:t>cout &lt;&lt; </a:t>
            </a:r>
            <a:r>
              <a:rPr b="0" i="0" lang="en" sz="1150" u="none" cap="none" strike="noStrike">
                <a:solidFill>
                  <a:srgbClr val="A52A2A"/>
                </a:solidFill>
                <a:highlight>
                  <a:srgbClr val="FFFFFF"/>
                </a:highlight>
                <a:latin typeface="Consolas"/>
                <a:ea typeface="Consolas"/>
                <a:cs typeface="Consolas"/>
                <a:sym typeface="Consolas"/>
              </a:rPr>
              <a:t>"Your name is: "</a:t>
            </a:r>
            <a:r>
              <a:rPr b="0" i="0" lang="en" sz="1150" u="none" cap="none" strike="noStrike">
                <a:solidFill>
                  <a:schemeClr val="dk1"/>
                </a:solidFill>
                <a:highlight>
                  <a:srgbClr val="FFFFFF"/>
                </a:highlight>
                <a:latin typeface="Consolas"/>
                <a:ea typeface="Consolas"/>
                <a:cs typeface="Consolas"/>
                <a:sym typeface="Consolas"/>
              </a:rPr>
              <a:t> &lt;&lt; fullName;</a:t>
            </a:r>
            <a:endParaRPr b="0" i="0" sz="1150" u="none" cap="none" strike="noStrike">
              <a:solidFill>
                <a:schemeClr val="dk1"/>
              </a:solidFill>
              <a:highlight>
                <a:srgbClr val="FFFFFF"/>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 sz="1150" u="none" cap="none" strike="noStrike">
                <a:solidFill>
                  <a:srgbClr val="008000"/>
                </a:solidFill>
                <a:highlight>
                  <a:srgbClr val="FFFFFF"/>
                </a:highlight>
                <a:latin typeface="Consolas"/>
                <a:ea typeface="Consolas"/>
                <a:cs typeface="Consolas"/>
                <a:sym typeface="Consolas"/>
              </a:rPr>
              <a:t>// Type your full name: John Doe</a:t>
            </a:r>
            <a:endParaRPr b="0" i="0" sz="1150" u="none" cap="none" strike="noStrike">
              <a:solidFill>
                <a:srgbClr val="008000"/>
              </a:solidFill>
              <a:highlight>
                <a:srgbClr val="FFFFFF"/>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50"/>
              <a:buFont typeface="Arial"/>
              <a:buNone/>
            </a:pPr>
            <a:r>
              <a:rPr b="0" i="0" lang="en" sz="1150" u="none" cap="none" strike="noStrike">
                <a:solidFill>
                  <a:srgbClr val="008000"/>
                </a:solidFill>
                <a:highlight>
                  <a:srgbClr val="FFFFFF"/>
                </a:highlight>
                <a:latin typeface="Consolas"/>
                <a:ea typeface="Consolas"/>
                <a:cs typeface="Consolas"/>
                <a:sym typeface="Consolas"/>
              </a:rPr>
              <a:t>// Your name is: John</a:t>
            </a:r>
            <a:endParaRPr b="0" i="0" sz="1150" u="none" cap="none" strike="noStrike">
              <a:solidFill>
                <a:srgbClr val="008000"/>
              </a:solidFill>
              <a:highlight>
                <a:srgbClr val="FFFFFF"/>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50"/>
              <a:buFont typeface="Arial"/>
              <a:buNone/>
            </a:pPr>
            <a:r>
              <a:rPr b="0" i="0" lang="en" sz="1150" u="none" cap="none" strike="noStrike">
                <a:solidFill>
                  <a:schemeClr val="dk1"/>
                </a:solidFill>
                <a:highlight>
                  <a:srgbClr val="FFFFFF"/>
                </a:highlight>
                <a:latin typeface="Verdana"/>
                <a:ea typeface="Verdana"/>
                <a:cs typeface="Verdana"/>
                <a:sym typeface="Verdana"/>
              </a:rPr>
              <a:t>From the example above, you would expect the program to print "John Doe", but it only prints "John".</a:t>
            </a:r>
            <a:endParaRPr b="0" i="0" sz="1150" u="none" cap="none" strike="noStrike">
              <a:solidFill>
                <a:srgbClr val="008000"/>
              </a:solidFill>
              <a:highlight>
                <a:srgbClr val="FFFFFF"/>
              </a:highlight>
              <a:latin typeface="Consolas"/>
              <a:ea typeface="Consolas"/>
              <a:cs typeface="Consolas"/>
              <a:sym typeface="Consolas"/>
            </a:endParaRPr>
          </a:p>
        </p:txBody>
      </p:sp>
      <p:sp>
        <p:nvSpPr>
          <p:cNvPr id="217" name="Google Shape;217;p2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5"/>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t>Exercises</a:t>
            </a:r>
            <a:endParaRPr b="1"/>
          </a:p>
        </p:txBody>
      </p:sp>
      <p:sp>
        <p:nvSpPr>
          <p:cNvPr id="223" name="Google Shape;223;p25"/>
          <p:cNvSpPr txBox="1"/>
          <p:nvPr>
            <p:ph idx="1" type="body"/>
          </p:nvPr>
        </p:nvSpPr>
        <p:spPr>
          <a:xfrm>
            <a:off x="311700" y="619075"/>
            <a:ext cx="8520600" cy="34164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Clr>
                <a:schemeClr val="dk1"/>
              </a:buClr>
              <a:buSzPts val="2400"/>
              <a:buFont typeface="Consolas"/>
              <a:buAutoNum type="arabicPeriod"/>
            </a:pPr>
            <a:r>
              <a:rPr lang="en" sz="2400">
                <a:solidFill>
                  <a:schemeClr val="dk1"/>
                </a:solidFill>
                <a:highlight>
                  <a:schemeClr val="lt1"/>
                </a:highlight>
                <a:latin typeface="Consolas"/>
                <a:ea typeface="Consolas"/>
                <a:cs typeface="Consolas"/>
                <a:sym typeface="Consolas"/>
              </a:rPr>
              <a:t>Write a program that prompt the user to enter the firstName,lastName,age and display all information in one line.</a:t>
            </a:r>
            <a:endParaRPr sz="2400">
              <a:solidFill>
                <a:schemeClr val="dk1"/>
              </a:solidFill>
              <a:highlight>
                <a:schemeClr val="lt1"/>
              </a:highlight>
              <a:latin typeface="Consolas"/>
              <a:ea typeface="Consolas"/>
              <a:cs typeface="Consolas"/>
              <a:sym typeface="Consolas"/>
            </a:endParaRPr>
          </a:p>
          <a:p>
            <a:pPr indent="-381000" lvl="0" marL="457200" rtl="0" algn="l">
              <a:lnSpc>
                <a:spcPct val="115000"/>
              </a:lnSpc>
              <a:spcBef>
                <a:spcPts val="0"/>
              </a:spcBef>
              <a:spcAft>
                <a:spcPts val="0"/>
              </a:spcAft>
              <a:buClr>
                <a:schemeClr val="dk1"/>
              </a:buClr>
              <a:buSzPts val="2400"/>
              <a:buFont typeface="Consolas"/>
              <a:buAutoNum type="arabicPeriod"/>
            </a:pPr>
            <a:r>
              <a:rPr lang="en" sz="2400">
                <a:solidFill>
                  <a:schemeClr val="dk1"/>
                </a:solidFill>
                <a:highlight>
                  <a:schemeClr val="lt1"/>
                </a:highlight>
                <a:latin typeface="Consolas"/>
                <a:ea typeface="Consolas"/>
                <a:cs typeface="Consolas"/>
                <a:sym typeface="Consolas"/>
              </a:rPr>
              <a:t>Write a program which asks the user to enter</a:t>
            </a:r>
            <a:endParaRPr sz="2400">
              <a:solidFill>
                <a:schemeClr val="dk1"/>
              </a:solidFill>
              <a:highlight>
                <a:schemeClr val="lt1"/>
              </a:highlight>
              <a:latin typeface="Consolas"/>
              <a:ea typeface="Consolas"/>
              <a:cs typeface="Consolas"/>
              <a:sym typeface="Consolas"/>
            </a:endParaRPr>
          </a:p>
          <a:p>
            <a:pPr indent="-381000" lvl="0" marL="1371600" rtl="0" algn="l">
              <a:lnSpc>
                <a:spcPct val="115000"/>
              </a:lnSpc>
              <a:spcBef>
                <a:spcPts val="0"/>
              </a:spcBef>
              <a:spcAft>
                <a:spcPts val="0"/>
              </a:spcAft>
              <a:buClr>
                <a:schemeClr val="dk1"/>
              </a:buClr>
              <a:buSzPts val="2400"/>
              <a:buFont typeface="Consolas"/>
              <a:buChar char="●"/>
            </a:pPr>
            <a:r>
              <a:rPr lang="en" sz="2400">
                <a:solidFill>
                  <a:schemeClr val="dk1"/>
                </a:solidFill>
                <a:highlight>
                  <a:schemeClr val="lt1"/>
                </a:highlight>
                <a:latin typeface="Consolas"/>
                <a:ea typeface="Consolas"/>
                <a:cs typeface="Consolas"/>
                <a:sym typeface="Consolas"/>
              </a:rPr>
              <a:t>fullname</a:t>
            </a:r>
            <a:endParaRPr sz="2400">
              <a:solidFill>
                <a:schemeClr val="dk1"/>
              </a:solidFill>
              <a:highlight>
                <a:schemeClr val="lt1"/>
              </a:highlight>
              <a:latin typeface="Consolas"/>
              <a:ea typeface="Consolas"/>
              <a:cs typeface="Consolas"/>
              <a:sym typeface="Consolas"/>
            </a:endParaRPr>
          </a:p>
          <a:p>
            <a:pPr indent="-381000" lvl="0" marL="1371600" rtl="0" algn="l">
              <a:lnSpc>
                <a:spcPct val="115000"/>
              </a:lnSpc>
              <a:spcBef>
                <a:spcPts val="0"/>
              </a:spcBef>
              <a:spcAft>
                <a:spcPts val="0"/>
              </a:spcAft>
              <a:buClr>
                <a:schemeClr val="dk1"/>
              </a:buClr>
              <a:buSzPts val="2400"/>
              <a:buFont typeface="Consolas"/>
              <a:buChar char="●"/>
            </a:pPr>
            <a:r>
              <a:rPr lang="en" sz="2400">
                <a:solidFill>
                  <a:schemeClr val="dk1"/>
                </a:solidFill>
                <a:highlight>
                  <a:schemeClr val="lt1"/>
                </a:highlight>
                <a:latin typeface="Consolas"/>
                <a:ea typeface="Consolas"/>
                <a:cs typeface="Consolas"/>
                <a:sym typeface="Consolas"/>
              </a:rPr>
              <a:t>initial amount, </a:t>
            </a:r>
            <a:endParaRPr sz="2400">
              <a:solidFill>
                <a:schemeClr val="dk1"/>
              </a:solidFill>
              <a:highlight>
                <a:schemeClr val="lt1"/>
              </a:highlight>
              <a:latin typeface="Consolas"/>
              <a:ea typeface="Consolas"/>
              <a:cs typeface="Consolas"/>
              <a:sym typeface="Consolas"/>
            </a:endParaRPr>
          </a:p>
          <a:p>
            <a:pPr indent="-381000" lvl="0" marL="1371600" rtl="0" algn="l">
              <a:lnSpc>
                <a:spcPct val="115000"/>
              </a:lnSpc>
              <a:spcBef>
                <a:spcPts val="0"/>
              </a:spcBef>
              <a:spcAft>
                <a:spcPts val="0"/>
              </a:spcAft>
              <a:buClr>
                <a:schemeClr val="dk1"/>
              </a:buClr>
              <a:buSzPts val="2400"/>
              <a:buFont typeface="Consolas"/>
              <a:buChar char="●"/>
            </a:pPr>
            <a:r>
              <a:rPr lang="en" sz="2400">
                <a:solidFill>
                  <a:schemeClr val="dk1"/>
                </a:solidFill>
                <a:highlight>
                  <a:schemeClr val="lt1"/>
                </a:highlight>
                <a:latin typeface="Consolas"/>
                <a:ea typeface="Consolas"/>
                <a:cs typeface="Consolas"/>
                <a:sym typeface="Consolas"/>
              </a:rPr>
              <a:t>the interest rate per year, </a:t>
            </a:r>
            <a:endParaRPr sz="2400">
              <a:solidFill>
                <a:schemeClr val="dk1"/>
              </a:solidFill>
              <a:highlight>
                <a:schemeClr val="lt1"/>
              </a:highlight>
              <a:latin typeface="Consolas"/>
              <a:ea typeface="Consolas"/>
              <a:cs typeface="Consolas"/>
              <a:sym typeface="Consolas"/>
            </a:endParaRPr>
          </a:p>
          <a:p>
            <a:pPr indent="-381000" lvl="0" marL="1371600" rtl="0" algn="l">
              <a:lnSpc>
                <a:spcPct val="115000"/>
              </a:lnSpc>
              <a:spcBef>
                <a:spcPts val="0"/>
              </a:spcBef>
              <a:spcAft>
                <a:spcPts val="0"/>
              </a:spcAft>
              <a:buClr>
                <a:schemeClr val="dk1"/>
              </a:buClr>
              <a:buSzPts val="2400"/>
              <a:buFont typeface="Consolas"/>
              <a:buChar char="●"/>
            </a:pPr>
            <a:r>
              <a:rPr lang="en" sz="2400">
                <a:solidFill>
                  <a:schemeClr val="dk1"/>
                </a:solidFill>
                <a:highlight>
                  <a:schemeClr val="lt1"/>
                </a:highlight>
                <a:latin typeface="Consolas"/>
                <a:ea typeface="Consolas"/>
                <a:cs typeface="Consolas"/>
                <a:sym typeface="Consolas"/>
              </a:rPr>
              <a:t>payment time in terms of years</a:t>
            </a:r>
            <a:endParaRPr sz="2400">
              <a:solidFill>
                <a:schemeClr val="dk1"/>
              </a:solidFill>
              <a:highlight>
                <a:schemeClr val="lt1"/>
              </a:highlight>
              <a:latin typeface="Consolas"/>
              <a:ea typeface="Consolas"/>
              <a:cs typeface="Consolas"/>
              <a:sym typeface="Consolas"/>
            </a:endParaRPr>
          </a:p>
          <a:p>
            <a:pPr indent="0" lvl="0" marL="0" rtl="0" algn="l">
              <a:lnSpc>
                <a:spcPct val="115000"/>
              </a:lnSpc>
              <a:spcBef>
                <a:spcPts val="1600"/>
              </a:spcBef>
              <a:spcAft>
                <a:spcPts val="1600"/>
              </a:spcAft>
              <a:buSzPts val="1800"/>
              <a:buNone/>
            </a:pPr>
            <a:r>
              <a:rPr lang="en" sz="2400">
                <a:solidFill>
                  <a:schemeClr val="dk1"/>
                </a:solidFill>
                <a:highlight>
                  <a:schemeClr val="lt1"/>
                </a:highlight>
                <a:latin typeface="Consolas"/>
                <a:ea typeface="Consolas"/>
                <a:cs typeface="Consolas"/>
                <a:sym typeface="Consolas"/>
              </a:rPr>
              <a:t> And finally Compute and display the  total interest  for the user</a:t>
            </a:r>
            <a:endParaRPr/>
          </a:p>
        </p:txBody>
      </p:sp>
      <p:sp>
        <p:nvSpPr>
          <p:cNvPr id="224" name="Google Shape;224;p2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getline</a:t>
            </a:r>
            <a:endParaRPr/>
          </a:p>
        </p:txBody>
      </p:sp>
      <p:sp>
        <p:nvSpPr>
          <p:cNvPr id="230" name="Google Shape;230;p26"/>
          <p:cNvSpPr txBox="1"/>
          <p:nvPr>
            <p:ph idx="1" type="body"/>
          </p:nvPr>
        </p:nvSpPr>
        <p:spPr>
          <a:xfrm>
            <a:off x="311700" y="1152475"/>
            <a:ext cx="8520600" cy="430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solidFill>
                  <a:schemeClr val="dk1"/>
                </a:solidFill>
                <a:highlight>
                  <a:srgbClr val="FFFFFF"/>
                </a:highlight>
                <a:latin typeface="Verdana"/>
                <a:ea typeface="Verdana"/>
                <a:cs typeface="Verdana"/>
                <a:sym typeface="Verdana"/>
              </a:rPr>
              <a:t>That's why, when working with strings, we often use the </a:t>
            </a:r>
            <a:r>
              <a:rPr lang="en">
                <a:solidFill>
                  <a:srgbClr val="DC143C"/>
                </a:solidFill>
                <a:highlight>
                  <a:srgbClr val="F1F1F1"/>
                </a:highlight>
                <a:latin typeface="Consolas"/>
                <a:ea typeface="Consolas"/>
                <a:cs typeface="Consolas"/>
                <a:sym typeface="Consolas"/>
              </a:rPr>
              <a:t>getline()</a:t>
            </a:r>
            <a:r>
              <a:rPr lang="en">
                <a:solidFill>
                  <a:schemeClr val="dk1"/>
                </a:solidFill>
                <a:highlight>
                  <a:srgbClr val="FFFFFF"/>
                </a:highlight>
                <a:latin typeface="Verdana"/>
                <a:ea typeface="Verdana"/>
                <a:cs typeface="Verdana"/>
                <a:sym typeface="Verdana"/>
              </a:rPr>
              <a:t> function to read a line of text. It takes </a:t>
            </a:r>
            <a:r>
              <a:rPr lang="en">
                <a:solidFill>
                  <a:srgbClr val="DC143C"/>
                </a:solidFill>
                <a:highlight>
                  <a:srgbClr val="F1F1F1"/>
                </a:highlight>
                <a:latin typeface="Consolas"/>
                <a:ea typeface="Consolas"/>
                <a:cs typeface="Consolas"/>
                <a:sym typeface="Consolas"/>
              </a:rPr>
              <a:t>cin</a:t>
            </a:r>
            <a:r>
              <a:rPr lang="en">
                <a:solidFill>
                  <a:schemeClr val="dk1"/>
                </a:solidFill>
                <a:highlight>
                  <a:srgbClr val="FFFFFF"/>
                </a:highlight>
                <a:latin typeface="Verdana"/>
                <a:ea typeface="Verdana"/>
                <a:cs typeface="Verdana"/>
                <a:sym typeface="Verdana"/>
              </a:rPr>
              <a:t> as the first parameter, and the string variable as second:</a:t>
            </a:r>
            <a:endParaRPr>
              <a:solidFill>
                <a:schemeClr val="dk1"/>
              </a:solidFill>
              <a:highlight>
                <a:srgbClr val="FFFFFF"/>
              </a:highlight>
              <a:latin typeface="Verdana"/>
              <a:ea typeface="Verdana"/>
              <a:cs typeface="Verdana"/>
              <a:sym typeface="Verdana"/>
            </a:endParaRPr>
          </a:p>
          <a:p>
            <a:pPr indent="0" lvl="0" marL="0" rtl="0" algn="l">
              <a:lnSpc>
                <a:spcPct val="115000"/>
              </a:lnSpc>
              <a:spcBef>
                <a:spcPts val="1600"/>
              </a:spcBef>
              <a:spcAft>
                <a:spcPts val="0"/>
              </a:spcAft>
              <a:buClr>
                <a:schemeClr val="dk1"/>
              </a:buClr>
              <a:buSzPts val="1100"/>
              <a:buFont typeface="Arial"/>
              <a:buNone/>
            </a:pPr>
            <a:r>
              <a:rPr lang="en">
                <a:solidFill>
                  <a:schemeClr val="dk1"/>
                </a:solidFill>
                <a:highlight>
                  <a:srgbClr val="FFFFFF"/>
                </a:highlight>
                <a:latin typeface="Consolas"/>
                <a:ea typeface="Consolas"/>
                <a:cs typeface="Consolas"/>
                <a:sym typeface="Consolas"/>
              </a:rPr>
              <a:t>string fullName;</a:t>
            </a:r>
            <a:endParaRPr>
              <a:solidFill>
                <a:schemeClr val="dk1"/>
              </a:solidFill>
              <a:highlight>
                <a:srgbClr val="FFFFFF"/>
              </a:highlight>
              <a:latin typeface="Consolas"/>
              <a:ea typeface="Consolas"/>
              <a:cs typeface="Consolas"/>
              <a:sym typeface="Consolas"/>
            </a:endParaRPr>
          </a:p>
          <a:p>
            <a:pPr indent="0" lvl="0" marL="0" rtl="0" algn="l">
              <a:lnSpc>
                <a:spcPct val="115000"/>
              </a:lnSpc>
              <a:spcBef>
                <a:spcPts val="1600"/>
              </a:spcBef>
              <a:spcAft>
                <a:spcPts val="0"/>
              </a:spcAft>
              <a:buClr>
                <a:schemeClr val="dk1"/>
              </a:buClr>
              <a:buSzPts val="1100"/>
              <a:buFont typeface="Arial"/>
              <a:buNone/>
            </a:pPr>
            <a:r>
              <a:rPr lang="en">
                <a:solidFill>
                  <a:schemeClr val="dk1"/>
                </a:solidFill>
                <a:highlight>
                  <a:srgbClr val="FFFFFF"/>
                </a:highlight>
                <a:latin typeface="Consolas"/>
                <a:ea typeface="Consolas"/>
                <a:cs typeface="Consolas"/>
                <a:sym typeface="Consolas"/>
              </a:rPr>
              <a:t>cout &lt;&lt; </a:t>
            </a:r>
            <a:r>
              <a:rPr lang="en">
                <a:solidFill>
                  <a:srgbClr val="A52A2A"/>
                </a:solidFill>
                <a:highlight>
                  <a:srgbClr val="FFFFFF"/>
                </a:highlight>
                <a:latin typeface="Consolas"/>
                <a:ea typeface="Consolas"/>
                <a:cs typeface="Consolas"/>
                <a:sym typeface="Consolas"/>
              </a:rPr>
              <a:t>"Type your full name: "</a:t>
            </a:r>
            <a:r>
              <a:rPr lang="en">
                <a:solidFill>
                  <a:schemeClr val="dk1"/>
                </a:solidFill>
                <a:highlight>
                  <a:srgbClr val="FFFFFF"/>
                </a:highlight>
                <a:latin typeface="Consolas"/>
                <a:ea typeface="Consolas"/>
                <a:cs typeface="Consolas"/>
                <a:sym typeface="Consolas"/>
              </a:rPr>
              <a:t>; </a:t>
            </a:r>
            <a:endParaRPr>
              <a:solidFill>
                <a:schemeClr val="dk1"/>
              </a:solidFill>
              <a:highlight>
                <a:srgbClr val="FFFFFF"/>
              </a:highlight>
              <a:latin typeface="Consolas"/>
              <a:ea typeface="Consolas"/>
              <a:cs typeface="Consolas"/>
              <a:sym typeface="Consolas"/>
            </a:endParaRPr>
          </a:p>
          <a:p>
            <a:pPr indent="0" lvl="0" marL="0" rtl="0" algn="l">
              <a:lnSpc>
                <a:spcPct val="115000"/>
              </a:lnSpc>
              <a:spcBef>
                <a:spcPts val="1600"/>
              </a:spcBef>
              <a:spcAft>
                <a:spcPts val="0"/>
              </a:spcAft>
              <a:buClr>
                <a:schemeClr val="dk1"/>
              </a:buClr>
              <a:buSzPts val="1100"/>
              <a:buFont typeface="Arial"/>
              <a:buNone/>
            </a:pPr>
            <a:r>
              <a:rPr lang="en">
                <a:solidFill>
                  <a:schemeClr val="dk1"/>
                </a:solidFill>
                <a:highlight>
                  <a:srgbClr val="FFFFFF"/>
                </a:highlight>
                <a:latin typeface="Consolas"/>
                <a:ea typeface="Consolas"/>
                <a:cs typeface="Consolas"/>
                <a:sym typeface="Consolas"/>
              </a:rPr>
              <a:t>getline (cin, fullName);</a:t>
            </a:r>
            <a:endParaRPr>
              <a:solidFill>
                <a:schemeClr val="dk1"/>
              </a:solidFill>
              <a:highlight>
                <a:srgbClr val="FFFFFF"/>
              </a:highlight>
              <a:latin typeface="Consolas"/>
              <a:ea typeface="Consolas"/>
              <a:cs typeface="Consolas"/>
              <a:sym typeface="Consolas"/>
            </a:endParaRPr>
          </a:p>
          <a:p>
            <a:pPr indent="0" lvl="0" marL="0" rtl="0" algn="l">
              <a:lnSpc>
                <a:spcPct val="115000"/>
              </a:lnSpc>
              <a:spcBef>
                <a:spcPts val="1600"/>
              </a:spcBef>
              <a:spcAft>
                <a:spcPts val="0"/>
              </a:spcAft>
              <a:buClr>
                <a:schemeClr val="dk1"/>
              </a:buClr>
              <a:buSzPts val="1100"/>
              <a:buFont typeface="Arial"/>
              <a:buNone/>
            </a:pPr>
            <a:r>
              <a:rPr lang="en">
                <a:solidFill>
                  <a:schemeClr val="dk1"/>
                </a:solidFill>
                <a:highlight>
                  <a:srgbClr val="FFFFFF"/>
                </a:highlight>
                <a:latin typeface="Consolas"/>
                <a:ea typeface="Consolas"/>
                <a:cs typeface="Consolas"/>
                <a:sym typeface="Consolas"/>
              </a:rPr>
              <a:t>cout &lt;&lt; </a:t>
            </a:r>
            <a:r>
              <a:rPr lang="en">
                <a:solidFill>
                  <a:srgbClr val="A52A2A"/>
                </a:solidFill>
                <a:highlight>
                  <a:srgbClr val="FFFFFF"/>
                </a:highlight>
                <a:latin typeface="Consolas"/>
                <a:ea typeface="Consolas"/>
                <a:cs typeface="Consolas"/>
                <a:sym typeface="Consolas"/>
              </a:rPr>
              <a:t>"Your name is: "</a:t>
            </a:r>
            <a:r>
              <a:rPr lang="en">
                <a:solidFill>
                  <a:schemeClr val="dk1"/>
                </a:solidFill>
                <a:highlight>
                  <a:srgbClr val="FFFFFF"/>
                </a:highlight>
                <a:latin typeface="Consolas"/>
                <a:ea typeface="Consolas"/>
                <a:cs typeface="Consolas"/>
                <a:sym typeface="Consolas"/>
              </a:rPr>
              <a:t> &lt;&lt; fullName;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rgbClr val="008000"/>
                </a:solidFill>
                <a:highlight>
                  <a:srgbClr val="FFFFFF"/>
                </a:highlight>
                <a:latin typeface="Consolas"/>
                <a:ea typeface="Consolas"/>
                <a:cs typeface="Consolas"/>
                <a:sym typeface="Consolas"/>
              </a:rPr>
              <a:t>// Type your full name: John Doe</a:t>
            </a:r>
            <a:endParaRPr>
              <a:solidFill>
                <a:srgbClr val="008000"/>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lang="en">
                <a:solidFill>
                  <a:srgbClr val="008000"/>
                </a:solidFill>
                <a:highlight>
                  <a:srgbClr val="FFFFFF"/>
                </a:highlight>
                <a:latin typeface="Consolas"/>
                <a:ea typeface="Consolas"/>
                <a:cs typeface="Consolas"/>
                <a:sym typeface="Consolas"/>
              </a:rPr>
              <a:t>// Your name is: John Doe</a:t>
            </a:r>
            <a:endParaRPr>
              <a:solidFill>
                <a:srgbClr val="008000"/>
              </a:solidFill>
              <a:highlight>
                <a:srgbClr val="FFFFFF"/>
              </a:highlight>
              <a:latin typeface="Consolas"/>
              <a:ea typeface="Consolas"/>
              <a:cs typeface="Consolas"/>
              <a:sym typeface="Consolas"/>
            </a:endParaRPr>
          </a:p>
          <a:p>
            <a:pPr indent="0" lvl="0" marL="0" rtl="0" algn="l">
              <a:lnSpc>
                <a:spcPct val="115000"/>
              </a:lnSpc>
              <a:spcBef>
                <a:spcPts val="0"/>
              </a:spcBef>
              <a:spcAft>
                <a:spcPts val="1600"/>
              </a:spcAft>
              <a:buSzPts val="1800"/>
              <a:buNone/>
            </a:pPr>
            <a:r>
              <a:t/>
            </a:r>
            <a:endParaRPr sz="1150">
              <a:solidFill>
                <a:srgbClr val="000000"/>
              </a:solidFill>
              <a:highlight>
                <a:srgbClr val="FFFFFF"/>
              </a:highlight>
              <a:latin typeface="Consolas"/>
              <a:ea typeface="Consolas"/>
              <a:cs typeface="Consolas"/>
              <a:sym typeface="Consolas"/>
            </a:endParaRPr>
          </a:p>
        </p:txBody>
      </p:sp>
      <p:sp>
        <p:nvSpPr>
          <p:cNvPr id="231" name="Google Shape;231;p26"/>
          <p:cNvSpPr txBox="1"/>
          <p:nvPr/>
        </p:nvSpPr>
        <p:spPr>
          <a:xfrm>
            <a:off x="5475650" y="2091650"/>
            <a:ext cx="3000000" cy="2767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50"/>
              <a:buFont typeface="Arial"/>
              <a:buNone/>
            </a:pPr>
            <a:r>
              <a:rPr b="1" i="0" lang="en" sz="1250" u="none" cap="none" strike="noStrike">
                <a:solidFill>
                  <a:srgbClr val="232629"/>
                </a:solidFill>
                <a:highlight>
                  <a:srgbClr val="FFFFFF"/>
                </a:highlight>
                <a:latin typeface="Arial"/>
                <a:ea typeface="Arial"/>
                <a:cs typeface="Arial"/>
                <a:sym typeface="Arial"/>
              </a:rPr>
              <a:t>Note: </a:t>
            </a:r>
            <a:r>
              <a:rPr b="0" i="0" lang="en" sz="1250" u="none" cap="none" strike="noStrike">
                <a:solidFill>
                  <a:srgbClr val="232629"/>
                </a:solidFill>
                <a:highlight>
                  <a:srgbClr val="FFFFFF"/>
                </a:highlight>
                <a:latin typeface="Arial"/>
                <a:ea typeface="Arial"/>
                <a:cs typeface="Arial"/>
                <a:sym typeface="Arial"/>
              </a:rPr>
              <a:t>When using getline() after some inputs, the function will fail to read inputs because when cin.getline() reads from the input, there is a newline character left in the input stream, so it doesn't read your c-string. Use cin.ignore() before calling getline().</a:t>
            </a:r>
            <a:endParaRPr b="0" i="0" sz="1250" u="none" cap="none" strike="noStrike">
              <a:solidFill>
                <a:srgbClr val="232629"/>
              </a:solidFill>
              <a:highlight>
                <a:srgbClr val="FFFFFF"/>
              </a:highlight>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cout&lt;&lt;</a:t>
            </a:r>
            <a:r>
              <a:rPr b="0" i="0" lang="en" sz="1100" u="none" cap="none" strike="noStrike">
                <a:solidFill>
                  <a:schemeClr val="dk1"/>
                </a:solidFill>
                <a:latin typeface="Arial"/>
                <a:ea typeface="Arial"/>
                <a:cs typeface="Arial"/>
                <a:sym typeface="Arial"/>
              </a:rPr>
              <a:t>"Enter age"</a:t>
            </a:r>
            <a:r>
              <a:rPr b="0" i="0" lang="en" sz="12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cin&gt;&gt;age;</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cout&lt;&lt;</a:t>
            </a:r>
            <a:r>
              <a:rPr b="0" i="0" lang="en" sz="1100" u="none" cap="none" strike="noStrike">
                <a:solidFill>
                  <a:schemeClr val="dk1"/>
                </a:solidFill>
                <a:latin typeface="Arial"/>
                <a:ea typeface="Arial"/>
                <a:cs typeface="Arial"/>
                <a:sym typeface="Arial"/>
              </a:rPr>
              <a:t>"Enter fullname:\t"</a:t>
            </a:r>
            <a:r>
              <a:rPr b="0" i="0" lang="en" sz="12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1" i="0" lang="en" sz="1200" u="none" cap="none" strike="noStrike">
                <a:solidFill>
                  <a:schemeClr val="dk1"/>
                </a:solidFill>
                <a:latin typeface="Arial"/>
                <a:ea typeface="Arial"/>
                <a:cs typeface="Arial"/>
                <a:sym typeface="Arial"/>
              </a:rPr>
              <a:t>cin.</a:t>
            </a:r>
            <a:r>
              <a:rPr b="1" i="0" lang="en" sz="1100" u="none" cap="none" strike="noStrike">
                <a:solidFill>
                  <a:schemeClr val="dk1"/>
                </a:solidFill>
                <a:latin typeface="Arial"/>
                <a:ea typeface="Arial"/>
                <a:cs typeface="Arial"/>
                <a:sym typeface="Arial"/>
              </a:rPr>
              <a:t>ignore</a:t>
            </a:r>
            <a:r>
              <a:rPr b="1" i="0" lang="en" sz="1200" u="none" cap="none" strike="noStrike">
                <a:solidFill>
                  <a:schemeClr val="dk1"/>
                </a:solidFill>
                <a:latin typeface="Arial"/>
                <a:ea typeface="Arial"/>
                <a:cs typeface="Arial"/>
                <a:sym typeface="Arial"/>
              </a:rPr>
              <a:t>(); </a:t>
            </a:r>
            <a:endParaRPr b="1" i="0" sz="12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chemeClr val="dk1"/>
                </a:solidFill>
                <a:latin typeface="Arial"/>
                <a:ea typeface="Arial"/>
                <a:cs typeface="Arial"/>
                <a:sym typeface="Arial"/>
              </a:rPr>
              <a:t>getline</a:t>
            </a:r>
            <a:r>
              <a:rPr b="1" i="0" lang="en" sz="1200" u="none" cap="none" strike="noStrike">
                <a:solidFill>
                  <a:schemeClr val="dk1"/>
                </a:solidFill>
                <a:latin typeface="Arial"/>
                <a:ea typeface="Arial"/>
                <a:cs typeface="Arial"/>
                <a:sym typeface="Arial"/>
              </a:rPr>
              <a:t>(cin,</a:t>
            </a:r>
            <a:r>
              <a:rPr b="1" i="0" lang="en" sz="1100" u="none" cap="none" strike="noStrike">
                <a:solidFill>
                  <a:schemeClr val="dk1"/>
                </a:solidFill>
                <a:latin typeface="Arial"/>
                <a:ea typeface="Arial"/>
                <a:cs typeface="Arial"/>
                <a:sym typeface="Arial"/>
              </a:rPr>
              <a:t>fullname</a:t>
            </a:r>
            <a:r>
              <a:rPr b="1" i="0" lang="en" sz="1200" u="none" cap="none" strike="noStrike">
                <a:solidFill>
                  <a:schemeClr val="dk1"/>
                </a:solidFill>
                <a:latin typeface="Arial"/>
                <a:ea typeface="Arial"/>
                <a:cs typeface="Arial"/>
                <a:sym typeface="Arial"/>
              </a:rPr>
              <a:t>);</a:t>
            </a:r>
            <a:endParaRPr b="1" i="0" sz="1200" u="none" cap="none" strike="noStrike">
              <a:solidFill>
                <a:schemeClr val="dk1"/>
              </a:solidFill>
              <a:latin typeface="Arial"/>
              <a:ea typeface="Arial"/>
              <a:cs typeface="Arial"/>
              <a:sym typeface="Arial"/>
            </a:endParaRPr>
          </a:p>
        </p:txBody>
      </p:sp>
      <p:sp>
        <p:nvSpPr>
          <p:cNvPr id="232" name="Google Shape;232;p2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9"/>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 IDENTIFIERS</a:t>
            </a:r>
            <a:endParaRPr/>
          </a:p>
        </p:txBody>
      </p:sp>
      <p:sp>
        <p:nvSpPr>
          <p:cNvPr id="238" name="Google Shape;238;p29"/>
          <p:cNvSpPr txBox="1"/>
          <p:nvPr>
            <p:ph idx="1" type="body"/>
          </p:nvPr>
        </p:nvSpPr>
        <p:spPr>
          <a:xfrm>
            <a:off x="311700" y="619075"/>
            <a:ext cx="8520600" cy="431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100"/>
              <a:buFont typeface="Arial"/>
              <a:buNone/>
            </a:pPr>
            <a:r>
              <a:rPr lang="en" sz="1600">
                <a:solidFill>
                  <a:schemeClr val="dk1"/>
                </a:solidFill>
              </a:rPr>
              <a:t>The names of variables, functions, labels, and various other user-defined </a:t>
            </a:r>
            <a:r>
              <a:rPr b="1" lang="en" sz="1600">
                <a:solidFill>
                  <a:schemeClr val="dk1"/>
                </a:solidFill>
              </a:rPr>
              <a:t>objects are called identifiers.</a:t>
            </a:r>
            <a:endParaRPr b="1"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600">
                <a:solidFill>
                  <a:schemeClr val="dk1"/>
                </a:solidFill>
                <a:highlight>
                  <a:srgbClr val="FFFFFF"/>
                </a:highlight>
                <a:latin typeface="Verdana"/>
                <a:ea typeface="Verdana"/>
                <a:cs typeface="Verdana"/>
                <a:sym typeface="Verdana"/>
              </a:rPr>
              <a:t>All C++ variables must be identified with unique names. </a:t>
            </a:r>
            <a:endParaRPr sz="1600">
              <a:solidFill>
                <a:schemeClr val="dk1"/>
              </a:solidFill>
              <a:highlight>
                <a:srgbClr val="FFFFFF"/>
              </a:highlight>
              <a:latin typeface="Verdana"/>
              <a:ea typeface="Verdana"/>
              <a:cs typeface="Verdana"/>
              <a:sym typeface="Verdana"/>
            </a:endParaRPr>
          </a:p>
          <a:p>
            <a:pPr indent="0" lvl="0" marL="0" rtl="0" algn="l">
              <a:lnSpc>
                <a:spcPct val="115000"/>
              </a:lnSpc>
              <a:spcBef>
                <a:spcPts val="0"/>
              </a:spcBef>
              <a:spcAft>
                <a:spcPts val="0"/>
              </a:spcAft>
              <a:buClr>
                <a:schemeClr val="dk1"/>
              </a:buClr>
              <a:buSzPts val="1100"/>
              <a:buFont typeface="Arial"/>
              <a:buNone/>
            </a:pPr>
            <a:r>
              <a:rPr lang="en" sz="1600">
                <a:solidFill>
                  <a:schemeClr val="dk1"/>
                </a:solidFill>
                <a:highlight>
                  <a:srgbClr val="FFFFFF"/>
                </a:highlight>
                <a:latin typeface="Verdana"/>
                <a:ea typeface="Verdana"/>
                <a:cs typeface="Verdana"/>
                <a:sym typeface="Verdana"/>
              </a:rPr>
              <a:t>These unique names are called identifiers.</a:t>
            </a:r>
            <a:endParaRPr sz="1600">
              <a:solidFill>
                <a:schemeClr val="dk1"/>
              </a:solidFill>
              <a:highlight>
                <a:srgbClr val="FFFFFF"/>
              </a:highlight>
              <a:latin typeface="Verdana"/>
              <a:ea typeface="Verdana"/>
              <a:cs typeface="Verdana"/>
              <a:sym typeface="Verdana"/>
            </a:endParaRPr>
          </a:p>
          <a:p>
            <a:pPr indent="0" lvl="0" marL="0" rtl="0" algn="l">
              <a:lnSpc>
                <a:spcPct val="115000"/>
              </a:lnSpc>
              <a:spcBef>
                <a:spcPts val="0"/>
              </a:spcBef>
              <a:spcAft>
                <a:spcPts val="0"/>
              </a:spcAft>
              <a:buClr>
                <a:schemeClr val="dk1"/>
              </a:buClr>
              <a:buSzPts val="1100"/>
              <a:buFont typeface="Arial"/>
              <a:buNone/>
            </a:pPr>
            <a:r>
              <a:rPr lang="en" sz="1600">
                <a:solidFill>
                  <a:schemeClr val="dk1"/>
                </a:solidFill>
                <a:highlight>
                  <a:srgbClr val="FFFFFF"/>
                </a:highlight>
                <a:latin typeface="Verdana"/>
                <a:ea typeface="Verdana"/>
                <a:cs typeface="Verdana"/>
                <a:sym typeface="Verdana"/>
              </a:rPr>
              <a:t>Identifiers can be short names (like x and y) or more descriptive names (age, sum, totalVolume).</a:t>
            </a:r>
            <a:endParaRPr sz="1600">
              <a:solidFill>
                <a:schemeClr val="dk1"/>
              </a:solidFill>
              <a:highlight>
                <a:srgbClr val="FFFFFF"/>
              </a:highlight>
              <a:latin typeface="Verdana"/>
              <a:ea typeface="Verdana"/>
              <a:cs typeface="Verdana"/>
              <a:sym typeface="Verdana"/>
            </a:endParaRPr>
          </a:p>
          <a:p>
            <a:pPr indent="0" lvl="0" marL="0" rtl="0" algn="l">
              <a:lnSpc>
                <a:spcPct val="115000"/>
              </a:lnSpc>
              <a:spcBef>
                <a:spcPts val="0"/>
              </a:spcBef>
              <a:spcAft>
                <a:spcPts val="0"/>
              </a:spcAft>
              <a:buClr>
                <a:schemeClr val="dk1"/>
              </a:buClr>
              <a:buSzPts val="1100"/>
              <a:buFont typeface="Arial"/>
              <a:buNone/>
            </a:pPr>
            <a:r>
              <a:rPr lang="en" sz="1600">
                <a:solidFill>
                  <a:schemeClr val="dk1"/>
                </a:solidFill>
                <a:highlight>
                  <a:srgbClr val="FFFFFF"/>
                </a:highlight>
                <a:latin typeface="Verdana"/>
                <a:ea typeface="Verdana"/>
                <a:cs typeface="Verdana"/>
                <a:sym typeface="Verdana"/>
              </a:rPr>
              <a:t>Note: It is recommended to use descriptive names in order to create understandable and maintainable code.</a:t>
            </a:r>
            <a:endParaRPr sz="1600">
              <a:solidFill>
                <a:schemeClr val="dk1"/>
              </a:solidFill>
              <a:highlight>
                <a:srgbClr val="FFFFFF"/>
              </a:highlight>
              <a:latin typeface="Verdana"/>
              <a:ea typeface="Verdana"/>
              <a:cs typeface="Verdana"/>
              <a:sym typeface="Verdana"/>
            </a:endParaRPr>
          </a:p>
          <a:p>
            <a:pPr indent="0" lvl="0" marL="0" rtl="0" algn="l">
              <a:lnSpc>
                <a:spcPct val="115000"/>
              </a:lnSpc>
              <a:spcBef>
                <a:spcPts val="0"/>
              </a:spcBef>
              <a:spcAft>
                <a:spcPts val="0"/>
              </a:spcAft>
              <a:buClr>
                <a:schemeClr val="dk1"/>
              </a:buClr>
              <a:buSzPts val="1100"/>
              <a:buFont typeface="Arial"/>
              <a:buNone/>
            </a:pPr>
            <a:r>
              <a:rPr lang="en" sz="1600">
                <a:solidFill>
                  <a:schemeClr val="dk1"/>
                </a:solidFill>
                <a:highlight>
                  <a:srgbClr val="FFFFFF"/>
                </a:highlight>
                <a:latin typeface="Verdana"/>
                <a:ea typeface="Verdana"/>
                <a:cs typeface="Verdana"/>
                <a:sym typeface="Verdana"/>
              </a:rPr>
              <a:t>The general rules for constructing names for variables (unique identifiers) are:</a:t>
            </a:r>
            <a:endParaRPr sz="1600">
              <a:solidFill>
                <a:schemeClr val="dk1"/>
              </a:solidFill>
              <a:highlight>
                <a:srgbClr val="FFFFFF"/>
              </a:highlight>
              <a:latin typeface="Verdana"/>
              <a:ea typeface="Verdana"/>
              <a:cs typeface="Verdana"/>
              <a:sym typeface="Verdana"/>
            </a:endParaRPr>
          </a:p>
          <a:p>
            <a:pPr indent="-330200" lvl="0" marL="457200" rtl="0" algn="l">
              <a:lnSpc>
                <a:spcPct val="115000"/>
              </a:lnSpc>
              <a:spcBef>
                <a:spcPts val="1100"/>
              </a:spcBef>
              <a:spcAft>
                <a:spcPts val="0"/>
              </a:spcAft>
              <a:buClr>
                <a:schemeClr val="dk1"/>
              </a:buClr>
              <a:buSzPts val="1600"/>
              <a:buFont typeface="Verdana"/>
              <a:buChar char="●"/>
            </a:pPr>
            <a:r>
              <a:rPr lang="en" sz="1600">
                <a:solidFill>
                  <a:schemeClr val="dk1"/>
                </a:solidFill>
                <a:highlight>
                  <a:srgbClr val="FFFFFF"/>
                </a:highlight>
                <a:latin typeface="Verdana"/>
                <a:ea typeface="Verdana"/>
                <a:cs typeface="Verdana"/>
                <a:sym typeface="Verdana"/>
              </a:rPr>
              <a:t>Names can contain letters, digits and underscores</a:t>
            </a:r>
            <a:endParaRPr sz="1600">
              <a:solidFill>
                <a:schemeClr val="dk1"/>
              </a:solidFill>
              <a:highlight>
                <a:srgbClr val="FFFFFF"/>
              </a:highlight>
              <a:latin typeface="Verdana"/>
              <a:ea typeface="Verdana"/>
              <a:cs typeface="Verdana"/>
              <a:sym typeface="Verdana"/>
            </a:endParaRPr>
          </a:p>
          <a:p>
            <a:pPr indent="-330200" lvl="0" marL="457200" rtl="0" algn="l">
              <a:lnSpc>
                <a:spcPct val="115000"/>
              </a:lnSpc>
              <a:spcBef>
                <a:spcPts val="0"/>
              </a:spcBef>
              <a:spcAft>
                <a:spcPts val="0"/>
              </a:spcAft>
              <a:buClr>
                <a:schemeClr val="dk1"/>
              </a:buClr>
              <a:buSzPts val="1600"/>
              <a:buFont typeface="Verdana"/>
              <a:buChar char="●"/>
            </a:pPr>
            <a:r>
              <a:rPr lang="en" sz="1600">
                <a:solidFill>
                  <a:schemeClr val="dk1"/>
                </a:solidFill>
                <a:highlight>
                  <a:srgbClr val="FFFFFF"/>
                </a:highlight>
                <a:latin typeface="Verdana"/>
                <a:ea typeface="Verdana"/>
                <a:cs typeface="Verdana"/>
                <a:sym typeface="Verdana"/>
              </a:rPr>
              <a:t>Names must begin with a letter or an underscore (_)</a:t>
            </a:r>
            <a:endParaRPr sz="1600">
              <a:solidFill>
                <a:schemeClr val="dk1"/>
              </a:solidFill>
              <a:highlight>
                <a:srgbClr val="FFFFFF"/>
              </a:highlight>
              <a:latin typeface="Verdana"/>
              <a:ea typeface="Verdana"/>
              <a:cs typeface="Verdana"/>
              <a:sym typeface="Verdana"/>
            </a:endParaRPr>
          </a:p>
          <a:p>
            <a:pPr indent="-330200" lvl="0" marL="457200" rtl="0" algn="l">
              <a:lnSpc>
                <a:spcPct val="115000"/>
              </a:lnSpc>
              <a:spcBef>
                <a:spcPts val="0"/>
              </a:spcBef>
              <a:spcAft>
                <a:spcPts val="0"/>
              </a:spcAft>
              <a:buClr>
                <a:schemeClr val="dk1"/>
              </a:buClr>
              <a:buSzPts val="1600"/>
              <a:buFont typeface="Verdana"/>
              <a:buChar char="●"/>
            </a:pPr>
            <a:r>
              <a:rPr lang="en" sz="1600">
                <a:solidFill>
                  <a:schemeClr val="dk1"/>
                </a:solidFill>
                <a:highlight>
                  <a:srgbClr val="FFFFFF"/>
                </a:highlight>
                <a:latin typeface="Verdana"/>
                <a:ea typeface="Verdana"/>
                <a:cs typeface="Verdana"/>
                <a:sym typeface="Verdana"/>
              </a:rPr>
              <a:t>Names are case sensitive (</a:t>
            </a:r>
            <a:r>
              <a:rPr lang="en" sz="1600">
                <a:solidFill>
                  <a:srgbClr val="DC143C"/>
                </a:solidFill>
                <a:highlight>
                  <a:srgbClr val="F1F1F1"/>
                </a:highlight>
                <a:latin typeface="Consolas"/>
                <a:ea typeface="Consolas"/>
                <a:cs typeface="Consolas"/>
                <a:sym typeface="Consolas"/>
              </a:rPr>
              <a:t>myVar</a:t>
            </a:r>
            <a:r>
              <a:rPr lang="en" sz="1600">
                <a:solidFill>
                  <a:schemeClr val="dk1"/>
                </a:solidFill>
                <a:highlight>
                  <a:srgbClr val="FFFFFF"/>
                </a:highlight>
                <a:latin typeface="Verdana"/>
                <a:ea typeface="Verdana"/>
                <a:cs typeface="Verdana"/>
                <a:sym typeface="Verdana"/>
              </a:rPr>
              <a:t> and </a:t>
            </a:r>
            <a:r>
              <a:rPr lang="en" sz="1600">
                <a:solidFill>
                  <a:srgbClr val="DC143C"/>
                </a:solidFill>
                <a:highlight>
                  <a:srgbClr val="F1F1F1"/>
                </a:highlight>
                <a:latin typeface="Consolas"/>
                <a:ea typeface="Consolas"/>
                <a:cs typeface="Consolas"/>
                <a:sym typeface="Consolas"/>
              </a:rPr>
              <a:t>myvar</a:t>
            </a:r>
            <a:r>
              <a:rPr lang="en" sz="1600">
                <a:solidFill>
                  <a:schemeClr val="dk1"/>
                </a:solidFill>
                <a:highlight>
                  <a:srgbClr val="FFFFFF"/>
                </a:highlight>
                <a:latin typeface="Verdana"/>
                <a:ea typeface="Verdana"/>
                <a:cs typeface="Verdana"/>
                <a:sym typeface="Verdana"/>
              </a:rPr>
              <a:t> are different variables)</a:t>
            </a:r>
            <a:endParaRPr sz="1600">
              <a:solidFill>
                <a:schemeClr val="dk1"/>
              </a:solidFill>
              <a:highlight>
                <a:srgbClr val="FFFFFF"/>
              </a:highlight>
              <a:latin typeface="Verdana"/>
              <a:ea typeface="Verdana"/>
              <a:cs typeface="Verdana"/>
              <a:sym typeface="Verdana"/>
            </a:endParaRPr>
          </a:p>
          <a:p>
            <a:pPr indent="-330200" lvl="0" marL="457200" rtl="0" algn="l">
              <a:lnSpc>
                <a:spcPct val="115000"/>
              </a:lnSpc>
              <a:spcBef>
                <a:spcPts val="0"/>
              </a:spcBef>
              <a:spcAft>
                <a:spcPts val="0"/>
              </a:spcAft>
              <a:buClr>
                <a:schemeClr val="dk1"/>
              </a:buClr>
              <a:buSzPts val="1600"/>
              <a:buFont typeface="Verdana"/>
              <a:buChar char="●"/>
            </a:pPr>
            <a:r>
              <a:rPr lang="en" sz="1600">
                <a:solidFill>
                  <a:schemeClr val="dk1"/>
                </a:solidFill>
                <a:highlight>
                  <a:srgbClr val="FFFFFF"/>
                </a:highlight>
                <a:latin typeface="Verdana"/>
                <a:ea typeface="Verdana"/>
                <a:cs typeface="Verdana"/>
                <a:sym typeface="Verdana"/>
              </a:rPr>
              <a:t>Names cannot contain whitespaces or special characters like !, #, %, etc.</a:t>
            </a:r>
            <a:endParaRPr sz="1600">
              <a:solidFill>
                <a:schemeClr val="dk1"/>
              </a:solidFill>
              <a:highlight>
                <a:srgbClr val="FFFFFF"/>
              </a:highlight>
              <a:latin typeface="Verdana"/>
              <a:ea typeface="Verdana"/>
              <a:cs typeface="Verdana"/>
              <a:sym typeface="Verdana"/>
            </a:endParaRPr>
          </a:p>
          <a:p>
            <a:pPr indent="-330200" lvl="0" marL="457200" rtl="0" algn="l">
              <a:lnSpc>
                <a:spcPct val="115000"/>
              </a:lnSpc>
              <a:spcBef>
                <a:spcPts val="0"/>
              </a:spcBef>
              <a:spcAft>
                <a:spcPts val="0"/>
              </a:spcAft>
              <a:buClr>
                <a:schemeClr val="dk1"/>
              </a:buClr>
              <a:buSzPts val="1600"/>
              <a:buFont typeface="Verdana"/>
              <a:buChar char="●"/>
            </a:pPr>
            <a:r>
              <a:rPr lang="en" sz="1600">
                <a:solidFill>
                  <a:schemeClr val="dk1"/>
                </a:solidFill>
                <a:highlight>
                  <a:srgbClr val="FFFFFF"/>
                </a:highlight>
                <a:latin typeface="Verdana"/>
                <a:ea typeface="Verdana"/>
                <a:cs typeface="Verdana"/>
                <a:sym typeface="Verdana"/>
              </a:rPr>
              <a:t>Reserved words (like C++ keywords, such as </a:t>
            </a:r>
            <a:r>
              <a:rPr lang="en" sz="1600">
                <a:solidFill>
                  <a:srgbClr val="DC143C"/>
                </a:solidFill>
                <a:highlight>
                  <a:srgbClr val="F1F1F1"/>
                </a:highlight>
                <a:latin typeface="Consolas"/>
                <a:ea typeface="Consolas"/>
                <a:cs typeface="Consolas"/>
                <a:sym typeface="Consolas"/>
              </a:rPr>
              <a:t>int</a:t>
            </a:r>
            <a:r>
              <a:rPr lang="en" sz="1600">
                <a:solidFill>
                  <a:schemeClr val="dk1"/>
                </a:solidFill>
                <a:highlight>
                  <a:srgbClr val="FFFFFF"/>
                </a:highlight>
                <a:latin typeface="Verdana"/>
                <a:ea typeface="Verdana"/>
                <a:cs typeface="Verdana"/>
                <a:sym typeface="Verdana"/>
              </a:rPr>
              <a:t>) cannot be used as names</a:t>
            </a:r>
            <a:endParaRPr sz="1600">
              <a:solidFill>
                <a:schemeClr val="dk1"/>
              </a:solidFill>
              <a:highlight>
                <a:srgbClr val="FFFFFF"/>
              </a:highlight>
              <a:latin typeface="Verdana"/>
              <a:ea typeface="Verdana"/>
              <a:cs typeface="Verdana"/>
              <a:sym typeface="Verdana"/>
            </a:endParaRPr>
          </a:p>
          <a:p>
            <a:pPr indent="0" lvl="0" marL="0" rtl="0" algn="l">
              <a:lnSpc>
                <a:spcPct val="115000"/>
              </a:lnSpc>
              <a:spcBef>
                <a:spcPts val="1100"/>
              </a:spcBef>
              <a:spcAft>
                <a:spcPts val="1600"/>
              </a:spcAft>
              <a:buSzPts val="1800"/>
              <a:buNone/>
            </a:pPr>
            <a:r>
              <a:t/>
            </a:r>
            <a:endParaRPr/>
          </a:p>
        </p:txBody>
      </p:sp>
      <p:sp>
        <p:nvSpPr>
          <p:cNvPr id="239" name="Google Shape;239;p2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0"/>
          <p:cNvSpPr txBox="1"/>
          <p:nvPr>
            <p:ph type="title"/>
          </p:nvPr>
        </p:nvSpPr>
        <p:spPr>
          <a:xfrm>
            <a:off x="6900" y="-121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Keywords: Reserved words</a:t>
            </a:r>
            <a:endParaRPr/>
          </a:p>
        </p:txBody>
      </p:sp>
      <p:sp>
        <p:nvSpPr>
          <p:cNvPr id="245" name="Google Shape;245;p30"/>
          <p:cNvSpPr txBox="1"/>
          <p:nvPr>
            <p:ph idx="1" type="body"/>
          </p:nvPr>
        </p:nvSpPr>
        <p:spPr>
          <a:xfrm>
            <a:off x="6900" y="466675"/>
            <a:ext cx="8928300" cy="457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500"/>
              <a:t>C++ has r</a:t>
            </a:r>
            <a:r>
              <a:rPr lang="en" sz="2500"/>
              <a:t>eserved words, which have a unique meaning and must not be used for any other purposes. The reserved words already used are </a:t>
            </a:r>
            <a:r>
              <a:rPr b="1" lang="en" sz="2500"/>
              <a:t>main, int , return</a:t>
            </a:r>
            <a:r>
              <a:rPr lang="en" sz="2500"/>
              <a:t>, and </a:t>
            </a:r>
            <a:r>
              <a:rPr b="1" lang="en" sz="2500"/>
              <a:t>using</a:t>
            </a:r>
            <a:r>
              <a:rPr lang="en" sz="2500"/>
              <a:t>.  See other examples below:</a:t>
            </a:r>
            <a:endParaRPr b="1" sz="2500"/>
          </a:p>
          <a:p>
            <a:pPr indent="0" lvl="0" marL="0" rtl="0" algn="l">
              <a:lnSpc>
                <a:spcPct val="115000"/>
              </a:lnSpc>
              <a:spcBef>
                <a:spcPts val="1600"/>
              </a:spcBef>
              <a:spcAft>
                <a:spcPts val="1600"/>
              </a:spcAft>
              <a:buSzPts val="1800"/>
              <a:buNone/>
            </a:pPr>
            <a:r>
              <a:rPr lang="en" sz="2500"/>
              <a:t>Else, new,this, auto, enum, bool, true, private, try, public, protected, case, false, true, break, class, for, return,const, signed, unsigned, void, static, int, float, continue, if, break, switch, while, etc…..</a:t>
            </a:r>
            <a:endParaRPr sz="2500"/>
          </a:p>
        </p:txBody>
      </p:sp>
      <p:sp>
        <p:nvSpPr>
          <p:cNvPr id="246" name="Google Shape;246;p3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t>Namespace</a:t>
            </a:r>
            <a:endParaRPr b="1"/>
          </a:p>
        </p:txBody>
      </p:sp>
      <p:sp>
        <p:nvSpPr>
          <p:cNvPr id="252" name="Google Shape;252;p32"/>
          <p:cNvSpPr txBox="1"/>
          <p:nvPr>
            <p:ph idx="1" type="body"/>
          </p:nvPr>
        </p:nvSpPr>
        <p:spPr>
          <a:xfrm>
            <a:off x="311700" y="1152475"/>
            <a:ext cx="3853500" cy="393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	 	 	</a:t>
            </a:r>
            <a:endParaRPr sz="1100">
              <a:solidFill>
                <a:schemeClr val="dk1"/>
              </a:solidFill>
            </a:endParaRPr>
          </a:p>
          <a:p>
            <a:pPr indent="0" lvl="0" marL="0" rtl="0" algn="l">
              <a:lnSpc>
                <a:spcPct val="171000"/>
              </a:lnSpc>
              <a:spcBef>
                <a:spcPts val="1600"/>
              </a:spcBef>
              <a:spcAft>
                <a:spcPts val="0"/>
              </a:spcAft>
              <a:buClr>
                <a:schemeClr val="dk1"/>
              </a:buClr>
              <a:buSzPts val="1100"/>
              <a:buFont typeface="Arial"/>
              <a:buNone/>
            </a:pPr>
            <a:r>
              <a:rPr lang="en" sz="1400">
                <a:solidFill>
                  <a:schemeClr val="dk1"/>
                </a:solidFill>
                <a:latin typeface="Roboto"/>
                <a:ea typeface="Roboto"/>
                <a:cs typeface="Roboto"/>
                <a:sym typeface="Roboto"/>
              </a:rPr>
              <a:t>Consider following C++ program.</a:t>
            </a:r>
            <a:endParaRPr sz="1400">
              <a:solidFill>
                <a:schemeClr val="dk1"/>
              </a:solidFill>
              <a:latin typeface="Roboto"/>
              <a:ea typeface="Roboto"/>
              <a:cs typeface="Roboto"/>
              <a:sym typeface="Roboto"/>
            </a:endParaRPr>
          </a:p>
          <a:p>
            <a:pPr indent="0" lvl="0" marL="0" rtl="0" algn="l">
              <a:lnSpc>
                <a:spcPct val="100000"/>
              </a:lnSpc>
              <a:spcBef>
                <a:spcPts val="1200"/>
              </a:spcBef>
              <a:spcAft>
                <a:spcPts val="0"/>
              </a:spcAft>
              <a:buClr>
                <a:schemeClr val="dk1"/>
              </a:buClr>
              <a:buSzPts val="1100"/>
              <a:buFont typeface="Arial"/>
              <a:buNone/>
            </a:pPr>
            <a:r>
              <a:rPr lang="en" sz="1400">
                <a:solidFill>
                  <a:srgbClr val="008200"/>
                </a:solidFill>
                <a:highlight>
                  <a:srgbClr val="FFFFFF"/>
                </a:highlight>
                <a:latin typeface="Consolas"/>
                <a:ea typeface="Consolas"/>
                <a:cs typeface="Consolas"/>
                <a:sym typeface="Consolas"/>
              </a:rPr>
              <a:t>// A program to demonstrate need of namespace</a:t>
            </a:r>
            <a:endParaRPr sz="1400">
              <a:solidFill>
                <a:srgbClr val="008200"/>
              </a:solidFill>
              <a:highlight>
                <a:srgbClr val="FFFFFF"/>
              </a:highlight>
              <a:latin typeface="Consolas"/>
              <a:ea typeface="Consolas"/>
              <a:cs typeface="Consolas"/>
              <a:sym typeface="Consolas"/>
            </a:endParaRPr>
          </a:p>
          <a:p>
            <a:pPr indent="0" lvl="0" marL="0" rtl="0" algn="l">
              <a:lnSpc>
                <a:spcPct val="100000"/>
              </a:lnSpc>
              <a:spcBef>
                <a:spcPts val="1200"/>
              </a:spcBef>
              <a:spcAft>
                <a:spcPts val="0"/>
              </a:spcAft>
              <a:buClr>
                <a:schemeClr val="dk1"/>
              </a:buClr>
              <a:buSzPts val="1100"/>
              <a:buFont typeface="Arial"/>
              <a:buNone/>
            </a:pPr>
            <a:r>
              <a:rPr b="1" lang="en" sz="1400">
                <a:solidFill>
                  <a:srgbClr val="808080"/>
                </a:solidFill>
                <a:highlight>
                  <a:srgbClr val="FFFFFF"/>
                </a:highlight>
                <a:latin typeface="Consolas"/>
                <a:ea typeface="Consolas"/>
                <a:cs typeface="Consolas"/>
                <a:sym typeface="Consolas"/>
              </a:rPr>
              <a:t>int</a:t>
            </a:r>
            <a:r>
              <a:rPr lang="en" sz="1400">
                <a:solidFill>
                  <a:schemeClr val="dk1"/>
                </a:solidFill>
                <a:highlight>
                  <a:srgbClr val="FFFFFF"/>
                </a:highlight>
                <a:latin typeface="Consolas"/>
                <a:ea typeface="Consolas"/>
                <a:cs typeface="Consolas"/>
                <a:sym typeface="Consolas"/>
              </a:rPr>
              <a:t> main()</a:t>
            </a:r>
            <a:endParaRPr sz="1400">
              <a:solidFill>
                <a:schemeClr val="dk1"/>
              </a:solidFill>
              <a:highlight>
                <a:srgbClr val="FFFFFF"/>
              </a:highlight>
              <a:latin typeface="Consolas"/>
              <a:ea typeface="Consolas"/>
              <a:cs typeface="Consolas"/>
              <a:sym typeface="Consolas"/>
            </a:endParaRPr>
          </a:p>
          <a:p>
            <a:pPr indent="0" lvl="0" marL="0" rtl="0" algn="l">
              <a:lnSpc>
                <a:spcPct val="100000"/>
              </a:lnSpc>
              <a:spcBef>
                <a:spcPts val="1200"/>
              </a:spcBef>
              <a:spcAft>
                <a:spcPts val="0"/>
              </a:spcAft>
              <a:buClr>
                <a:schemeClr val="dk1"/>
              </a:buClr>
              <a:buSzPts val="1100"/>
              <a:buFont typeface="Arial"/>
              <a:buNone/>
            </a:pPr>
            <a:r>
              <a:rPr lang="en" sz="1400">
                <a:solidFill>
                  <a:schemeClr val="dk1"/>
                </a:solidFill>
                <a:highlight>
                  <a:srgbClr val="FFFFFF"/>
                </a:highlight>
                <a:latin typeface="Consolas"/>
                <a:ea typeface="Consolas"/>
                <a:cs typeface="Consolas"/>
                <a:sym typeface="Consolas"/>
              </a:rPr>
              <a:t>{</a:t>
            </a:r>
            <a:endParaRPr sz="1400">
              <a:solidFill>
                <a:schemeClr val="dk1"/>
              </a:solidFill>
              <a:highlight>
                <a:srgbClr val="FFFFFF"/>
              </a:highlight>
              <a:latin typeface="Consolas"/>
              <a:ea typeface="Consolas"/>
              <a:cs typeface="Consolas"/>
              <a:sym typeface="Consolas"/>
            </a:endParaRPr>
          </a:p>
          <a:p>
            <a:pPr indent="0" lvl="0" marL="0" rtl="0" algn="l">
              <a:lnSpc>
                <a:spcPct val="100000"/>
              </a:lnSpc>
              <a:spcBef>
                <a:spcPts val="1200"/>
              </a:spcBef>
              <a:spcAft>
                <a:spcPts val="0"/>
              </a:spcAft>
              <a:buClr>
                <a:schemeClr val="dk1"/>
              </a:buClr>
              <a:buSzPts val="1100"/>
              <a:buFont typeface="Arial"/>
              <a:buNone/>
            </a:pPr>
            <a:r>
              <a:rPr lang="en" sz="1400">
                <a:solidFill>
                  <a:schemeClr val="dk1"/>
                </a:solidFill>
                <a:highlight>
                  <a:srgbClr val="FFFFFF"/>
                </a:highlight>
              </a:rPr>
              <a:t>    </a:t>
            </a:r>
            <a:r>
              <a:rPr b="1" lang="en" sz="1400">
                <a:solidFill>
                  <a:srgbClr val="808080"/>
                </a:solidFill>
                <a:highlight>
                  <a:srgbClr val="FFFFFF"/>
                </a:highlight>
                <a:latin typeface="Consolas"/>
                <a:ea typeface="Consolas"/>
                <a:cs typeface="Consolas"/>
                <a:sym typeface="Consolas"/>
              </a:rPr>
              <a:t>int</a:t>
            </a:r>
            <a:r>
              <a:rPr lang="en" sz="1400">
                <a:solidFill>
                  <a:schemeClr val="dk1"/>
                </a:solidFill>
                <a:highlight>
                  <a:srgbClr val="FFFFFF"/>
                </a:highlight>
                <a:latin typeface="Consolas"/>
                <a:ea typeface="Consolas"/>
                <a:cs typeface="Consolas"/>
                <a:sym typeface="Consolas"/>
              </a:rPr>
              <a:t> value;</a:t>
            </a:r>
            <a:endParaRPr sz="1400">
              <a:solidFill>
                <a:schemeClr val="dk1"/>
              </a:solidFill>
              <a:highlight>
                <a:srgbClr val="FFFFFF"/>
              </a:highlight>
              <a:latin typeface="Consolas"/>
              <a:ea typeface="Consolas"/>
              <a:cs typeface="Consolas"/>
              <a:sym typeface="Consolas"/>
            </a:endParaRPr>
          </a:p>
          <a:p>
            <a:pPr indent="0" lvl="0" marL="0" rtl="0" algn="l">
              <a:lnSpc>
                <a:spcPct val="100000"/>
              </a:lnSpc>
              <a:spcBef>
                <a:spcPts val="1200"/>
              </a:spcBef>
              <a:spcAft>
                <a:spcPts val="0"/>
              </a:spcAft>
              <a:buClr>
                <a:schemeClr val="dk1"/>
              </a:buClr>
              <a:buSzPts val="1100"/>
              <a:buFont typeface="Arial"/>
              <a:buNone/>
            </a:pPr>
            <a:r>
              <a:rPr lang="en" sz="1400">
                <a:solidFill>
                  <a:schemeClr val="dk1"/>
                </a:solidFill>
                <a:highlight>
                  <a:srgbClr val="FFFFFF"/>
                </a:highlight>
              </a:rPr>
              <a:t>    </a:t>
            </a:r>
            <a:r>
              <a:rPr lang="en" sz="1400">
                <a:solidFill>
                  <a:schemeClr val="dk1"/>
                </a:solidFill>
                <a:highlight>
                  <a:srgbClr val="FFFFFF"/>
                </a:highlight>
                <a:latin typeface="Consolas"/>
                <a:ea typeface="Consolas"/>
                <a:cs typeface="Consolas"/>
                <a:sym typeface="Consolas"/>
              </a:rPr>
              <a:t>value = 0;</a:t>
            </a:r>
            <a:endParaRPr sz="1400">
              <a:solidFill>
                <a:schemeClr val="dk1"/>
              </a:solidFill>
              <a:highlight>
                <a:srgbClr val="FFFFFF"/>
              </a:highlight>
              <a:latin typeface="Consolas"/>
              <a:ea typeface="Consolas"/>
              <a:cs typeface="Consolas"/>
              <a:sym typeface="Consolas"/>
            </a:endParaRPr>
          </a:p>
          <a:p>
            <a:pPr indent="0" lvl="0" marL="0" rtl="0" algn="l">
              <a:lnSpc>
                <a:spcPct val="100000"/>
              </a:lnSpc>
              <a:spcBef>
                <a:spcPts val="1200"/>
              </a:spcBef>
              <a:spcAft>
                <a:spcPts val="0"/>
              </a:spcAft>
              <a:buClr>
                <a:schemeClr val="dk1"/>
              </a:buClr>
              <a:buSzPts val="1100"/>
              <a:buFont typeface="Arial"/>
              <a:buNone/>
            </a:pPr>
            <a:r>
              <a:rPr lang="en" sz="1400">
                <a:solidFill>
                  <a:schemeClr val="dk1"/>
                </a:solidFill>
                <a:highlight>
                  <a:srgbClr val="FFFFFF"/>
                </a:highlight>
              </a:rPr>
              <a:t>    </a:t>
            </a:r>
            <a:r>
              <a:rPr b="1" lang="en" sz="1400">
                <a:solidFill>
                  <a:srgbClr val="808080"/>
                </a:solidFill>
                <a:highlight>
                  <a:srgbClr val="FFFFFF"/>
                </a:highlight>
                <a:latin typeface="Consolas"/>
                <a:ea typeface="Consolas"/>
                <a:cs typeface="Consolas"/>
                <a:sym typeface="Consolas"/>
              </a:rPr>
              <a:t>double</a:t>
            </a:r>
            <a:r>
              <a:rPr lang="en" sz="1400">
                <a:solidFill>
                  <a:schemeClr val="dk1"/>
                </a:solidFill>
                <a:highlight>
                  <a:srgbClr val="FFFFFF"/>
                </a:highlight>
                <a:latin typeface="Consolas"/>
                <a:ea typeface="Consolas"/>
                <a:cs typeface="Consolas"/>
                <a:sym typeface="Consolas"/>
              </a:rPr>
              <a:t> value; </a:t>
            </a:r>
            <a:r>
              <a:rPr lang="en" sz="1400">
                <a:solidFill>
                  <a:srgbClr val="008200"/>
                </a:solidFill>
                <a:highlight>
                  <a:srgbClr val="FFFFFF"/>
                </a:highlight>
                <a:latin typeface="Consolas"/>
                <a:ea typeface="Consolas"/>
                <a:cs typeface="Consolas"/>
                <a:sym typeface="Consolas"/>
              </a:rPr>
              <a:t>// Error here</a:t>
            </a:r>
            <a:endParaRPr sz="1400">
              <a:solidFill>
                <a:srgbClr val="008200"/>
              </a:solidFill>
              <a:highlight>
                <a:srgbClr val="FFFFFF"/>
              </a:highlight>
              <a:latin typeface="Consolas"/>
              <a:ea typeface="Consolas"/>
              <a:cs typeface="Consolas"/>
              <a:sym typeface="Consolas"/>
            </a:endParaRPr>
          </a:p>
          <a:p>
            <a:pPr indent="0" lvl="0" marL="0" rtl="0" algn="l">
              <a:lnSpc>
                <a:spcPct val="100000"/>
              </a:lnSpc>
              <a:spcBef>
                <a:spcPts val="1200"/>
              </a:spcBef>
              <a:spcAft>
                <a:spcPts val="0"/>
              </a:spcAft>
              <a:buClr>
                <a:schemeClr val="dk1"/>
              </a:buClr>
              <a:buSzPts val="1100"/>
              <a:buFont typeface="Arial"/>
              <a:buNone/>
            </a:pPr>
            <a:r>
              <a:rPr lang="en" sz="1400">
                <a:solidFill>
                  <a:schemeClr val="dk1"/>
                </a:solidFill>
                <a:highlight>
                  <a:srgbClr val="FFFFFF"/>
                </a:highlight>
              </a:rPr>
              <a:t>    </a:t>
            </a:r>
            <a:r>
              <a:rPr lang="en" sz="1400">
                <a:solidFill>
                  <a:schemeClr val="dk1"/>
                </a:solidFill>
                <a:highlight>
                  <a:srgbClr val="FFFFFF"/>
                </a:highlight>
                <a:latin typeface="Consolas"/>
                <a:ea typeface="Consolas"/>
                <a:cs typeface="Consolas"/>
                <a:sym typeface="Consolas"/>
              </a:rPr>
              <a:t>value = 0.0;</a:t>
            </a:r>
            <a:endParaRPr sz="1400">
              <a:solidFill>
                <a:schemeClr val="dk1"/>
              </a:solidFill>
              <a:highlight>
                <a:srgbClr val="FFFFFF"/>
              </a:highlight>
              <a:latin typeface="Consolas"/>
              <a:ea typeface="Consolas"/>
              <a:cs typeface="Consolas"/>
              <a:sym typeface="Consolas"/>
            </a:endParaRPr>
          </a:p>
          <a:p>
            <a:pPr indent="0" lvl="0" marL="0" rtl="0" algn="l">
              <a:lnSpc>
                <a:spcPct val="100000"/>
              </a:lnSpc>
              <a:spcBef>
                <a:spcPts val="1200"/>
              </a:spcBef>
              <a:spcAft>
                <a:spcPts val="0"/>
              </a:spcAft>
              <a:buClr>
                <a:schemeClr val="dk1"/>
              </a:buClr>
              <a:buSzPts val="1100"/>
              <a:buFont typeface="Arial"/>
              <a:buNone/>
            </a:pPr>
            <a:r>
              <a:rPr lang="en" sz="1400">
                <a:solidFill>
                  <a:schemeClr val="dk1"/>
                </a:solidFill>
                <a:highlight>
                  <a:srgbClr val="FFFFFF"/>
                </a:highlight>
                <a:latin typeface="Consolas"/>
                <a:ea typeface="Consolas"/>
                <a:cs typeface="Consolas"/>
                <a:sym typeface="Consolas"/>
              </a:rPr>
              <a:t>} </a:t>
            </a:r>
            <a:endParaRPr sz="1400">
              <a:solidFill>
                <a:schemeClr val="dk1"/>
              </a:solidFill>
              <a:highlight>
                <a:srgbClr val="FFFFFF"/>
              </a:highlight>
              <a:latin typeface="Consolas"/>
              <a:ea typeface="Consolas"/>
              <a:cs typeface="Consolas"/>
              <a:sym typeface="Consolas"/>
            </a:endParaRPr>
          </a:p>
          <a:p>
            <a:pPr indent="0" lvl="0" marL="0" rtl="0" algn="l">
              <a:lnSpc>
                <a:spcPct val="115000"/>
              </a:lnSpc>
              <a:spcBef>
                <a:spcPts val="0"/>
              </a:spcBef>
              <a:spcAft>
                <a:spcPts val="1600"/>
              </a:spcAft>
              <a:buSzPts val="1800"/>
              <a:buNone/>
            </a:pPr>
            <a:r>
              <a:t/>
            </a:r>
            <a:endParaRPr/>
          </a:p>
        </p:txBody>
      </p:sp>
      <p:sp>
        <p:nvSpPr>
          <p:cNvPr id="253" name="Google Shape;253;p32"/>
          <p:cNvSpPr txBox="1"/>
          <p:nvPr/>
        </p:nvSpPr>
        <p:spPr>
          <a:xfrm>
            <a:off x="4053300" y="501475"/>
            <a:ext cx="5090700" cy="458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800"/>
              <a:buFont typeface="Arial"/>
              <a:buNone/>
            </a:pPr>
            <a:r>
              <a:rPr b="0" i="0" lang="en" sz="1800" u="none" cap="none" strike="noStrike">
                <a:solidFill>
                  <a:schemeClr val="dk1"/>
                </a:solidFill>
                <a:latin typeface="Roboto"/>
                <a:ea typeface="Roboto"/>
                <a:cs typeface="Roboto"/>
                <a:sym typeface="Roboto"/>
              </a:rPr>
              <a:t>Output :</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700"/>
              </a:spcBef>
              <a:spcAft>
                <a:spcPts val="0"/>
              </a:spcAft>
              <a:buClr>
                <a:srgbClr val="000000"/>
              </a:buClr>
              <a:buSzPts val="1800"/>
              <a:buFont typeface="Arial"/>
              <a:buNone/>
            </a:pPr>
            <a:r>
              <a:rPr b="0" i="0" lang="en" sz="1800" u="none" cap="none" strike="noStrike">
                <a:solidFill>
                  <a:schemeClr val="dk1"/>
                </a:solidFill>
                <a:highlight>
                  <a:srgbClr val="E0E0E0"/>
                </a:highlight>
                <a:latin typeface="Consolas"/>
                <a:ea typeface="Consolas"/>
                <a:cs typeface="Consolas"/>
                <a:sym typeface="Consolas"/>
              </a:rPr>
              <a:t>Compiler Error:</a:t>
            </a:r>
            <a:endParaRPr b="0" i="0" sz="1800" u="none" cap="none" strike="noStrike">
              <a:solidFill>
                <a:schemeClr val="dk1"/>
              </a:solidFill>
              <a:highlight>
                <a:srgbClr val="E0E0E0"/>
              </a:highlight>
              <a:latin typeface="Arial"/>
              <a:ea typeface="Arial"/>
              <a:cs typeface="Arial"/>
              <a:sym typeface="Arial"/>
            </a:endParaRPr>
          </a:p>
          <a:p>
            <a:pPr indent="0" lvl="0" marL="0" marR="0" rtl="0" algn="l">
              <a:lnSpc>
                <a:spcPct val="158000"/>
              </a:lnSpc>
              <a:spcBef>
                <a:spcPts val="0"/>
              </a:spcBef>
              <a:spcAft>
                <a:spcPts val="0"/>
              </a:spcAft>
              <a:buClr>
                <a:srgbClr val="000000"/>
              </a:buClr>
              <a:buSzPts val="1800"/>
              <a:buFont typeface="Arial"/>
              <a:buNone/>
            </a:pPr>
            <a:r>
              <a:rPr b="0" i="0" lang="en" sz="1800" u="none" cap="none" strike="noStrike">
                <a:solidFill>
                  <a:schemeClr val="dk1"/>
                </a:solidFill>
                <a:highlight>
                  <a:srgbClr val="E0E0E0"/>
                </a:highlight>
                <a:latin typeface="Consolas"/>
                <a:ea typeface="Consolas"/>
                <a:cs typeface="Consolas"/>
                <a:sym typeface="Consolas"/>
              </a:rPr>
              <a:t>'value' has a previous declaration as 'int value'</a:t>
            </a:r>
            <a:endParaRPr b="0" i="0" sz="1800" u="none" cap="none" strike="noStrike">
              <a:solidFill>
                <a:schemeClr val="dk1"/>
              </a:solidFill>
              <a:highlight>
                <a:srgbClr val="E0E0E0"/>
              </a:highlight>
              <a:latin typeface="Consolas"/>
              <a:ea typeface="Consolas"/>
              <a:cs typeface="Consolas"/>
              <a:sym typeface="Consolas"/>
            </a:endParaRPr>
          </a:p>
          <a:p>
            <a:pPr indent="0" lvl="0" marL="0" marR="0" rtl="0" algn="l">
              <a:lnSpc>
                <a:spcPct val="171000"/>
              </a:lnSpc>
              <a:spcBef>
                <a:spcPts val="1200"/>
              </a:spcBef>
              <a:spcAft>
                <a:spcPts val="700"/>
              </a:spcAft>
              <a:buClr>
                <a:srgbClr val="000000"/>
              </a:buClr>
              <a:buSzPts val="1800"/>
              <a:buFont typeface="Arial"/>
              <a:buNone/>
            </a:pPr>
            <a:r>
              <a:rPr b="0" i="0" lang="en" sz="1800" u="none" cap="none" strike="noStrike">
                <a:solidFill>
                  <a:schemeClr val="dk1"/>
                </a:solidFill>
                <a:latin typeface="Roboto"/>
                <a:ea typeface="Roboto"/>
                <a:cs typeface="Roboto"/>
                <a:sym typeface="Roboto"/>
              </a:rPr>
              <a:t>In each scope, a name can only represent one entity. So, there cannot be two variables with the same name in the same scope. Using namespaces, we can create two variables or member functions having the same name.</a:t>
            </a:r>
            <a:endParaRPr b="0" i="0" sz="1800" u="none" cap="none" strike="noStrike">
              <a:solidFill>
                <a:schemeClr val="dk1"/>
              </a:solidFill>
              <a:latin typeface="Roboto"/>
              <a:ea typeface="Roboto"/>
              <a:cs typeface="Roboto"/>
              <a:sym typeface="Roboto"/>
            </a:endParaRPr>
          </a:p>
        </p:txBody>
      </p:sp>
      <p:sp>
        <p:nvSpPr>
          <p:cNvPr id="254" name="Google Shape;254;p3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283038813be_0_18"/>
          <p:cNvSpPr txBox="1"/>
          <p:nvPr>
            <p:ph type="title"/>
          </p:nvPr>
        </p:nvSpPr>
        <p:spPr>
          <a:xfrm>
            <a:off x="311700" y="-12175"/>
            <a:ext cx="8520600" cy="417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1800"/>
              <a:t>Namespaces:</a:t>
            </a:r>
            <a:r>
              <a:rPr b="1" lang="en" sz="1800">
                <a:latin typeface="Roboto"/>
                <a:ea typeface="Roboto"/>
                <a:cs typeface="Roboto"/>
                <a:sym typeface="Roboto"/>
              </a:rPr>
              <a:t>Definition and Creation:</a:t>
            </a:r>
            <a:endParaRPr sz="1800"/>
          </a:p>
        </p:txBody>
      </p:sp>
      <p:sp>
        <p:nvSpPr>
          <p:cNvPr id="260" name="Google Shape;260;g283038813be_0_18"/>
          <p:cNvSpPr txBox="1"/>
          <p:nvPr>
            <p:ph idx="1" type="body"/>
          </p:nvPr>
        </p:nvSpPr>
        <p:spPr>
          <a:xfrm>
            <a:off x="76200" y="390475"/>
            <a:ext cx="9043200" cy="4683600"/>
          </a:xfrm>
          <a:prstGeom prst="rect">
            <a:avLst/>
          </a:prstGeom>
          <a:noFill/>
          <a:ln cap="flat" cmpd="sng" w="9525">
            <a:solidFill>
              <a:srgbClr val="FF99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400">
                <a:solidFill>
                  <a:schemeClr val="dk1"/>
                </a:solidFill>
                <a:latin typeface="Roboto"/>
                <a:ea typeface="Roboto"/>
                <a:cs typeface="Roboto"/>
                <a:sym typeface="Roboto"/>
              </a:rPr>
              <a:t>Namespaces allow us to group named entities that otherwise would have </a:t>
            </a:r>
            <a:r>
              <a:rPr i="1" lang="en" sz="1400">
                <a:solidFill>
                  <a:schemeClr val="dk1"/>
                </a:solidFill>
                <a:latin typeface="Roboto"/>
                <a:ea typeface="Roboto"/>
                <a:cs typeface="Roboto"/>
                <a:sym typeface="Roboto"/>
              </a:rPr>
              <a:t>global scope </a:t>
            </a:r>
            <a:r>
              <a:rPr lang="en" sz="1400">
                <a:solidFill>
                  <a:schemeClr val="dk1"/>
                </a:solidFill>
                <a:latin typeface="Roboto"/>
                <a:ea typeface="Roboto"/>
                <a:cs typeface="Roboto"/>
                <a:sym typeface="Roboto"/>
              </a:rPr>
              <a:t>into narrower (limited) scopes, giving them </a:t>
            </a:r>
            <a:r>
              <a:rPr i="1" lang="en" sz="1400">
                <a:solidFill>
                  <a:schemeClr val="dk1"/>
                </a:solidFill>
                <a:latin typeface="Roboto"/>
                <a:ea typeface="Roboto"/>
                <a:cs typeface="Roboto"/>
                <a:sym typeface="Roboto"/>
              </a:rPr>
              <a:t>namespace scope</a:t>
            </a:r>
            <a:r>
              <a:rPr lang="en" sz="1400">
                <a:solidFill>
                  <a:schemeClr val="dk1"/>
                </a:solidFill>
                <a:latin typeface="Roboto"/>
                <a:ea typeface="Roboto"/>
                <a:cs typeface="Roboto"/>
                <a:sym typeface="Roboto"/>
              </a:rPr>
              <a:t>. This allows organizing the elements of programs into different logical scopes referred to by names.</a:t>
            </a:r>
            <a:endParaRPr sz="1400">
              <a:solidFill>
                <a:schemeClr val="dk1"/>
              </a:solidFill>
              <a:latin typeface="Roboto"/>
              <a:ea typeface="Roboto"/>
              <a:cs typeface="Roboto"/>
              <a:sym typeface="Roboto"/>
            </a:endParaRPr>
          </a:p>
          <a:p>
            <a:pPr indent="-317500" lvl="0" marL="457200" rtl="0" algn="l">
              <a:lnSpc>
                <a:spcPct val="115000"/>
              </a:lnSpc>
              <a:spcBef>
                <a:spcPts val="1600"/>
              </a:spcBef>
              <a:spcAft>
                <a:spcPts val="0"/>
              </a:spcAft>
              <a:buClr>
                <a:schemeClr val="dk1"/>
              </a:buClr>
              <a:buSzPts val="1400"/>
              <a:buChar char="●"/>
            </a:pPr>
            <a:r>
              <a:rPr lang="en" sz="1400">
                <a:solidFill>
                  <a:schemeClr val="dk1"/>
                </a:solidFill>
                <a:latin typeface="Roboto"/>
                <a:ea typeface="Roboto"/>
                <a:cs typeface="Roboto"/>
                <a:sym typeface="Roboto"/>
              </a:rPr>
              <a:t>Namespace is a feature added in C++ and not present in C.</a:t>
            </a:r>
            <a:br>
              <a:rPr lang="en" sz="1400">
                <a:solidFill>
                  <a:schemeClr val="dk1"/>
                </a:solidFill>
                <a:latin typeface="Roboto"/>
                <a:ea typeface="Roboto"/>
                <a:cs typeface="Roboto"/>
                <a:sym typeface="Roboto"/>
              </a:rPr>
            </a:br>
            <a:r>
              <a:rPr lang="en" sz="1400">
                <a:solidFill>
                  <a:schemeClr val="dk1"/>
                </a:solidFill>
              </a:rPr>
              <a:t> 	</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latin typeface="Roboto"/>
                <a:ea typeface="Roboto"/>
                <a:cs typeface="Roboto"/>
                <a:sym typeface="Roboto"/>
              </a:rPr>
              <a:t>A namespace is a declarative region that provides a scope to the identifiers (names of the types, function, variables etc) inside it.</a:t>
            </a:r>
            <a:br>
              <a:rPr lang="en" sz="1400">
                <a:solidFill>
                  <a:schemeClr val="dk1"/>
                </a:solidFill>
                <a:latin typeface="Roboto"/>
                <a:ea typeface="Roboto"/>
                <a:cs typeface="Roboto"/>
                <a:sym typeface="Roboto"/>
              </a:rPr>
            </a:br>
            <a:r>
              <a:rPr lang="en" sz="1400">
                <a:solidFill>
                  <a:schemeClr val="dk1"/>
                </a:solidFill>
              </a:rPr>
              <a:t> 	</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latin typeface="Roboto"/>
                <a:ea typeface="Roboto"/>
                <a:cs typeface="Roboto"/>
                <a:sym typeface="Roboto"/>
              </a:rPr>
              <a:t>Multiple namespace blocks with the same name are allowed. All declarations within those blocks are declared in the named scope.</a:t>
            </a:r>
            <a:r>
              <a:rPr lang="en" sz="1400">
                <a:solidFill>
                  <a:schemeClr val="dk1"/>
                </a:solidFill>
              </a:rPr>
              <a:t> 	 	</a:t>
            </a:r>
            <a:endParaRPr sz="1400">
              <a:solidFill>
                <a:schemeClr val="dk1"/>
              </a:solidFill>
            </a:endParaRPr>
          </a:p>
          <a:p>
            <a:pPr indent="0" lvl="0" marL="0" rtl="0" algn="l">
              <a:lnSpc>
                <a:spcPct val="100000"/>
              </a:lnSpc>
              <a:spcBef>
                <a:spcPts val="1200"/>
              </a:spcBef>
              <a:spcAft>
                <a:spcPts val="0"/>
              </a:spcAft>
              <a:buSzPts val="1800"/>
              <a:buNone/>
            </a:pPr>
            <a:r>
              <a:rPr lang="en" sz="1400">
                <a:solidFill>
                  <a:schemeClr val="dk1"/>
                </a:solidFill>
                <a:latin typeface="Roboto"/>
                <a:ea typeface="Roboto"/>
                <a:cs typeface="Roboto"/>
                <a:sym typeface="Roboto"/>
              </a:rPr>
              <a:t>A namespace definition begins with the keyword </a:t>
            </a:r>
            <a:r>
              <a:rPr b="1" lang="en" sz="1400">
                <a:solidFill>
                  <a:schemeClr val="dk1"/>
                </a:solidFill>
                <a:latin typeface="Roboto"/>
                <a:ea typeface="Roboto"/>
                <a:cs typeface="Roboto"/>
                <a:sym typeface="Roboto"/>
              </a:rPr>
              <a:t>namespace</a:t>
            </a:r>
            <a:r>
              <a:rPr lang="en" sz="1400">
                <a:solidFill>
                  <a:schemeClr val="dk1"/>
                </a:solidFill>
              </a:rPr>
              <a:t> </a:t>
            </a:r>
            <a:r>
              <a:rPr lang="en" sz="1400">
                <a:solidFill>
                  <a:schemeClr val="dk1"/>
                </a:solidFill>
                <a:latin typeface="Roboto"/>
                <a:ea typeface="Roboto"/>
                <a:cs typeface="Roboto"/>
                <a:sym typeface="Roboto"/>
              </a:rPr>
              <a:t>followed by the namespace name as follows:</a:t>
            </a:r>
            <a:endParaRPr sz="1400">
              <a:solidFill>
                <a:schemeClr val="dk1"/>
              </a:solidFill>
              <a:latin typeface="Roboto"/>
              <a:ea typeface="Roboto"/>
              <a:cs typeface="Roboto"/>
              <a:sym typeface="Roboto"/>
            </a:endParaRPr>
          </a:p>
          <a:p>
            <a:pPr indent="0" lvl="0" marL="457200" rtl="0" algn="l">
              <a:lnSpc>
                <a:spcPct val="115000"/>
              </a:lnSpc>
              <a:spcBef>
                <a:spcPts val="1200"/>
              </a:spcBef>
              <a:spcAft>
                <a:spcPts val="0"/>
              </a:spcAft>
              <a:buSzPts val="1800"/>
              <a:buNone/>
            </a:pPr>
            <a:r>
              <a:rPr lang="en" sz="1400">
                <a:solidFill>
                  <a:srgbClr val="FF9900"/>
                </a:solidFill>
                <a:latin typeface="Roboto"/>
                <a:ea typeface="Roboto"/>
                <a:cs typeface="Roboto"/>
                <a:sym typeface="Roboto"/>
              </a:rPr>
              <a:t>namespace namespace_name </a:t>
            </a:r>
            <a:endParaRPr sz="1400">
              <a:solidFill>
                <a:srgbClr val="FF9900"/>
              </a:solidFill>
            </a:endParaRPr>
          </a:p>
          <a:p>
            <a:pPr indent="0" lvl="0" marL="457200" rtl="0" algn="l">
              <a:lnSpc>
                <a:spcPct val="115000"/>
              </a:lnSpc>
              <a:spcBef>
                <a:spcPts val="1200"/>
              </a:spcBef>
              <a:spcAft>
                <a:spcPts val="0"/>
              </a:spcAft>
              <a:buSzPts val="1800"/>
              <a:buNone/>
            </a:pPr>
            <a:r>
              <a:rPr lang="en" sz="1400">
                <a:solidFill>
                  <a:srgbClr val="FF9900"/>
                </a:solidFill>
                <a:latin typeface="Consolas"/>
                <a:ea typeface="Consolas"/>
                <a:cs typeface="Consolas"/>
                <a:sym typeface="Consolas"/>
              </a:rPr>
              <a:t>{</a:t>
            </a:r>
            <a:endParaRPr sz="1400">
              <a:solidFill>
                <a:srgbClr val="FF9900"/>
              </a:solidFill>
            </a:endParaRPr>
          </a:p>
          <a:p>
            <a:pPr indent="0" lvl="0" marL="457200" rtl="0" algn="l">
              <a:lnSpc>
                <a:spcPct val="115000"/>
              </a:lnSpc>
              <a:spcBef>
                <a:spcPts val="1200"/>
              </a:spcBef>
              <a:spcAft>
                <a:spcPts val="0"/>
              </a:spcAft>
              <a:buSzPts val="1800"/>
              <a:buNone/>
            </a:pPr>
            <a:r>
              <a:rPr lang="en" sz="1400">
                <a:solidFill>
                  <a:srgbClr val="FF9900"/>
                </a:solidFill>
              </a:rPr>
              <a:t>   </a:t>
            </a:r>
            <a:r>
              <a:rPr lang="en" sz="1400">
                <a:solidFill>
                  <a:srgbClr val="FF9900"/>
                </a:solidFill>
                <a:latin typeface="Consolas"/>
                <a:ea typeface="Consolas"/>
                <a:cs typeface="Consolas"/>
                <a:sym typeface="Consolas"/>
              </a:rPr>
              <a:t>int x, y; // code declarations where x and y are declared in  namespace_name's scope</a:t>
            </a:r>
            <a:endParaRPr sz="1400">
              <a:solidFill>
                <a:srgbClr val="FF9900"/>
              </a:solidFill>
            </a:endParaRPr>
          </a:p>
          <a:p>
            <a:pPr indent="0" lvl="0" marL="0" rtl="0" algn="l">
              <a:lnSpc>
                <a:spcPct val="115000"/>
              </a:lnSpc>
              <a:spcBef>
                <a:spcPts val="1200"/>
              </a:spcBef>
              <a:spcAft>
                <a:spcPts val="0"/>
              </a:spcAft>
              <a:buSzPts val="1800"/>
              <a:buNone/>
            </a:pPr>
            <a:r>
              <a:rPr lang="en" sz="1400">
                <a:solidFill>
                  <a:srgbClr val="FF9900"/>
                </a:solidFill>
                <a:latin typeface="Consolas"/>
                <a:ea typeface="Consolas"/>
                <a:cs typeface="Consolas"/>
                <a:sym typeface="Consolas"/>
              </a:rPr>
              <a:t>}</a:t>
            </a:r>
            <a:endParaRPr sz="1400"/>
          </a:p>
        </p:txBody>
      </p:sp>
      <p:sp>
        <p:nvSpPr>
          <p:cNvPr id="261" name="Google Shape;261;g283038813be_0_1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283038813be_0_23"/>
          <p:cNvSpPr txBox="1"/>
          <p:nvPr>
            <p:ph idx="1" type="body"/>
          </p:nvPr>
        </p:nvSpPr>
        <p:spPr>
          <a:xfrm>
            <a:off x="0" y="-11250"/>
            <a:ext cx="3662100" cy="5143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Namespace declarations appear only at global scope.</a:t>
            </a:r>
            <a:endParaRPr>
              <a:solidFill>
                <a:schemeClr val="dk1"/>
              </a:solidFill>
              <a:latin typeface="Roboto"/>
              <a:ea typeface="Roboto"/>
              <a:cs typeface="Roboto"/>
              <a:sym typeface="Roboto"/>
            </a:endParaRPr>
          </a:p>
          <a:p>
            <a:pPr indent="-342900" lvl="0" marL="457200" rtl="0" algn="l">
              <a:lnSpc>
                <a:spcPct val="115000"/>
              </a:lnSpc>
              <a:spcBef>
                <a:spcPts val="1600"/>
              </a:spcBef>
              <a:spcAft>
                <a:spcPts val="0"/>
              </a:spcAft>
              <a:buClr>
                <a:schemeClr val="dk1"/>
              </a:buClr>
              <a:buSzPts val="1800"/>
              <a:buChar char="●"/>
            </a:pPr>
            <a:r>
              <a:rPr lang="en">
                <a:solidFill>
                  <a:schemeClr val="dk1"/>
                </a:solidFill>
                <a:latin typeface="Roboto"/>
                <a:ea typeface="Roboto"/>
                <a:cs typeface="Roboto"/>
                <a:sym typeface="Roboto"/>
              </a:rPr>
              <a:t>Namespace declarations can be nested within another namespace.</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latin typeface="Roboto"/>
                <a:ea typeface="Roboto"/>
                <a:cs typeface="Roboto"/>
                <a:sym typeface="Roboto"/>
              </a:rPr>
              <a:t>Namespace declarations don’t have access specifiers. (Public or private)</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latin typeface="Roboto"/>
                <a:ea typeface="Roboto"/>
                <a:cs typeface="Roboto"/>
                <a:sym typeface="Roboto"/>
              </a:rPr>
              <a:t>No need to give semicolon after the closing brace of definition of namespace.</a:t>
            </a:r>
            <a:endParaRPr>
              <a:solidFill>
                <a:schemeClr val="dk1"/>
              </a:solidFill>
            </a:endParaRPr>
          </a:p>
          <a:p>
            <a:pPr indent="-342900" lvl="0" marL="457200" rtl="0" algn="l">
              <a:lnSpc>
                <a:spcPct val="115000"/>
              </a:lnSpc>
              <a:spcBef>
                <a:spcPts val="0"/>
              </a:spcBef>
              <a:spcAft>
                <a:spcPts val="1200"/>
              </a:spcAft>
              <a:buClr>
                <a:schemeClr val="dk1"/>
              </a:buClr>
              <a:buSzPts val="1800"/>
              <a:buChar char="●"/>
            </a:pPr>
            <a:r>
              <a:rPr lang="en">
                <a:solidFill>
                  <a:schemeClr val="dk1"/>
                </a:solidFill>
                <a:latin typeface="Roboto"/>
                <a:ea typeface="Roboto"/>
                <a:cs typeface="Roboto"/>
                <a:sym typeface="Roboto"/>
              </a:rPr>
              <a:t>We can split the definition of namespace over several units.</a:t>
            </a:r>
            <a:endParaRPr/>
          </a:p>
        </p:txBody>
      </p:sp>
      <p:sp>
        <p:nvSpPr>
          <p:cNvPr id="267" name="Google Shape;267;g283038813be_0_23"/>
          <p:cNvSpPr txBox="1"/>
          <p:nvPr/>
        </p:nvSpPr>
        <p:spPr>
          <a:xfrm>
            <a:off x="3927500" y="541050"/>
            <a:ext cx="5216400" cy="4708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 Creating namespaces</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#include &lt;iostream&gt;</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using namespace std;</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namespace namesp1</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	int value() { return 5; }</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namespace namesp2</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	const double x = 100;</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	double value() { return 2*x; }</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int main()</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	// Access value function within namesp1</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	cout &lt;&lt; namesp1::value() &lt;&lt; '\n';</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	// Access value function within namesp2</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	cout &lt;&lt; nsmesp2::value() &lt;&lt; '\n';</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	// Access variable x directly</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	cout &lt;&lt; namesp2::x &lt;&lt; '\n';	</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	return 0;</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 </a:t>
            </a:r>
            <a:endParaRPr b="0" i="0" sz="1200" u="none" cap="none" strike="noStrike">
              <a:solidFill>
                <a:schemeClr val="dk1"/>
              </a:solidFill>
              <a:latin typeface="Roboto"/>
              <a:ea typeface="Roboto"/>
              <a:cs typeface="Roboto"/>
              <a:sym typeface="Roboto"/>
            </a:endParaRPr>
          </a:p>
        </p:txBody>
      </p:sp>
      <p:sp>
        <p:nvSpPr>
          <p:cNvPr id="268" name="Google Shape;268;g283038813be_0_23"/>
          <p:cNvSpPr txBox="1"/>
          <p:nvPr/>
        </p:nvSpPr>
        <p:spPr>
          <a:xfrm>
            <a:off x="4179250" y="50100"/>
            <a:ext cx="4724100" cy="40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Example program with Multiple namespaces</a:t>
            </a:r>
            <a:endParaRPr b="1" i="0" sz="1400" u="none" cap="none" strike="noStrike">
              <a:solidFill>
                <a:srgbClr val="000000"/>
              </a:solidFill>
              <a:latin typeface="Arial"/>
              <a:ea typeface="Arial"/>
              <a:cs typeface="Arial"/>
              <a:sym typeface="Arial"/>
            </a:endParaRPr>
          </a:p>
        </p:txBody>
      </p:sp>
      <p:sp>
        <p:nvSpPr>
          <p:cNvPr id="269" name="Google Shape;269;g283038813be_0_2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3"/>
          <p:cNvSpPr txBox="1"/>
          <p:nvPr>
            <p:ph type="title"/>
          </p:nvPr>
        </p:nvSpPr>
        <p:spPr>
          <a:xfrm>
            <a:off x="311700" y="-3169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Namespace : Consider the following program</a:t>
            </a:r>
            <a:endParaRPr/>
          </a:p>
        </p:txBody>
      </p:sp>
      <p:sp>
        <p:nvSpPr>
          <p:cNvPr id="275" name="Google Shape;275;p33"/>
          <p:cNvSpPr txBox="1"/>
          <p:nvPr>
            <p:ph idx="1" type="body"/>
          </p:nvPr>
        </p:nvSpPr>
        <p:spPr>
          <a:xfrm>
            <a:off x="311700" y="161875"/>
            <a:ext cx="4260300" cy="4981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100"/>
              <a:buFont typeface="Arial"/>
              <a:buNone/>
            </a:pPr>
            <a:r>
              <a:rPr lang="en" sz="1700"/>
              <a:t>/* Here we can see that more than one variables are being used without reporting any error.</a:t>
            </a:r>
            <a:endParaRPr sz="1700"/>
          </a:p>
          <a:p>
            <a:pPr indent="0" lvl="0" marL="0" rtl="0" algn="l">
              <a:lnSpc>
                <a:spcPct val="100000"/>
              </a:lnSpc>
              <a:spcBef>
                <a:spcPts val="1200"/>
              </a:spcBef>
              <a:spcAft>
                <a:spcPts val="0"/>
              </a:spcAft>
              <a:buClr>
                <a:schemeClr val="dk1"/>
              </a:buClr>
              <a:buSzPts val="1100"/>
              <a:buFont typeface="Arial"/>
              <a:buNone/>
            </a:pPr>
            <a:r>
              <a:rPr lang="en" sz="1700"/>
              <a:t>That is because they are declared in the different namespaces and scopes.*/</a:t>
            </a:r>
            <a:endParaRPr sz="1700"/>
          </a:p>
          <a:p>
            <a:pPr indent="0" lvl="0" marL="0" rtl="0" algn="l">
              <a:lnSpc>
                <a:spcPct val="100000"/>
              </a:lnSpc>
              <a:spcBef>
                <a:spcPts val="1200"/>
              </a:spcBef>
              <a:spcAft>
                <a:spcPts val="0"/>
              </a:spcAft>
              <a:buClr>
                <a:schemeClr val="dk1"/>
              </a:buClr>
              <a:buSzPts val="1100"/>
              <a:buFont typeface="Arial"/>
              <a:buNone/>
            </a:pPr>
            <a:r>
              <a:rPr lang="en" sz="1700"/>
              <a:t>#include &lt;iostream&gt;</a:t>
            </a:r>
            <a:endParaRPr sz="1700"/>
          </a:p>
          <a:p>
            <a:pPr indent="0" lvl="0" marL="0" rtl="0" algn="l">
              <a:lnSpc>
                <a:spcPct val="100000"/>
              </a:lnSpc>
              <a:spcBef>
                <a:spcPts val="1200"/>
              </a:spcBef>
              <a:spcAft>
                <a:spcPts val="0"/>
              </a:spcAft>
              <a:buSzPts val="1800"/>
              <a:buNone/>
            </a:pPr>
            <a:r>
              <a:rPr lang="en" sz="1700"/>
              <a:t>using namespace std;</a:t>
            </a:r>
            <a:endParaRPr sz="1700"/>
          </a:p>
          <a:p>
            <a:pPr indent="0" lvl="0" marL="0" rtl="0" algn="l">
              <a:lnSpc>
                <a:spcPct val="100000"/>
              </a:lnSpc>
              <a:spcBef>
                <a:spcPts val="0"/>
              </a:spcBef>
              <a:spcAft>
                <a:spcPts val="0"/>
              </a:spcAft>
              <a:buClr>
                <a:schemeClr val="dk1"/>
              </a:buClr>
              <a:buSzPts val="1100"/>
              <a:buFont typeface="Arial"/>
              <a:buNone/>
            </a:pPr>
            <a:r>
              <a:rPr lang="en" sz="1700"/>
              <a:t>// Variable created inside namespace</a:t>
            </a:r>
            <a:endParaRPr sz="1700"/>
          </a:p>
          <a:p>
            <a:pPr indent="0" lvl="0" marL="0" rtl="0" algn="l">
              <a:lnSpc>
                <a:spcPct val="100000"/>
              </a:lnSpc>
              <a:spcBef>
                <a:spcPts val="1200"/>
              </a:spcBef>
              <a:spcAft>
                <a:spcPts val="0"/>
              </a:spcAft>
              <a:buClr>
                <a:schemeClr val="dk1"/>
              </a:buClr>
              <a:buSzPts val="1100"/>
              <a:buFont typeface="Arial"/>
              <a:buNone/>
            </a:pPr>
            <a:r>
              <a:rPr lang="en" sz="1700"/>
              <a:t>namespace first</a:t>
            </a:r>
            <a:endParaRPr sz="1700"/>
          </a:p>
          <a:p>
            <a:pPr indent="0" lvl="0" marL="0" rtl="0" algn="l">
              <a:lnSpc>
                <a:spcPct val="100000"/>
              </a:lnSpc>
              <a:spcBef>
                <a:spcPts val="0"/>
              </a:spcBef>
              <a:spcAft>
                <a:spcPts val="0"/>
              </a:spcAft>
              <a:buClr>
                <a:schemeClr val="dk1"/>
              </a:buClr>
              <a:buSzPts val="1100"/>
              <a:buFont typeface="Arial"/>
              <a:buNone/>
            </a:pPr>
            <a:r>
              <a:rPr lang="en" sz="1700"/>
              <a:t>{</a:t>
            </a:r>
            <a:endParaRPr sz="1700"/>
          </a:p>
          <a:p>
            <a:pPr indent="0" lvl="0" marL="0" rtl="0" algn="l">
              <a:lnSpc>
                <a:spcPct val="100000"/>
              </a:lnSpc>
              <a:spcBef>
                <a:spcPts val="0"/>
              </a:spcBef>
              <a:spcAft>
                <a:spcPts val="0"/>
              </a:spcAft>
              <a:buClr>
                <a:schemeClr val="dk1"/>
              </a:buClr>
              <a:buSzPts val="1100"/>
              <a:buFont typeface="Arial"/>
              <a:buNone/>
            </a:pPr>
            <a:r>
              <a:rPr lang="en" sz="1700"/>
              <a:t>	int amount= 5000; }</a:t>
            </a:r>
            <a:endParaRPr sz="1700"/>
          </a:p>
          <a:p>
            <a:pPr indent="0" lvl="0" marL="0" rtl="0" algn="l">
              <a:lnSpc>
                <a:spcPct val="100000"/>
              </a:lnSpc>
              <a:spcBef>
                <a:spcPts val="1200"/>
              </a:spcBef>
              <a:spcAft>
                <a:spcPts val="0"/>
              </a:spcAft>
              <a:buSzPts val="1800"/>
              <a:buNone/>
            </a:pPr>
            <a:r>
              <a:rPr lang="en" sz="1700"/>
              <a:t>// Global variable</a:t>
            </a:r>
            <a:endParaRPr sz="1700"/>
          </a:p>
          <a:p>
            <a:pPr indent="0" lvl="0" marL="0" rtl="0" algn="l">
              <a:lnSpc>
                <a:spcPct val="100000"/>
              </a:lnSpc>
              <a:spcBef>
                <a:spcPts val="1200"/>
              </a:spcBef>
              <a:spcAft>
                <a:spcPts val="0"/>
              </a:spcAft>
              <a:buClr>
                <a:schemeClr val="dk1"/>
              </a:buClr>
              <a:buSzPts val="1100"/>
              <a:buFont typeface="Arial"/>
              <a:buNone/>
            </a:pPr>
            <a:r>
              <a:rPr lang="en" sz="1700"/>
              <a:t>int amount= 2000;</a:t>
            </a:r>
            <a:endParaRPr sz="1700"/>
          </a:p>
          <a:p>
            <a:pPr indent="0" lvl="0" marL="0" rtl="0" algn="l">
              <a:lnSpc>
                <a:spcPct val="100000"/>
              </a:lnSpc>
              <a:spcBef>
                <a:spcPts val="1200"/>
              </a:spcBef>
              <a:spcAft>
                <a:spcPts val="0"/>
              </a:spcAft>
              <a:buSzPts val="1800"/>
              <a:buNone/>
            </a:pPr>
            <a:r>
              <a:t/>
            </a:r>
            <a:endParaRPr sz="1400"/>
          </a:p>
        </p:txBody>
      </p:sp>
      <p:sp>
        <p:nvSpPr>
          <p:cNvPr id="276" name="Google Shape;276;p33"/>
          <p:cNvSpPr txBox="1"/>
          <p:nvPr>
            <p:ph idx="1" type="body"/>
          </p:nvPr>
        </p:nvSpPr>
        <p:spPr>
          <a:xfrm>
            <a:off x="4782975" y="255725"/>
            <a:ext cx="4260300" cy="4981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1200"/>
              </a:spcBef>
              <a:spcAft>
                <a:spcPts val="0"/>
              </a:spcAft>
              <a:buSzPts val="1800"/>
              <a:buNone/>
            </a:pPr>
            <a:r>
              <a:rPr lang="en" sz="1500"/>
              <a:t>int main()</a:t>
            </a:r>
            <a:endParaRPr sz="1500"/>
          </a:p>
          <a:p>
            <a:pPr indent="0" lvl="0" marL="0" rtl="0" algn="l">
              <a:lnSpc>
                <a:spcPct val="100000"/>
              </a:lnSpc>
              <a:spcBef>
                <a:spcPts val="1200"/>
              </a:spcBef>
              <a:spcAft>
                <a:spcPts val="0"/>
              </a:spcAft>
              <a:buSzPts val="1800"/>
              <a:buNone/>
            </a:pPr>
            <a:r>
              <a:rPr lang="en" sz="1500"/>
              <a:t>{</a:t>
            </a:r>
            <a:endParaRPr sz="1500"/>
          </a:p>
          <a:p>
            <a:pPr indent="0" lvl="0" marL="0" rtl="0" algn="l">
              <a:lnSpc>
                <a:spcPct val="100000"/>
              </a:lnSpc>
              <a:spcBef>
                <a:spcPts val="1200"/>
              </a:spcBef>
              <a:spcAft>
                <a:spcPts val="0"/>
              </a:spcAft>
              <a:buSzPts val="1800"/>
              <a:buNone/>
            </a:pPr>
            <a:r>
              <a:rPr lang="en" sz="1500"/>
              <a:t>	// Local variable</a:t>
            </a:r>
            <a:endParaRPr sz="1500"/>
          </a:p>
          <a:p>
            <a:pPr indent="0" lvl="0" marL="0" rtl="0" algn="l">
              <a:lnSpc>
                <a:spcPct val="100000"/>
              </a:lnSpc>
              <a:spcBef>
                <a:spcPts val="1200"/>
              </a:spcBef>
              <a:spcAft>
                <a:spcPts val="0"/>
              </a:spcAft>
              <a:buSzPts val="1800"/>
              <a:buNone/>
            </a:pPr>
            <a:r>
              <a:rPr lang="en" sz="1500"/>
              <a:t>	int amount = 3000;</a:t>
            </a:r>
            <a:endParaRPr sz="1500"/>
          </a:p>
          <a:p>
            <a:pPr indent="0" lvl="0" marL="0" rtl="0" algn="l">
              <a:lnSpc>
                <a:spcPct val="100000"/>
              </a:lnSpc>
              <a:spcBef>
                <a:spcPts val="1200"/>
              </a:spcBef>
              <a:spcAft>
                <a:spcPts val="0"/>
              </a:spcAft>
              <a:buSzPts val="1800"/>
              <a:buNone/>
            </a:pPr>
            <a:r>
              <a:rPr lang="en" sz="1500"/>
              <a:t>/*These variables can be accessed from outside the namespace using the scope operator ::*/</a:t>
            </a:r>
            <a:endParaRPr sz="1500"/>
          </a:p>
          <a:p>
            <a:pPr indent="0" lvl="0" marL="0" rtl="0" algn="l">
              <a:lnSpc>
                <a:spcPct val="100000"/>
              </a:lnSpc>
              <a:spcBef>
                <a:spcPts val="1200"/>
              </a:spcBef>
              <a:spcAft>
                <a:spcPts val="0"/>
              </a:spcAft>
              <a:buSzPts val="1800"/>
              <a:buNone/>
            </a:pPr>
            <a:r>
              <a:rPr lang="en" sz="1500"/>
              <a:t>cout &lt;&lt; first::amount &lt;&lt; '\n'; //Access variable amount created inside  first namespace</a:t>
            </a:r>
            <a:endParaRPr sz="1500"/>
          </a:p>
          <a:p>
            <a:pPr indent="0" lvl="0" marL="0" rtl="0" algn="l">
              <a:lnSpc>
                <a:spcPct val="100000"/>
              </a:lnSpc>
              <a:spcBef>
                <a:spcPts val="1200"/>
              </a:spcBef>
              <a:spcAft>
                <a:spcPts val="0"/>
              </a:spcAft>
              <a:buSzPts val="1800"/>
              <a:buNone/>
            </a:pPr>
            <a:r>
              <a:rPr lang="en" sz="1500"/>
              <a:t>cout &lt;&lt; ::amount &lt;&lt; '\n'; //Access variable amount as a global variable</a:t>
            </a:r>
            <a:endParaRPr sz="1500"/>
          </a:p>
          <a:p>
            <a:pPr indent="0" lvl="0" marL="0" rtl="0" algn="l">
              <a:lnSpc>
                <a:spcPct val="100000"/>
              </a:lnSpc>
              <a:spcBef>
                <a:spcPts val="1200"/>
              </a:spcBef>
              <a:spcAft>
                <a:spcPts val="0"/>
              </a:spcAft>
              <a:buSzPts val="1800"/>
              <a:buNone/>
            </a:pPr>
            <a:r>
              <a:rPr lang="en" sz="1500"/>
              <a:t>cout &lt;&lt; amount &lt;&lt; '\n'; //Access  local variable  amount;</a:t>
            </a:r>
            <a:endParaRPr sz="1500"/>
          </a:p>
          <a:p>
            <a:pPr indent="0" lvl="0" marL="0" rtl="0" algn="l">
              <a:lnSpc>
                <a:spcPct val="100000"/>
              </a:lnSpc>
              <a:spcBef>
                <a:spcPts val="1200"/>
              </a:spcBef>
              <a:spcAft>
                <a:spcPts val="0"/>
              </a:spcAft>
              <a:buSzPts val="1800"/>
              <a:buNone/>
            </a:pPr>
            <a:r>
              <a:rPr lang="en" sz="1500"/>
              <a:t>return 0;</a:t>
            </a:r>
            <a:endParaRPr sz="1500"/>
          </a:p>
          <a:p>
            <a:pPr indent="0" lvl="0" marL="0" rtl="0" algn="l">
              <a:lnSpc>
                <a:spcPct val="100000"/>
              </a:lnSpc>
              <a:spcBef>
                <a:spcPts val="1200"/>
              </a:spcBef>
              <a:spcAft>
                <a:spcPts val="0"/>
              </a:spcAft>
              <a:buSzPts val="1800"/>
              <a:buNone/>
            </a:pPr>
            <a:r>
              <a:rPr lang="en" sz="1500"/>
              <a:t>}  </a:t>
            </a:r>
            <a:endParaRPr sz="1500"/>
          </a:p>
          <a:p>
            <a:pPr indent="0" lvl="0" marL="0" rtl="0" algn="l">
              <a:lnSpc>
                <a:spcPct val="100000"/>
              </a:lnSpc>
              <a:spcBef>
                <a:spcPts val="0"/>
              </a:spcBef>
              <a:spcAft>
                <a:spcPts val="1600"/>
              </a:spcAft>
              <a:buSzPts val="1800"/>
              <a:buNone/>
            </a:pPr>
            <a:r>
              <a:t/>
            </a:r>
            <a:endParaRPr sz="1500"/>
          </a:p>
        </p:txBody>
      </p:sp>
      <p:sp>
        <p:nvSpPr>
          <p:cNvPr id="277" name="Google Shape;277;p3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7651c49b18_3_1"/>
          <p:cNvSpPr txBox="1"/>
          <p:nvPr>
            <p:ph type="title"/>
          </p:nvPr>
        </p:nvSpPr>
        <p:spPr>
          <a:xfrm>
            <a:off x="311700" y="-1645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Exercice</a:t>
            </a:r>
            <a:endParaRPr/>
          </a:p>
        </p:txBody>
      </p:sp>
      <p:sp>
        <p:nvSpPr>
          <p:cNvPr id="283" name="Google Shape;283;g7651c49b18_3_1"/>
          <p:cNvSpPr txBox="1"/>
          <p:nvPr>
            <p:ph idx="1" type="body"/>
          </p:nvPr>
        </p:nvSpPr>
        <p:spPr>
          <a:xfrm>
            <a:off x="111975" y="161875"/>
            <a:ext cx="9032100" cy="4343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AutoNum type="arabicPeriod"/>
            </a:pPr>
            <a:r>
              <a:rPr lang="en"/>
              <a:t>Create  a program  with a namespace called userDefined with a  variable insideNamespace of type integer and give it initial value.</a:t>
            </a:r>
            <a:endParaRPr/>
          </a:p>
          <a:p>
            <a:pPr indent="-342900" lvl="1" marL="914400" rtl="0" algn="l">
              <a:lnSpc>
                <a:spcPct val="115000"/>
              </a:lnSpc>
              <a:spcBef>
                <a:spcPts val="0"/>
              </a:spcBef>
              <a:spcAft>
                <a:spcPts val="0"/>
              </a:spcAft>
              <a:buSzPts val="1800"/>
              <a:buAutoNum type="alphaLcPeriod"/>
            </a:pPr>
            <a:r>
              <a:rPr lang="en" sz="1800"/>
              <a:t>Create a function cout inside the namespace(</a:t>
            </a:r>
            <a:r>
              <a:rPr lang="en" sz="1800"/>
              <a:t>userDefined)</a:t>
            </a:r>
            <a:r>
              <a:rPr lang="en" sz="1800"/>
              <a:t> which return integer as the value of insideNamespace.</a:t>
            </a:r>
            <a:endParaRPr sz="1800"/>
          </a:p>
          <a:p>
            <a:pPr indent="-342900" lvl="1" marL="914400" rtl="0" algn="l">
              <a:lnSpc>
                <a:spcPct val="115000"/>
              </a:lnSpc>
              <a:spcBef>
                <a:spcPts val="0"/>
              </a:spcBef>
              <a:spcAft>
                <a:spcPts val="0"/>
              </a:spcAft>
              <a:buSzPts val="1800"/>
              <a:buAutoNum type="alphaLcPeriod"/>
            </a:pPr>
            <a:r>
              <a:rPr lang="en" sz="1800"/>
              <a:t>Create a global variable myGlobal of type integer and give it initial value</a:t>
            </a:r>
            <a:endParaRPr sz="1800"/>
          </a:p>
          <a:p>
            <a:pPr indent="-342900" lvl="1" marL="914400" rtl="0" algn="l">
              <a:lnSpc>
                <a:spcPct val="115000"/>
              </a:lnSpc>
              <a:spcBef>
                <a:spcPts val="0"/>
              </a:spcBef>
              <a:spcAft>
                <a:spcPts val="0"/>
              </a:spcAft>
              <a:buSzPts val="1800"/>
              <a:buAutoNum type="alphaLcPeriod"/>
            </a:pPr>
            <a:r>
              <a:rPr lang="en" sz="1800"/>
              <a:t>Create a global function cout and return the square of myGlobal</a:t>
            </a:r>
            <a:endParaRPr sz="1800"/>
          </a:p>
          <a:p>
            <a:pPr indent="-342900" lvl="1" marL="914400" rtl="0" algn="l">
              <a:lnSpc>
                <a:spcPct val="115000"/>
              </a:lnSpc>
              <a:spcBef>
                <a:spcPts val="0"/>
              </a:spcBef>
              <a:spcAft>
                <a:spcPts val="0"/>
              </a:spcAft>
              <a:buSzPts val="1800"/>
              <a:buAutoNum type="alphaLcPeriod"/>
            </a:pPr>
            <a:r>
              <a:rPr lang="en" sz="1800"/>
              <a:t>Create the main function with integer local variable cout with initial value.</a:t>
            </a:r>
            <a:endParaRPr sz="1800"/>
          </a:p>
          <a:p>
            <a:pPr indent="-342900" lvl="1" marL="914400" rtl="0" algn="l">
              <a:lnSpc>
                <a:spcPct val="115000"/>
              </a:lnSpc>
              <a:spcBef>
                <a:spcPts val="0"/>
              </a:spcBef>
              <a:spcAft>
                <a:spcPts val="0"/>
              </a:spcAft>
              <a:buSzPts val="1800"/>
              <a:buAutoNum type="alphaLcPeriod"/>
            </a:pPr>
            <a:r>
              <a:rPr lang="en" sz="1800"/>
              <a:t>Display all  variables defined above and display the output of cout() function in userDefined namespace and cout()  global function using the following description: </a:t>
            </a:r>
            <a:endParaRPr sz="1800"/>
          </a:p>
          <a:p>
            <a:pPr indent="-342900" lvl="2" marL="1371600" rtl="0" algn="l">
              <a:lnSpc>
                <a:spcPct val="115000"/>
              </a:lnSpc>
              <a:spcBef>
                <a:spcPts val="0"/>
              </a:spcBef>
              <a:spcAft>
                <a:spcPts val="0"/>
              </a:spcAft>
              <a:buSzPts val="1800"/>
              <a:buAutoNum type="romanLcPeriod"/>
            </a:pPr>
            <a:r>
              <a:rPr lang="en" sz="1800"/>
              <a:t>… &lt;&lt;"The local variable cout in main is"&lt;&lt;...</a:t>
            </a:r>
            <a:endParaRPr sz="1800"/>
          </a:p>
          <a:p>
            <a:pPr indent="-342900" lvl="2" marL="1371600" rtl="0" algn="l">
              <a:lnSpc>
                <a:spcPct val="115000"/>
              </a:lnSpc>
              <a:spcBef>
                <a:spcPts val="0"/>
              </a:spcBef>
              <a:spcAft>
                <a:spcPts val="0"/>
              </a:spcAft>
              <a:buSzPts val="1800"/>
              <a:buAutoNum type="romanLcPeriod"/>
            </a:pPr>
            <a:r>
              <a:rPr lang="en" sz="1800"/>
              <a:t>… &lt;&lt;"The variable in userDefined namespace is"&lt;&lt;...</a:t>
            </a:r>
            <a:endParaRPr sz="1800"/>
          </a:p>
          <a:p>
            <a:pPr indent="-342900" lvl="2" marL="1371600" rtl="0" algn="l">
              <a:lnSpc>
                <a:spcPct val="115000"/>
              </a:lnSpc>
              <a:spcBef>
                <a:spcPts val="0"/>
              </a:spcBef>
              <a:spcAft>
                <a:spcPts val="0"/>
              </a:spcAft>
              <a:buSzPts val="1800"/>
              <a:buAutoNum type="romanLcPeriod"/>
            </a:pPr>
            <a:r>
              <a:rPr lang="en" sz="1800"/>
              <a:t>…&lt;&lt;"The output of cout() in userDefined is"&lt;&lt;...</a:t>
            </a:r>
            <a:endParaRPr sz="1800"/>
          </a:p>
          <a:p>
            <a:pPr indent="-342900" lvl="2" marL="1371600" rtl="0" algn="l">
              <a:lnSpc>
                <a:spcPct val="115000"/>
              </a:lnSpc>
              <a:spcBef>
                <a:spcPts val="0"/>
              </a:spcBef>
              <a:spcAft>
                <a:spcPts val="0"/>
              </a:spcAft>
              <a:buSzPts val="1800"/>
              <a:buAutoNum type="romanLcPeriod"/>
            </a:pPr>
            <a:r>
              <a:rPr lang="en" sz="1800"/>
              <a:t>…&lt;&lt;"The value of myGlobal  is"&lt;&lt;...</a:t>
            </a:r>
            <a:endParaRPr sz="1800"/>
          </a:p>
          <a:p>
            <a:pPr indent="-342900" lvl="2" marL="1371600" rtl="0" algn="l">
              <a:lnSpc>
                <a:spcPct val="115000"/>
              </a:lnSpc>
              <a:spcBef>
                <a:spcPts val="0"/>
              </a:spcBef>
              <a:spcAft>
                <a:spcPts val="0"/>
              </a:spcAft>
              <a:buSzPts val="1800"/>
              <a:buAutoNum type="romanLcPeriod"/>
            </a:pPr>
            <a:r>
              <a:rPr lang="en" sz="1800"/>
              <a:t>…&lt;&lt;" The output of global cout() is"&lt;&lt;...</a:t>
            </a:r>
            <a:endParaRPr sz="1800"/>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p:txBody>
      </p:sp>
      <p:sp>
        <p:nvSpPr>
          <p:cNvPr id="284" name="Google Shape;284;g7651c49b18_3_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6"/>
          <p:cNvSpPr txBox="1"/>
          <p:nvPr>
            <p:ph type="title"/>
          </p:nvPr>
        </p:nvSpPr>
        <p:spPr>
          <a:xfrm>
            <a:off x="311700" y="2164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800"/>
              </a:spcBef>
              <a:spcAft>
                <a:spcPts val="800"/>
              </a:spcAft>
              <a:buClr>
                <a:schemeClr val="dk1"/>
              </a:buClr>
              <a:buSzPts val="1100"/>
              <a:buFont typeface="Arial"/>
              <a:buNone/>
            </a:pPr>
            <a:r>
              <a:rPr lang="en" sz="2400">
                <a:highlight>
                  <a:srgbClr val="FFFFFF"/>
                </a:highlight>
              </a:rPr>
              <a:t>Omitting Namespace</a:t>
            </a:r>
            <a:endParaRPr/>
          </a:p>
        </p:txBody>
      </p:sp>
      <p:sp>
        <p:nvSpPr>
          <p:cNvPr id="290" name="Google Shape;290;p36"/>
          <p:cNvSpPr txBox="1"/>
          <p:nvPr>
            <p:ph idx="1" type="body"/>
          </p:nvPr>
        </p:nvSpPr>
        <p:spPr>
          <a:xfrm>
            <a:off x="311700" y="863000"/>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You might see some C++ programs that runs without the standard namespace library. The </a:t>
            </a:r>
            <a:r>
              <a:rPr lang="en" sz="1200">
                <a:solidFill>
                  <a:srgbClr val="DC143C"/>
                </a:solidFill>
                <a:highlight>
                  <a:srgbClr val="F1F1F1"/>
                </a:highlight>
                <a:latin typeface="Consolas"/>
                <a:ea typeface="Consolas"/>
                <a:cs typeface="Consolas"/>
                <a:sym typeface="Consolas"/>
              </a:rPr>
              <a:t>using namespace std</a:t>
            </a:r>
            <a:r>
              <a:rPr lang="en" sz="1150">
                <a:solidFill>
                  <a:schemeClr val="dk1"/>
                </a:solidFill>
                <a:highlight>
                  <a:srgbClr val="FFFFFF"/>
                </a:highlight>
                <a:latin typeface="Verdana"/>
                <a:ea typeface="Verdana"/>
                <a:cs typeface="Verdana"/>
                <a:sym typeface="Verdana"/>
              </a:rPr>
              <a:t> line can be omitted and replaced with the </a:t>
            </a:r>
            <a:r>
              <a:rPr lang="en" sz="1200">
                <a:solidFill>
                  <a:srgbClr val="DC143C"/>
                </a:solidFill>
                <a:highlight>
                  <a:srgbClr val="F1F1F1"/>
                </a:highlight>
                <a:latin typeface="Consolas"/>
                <a:ea typeface="Consolas"/>
                <a:cs typeface="Consolas"/>
                <a:sym typeface="Consolas"/>
              </a:rPr>
              <a:t>std</a:t>
            </a:r>
            <a:r>
              <a:rPr lang="en" sz="1150">
                <a:solidFill>
                  <a:schemeClr val="dk1"/>
                </a:solidFill>
                <a:highlight>
                  <a:srgbClr val="FFFFFF"/>
                </a:highlight>
                <a:latin typeface="Verdana"/>
                <a:ea typeface="Verdana"/>
                <a:cs typeface="Verdana"/>
                <a:sym typeface="Verdana"/>
              </a:rPr>
              <a:t> keyword, followed by the </a:t>
            </a:r>
            <a:r>
              <a:rPr lang="en" sz="1200">
                <a:solidFill>
                  <a:srgbClr val="DC143C"/>
                </a:solidFill>
                <a:highlight>
                  <a:srgbClr val="F1F1F1"/>
                </a:highlight>
                <a:latin typeface="Consolas"/>
                <a:ea typeface="Consolas"/>
                <a:cs typeface="Consolas"/>
                <a:sym typeface="Consolas"/>
              </a:rPr>
              <a:t>::</a:t>
            </a:r>
            <a:r>
              <a:rPr lang="en" sz="1150">
                <a:solidFill>
                  <a:schemeClr val="dk1"/>
                </a:solidFill>
                <a:highlight>
                  <a:srgbClr val="FFFFFF"/>
                </a:highlight>
                <a:latin typeface="Verdana"/>
                <a:ea typeface="Verdana"/>
                <a:cs typeface="Verdana"/>
                <a:sym typeface="Verdana"/>
              </a:rPr>
              <a:t> operator for some objects:</a:t>
            </a:r>
            <a:endParaRPr sz="1150">
              <a:solidFill>
                <a:schemeClr val="dk1"/>
              </a:solidFill>
              <a:highlight>
                <a:srgbClr val="FFFFFF"/>
              </a:highlight>
              <a:latin typeface="Verdana"/>
              <a:ea typeface="Verdana"/>
              <a:cs typeface="Verdana"/>
              <a:sym typeface="Verdana"/>
            </a:endParaRPr>
          </a:p>
          <a:p>
            <a:pPr indent="0" lvl="0" marL="0" rtl="0" algn="l">
              <a:lnSpc>
                <a:spcPct val="115000"/>
              </a:lnSpc>
              <a:spcBef>
                <a:spcPts val="2600"/>
              </a:spcBef>
              <a:spcAft>
                <a:spcPts val="0"/>
              </a:spcAft>
              <a:buClr>
                <a:schemeClr val="dk1"/>
              </a:buClr>
              <a:buSzPts val="1100"/>
              <a:buFont typeface="Arial"/>
              <a:buNone/>
            </a:pPr>
            <a:r>
              <a:rPr lang="en">
                <a:solidFill>
                  <a:schemeClr val="dk1"/>
                </a:solidFill>
                <a:highlight>
                  <a:srgbClr val="F1F1F1"/>
                </a:highlight>
              </a:rPr>
              <a:t>Example</a:t>
            </a:r>
            <a:endParaRPr>
              <a:solidFill>
                <a:schemeClr val="dk1"/>
              </a:solidFill>
              <a:highlight>
                <a:srgbClr val="F1F1F1"/>
              </a:highlight>
            </a:endParaRPr>
          </a:p>
          <a:p>
            <a:pPr indent="0" lvl="0" marL="114300" marR="114300" rtl="0" algn="l">
              <a:lnSpc>
                <a:spcPct val="115000"/>
              </a:lnSpc>
              <a:spcBef>
                <a:spcPts val="260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#include &lt;iostream&gt;</a:t>
            </a:r>
            <a:endParaRPr sz="1150">
              <a:solidFill>
                <a:schemeClr val="dk1"/>
              </a:solidFill>
              <a:highlight>
                <a:srgbClr val="FFFFFF"/>
              </a:highlight>
              <a:latin typeface="Consolas"/>
              <a:ea typeface="Consolas"/>
              <a:cs typeface="Consolas"/>
              <a:sym typeface="Consolas"/>
            </a:endParaRPr>
          </a:p>
          <a:p>
            <a:pPr indent="0" lvl="0" marL="114300" marR="114300" rtl="0" algn="l">
              <a:lnSpc>
                <a:spcPct val="115000"/>
              </a:lnSpc>
              <a:spcBef>
                <a:spcPts val="1800"/>
              </a:spcBef>
              <a:spcAft>
                <a:spcPts val="0"/>
              </a:spcAft>
              <a:buClr>
                <a:schemeClr val="dk1"/>
              </a:buClr>
              <a:buSzPts val="1100"/>
              <a:buFont typeface="Arial"/>
              <a:buNone/>
            </a:pPr>
            <a:r>
              <a:rPr lang="en" sz="1150">
                <a:solidFill>
                  <a:srgbClr val="0000CD"/>
                </a:solidFill>
                <a:highlight>
                  <a:srgbClr val="FFFFFF"/>
                </a:highlight>
                <a:latin typeface="Consolas"/>
                <a:ea typeface="Consolas"/>
                <a:cs typeface="Consolas"/>
                <a:sym typeface="Consolas"/>
              </a:rPr>
              <a:t>int</a:t>
            </a:r>
            <a:r>
              <a:rPr lang="en" sz="1150">
                <a:solidFill>
                  <a:schemeClr val="dk1"/>
                </a:solidFill>
                <a:highlight>
                  <a:srgbClr val="FFFFFF"/>
                </a:highlight>
                <a:latin typeface="Consolas"/>
                <a:ea typeface="Consolas"/>
                <a:cs typeface="Consolas"/>
                <a:sym typeface="Consolas"/>
              </a:rPr>
              <a:t> main() {</a:t>
            </a:r>
            <a:endParaRPr sz="1150">
              <a:solidFill>
                <a:schemeClr val="dk1"/>
              </a:solidFill>
              <a:highlight>
                <a:srgbClr val="FFFFFF"/>
              </a:highlight>
              <a:latin typeface="Consolas"/>
              <a:ea typeface="Consolas"/>
              <a:cs typeface="Consolas"/>
              <a:sym typeface="Consolas"/>
            </a:endParaRPr>
          </a:p>
          <a:p>
            <a:pPr indent="0" lvl="0" marL="114300" marR="114300" rtl="0" algn="l">
              <a:lnSpc>
                <a:spcPct val="115000"/>
              </a:lnSpc>
              <a:spcBef>
                <a:spcPts val="180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  std::cout &lt;&lt; </a:t>
            </a:r>
            <a:r>
              <a:rPr lang="en" sz="1150">
                <a:solidFill>
                  <a:srgbClr val="A52A2A"/>
                </a:solidFill>
                <a:highlight>
                  <a:srgbClr val="FFFFFF"/>
                </a:highlight>
                <a:latin typeface="Consolas"/>
                <a:ea typeface="Consolas"/>
                <a:cs typeface="Consolas"/>
                <a:sym typeface="Consolas"/>
              </a:rPr>
              <a:t>"Hello World!"</a:t>
            </a:r>
            <a:r>
              <a:rPr lang="en" sz="1150">
                <a:solidFill>
                  <a:schemeClr val="dk1"/>
                </a:solidFill>
                <a:highlight>
                  <a:srgbClr val="FFFFFF"/>
                </a:highlight>
                <a:latin typeface="Consolas"/>
                <a:ea typeface="Consolas"/>
                <a:cs typeface="Consolas"/>
                <a:sym typeface="Consolas"/>
              </a:rPr>
              <a:t>;</a:t>
            </a:r>
            <a:endParaRPr sz="1150">
              <a:solidFill>
                <a:schemeClr val="dk1"/>
              </a:solidFill>
              <a:highlight>
                <a:srgbClr val="FFFFFF"/>
              </a:highlight>
              <a:latin typeface="Consolas"/>
              <a:ea typeface="Consolas"/>
              <a:cs typeface="Consolas"/>
              <a:sym typeface="Consolas"/>
            </a:endParaRPr>
          </a:p>
          <a:p>
            <a:pPr indent="0" lvl="0" marL="114300" marR="114300" rtl="0" algn="l">
              <a:lnSpc>
                <a:spcPct val="115000"/>
              </a:lnSpc>
              <a:spcBef>
                <a:spcPts val="180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  </a:t>
            </a:r>
            <a:r>
              <a:rPr lang="en" sz="1150">
                <a:solidFill>
                  <a:srgbClr val="0000CD"/>
                </a:solidFill>
                <a:highlight>
                  <a:srgbClr val="FFFFFF"/>
                </a:highlight>
                <a:latin typeface="Consolas"/>
                <a:ea typeface="Consolas"/>
                <a:cs typeface="Consolas"/>
                <a:sym typeface="Consolas"/>
              </a:rPr>
              <a:t>return</a:t>
            </a:r>
            <a:r>
              <a:rPr lang="en" sz="1150">
                <a:solidFill>
                  <a:schemeClr val="dk1"/>
                </a:solidFill>
                <a:highlight>
                  <a:srgbClr val="FFFFFF"/>
                </a:highlight>
                <a:latin typeface="Consolas"/>
                <a:ea typeface="Consolas"/>
                <a:cs typeface="Consolas"/>
                <a:sym typeface="Consolas"/>
              </a:rPr>
              <a:t> </a:t>
            </a:r>
            <a:r>
              <a:rPr lang="en" sz="1150">
                <a:solidFill>
                  <a:srgbClr val="FF0000"/>
                </a:solidFill>
                <a:highlight>
                  <a:srgbClr val="FFFFFF"/>
                </a:highlight>
                <a:latin typeface="Consolas"/>
                <a:ea typeface="Consolas"/>
                <a:cs typeface="Consolas"/>
                <a:sym typeface="Consolas"/>
              </a:rPr>
              <a:t>0</a:t>
            </a:r>
            <a:r>
              <a:rPr lang="en" sz="1150">
                <a:solidFill>
                  <a:schemeClr val="dk1"/>
                </a:solidFill>
                <a:highlight>
                  <a:srgbClr val="FFFFFF"/>
                </a:highlight>
                <a:latin typeface="Consolas"/>
                <a:ea typeface="Consolas"/>
                <a:cs typeface="Consolas"/>
                <a:sym typeface="Consolas"/>
              </a:rPr>
              <a:t>;</a:t>
            </a:r>
            <a:endParaRPr sz="1150">
              <a:solidFill>
                <a:schemeClr val="dk1"/>
              </a:solidFill>
              <a:highlight>
                <a:srgbClr val="FFFFFF"/>
              </a:highlight>
              <a:latin typeface="Consolas"/>
              <a:ea typeface="Consolas"/>
              <a:cs typeface="Consolas"/>
              <a:sym typeface="Consolas"/>
            </a:endParaRPr>
          </a:p>
          <a:p>
            <a:pPr indent="0" lvl="0" marL="114300" marR="114300" rtl="0" algn="l">
              <a:lnSpc>
                <a:spcPct val="115000"/>
              </a:lnSpc>
              <a:spcBef>
                <a:spcPts val="1800"/>
              </a:spcBef>
              <a:spcAft>
                <a:spcPts val="0"/>
              </a:spcAft>
              <a:buClr>
                <a:schemeClr val="dk1"/>
              </a:buClr>
              <a:buSzPts val="1100"/>
              <a:buFont typeface="Arial"/>
              <a:buNone/>
            </a:pPr>
            <a:r>
              <a:rPr lang="en" sz="1150">
                <a:solidFill>
                  <a:schemeClr val="dk1"/>
                </a:solidFill>
                <a:highlight>
                  <a:srgbClr val="FFFFFF"/>
                </a:highlight>
                <a:latin typeface="Consolas"/>
                <a:ea typeface="Consolas"/>
                <a:cs typeface="Consolas"/>
                <a:sym typeface="Consolas"/>
              </a:rPr>
              <a:t>}</a:t>
            </a:r>
            <a:endParaRPr sz="1150">
              <a:solidFill>
                <a:schemeClr val="dk1"/>
              </a:solidFill>
              <a:highlight>
                <a:srgbClr val="FFFFFF"/>
              </a:highlight>
              <a:latin typeface="Consolas"/>
              <a:ea typeface="Consolas"/>
              <a:cs typeface="Consolas"/>
              <a:sym typeface="Consolas"/>
            </a:endParaRPr>
          </a:p>
          <a:p>
            <a:pPr indent="0" lvl="0" marL="0" rtl="0" algn="l">
              <a:lnSpc>
                <a:spcPct val="115000"/>
              </a:lnSpc>
              <a:spcBef>
                <a:spcPts val="1800"/>
              </a:spcBef>
              <a:spcAft>
                <a:spcPts val="1600"/>
              </a:spcAft>
              <a:buSzPts val="1800"/>
              <a:buNone/>
            </a:pPr>
            <a:r>
              <a:t/>
            </a:r>
            <a:endParaRPr/>
          </a:p>
        </p:txBody>
      </p:sp>
      <p:sp>
        <p:nvSpPr>
          <p:cNvPr id="291" name="Google Shape;291;p3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6e4c203cfd_0_16"/>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 Constants</a:t>
            </a:r>
            <a:endParaRPr/>
          </a:p>
        </p:txBody>
      </p:sp>
      <p:sp>
        <p:nvSpPr>
          <p:cNvPr id="297" name="Google Shape;297;g6e4c203cfd_0_16"/>
          <p:cNvSpPr txBox="1"/>
          <p:nvPr>
            <p:ph idx="1" type="body"/>
          </p:nvPr>
        </p:nvSpPr>
        <p:spPr>
          <a:xfrm>
            <a:off x="311700" y="619075"/>
            <a:ext cx="8520600" cy="447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200"/>
              <a:t>In C++, constants may be classified into </a:t>
            </a:r>
            <a:r>
              <a:rPr b="1" lang="en" sz="1200"/>
              <a:t>literal constants and symbolic constants.</a:t>
            </a:r>
            <a:endParaRPr b="1" sz="1200"/>
          </a:p>
          <a:p>
            <a:pPr indent="0" lvl="0" marL="0" rtl="0" algn="l">
              <a:lnSpc>
                <a:spcPct val="115000"/>
              </a:lnSpc>
              <a:spcBef>
                <a:spcPts val="0"/>
              </a:spcBef>
              <a:spcAft>
                <a:spcPts val="0"/>
              </a:spcAft>
              <a:buClr>
                <a:schemeClr val="dk1"/>
              </a:buClr>
              <a:buSzPts val="1100"/>
              <a:buFont typeface="Arial"/>
              <a:buNone/>
            </a:pPr>
            <a:r>
              <a:t/>
            </a:r>
            <a:endParaRPr sz="1200"/>
          </a:p>
          <a:p>
            <a:pPr indent="-304800" lvl="0" marL="457200" rtl="0" algn="l">
              <a:lnSpc>
                <a:spcPct val="115000"/>
              </a:lnSpc>
              <a:spcBef>
                <a:spcPts val="0"/>
              </a:spcBef>
              <a:spcAft>
                <a:spcPts val="0"/>
              </a:spcAft>
              <a:buSzPts val="1200"/>
              <a:buAutoNum type="alphaLcParenR"/>
            </a:pPr>
            <a:r>
              <a:rPr b="1" lang="en" sz="1200"/>
              <a:t>Literal Constants</a:t>
            </a:r>
            <a:endParaRPr b="1" sz="1200"/>
          </a:p>
          <a:p>
            <a:pPr indent="0" lvl="0" marL="0" rtl="0" algn="l">
              <a:lnSpc>
                <a:spcPct val="115000"/>
              </a:lnSpc>
              <a:spcBef>
                <a:spcPts val="0"/>
              </a:spcBef>
              <a:spcAft>
                <a:spcPts val="0"/>
              </a:spcAft>
              <a:buClr>
                <a:schemeClr val="dk1"/>
              </a:buClr>
              <a:buSzPts val="1100"/>
              <a:buFont typeface="Arial"/>
              <a:buNone/>
            </a:pPr>
            <a:r>
              <a:rPr lang="en" sz="1200"/>
              <a:t>Literals constants are used to express particular values within a program. For example, in the following statement, 25 is a literal constant because you can neither assign another value to it nor can you change it.</a:t>
            </a:r>
            <a:endParaRPr sz="1200"/>
          </a:p>
          <a:p>
            <a:pPr indent="0" lvl="0" marL="0" rtl="0" algn="l">
              <a:lnSpc>
                <a:spcPct val="115000"/>
              </a:lnSpc>
              <a:spcBef>
                <a:spcPts val="0"/>
              </a:spcBef>
              <a:spcAft>
                <a:spcPts val="0"/>
              </a:spcAft>
              <a:buClr>
                <a:schemeClr val="dk1"/>
              </a:buClr>
              <a:buSzPts val="1100"/>
              <a:buFont typeface="Arial"/>
              <a:buNone/>
            </a:pPr>
            <a:r>
              <a:rPr lang="en" sz="1200"/>
              <a:t>x + </a:t>
            </a:r>
            <a:r>
              <a:rPr b="1" lang="en" sz="1200"/>
              <a:t>25</a:t>
            </a:r>
            <a:r>
              <a:rPr lang="en" sz="1200"/>
              <a:t>;</a:t>
            </a:r>
            <a:endParaRPr sz="1200"/>
          </a:p>
          <a:p>
            <a:pPr indent="0" lvl="0" marL="0" rtl="0" algn="l">
              <a:lnSpc>
                <a:spcPct val="115000"/>
              </a:lnSpc>
              <a:spcBef>
                <a:spcPts val="0"/>
              </a:spcBef>
              <a:spcAft>
                <a:spcPts val="0"/>
              </a:spcAft>
              <a:buClr>
                <a:schemeClr val="dk1"/>
              </a:buClr>
              <a:buSzPts val="1100"/>
              <a:buFont typeface="Arial"/>
              <a:buNone/>
            </a:pPr>
            <a:r>
              <a:rPr lang="en" sz="1200"/>
              <a:t>Literal constants can be classified into integer numerals, floating-point numerals,characters, strings and boolean constants.</a:t>
            </a:r>
            <a:endParaRPr sz="1200"/>
          </a:p>
          <a:p>
            <a:pPr indent="0" lvl="0" marL="0" rtl="0" algn="l">
              <a:spcBef>
                <a:spcPts val="0"/>
              </a:spcBef>
              <a:spcAft>
                <a:spcPts val="0"/>
              </a:spcAft>
              <a:buClr>
                <a:schemeClr val="dk1"/>
              </a:buClr>
              <a:buSzPts val="1100"/>
              <a:buFont typeface="Arial"/>
              <a:buNone/>
            </a:pPr>
            <a:r>
              <a:rPr b="1" lang="en" sz="1100">
                <a:solidFill>
                  <a:srgbClr val="000000"/>
                </a:solidFill>
              </a:rPr>
              <a:t>b) Symbolic Constants</a:t>
            </a:r>
            <a:endParaRPr b="1" sz="1100">
              <a:solidFill>
                <a:srgbClr val="000000"/>
              </a:solidFill>
            </a:endParaRPr>
          </a:p>
          <a:p>
            <a:pPr indent="0" lvl="0" marL="0" rtl="0" algn="l">
              <a:spcBef>
                <a:spcPts val="0"/>
              </a:spcBef>
              <a:spcAft>
                <a:spcPts val="0"/>
              </a:spcAft>
              <a:buClr>
                <a:schemeClr val="dk1"/>
              </a:buClr>
              <a:buSzPts val="1100"/>
              <a:buFont typeface="Arial"/>
              <a:buNone/>
            </a:pPr>
            <a:r>
              <a:rPr lang="en" sz="1100">
                <a:solidFill>
                  <a:srgbClr val="000000"/>
                </a:solidFill>
              </a:rPr>
              <a:t>A symbolic constant is a constant that is represented using a symbolic name. Once</a:t>
            </a:r>
            <a:endParaRPr sz="1100">
              <a:solidFill>
                <a:srgbClr val="000000"/>
              </a:solidFill>
            </a:endParaRPr>
          </a:p>
          <a:p>
            <a:pPr indent="0" lvl="0" marL="0" rtl="0" algn="l">
              <a:spcBef>
                <a:spcPts val="0"/>
              </a:spcBef>
              <a:spcAft>
                <a:spcPts val="0"/>
              </a:spcAft>
              <a:buClr>
                <a:schemeClr val="dk1"/>
              </a:buClr>
              <a:buSzPts val="1100"/>
              <a:buFont typeface="Arial"/>
              <a:buNone/>
            </a:pPr>
            <a:r>
              <a:rPr lang="en" sz="1100">
                <a:solidFill>
                  <a:srgbClr val="000000"/>
                </a:solidFill>
              </a:rPr>
              <a:t>a symbolic constant is initialised, its value cannot be changed. There are two ways</a:t>
            </a:r>
            <a:endParaRPr sz="1100">
              <a:solidFill>
                <a:srgbClr val="000000"/>
              </a:solidFill>
            </a:endParaRPr>
          </a:p>
          <a:p>
            <a:pPr indent="0" lvl="0" marL="0" rtl="0" algn="l">
              <a:spcBef>
                <a:spcPts val="0"/>
              </a:spcBef>
              <a:spcAft>
                <a:spcPts val="0"/>
              </a:spcAft>
              <a:buClr>
                <a:schemeClr val="dk1"/>
              </a:buClr>
              <a:buSzPts val="1100"/>
              <a:buFont typeface="Arial"/>
              <a:buNone/>
            </a:pPr>
            <a:r>
              <a:rPr lang="en" sz="1100">
                <a:solidFill>
                  <a:srgbClr val="000000"/>
                </a:solidFill>
              </a:rPr>
              <a:t>to declare a symbolic constant in C++ are:</a:t>
            </a:r>
            <a:endParaRPr sz="1100">
              <a:solidFill>
                <a:srgbClr val="000000"/>
              </a:solidFill>
            </a:endParaRPr>
          </a:p>
          <a:p>
            <a:pPr indent="-298450" lvl="0" marL="457200" rtl="0" algn="l">
              <a:spcBef>
                <a:spcPts val="0"/>
              </a:spcBef>
              <a:spcAft>
                <a:spcPts val="0"/>
              </a:spcAft>
              <a:buClr>
                <a:srgbClr val="000000"/>
              </a:buClr>
              <a:buSzPts val="1100"/>
              <a:buAutoNum type="arabicPeriod"/>
            </a:pPr>
            <a:r>
              <a:rPr lang="en" sz="1100">
                <a:solidFill>
                  <a:srgbClr val="000000"/>
                </a:solidFill>
              </a:rPr>
              <a:t>Using preprocessor directive #define. Following is the form to use #define preprocessor to define a constant −</a:t>
            </a:r>
            <a:endParaRPr sz="1100">
              <a:solidFill>
                <a:srgbClr val="000000"/>
              </a:solidFill>
            </a:endParaRPr>
          </a:p>
          <a:p>
            <a:pPr indent="0" lvl="0" marL="457200" marR="139700" rtl="0" algn="l">
              <a:spcBef>
                <a:spcPts val="0"/>
              </a:spcBef>
              <a:spcAft>
                <a:spcPts val="0"/>
              </a:spcAft>
              <a:buClr>
                <a:srgbClr val="000000"/>
              </a:buClr>
              <a:buSzPts val="1800"/>
              <a:buFont typeface="Arial"/>
              <a:buNone/>
            </a:pPr>
            <a:r>
              <a:rPr lang="en" sz="1100">
                <a:solidFill>
                  <a:srgbClr val="000000"/>
                </a:solidFill>
              </a:rPr>
              <a:t>#define identifier value</a:t>
            </a:r>
            <a:endParaRPr sz="450">
              <a:solidFill>
                <a:schemeClr val="dk1"/>
              </a:solidFill>
              <a:highlight>
                <a:srgbClr val="EEEEEE"/>
              </a:highlight>
            </a:endParaRPr>
          </a:p>
          <a:p>
            <a:pPr indent="0" lvl="0" marL="457200" rtl="0" algn="l">
              <a:spcBef>
                <a:spcPts val="0"/>
              </a:spcBef>
              <a:spcAft>
                <a:spcPts val="0"/>
              </a:spcAft>
              <a:buClr>
                <a:srgbClr val="000000"/>
              </a:buClr>
              <a:buSzPts val="1800"/>
              <a:buFont typeface="Arial"/>
              <a:buNone/>
            </a:pPr>
            <a:r>
              <a:rPr lang="en" sz="1100">
                <a:solidFill>
                  <a:srgbClr val="000000"/>
                </a:solidFill>
              </a:rPr>
              <a:t>For example, the following statement declares a symbolic constant named </a:t>
            </a:r>
            <a:r>
              <a:rPr b="1" lang="en" sz="1100">
                <a:solidFill>
                  <a:srgbClr val="000000"/>
                </a:solidFill>
              </a:rPr>
              <a:t>numberOfDistricts </a:t>
            </a:r>
            <a:r>
              <a:rPr lang="en" sz="1100">
                <a:solidFill>
                  <a:srgbClr val="000000"/>
                </a:solidFill>
              </a:rPr>
              <a:t>that is replaced by 30 during Execution:</a:t>
            </a:r>
            <a:endParaRPr sz="1100">
              <a:solidFill>
                <a:srgbClr val="000000"/>
              </a:solidFill>
            </a:endParaRPr>
          </a:p>
          <a:p>
            <a:pPr indent="0" lvl="0" marL="457200" rtl="0" algn="l">
              <a:spcBef>
                <a:spcPts val="0"/>
              </a:spcBef>
              <a:spcAft>
                <a:spcPts val="0"/>
              </a:spcAft>
              <a:buClr>
                <a:srgbClr val="000000"/>
              </a:buClr>
              <a:buSzPts val="1800"/>
              <a:buFont typeface="Arial"/>
              <a:buNone/>
            </a:pPr>
            <a:r>
              <a:rPr b="1" lang="en" sz="1100">
                <a:solidFill>
                  <a:srgbClr val="000000"/>
                </a:solidFill>
              </a:rPr>
              <a:t>#define numberOfDistricts 30</a:t>
            </a:r>
            <a:endParaRPr b="1" sz="1100">
              <a:solidFill>
                <a:srgbClr val="000000"/>
              </a:solidFill>
            </a:endParaRPr>
          </a:p>
          <a:p>
            <a:pPr indent="-298450" lvl="0" marL="457200" rtl="0" algn="l">
              <a:spcBef>
                <a:spcPts val="0"/>
              </a:spcBef>
              <a:spcAft>
                <a:spcPts val="0"/>
              </a:spcAft>
              <a:buClr>
                <a:srgbClr val="000000"/>
              </a:buClr>
              <a:buSzPts val="1100"/>
              <a:buAutoNum type="arabicPeriod"/>
            </a:pPr>
            <a:r>
              <a:rPr lang="en" sz="1100">
                <a:solidFill>
                  <a:srgbClr val="000000"/>
                </a:solidFill>
              </a:rPr>
              <a:t>Using keyword const followed by the data type of the symbolic constant as shown in the statement below:</a:t>
            </a:r>
            <a:endParaRPr sz="1100">
              <a:solidFill>
                <a:srgbClr val="000000"/>
              </a:solidFill>
            </a:endParaRPr>
          </a:p>
          <a:p>
            <a:pPr indent="0" lvl="0" marL="457200" rtl="0" algn="l">
              <a:spcBef>
                <a:spcPts val="0"/>
              </a:spcBef>
              <a:spcAft>
                <a:spcPts val="0"/>
              </a:spcAft>
              <a:buClr>
                <a:srgbClr val="000000"/>
              </a:buClr>
              <a:buSzPts val="1800"/>
              <a:buFont typeface="Arial"/>
              <a:buNone/>
            </a:pPr>
            <a:r>
              <a:rPr lang="en" sz="1100">
                <a:solidFill>
                  <a:srgbClr val="000000"/>
                </a:solidFill>
              </a:rPr>
              <a:t>For example,</a:t>
            </a:r>
            <a:endParaRPr sz="1100">
              <a:solidFill>
                <a:srgbClr val="000000"/>
              </a:solidFill>
            </a:endParaRPr>
          </a:p>
          <a:p>
            <a:pPr indent="0" lvl="0" marL="457200" rtl="0" algn="l">
              <a:spcBef>
                <a:spcPts val="0"/>
              </a:spcBef>
              <a:spcAft>
                <a:spcPts val="0"/>
              </a:spcAft>
              <a:buClr>
                <a:srgbClr val="000000"/>
              </a:buClr>
              <a:buSzPts val="1800"/>
              <a:buFont typeface="Arial"/>
              <a:buNone/>
            </a:pPr>
            <a:r>
              <a:rPr b="1" lang="en" sz="1100">
                <a:solidFill>
                  <a:srgbClr val="000000"/>
                </a:solidFill>
              </a:rPr>
              <a:t> const short int numberOfDistrict = 30;</a:t>
            </a:r>
            <a:endParaRPr b="1" sz="1100">
              <a:solidFill>
                <a:srgbClr val="000000"/>
              </a:solidFill>
            </a:endParaRPr>
          </a:p>
          <a:p>
            <a:pPr indent="0" lvl="0" marL="457200" rtl="0" algn="l">
              <a:spcBef>
                <a:spcPts val="0"/>
              </a:spcBef>
              <a:spcAft>
                <a:spcPts val="0"/>
              </a:spcAft>
              <a:buClr>
                <a:srgbClr val="000000"/>
              </a:buClr>
              <a:buSzPts val="1800"/>
              <a:buFont typeface="Arial"/>
              <a:buNone/>
            </a:pPr>
            <a:r>
              <a:rPr lang="en" sz="1100">
                <a:solidFill>
                  <a:srgbClr val="000000"/>
                </a:solidFill>
              </a:rPr>
              <a:t>The advantage is that the compiler is able to determine data type of the constant hence preventing possible runtime errors</a:t>
            </a:r>
            <a:endParaRPr sz="1200"/>
          </a:p>
        </p:txBody>
      </p:sp>
      <p:sp>
        <p:nvSpPr>
          <p:cNvPr id="298" name="Google Shape;298;g6e4c203cfd_0_1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6e4c203cfd_0_32"/>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3000"/>
              <a:t>Exercise</a:t>
            </a:r>
            <a:endParaRPr b="1" sz="3000"/>
          </a:p>
        </p:txBody>
      </p:sp>
      <p:sp>
        <p:nvSpPr>
          <p:cNvPr id="304" name="Google Shape;304;g6e4c203cfd_0_32"/>
          <p:cNvSpPr txBox="1"/>
          <p:nvPr>
            <p:ph idx="1" type="body"/>
          </p:nvPr>
        </p:nvSpPr>
        <p:spPr>
          <a:xfrm>
            <a:off x="311700" y="560525"/>
            <a:ext cx="8520600" cy="4263300"/>
          </a:xfrm>
          <a:prstGeom prst="rect">
            <a:avLst/>
          </a:prstGeom>
          <a:noFill/>
          <a:ln>
            <a:noFill/>
          </a:ln>
        </p:spPr>
        <p:txBody>
          <a:bodyPr anchorCtr="0" anchor="t" bIns="91425" lIns="91425" spcFirstLastPara="1" rIns="91425" wrap="square" tIns="91425">
            <a:noAutofit/>
          </a:bodyPr>
          <a:lstStyle/>
          <a:p>
            <a:pPr indent="-419100" lvl="0" marL="457200" rtl="0" algn="l">
              <a:lnSpc>
                <a:spcPct val="115000"/>
              </a:lnSpc>
              <a:spcBef>
                <a:spcPts val="0"/>
              </a:spcBef>
              <a:spcAft>
                <a:spcPts val="0"/>
              </a:spcAft>
              <a:buSzPts val="3000"/>
              <a:buAutoNum type="arabicPeriod"/>
            </a:pPr>
            <a:r>
              <a:rPr lang="en" sz="3000"/>
              <a:t>Build a  c++ program that compute the circumference and  area of the circle </a:t>
            </a:r>
            <a:endParaRPr sz="3000"/>
          </a:p>
          <a:p>
            <a:pPr indent="-419100" lvl="1" marL="914400" rtl="0" algn="l">
              <a:lnSpc>
                <a:spcPct val="115000"/>
              </a:lnSpc>
              <a:spcBef>
                <a:spcPts val="0"/>
              </a:spcBef>
              <a:spcAft>
                <a:spcPts val="0"/>
              </a:spcAft>
              <a:buSzPts val="3000"/>
              <a:buAutoNum type="alphaLcPeriod"/>
            </a:pPr>
            <a:r>
              <a:rPr lang="en" sz="3000"/>
              <a:t>Declare a double  constant which contains PI=3.14159265</a:t>
            </a:r>
            <a:endParaRPr sz="3000"/>
          </a:p>
          <a:p>
            <a:pPr indent="-419100" lvl="1" marL="914400" rtl="0" algn="l">
              <a:lnSpc>
                <a:spcPct val="115000"/>
              </a:lnSpc>
              <a:spcBef>
                <a:spcPts val="0"/>
              </a:spcBef>
              <a:spcAft>
                <a:spcPts val="0"/>
              </a:spcAft>
              <a:buSzPts val="3000"/>
              <a:buAutoNum type="alphaLcPeriod"/>
            </a:pPr>
            <a:r>
              <a:rPr lang="en" sz="3000"/>
              <a:t>Request the user to enter the radius of a circle and compute  the area of the circle using a function.</a:t>
            </a:r>
            <a:endParaRPr sz="3000"/>
          </a:p>
        </p:txBody>
      </p:sp>
      <p:sp>
        <p:nvSpPr>
          <p:cNvPr id="305" name="Google Shape;305;g6e4c203cfd_0_3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6e4c203cfd_0_38"/>
          <p:cNvSpPr txBox="1"/>
          <p:nvPr>
            <p:ph type="title"/>
          </p:nvPr>
        </p:nvSpPr>
        <p:spPr>
          <a:xfrm>
            <a:off x="311700" y="-121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t>Output formatting</a:t>
            </a:r>
            <a:endParaRPr b="1"/>
          </a:p>
        </p:txBody>
      </p:sp>
      <p:sp>
        <p:nvSpPr>
          <p:cNvPr id="311" name="Google Shape;311;g6e4c203cfd_0_38"/>
          <p:cNvSpPr txBox="1"/>
          <p:nvPr>
            <p:ph idx="1" type="body"/>
          </p:nvPr>
        </p:nvSpPr>
        <p:spPr>
          <a:xfrm>
            <a:off x="83100" y="542875"/>
            <a:ext cx="9060900" cy="460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400"/>
              <a:t>In programming, creating nicely formatted output is a good programming practice to improve readability of output and the user interface. In C++, the output stream has special characters and objects called </a:t>
            </a:r>
            <a:r>
              <a:rPr b="1" lang="en" sz="2400"/>
              <a:t>manipulators </a:t>
            </a:r>
            <a:r>
              <a:rPr lang="en" sz="2400"/>
              <a:t>in &lt;iostream&gt; used to format numbers, characters and strings.</a:t>
            </a:r>
            <a:endParaRPr sz="2400"/>
          </a:p>
          <a:p>
            <a:pPr indent="-381000" lvl="0" marL="457200" rtl="0" algn="l">
              <a:lnSpc>
                <a:spcPct val="115000"/>
              </a:lnSpc>
              <a:spcBef>
                <a:spcPts val="0"/>
              </a:spcBef>
              <a:spcAft>
                <a:spcPts val="0"/>
              </a:spcAft>
              <a:buSzPts val="2400"/>
              <a:buAutoNum type="alphaLcParenR"/>
            </a:pPr>
            <a:r>
              <a:rPr b="1" lang="en" sz="2400"/>
              <a:t>The endl manipulator</a:t>
            </a:r>
            <a:endParaRPr b="1" sz="2400"/>
          </a:p>
          <a:p>
            <a:pPr indent="0" lvl="0" marL="0" rtl="0" algn="l">
              <a:lnSpc>
                <a:spcPct val="115000"/>
              </a:lnSpc>
              <a:spcBef>
                <a:spcPts val="0"/>
              </a:spcBef>
              <a:spcAft>
                <a:spcPts val="0"/>
              </a:spcAft>
              <a:buSzPts val="1800"/>
              <a:buNone/>
            </a:pPr>
            <a:r>
              <a:rPr lang="en" sz="2400"/>
              <a:t>When supplied with operator &lt;&lt; at the end of a statements, endl object causes a newline</a:t>
            </a:r>
            <a:endParaRPr sz="2400"/>
          </a:p>
          <a:p>
            <a:pPr indent="0" lvl="0" marL="0" rtl="0" algn="l">
              <a:lnSpc>
                <a:spcPct val="115000"/>
              </a:lnSpc>
              <a:spcBef>
                <a:spcPts val="0"/>
              </a:spcBef>
              <a:spcAft>
                <a:spcPts val="0"/>
              </a:spcAft>
              <a:buSzPts val="1800"/>
              <a:buNone/>
            </a:pPr>
            <a:r>
              <a:rPr lang="en" sz="2400"/>
              <a:t>character to be inserted at the end of a line.</a:t>
            </a:r>
            <a:endParaRPr sz="2400"/>
          </a:p>
          <a:p>
            <a:pPr indent="0" lvl="0" marL="0" rtl="0" algn="l">
              <a:lnSpc>
                <a:spcPct val="115000"/>
              </a:lnSpc>
              <a:spcBef>
                <a:spcPts val="0"/>
              </a:spcBef>
              <a:spcAft>
                <a:spcPts val="0"/>
              </a:spcAft>
              <a:buSzPts val="1800"/>
              <a:buNone/>
            </a:pPr>
            <a:r>
              <a:rPr b="1" lang="en" sz="2400"/>
              <a:t>cout &lt;&lt; “Hello, world!” &lt;&lt; </a:t>
            </a:r>
            <a:r>
              <a:rPr b="1" lang="en" sz="2400">
                <a:solidFill>
                  <a:srgbClr val="FF0000"/>
                </a:solidFill>
              </a:rPr>
              <a:t>endl</a:t>
            </a:r>
            <a:r>
              <a:rPr b="1" lang="en" sz="2400"/>
              <a:t>;</a:t>
            </a:r>
            <a:endParaRPr b="1" sz="2400"/>
          </a:p>
          <a:p>
            <a:pPr indent="0" lvl="0" marL="0" rtl="0" algn="l">
              <a:lnSpc>
                <a:spcPct val="115000"/>
              </a:lnSpc>
              <a:spcBef>
                <a:spcPts val="0"/>
              </a:spcBef>
              <a:spcAft>
                <a:spcPts val="0"/>
              </a:spcAft>
              <a:buClr>
                <a:schemeClr val="dk1"/>
              </a:buClr>
              <a:buSzPts val="1100"/>
              <a:buFont typeface="Arial"/>
              <a:buNone/>
            </a:pPr>
            <a:r>
              <a:t/>
            </a:r>
            <a:endParaRPr sz="2400"/>
          </a:p>
          <a:p>
            <a:pPr indent="0" lvl="0" marL="0" rtl="0" algn="l">
              <a:lnSpc>
                <a:spcPct val="115000"/>
              </a:lnSpc>
              <a:spcBef>
                <a:spcPts val="0"/>
              </a:spcBef>
              <a:spcAft>
                <a:spcPts val="0"/>
              </a:spcAft>
              <a:buSzPts val="1800"/>
              <a:buNone/>
            </a:pPr>
            <a:r>
              <a:t/>
            </a:r>
            <a:endParaRPr/>
          </a:p>
        </p:txBody>
      </p:sp>
      <p:sp>
        <p:nvSpPr>
          <p:cNvPr id="312" name="Google Shape;312;g6e4c203cfd_0_3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6e4c203cfd_0_46"/>
          <p:cNvSpPr txBox="1"/>
          <p:nvPr>
            <p:ph idx="1" type="body"/>
          </p:nvPr>
        </p:nvSpPr>
        <p:spPr>
          <a:xfrm>
            <a:off x="311700" y="85675"/>
            <a:ext cx="8832300" cy="505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a:t>2 The setw() manipulator</a:t>
            </a:r>
            <a:endParaRPr b="1"/>
          </a:p>
          <a:p>
            <a:pPr indent="0" lvl="0" marL="0" rtl="0" algn="l">
              <a:lnSpc>
                <a:spcPct val="115000"/>
              </a:lnSpc>
              <a:spcBef>
                <a:spcPts val="0"/>
              </a:spcBef>
              <a:spcAft>
                <a:spcPts val="0"/>
              </a:spcAft>
              <a:buClr>
                <a:schemeClr val="dk1"/>
              </a:buClr>
              <a:buSzPts val="1100"/>
              <a:buFont typeface="Arial"/>
              <a:buNone/>
            </a:pPr>
            <a:r>
              <a:rPr lang="en" sz="1400"/>
              <a:t>To produce number and string output formatted to fixed width in terms of number of character, C++ has a manipulator object called setw() inside &lt;iomanip&gt; library.. For example, setw(20) in the  statement below adjusts the value of</a:t>
            </a:r>
            <a:r>
              <a:rPr b="1" lang="en" sz="1400"/>
              <a:t> num. </a:t>
            </a:r>
            <a:r>
              <a:rPr lang="en" sz="1400"/>
              <a:t>If the characters are fewer, a blank space is inserted on the left of the output.</a:t>
            </a:r>
            <a:endParaRPr sz="1400"/>
          </a:p>
          <a:p>
            <a:pPr indent="0" lvl="0" marL="0" rtl="0" algn="l">
              <a:lnSpc>
                <a:spcPct val="115000"/>
              </a:lnSpc>
              <a:spcBef>
                <a:spcPts val="0"/>
              </a:spcBef>
              <a:spcAft>
                <a:spcPts val="0"/>
              </a:spcAft>
              <a:buSzPts val="1800"/>
              <a:buNone/>
            </a:pPr>
            <a:r>
              <a:t/>
            </a:r>
            <a:endParaRPr sz="1400"/>
          </a:p>
          <a:p>
            <a:pPr indent="0" lvl="0" marL="0" rtl="0" algn="l">
              <a:lnSpc>
                <a:spcPct val="115000"/>
              </a:lnSpc>
              <a:spcBef>
                <a:spcPts val="0"/>
              </a:spcBef>
              <a:spcAft>
                <a:spcPts val="0"/>
              </a:spcAft>
              <a:buSzPts val="1800"/>
              <a:buNone/>
            </a:pPr>
            <a:r>
              <a:rPr lang="en" sz="1100">
                <a:solidFill>
                  <a:srgbClr val="274E13"/>
                </a:solidFill>
                <a:highlight>
                  <a:srgbClr val="FFFFFF"/>
                </a:highlight>
                <a:latin typeface="Consolas"/>
                <a:ea typeface="Consolas"/>
                <a:cs typeface="Consolas"/>
                <a:sym typeface="Consolas"/>
              </a:rPr>
              <a:t>#include &lt;iomanip&gt; </a:t>
            </a:r>
            <a:endParaRPr sz="1100">
              <a:solidFill>
                <a:srgbClr val="274E13"/>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lang="en" sz="1100">
                <a:solidFill>
                  <a:srgbClr val="274E13"/>
                </a:solidFill>
                <a:highlight>
                  <a:srgbClr val="FFFFFF"/>
                </a:highlight>
                <a:latin typeface="Consolas"/>
                <a:ea typeface="Consolas"/>
                <a:cs typeface="Consolas"/>
                <a:sym typeface="Consolas"/>
              </a:rPr>
              <a:t>#include &lt;iostream&gt;</a:t>
            </a:r>
            <a:endParaRPr sz="1100">
              <a:solidFill>
                <a:srgbClr val="274E13"/>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lang="en" sz="1100">
                <a:solidFill>
                  <a:srgbClr val="274E13"/>
                </a:solidFill>
                <a:highlight>
                  <a:srgbClr val="FFFFFF"/>
                </a:highlight>
                <a:latin typeface="Consolas"/>
                <a:ea typeface="Consolas"/>
                <a:cs typeface="Consolas"/>
                <a:sym typeface="Consolas"/>
              </a:rPr>
              <a:t>using namespace std; </a:t>
            </a:r>
            <a:endParaRPr sz="1100">
              <a:solidFill>
                <a:srgbClr val="274E13"/>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lang="en" sz="1100">
                <a:solidFill>
                  <a:srgbClr val="274E13"/>
                </a:solidFill>
                <a:highlight>
                  <a:srgbClr val="FFFFFF"/>
                </a:highlight>
                <a:latin typeface="Consolas"/>
                <a:ea typeface="Consolas"/>
                <a:cs typeface="Consolas"/>
                <a:sym typeface="Consolas"/>
              </a:rPr>
              <a:t>int main() </a:t>
            </a:r>
            <a:endParaRPr sz="1100">
              <a:solidFill>
                <a:srgbClr val="274E13"/>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lang="en" sz="1100">
                <a:solidFill>
                  <a:srgbClr val="274E13"/>
                </a:solidFill>
                <a:highlight>
                  <a:srgbClr val="FFFFFF"/>
                </a:highlight>
                <a:latin typeface="Consolas"/>
                <a:ea typeface="Consolas"/>
                <a:cs typeface="Consolas"/>
                <a:sym typeface="Consolas"/>
              </a:rPr>
              <a:t>{ </a:t>
            </a:r>
            <a:endParaRPr sz="1100">
              <a:solidFill>
                <a:srgbClr val="274E13"/>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lang="en" sz="1100">
                <a:solidFill>
                  <a:srgbClr val="274E13"/>
                </a:solidFill>
                <a:highlight>
                  <a:srgbClr val="FFFFFF"/>
                </a:highlight>
                <a:latin typeface="Consolas"/>
                <a:ea typeface="Consolas"/>
                <a:cs typeface="Consolas"/>
                <a:sym typeface="Consolas"/>
              </a:rPr>
              <a:t>    // Initializing the integer </a:t>
            </a:r>
            <a:endParaRPr sz="1100">
              <a:solidFill>
                <a:srgbClr val="274E13"/>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lang="en" sz="1100">
                <a:solidFill>
                  <a:srgbClr val="274E13"/>
                </a:solidFill>
                <a:highlight>
                  <a:srgbClr val="FFFFFF"/>
                </a:highlight>
                <a:latin typeface="Consolas"/>
                <a:ea typeface="Consolas"/>
                <a:cs typeface="Consolas"/>
                <a:sym typeface="Consolas"/>
              </a:rPr>
              <a:t>    int num = 50; </a:t>
            </a:r>
            <a:endParaRPr sz="1100">
              <a:solidFill>
                <a:srgbClr val="274E13"/>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lang="en" sz="1100">
                <a:solidFill>
                  <a:srgbClr val="274E13"/>
                </a:solidFill>
                <a:highlight>
                  <a:srgbClr val="FFFFFF"/>
                </a:highlight>
                <a:latin typeface="Consolas"/>
                <a:ea typeface="Consolas"/>
                <a:cs typeface="Consolas"/>
                <a:sym typeface="Consolas"/>
              </a:rPr>
              <a:t>    cout &lt;&lt; "Before setting the width: \n"</a:t>
            </a:r>
            <a:endParaRPr sz="1100">
              <a:solidFill>
                <a:srgbClr val="274E13"/>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lang="en" sz="1100">
                <a:solidFill>
                  <a:srgbClr val="274E13"/>
                </a:solidFill>
                <a:highlight>
                  <a:srgbClr val="FFFFFF"/>
                </a:highlight>
                <a:latin typeface="Consolas"/>
                <a:ea typeface="Consolas"/>
                <a:cs typeface="Consolas"/>
                <a:sym typeface="Consolas"/>
              </a:rPr>
              <a:t>         &lt;&lt; num &lt;&lt; endl; </a:t>
            </a:r>
            <a:endParaRPr sz="1100">
              <a:solidFill>
                <a:srgbClr val="274E13"/>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lang="en" sz="1100">
                <a:solidFill>
                  <a:srgbClr val="274E13"/>
                </a:solidFill>
                <a:highlight>
                  <a:srgbClr val="FFFFFF"/>
                </a:highlight>
                <a:latin typeface="Consolas"/>
                <a:ea typeface="Consolas"/>
                <a:cs typeface="Consolas"/>
                <a:sym typeface="Consolas"/>
              </a:rPr>
              <a:t>    // Using setw() </a:t>
            </a:r>
            <a:endParaRPr sz="1100">
              <a:solidFill>
                <a:srgbClr val="274E13"/>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lang="en" sz="1100">
                <a:solidFill>
                  <a:srgbClr val="274E13"/>
                </a:solidFill>
                <a:highlight>
                  <a:srgbClr val="FFFFFF"/>
                </a:highlight>
                <a:latin typeface="Consolas"/>
                <a:ea typeface="Consolas"/>
                <a:cs typeface="Consolas"/>
                <a:sym typeface="Consolas"/>
              </a:rPr>
              <a:t>    cout &lt;&lt; "Setting the width"</a:t>
            </a:r>
            <a:endParaRPr sz="1100">
              <a:solidFill>
                <a:srgbClr val="274E13"/>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lang="en" sz="1100">
                <a:solidFill>
                  <a:srgbClr val="274E13"/>
                </a:solidFill>
                <a:highlight>
                  <a:srgbClr val="FFFFFF"/>
                </a:highlight>
                <a:latin typeface="Consolas"/>
                <a:ea typeface="Consolas"/>
                <a:cs typeface="Consolas"/>
                <a:sym typeface="Consolas"/>
              </a:rPr>
              <a:t>         &lt;&lt; " using setw to 20: \n"</a:t>
            </a:r>
            <a:endParaRPr sz="1100">
              <a:solidFill>
                <a:srgbClr val="274E13"/>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lang="en" sz="1100">
                <a:solidFill>
                  <a:srgbClr val="274E13"/>
                </a:solidFill>
                <a:highlight>
                  <a:srgbClr val="FFFFFF"/>
                </a:highlight>
                <a:latin typeface="Consolas"/>
                <a:ea typeface="Consolas"/>
                <a:cs typeface="Consolas"/>
                <a:sym typeface="Consolas"/>
              </a:rPr>
              <a:t>         &lt;&lt; setw(20); </a:t>
            </a:r>
            <a:endParaRPr sz="1100">
              <a:solidFill>
                <a:srgbClr val="274E13"/>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lang="en" sz="1100">
                <a:solidFill>
                  <a:srgbClr val="274E13"/>
                </a:solidFill>
                <a:highlight>
                  <a:srgbClr val="FFFFFF"/>
                </a:highlight>
                <a:latin typeface="Consolas"/>
                <a:ea typeface="Consolas"/>
                <a:cs typeface="Consolas"/>
                <a:sym typeface="Consolas"/>
              </a:rPr>
              <a:t>    cout &lt;&lt; num &lt;&lt; endl; </a:t>
            </a:r>
            <a:endParaRPr sz="1100">
              <a:solidFill>
                <a:srgbClr val="274E13"/>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lang="en" sz="1100">
                <a:solidFill>
                  <a:srgbClr val="274E13"/>
                </a:solidFill>
                <a:highlight>
                  <a:srgbClr val="FFFFFF"/>
                </a:highlight>
                <a:latin typeface="Consolas"/>
                <a:ea typeface="Consolas"/>
                <a:cs typeface="Consolas"/>
                <a:sym typeface="Consolas"/>
              </a:rPr>
              <a:t>    return 0; </a:t>
            </a:r>
            <a:endParaRPr sz="1100">
              <a:solidFill>
                <a:srgbClr val="274E13"/>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SzPts val="1800"/>
              <a:buNone/>
            </a:pPr>
            <a:r>
              <a:rPr lang="en" sz="1100">
                <a:solidFill>
                  <a:srgbClr val="274E13"/>
                </a:solidFill>
                <a:highlight>
                  <a:srgbClr val="FFFFFF"/>
                </a:highlight>
                <a:latin typeface="Consolas"/>
                <a:ea typeface="Consolas"/>
                <a:cs typeface="Consolas"/>
                <a:sym typeface="Consolas"/>
              </a:rPr>
              <a:t>} </a:t>
            </a:r>
            <a:endParaRPr sz="1100">
              <a:solidFill>
                <a:srgbClr val="274E13"/>
              </a:solidFill>
              <a:highlight>
                <a:srgbClr val="FFFFFF"/>
              </a:highlight>
              <a:latin typeface="Consolas"/>
              <a:ea typeface="Consolas"/>
              <a:cs typeface="Consolas"/>
              <a:sym typeface="Consolas"/>
            </a:endParaRPr>
          </a:p>
          <a:p>
            <a:pPr indent="0" lvl="0" marL="0" rtl="0" algn="l">
              <a:lnSpc>
                <a:spcPct val="115000"/>
              </a:lnSpc>
              <a:spcBef>
                <a:spcPts val="0"/>
              </a:spcBef>
              <a:spcAft>
                <a:spcPts val="0"/>
              </a:spcAft>
              <a:buSzPts val="1800"/>
              <a:buNone/>
            </a:pPr>
            <a:r>
              <a:t/>
            </a:r>
            <a:endParaRPr sz="1100">
              <a:solidFill>
                <a:schemeClr val="dk1"/>
              </a:solidFill>
              <a:highlight>
                <a:srgbClr val="FFFFFF"/>
              </a:highlight>
              <a:latin typeface="Consolas"/>
              <a:ea typeface="Consolas"/>
              <a:cs typeface="Consolas"/>
              <a:sym typeface="Consolas"/>
            </a:endParaRPr>
          </a:p>
        </p:txBody>
      </p:sp>
      <p:pic>
        <p:nvPicPr>
          <p:cNvPr id="318" name="Google Shape;318;g6e4c203cfd_0_46"/>
          <p:cNvPicPr preferRelativeResize="0"/>
          <p:nvPr/>
        </p:nvPicPr>
        <p:blipFill rotWithShape="1">
          <a:blip r:embed="rId3">
            <a:alphaModFix/>
          </a:blip>
          <a:srcRect b="0" l="0" r="0" t="0"/>
          <a:stretch/>
        </p:blipFill>
        <p:spPr>
          <a:xfrm>
            <a:off x="1549775" y="4487400"/>
            <a:ext cx="3139375" cy="699025"/>
          </a:xfrm>
          <a:prstGeom prst="rect">
            <a:avLst/>
          </a:prstGeom>
          <a:noFill/>
          <a:ln>
            <a:noFill/>
          </a:ln>
        </p:spPr>
      </p:pic>
      <p:sp>
        <p:nvSpPr>
          <p:cNvPr id="319" name="Google Shape;319;g6e4c203cfd_0_46"/>
          <p:cNvSpPr txBox="1"/>
          <p:nvPr/>
        </p:nvSpPr>
        <p:spPr>
          <a:xfrm>
            <a:off x="4444825" y="1203375"/>
            <a:ext cx="4458600" cy="1588800"/>
          </a:xfrm>
          <a:prstGeom prst="rect">
            <a:avLst/>
          </a:prstGeom>
          <a:solidFill>
            <a:srgbClr val="93C47D"/>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rgbClr val="000000"/>
              </a:buClr>
              <a:buSzPts val="1400"/>
              <a:buFont typeface="Arial"/>
              <a:buAutoNum type="arabicPeriod"/>
            </a:pPr>
            <a:r>
              <a:rPr b="0" i="0" lang="en" sz="1400" u="none" cap="none" strike="noStrike">
                <a:solidFill>
                  <a:srgbClr val="000000"/>
                </a:solidFill>
                <a:latin typeface="Arial"/>
                <a:ea typeface="Arial"/>
                <a:cs typeface="Arial"/>
                <a:sym typeface="Arial"/>
              </a:rPr>
              <a:t>setw() is library function in C++.</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AutoNum type="arabicPeriod"/>
            </a:pPr>
            <a:r>
              <a:rPr b="0" i="0" lang="en" sz="1400" u="none" cap="none" strike="noStrike">
                <a:solidFill>
                  <a:srgbClr val="000000"/>
                </a:solidFill>
                <a:latin typeface="Arial"/>
                <a:ea typeface="Arial"/>
                <a:cs typeface="Arial"/>
                <a:sym typeface="Arial"/>
              </a:rPr>
              <a:t>setw() is declared inside #include&lt;iomanip&gt;</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AutoNum type="arabicPeriod"/>
            </a:pPr>
            <a:r>
              <a:rPr b="0" i="0" lang="en" sz="1400" u="none" cap="none" strike="noStrike">
                <a:solidFill>
                  <a:srgbClr val="000000"/>
                </a:solidFill>
                <a:latin typeface="Arial"/>
                <a:ea typeface="Arial"/>
                <a:cs typeface="Arial"/>
                <a:sym typeface="Arial"/>
              </a:rPr>
              <a:t>setw() will set field width.</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AutoNum type="arabicPeriod"/>
            </a:pPr>
            <a:r>
              <a:rPr b="0" i="0" lang="en" sz="1400" u="none" cap="none" strike="noStrike">
                <a:solidFill>
                  <a:srgbClr val="000000"/>
                </a:solidFill>
                <a:latin typeface="Arial"/>
                <a:ea typeface="Arial"/>
                <a:cs typeface="Arial"/>
                <a:sym typeface="Arial"/>
              </a:rPr>
              <a:t>setw() sets the number of characters to be used as the field width for the next insertion operation.</a:t>
            </a:r>
            <a:endParaRPr b="0" i="0" sz="1150" u="none" cap="none" strike="noStrike">
              <a:solidFill>
                <a:schemeClr val="dk1"/>
              </a:solidFill>
              <a:highlight>
                <a:srgbClr val="FFFFFF"/>
              </a:highlight>
              <a:latin typeface="Arial"/>
              <a:ea typeface="Arial"/>
              <a:cs typeface="Arial"/>
              <a:sym typeface="Arial"/>
            </a:endParaRPr>
          </a:p>
        </p:txBody>
      </p:sp>
      <p:sp>
        <p:nvSpPr>
          <p:cNvPr id="320" name="Google Shape;320;g6e4c203cfd_0_46"/>
          <p:cNvSpPr txBox="1"/>
          <p:nvPr/>
        </p:nvSpPr>
        <p:spPr>
          <a:xfrm>
            <a:off x="5157625" y="3358900"/>
            <a:ext cx="3620100" cy="3495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cout&lt;&lt;</a:t>
            </a:r>
            <a:r>
              <a:rPr b="1" i="0" lang="en" sz="1400" u="none" cap="none" strike="noStrike">
                <a:solidFill>
                  <a:srgbClr val="000000"/>
                </a:solidFill>
                <a:latin typeface="Arial"/>
                <a:ea typeface="Arial"/>
                <a:cs typeface="Arial"/>
                <a:sym typeface="Arial"/>
              </a:rPr>
              <a:t>setw(5)</a:t>
            </a:r>
            <a:r>
              <a:rPr b="0" i="0" lang="en" sz="1400" u="none" cap="none" strike="noStrike">
                <a:solidFill>
                  <a:srgbClr val="000000"/>
                </a:solidFill>
                <a:latin typeface="Arial"/>
                <a:ea typeface="Arial"/>
                <a:cs typeface="Arial"/>
                <a:sym typeface="Arial"/>
              </a:rPr>
              <a:t>&lt;&lt;”RCA”&lt;&lt;endl;</a:t>
            </a:r>
            <a:endParaRPr b="0" i="0" sz="1400" u="none" cap="none" strike="noStrike">
              <a:solidFill>
                <a:srgbClr val="434343"/>
              </a:solidFill>
              <a:latin typeface="Arial"/>
              <a:ea typeface="Arial"/>
              <a:cs typeface="Arial"/>
              <a:sym typeface="Arial"/>
            </a:endParaRPr>
          </a:p>
        </p:txBody>
      </p:sp>
      <p:sp>
        <p:nvSpPr>
          <p:cNvPr id="321" name="Google Shape;321;g6e4c203cfd_0_46"/>
          <p:cNvSpPr txBox="1"/>
          <p:nvPr/>
        </p:nvSpPr>
        <p:spPr>
          <a:xfrm>
            <a:off x="5651800" y="2915675"/>
            <a:ext cx="2557800" cy="3495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Set 5 characters</a:t>
            </a:r>
            <a:endParaRPr b="1" i="0" sz="1400" u="none" cap="none" strike="noStrike">
              <a:solidFill>
                <a:srgbClr val="000000"/>
              </a:solidFill>
              <a:latin typeface="Arial"/>
              <a:ea typeface="Arial"/>
              <a:cs typeface="Arial"/>
              <a:sym typeface="Arial"/>
            </a:endParaRPr>
          </a:p>
        </p:txBody>
      </p:sp>
      <p:cxnSp>
        <p:nvCxnSpPr>
          <p:cNvPr id="322" name="Google Shape;322;g6e4c203cfd_0_46"/>
          <p:cNvCxnSpPr>
            <a:stCxn id="320" idx="2"/>
            <a:endCxn id="323" idx="3"/>
          </p:cNvCxnSpPr>
          <p:nvPr/>
        </p:nvCxnSpPr>
        <p:spPr>
          <a:xfrm>
            <a:off x="6967675" y="3708400"/>
            <a:ext cx="127800" cy="453000"/>
          </a:xfrm>
          <a:prstGeom prst="straightConnector1">
            <a:avLst/>
          </a:prstGeom>
          <a:noFill/>
          <a:ln cap="flat" cmpd="sng" w="38100">
            <a:solidFill>
              <a:schemeClr val="dk2"/>
            </a:solidFill>
            <a:prstDash val="solid"/>
            <a:round/>
            <a:headEnd len="sm" w="sm" type="none"/>
            <a:tailEnd len="med" w="med" type="triangle"/>
          </a:ln>
        </p:spPr>
      </p:cxnSp>
      <p:graphicFrame>
        <p:nvGraphicFramePr>
          <p:cNvPr id="324" name="Google Shape;324;g6e4c203cfd_0_46"/>
          <p:cNvGraphicFramePr/>
          <p:nvPr/>
        </p:nvGraphicFramePr>
        <p:xfrm>
          <a:off x="5528925" y="4427525"/>
          <a:ext cx="3000000" cy="3000000"/>
        </p:xfrm>
        <a:graphic>
          <a:graphicData uri="http://schemas.openxmlformats.org/drawingml/2006/table">
            <a:tbl>
              <a:tblPr>
                <a:noFill/>
                <a:tableStyleId>{8833F13D-1055-41CB-94B1-DEB62D9CAE1A}</a:tableStyleId>
              </a:tblPr>
              <a:tblGrid>
                <a:gridCol w="674900"/>
                <a:gridCol w="674900"/>
                <a:gridCol w="674900"/>
                <a:gridCol w="674900"/>
                <a:gridCol w="674900"/>
              </a:tblGrid>
              <a:tr h="4280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BF9000"/>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BF900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R</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C</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A</a:t>
                      </a:r>
                      <a:endParaRPr sz="1400" u="none" cap="none" strike="noStrike"/>
                    </a:p>
                  </a:txBody>
                  <a:tcPr marT="91425" marB="91425" marR="91425" marL="91425"/>
                </a:tc>
              </a:tr>
            </a:tbl>
          </a:graphicData>
        </a:graphic>
      </p:graphicFrame>
      <p:sp>
        <p:nvSpPr>
          <p:cNvPr id="323" name="Google Shape;323;g6e4c203cfd_0_46"/>
          <p:cNvSpPr txBox="1"/>
          <p:nvPr/>
        </p:nvSpPr>
        <p:spPr>
          <a:xfrm>
            <a:off x="5236525" y="4035613"/>
            <a:ext cx="18588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1" lang="en" sz="1400" u="none" cap="none" strike="noStrike">
                <a:solidFill>
                  <a:srgbClr val="000000"/>
                </a:solidFill>
                <a:latin typeface="Arial"/>
                <a:ea typeface="Arial"/>
                <a:cs typeface="Arial"/>
                <a:sym typeface="Arial"/>
              </a:rPr>
              <a:t>2 Fields are blank</a:t>
            </a:r>
            <a:endParaRPr b="1" i="1" sz="1400" u="none" cap="none" strike="noStrike">
              <a:solidFill>
                <a:srgbClr val="000000"/>
              </a:solidFill>
              <a:latin typeface="Arial"/>
              <a:ea typeface="Arial"/>
              <a:cs typeface="Arial"/>
              <a:sym typeface="Arial"/>
            </a:endParaRPr>
          </a:p>
        </p:txBody>
      </p:sp>
      <p:cxnSp>
        <p:nvCxnSpPr>
          <p:cNvPr id="325" name="Google Shape;325;g6e4c203cfd_0_46"/>
          <p:cNvCxnSpPr/>
          <p:nvPr/>
        </p:nvCxnSpPr>
        <p:spPr>
          <a:xfrm>
            <a:off x="5618875" y="5057775"/>
            <a:ext cx="3242700" cy="14100"/>
          </a:xfrm>
          <a:prstGeom prst="straightConnector1">
            <a:avLst/>
          </a:prstGeom>
          <a:noFill/>
          <a:ln cap="flat" cmpd="sng" w="9525">
            <a:solidFill>
              <a:schemeClr val="dk2"/>
            </a:solidFill>
            <a:prstDash val="solid"/>
            <a:round/>
            <a:headEnd len="sm" w="sm" type="none"/>
            <a:tailEnd len="med" w="med" type="triangle"/>
          </a:ln>
        </p:spPr>
      </p:cxnSp>
      <p:sp>
        <p:nvSpPr>
          <p:cNvPr id="326" name="Google Shape;326;g6e4c203cfd_0_46"/>
          <p:cNvSpPr txBox="1"/>
          <p:nvPr/>
        </p:nvSpPr>
        <p:spPr>
          <a:xfrm>
            <a:off x="6369725" y="4776825"/>
            <a:ext cx="1858800" cy="2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1" lang="en" sz="1400" u="none" cap="none" strike="noStrike">
                <a:solidFill>
                  <a:srgbClr val="000000"/>
                </a:solidFill>
                <a:latin typeface="Arial"/>
                <a:ea typeface="Arial"/>
                <a:cs typeface="Arial"/>
                <a:sym typeface="Arial"/>
              </a:rPr>
              <a:t>5 characters</a:t>
            </a:r>
            <a:endParaRPr b="1" i="1" sz="1400" u="none" cap="none" strike="noStrike">
              <a:solidFill>
                <a:srgbClr val="000000"/>
              </a:solidFill>
              <a:latin typeface="Arial"/>
              <a:ea typeface="Arial"/>
              <a:cs typeface="Arial"/>
              <a:sym typeface="Arial"/>
            </a:endParaRPr>
          </a:p>
        </p:txBody>
      </p:sp>
      <p:sp>
        <p:nvSpPr>
          <p:cNvPr id="327" name="Google Shape;327;g6e4c203cfd_0_4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6e4c203cfd_0_60"/>
          <p:cNvSpPr txBox="1"/>
          <p:nvPr>
            <p:ph idx="1" type="body"/>
          </p:nvPr>
        </p:nvSpPr>
        <p:spPr>
          <a:xfrm>
            <a:off x="311700" y="123900"/>
            <a:ext cx="8759400" cy="1341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a:t>3 The setprecision() manipulator</a:t>
            </a:r>
            <a:endParaRPr b="1"/>
          </a:p>
          <a:p>
            <a:pPr indent="0" lvl="0" marL="0" rtl="0" algn="l">
              <a:lnSpc>
                <a:spcPct val="115000"/>
              </a:lnSpc>
              <a:spcBef>
                <a:spcPts val="0"/>
              </a:spcBef>
              <a:spcAft>
                <a:spcPts val="0"/>
              </a:spcAft>
              <a:buClr>
                <a:schemeClr val="dk1"/>
              </a:buClr>
              <a:buSzPts val="1100"/>
              <a:buFont typeface="Arial"/>
              <a:buNone/>
            </a:pPr>
            <a:r>
              <a:rPr lang="en"/>
              <a:t>In C++, formatting floating point numbers may be rounded off to the nearest integer</a:t>
            </a:r>
            <a:endParaRPr/>
          </a:p>
          <a:p>
            <a:pPr indent="0" lvl="0" marL="0" rtl="0" algn="l">
              <a:lnSpc>
                <a:spcPct val="115000"/>
              </a:lnSpc>
              <a:spcBef>
                <a:spcPts val="0"/>
              </a:spcBef>
              <a:spcAft>
                <a:spcPts val="0"/>
              </a:spcAft>
              <a:buClr>
                <a:schemeClr val="dk1"/>
              </a:buClr>
              <a:buSzPts val="1100"/>
              <a:buFont typeface="Arial"/>
              <a:buNone/>
            </a:pPr>
            <a:r>
              <a:rPr lang="en"/>
              <a:t>using setprecision() manipulator. The object is used together with fixed or scientific</a:t>
            </a:r>
            <a:endParaRPr/>
          </a:p>
          <a:p>
            <a:pPr indent="0" lvl="0" marL="0" rtl="0" algn="l">
              <a:lnSpc>
                <a:spcPct val="115000"/>
              </a:lnSpc>
              <a:spcBef>
                <a:spcPts val="0"/>
              </a:spcBef>
              <a:spcAft>
                <a:spcPts val="0"/>
              </a:spcAft>
              <a:buClr>
                <a:schemeClr val="dk1"/>
              </a:buClr>
              <a:buSzPts val="1100"/>
              <a:buFont typeface="Arial"/>
              <a:buNone/>
            </a:pPr>
            <a:r>
              <a:rPr lang="en"/>
              <a:t>manipulators to specify the number of digits to be displayed.</a:t>
            </a:r>
            <a:endParaRPr/>
          </a:p>
          <a:p>
            <a:pPr indent="0" lvl="0" marL="0" rtl="0" algn="l">
              <a:lnSpc>
                <a:spcPct val="115000"/>
              </a:lnSpc>
              <a:spcBef>
                <a:spcPts val="0"/>
              </a:spcBef>
              <a:spcAft>
                <a:spcPts val="0"/>
              </a:spcAft>
              <a:buSzPts val="1800"/>
              <a:buNone/>
            </a:pPr>
            <a:r>
              <a:t/>
            </a:r>
            <a:endParaRPr/>
          </a:p>
        </p:txBody>
      </p:sp>
      <p:sp>
        <p:nvSpPr>
          <p:cNvPr id="333" name="Google Shape;333;g6e4c203cfd_0_60"/>
          <p:cNvSpPr txBox="1"/>
          <p:nvPr/>
        </p:nvSpPr>
        <p:spPr>
          <a:xfrm>
            <a:off x="9025" y="1928825"/>
            <a:ext cx="4710300" cy="24720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#include &lt;iostream&gt;</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#include &lt;iomanip&gt;</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using namespace std;</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int main(){</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cout &lt;&lt; setw(9) &lt;&lt; 8.25 &lt;&lt; endl;</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cout &lt;&lt; setw(20)&lt;&lt; “Hello!”&lt;&lt; endl;</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cout&lt;&lt;setprecision(2)&lt;&lt;fixed&lt;&lt;1234.56789&lt;&lt; endl;</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cout&lt;&lt;setprecision(3)&lt;&lt;scientific&lt;&lt;1234.56789&lt;&lt; endl;</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return 0;</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a:t>
            </a:r>
            <a:endParaRPr b="0" i="0" sz="1400" u="none" cap="none" strike="noStrike">
              <a:solidFill>
                <a:srgbClr val="FFFFFF"/>
              </a:solidFill>
              <a:latin typeface="Arial"/>
              <a:ea typeface="Arial"/>
              <a:cs typeface="Arial"/>
              <a:sym typeface="Arial"/>
            </a:endParaRPr>
          </a:p>
        </p:txBody>
      </p:sp>
      <p:pic>
        <p:nvPicPr>
          <p:cNvPr id="334" name="Google Shape;334;g6e4c203cfd_0_60"/>
          <p:cNvPicPr preferRelativeResize="0"/>
          <p:nvPr/>
        </p:nvPicPr>
        <p:blipFill rotWithShape="1">
          <a:blip r:embed="rId3">
            <a:alphaModFix/>
          </a:blip>
          <a:srcRect b="0" l="0" r="0" t="0"/>
          <a:stretch/>
        </p:blipFill>
        <p:spPr>
          <a:xfrm>
            <a:off x="5108700" y="2401750"/>
            <a:ext cx="3962400" cy="1526150"/>
          </a:xfrm>
          <a:prstGeom prst="rect">
            <a:avLst/>
          </a:prstGeom>
          <a:noFill/>
          <a:ln>
            <a:noFill/>
          </a:ln>
        </p:spPr>
      </p:pic>
      <p:sp>
        <p:nvSpPr>
          <p:cNvPr id="335" name="Google Shape;335;g6e4c203cfd_0_6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6e4c203cfd_0_78"/>
          <p:cNvSpPr txBox="1"/>
          <p:nvPr>
            <p:ph idx="1" type="body"/>
          </p:nvPr>
        </p:nvSpPr>
        <p:spPr>
          <a:xfrm>
            <a:off x="111975" y="36450"/>
            <a:ext cx="8903400" cy="502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a:t>4. Format Base of Integer Output</a:t>
            </a:r>
            <a:endParaRPr b="1"/>
          </a:p>
          <a:p>
            <a:pPr indent="0" lvl="0" marL="0" rtl="0" algn="l">
              <a:lnSpc>
                <a:spcPct val="115000"/>
              </a:lnSpc>
              <a:spcBef>
                <a:spcPts val="0"/>
              </a:spcBef>
              <a:spcAft>
                <a:spcPts val="0"/>
              </a:spcAft>
              <a:buClr>
                <a:schemeClr val="dk1"/>
              </a:buClr>
              <a:buSzPts val="1100"/>
              <a:buFont typeface="Arial"/>
              <a:buNone/>
            </a:pPr>
            <a:r>
              <a:rPr lang="en"/>
              <a:t>In computing, the commonly used numeric constants are decimal integers, floating point (real numbers), octal (base 8) and hexadecimal (base 16). In C++ we use format specifier to format or convert a number from one base to another. To change the base of printed values use dec , oct , and hex manipulators. The following program demonstrates how to format the three number systems:</a:t>
            </a:r>
            <a:endParaRPr/>
          </a:p>
          <a:p>
            <a:pPr indent="0" lvl="0" marL="0" rtl="0" algn="l">
              <a:lnSpc>
                <a:spcPct val="115000"/>
              </a:lnSpc>
              <a:spcBef>
                <a:spcPts val="0"/>
              </a:spcBef>
              <a:spcAft>
                <a:spcPts val="0"/>
              </a:spcAft>
              <a:buSzPts val="1800"/>
              <a:buNone/>
            </a:pPr>
            <a:r>
              <a:t/>
            </a:r>
            <a:endParaRPr b="1"/>
          </a:p>
        </p:txBody>
      </p:sp>
      <p:sp>
        <p:nvSpPr>
          <p:cNvPr id="341" name="Google Shape;341;g6e4c203cfd_0_78"/>
          <p:cNvSpPr txBox="1"/>
          <p:nvPr/>
        </p:nvSpPr>
        <p:spPr>
          <a:xfrm>
            <a:off x="175375" y="1925175"/>
            <a:ext cx="4011600" cy="2667300"/>
          </a:xfrm>
          <a:prstGeom prst="rect">
            <a:avLst/>
          </a:prstGeom>
          <a:solidFill>
            <a:srgbClr val="666666"/>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#include &lt;iostream&gt;</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using namespace std;</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int main(){</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int value = 65;</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char letter = ‘B’;</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cout &lt;&lt; “The following is display of formatted output” &lt;&lt; endl;</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cout &lt;&lt; “decimal: “ &lt;&lt; dec&lt;&lt;value &lt;&lt; endl;</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cout &lt;&lt; “octal:” &lt;&lt; oct&lt;&lt;value &lt;&lt; endl;</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cout &lt;&lt; “hexadecimal”&lt;&lt; hex&lt;&lt;value &lt;&lt;endl;</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return 0;</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a:t>
            </a:r>
            <a:endParaRPr b="0" i="0" sz="1400" u="none" cap="none" strike="noStrike">
              <a:solidFill>
                <a:srgbClr val="FFFFFF"/>
              </a:solidFill>
              <a:latin typeface="Arial"/>
              <a:ea typeface="Arial"/>
              <a:cs typeface="Arial"/>
              <a:sym typeface="Arial"/>
            </a:endParaRPr>
          </a:p>
        </p:txBody>
      </p:sp>
      <p:pic>
        <p:nvPicPr>
          <p:cNvPr id="342" name="Google Shape;342;g6e4c203cfd_0_78"/>
          <p:cNvPicPr preferRelativeResize="0"/>
          <p:nvPr/>
        </p:nvPicPr>
        <p:blipFill rotWithShape="1">
          <a:blip r:embed="rId3">
            <a:alphaModFix/>
          </a:blip>
          <a:srcRect b="0" l="0" r="0" t="0"/>
          <a:stretch/>
        </p:blipFill>
        <p:spPr>
          <a:xfrm rot="-1989288">
            <a:off x="4016247" y="2676957"/>
            <a:ext cx="5395081" cy="981685"/>
          </a:xfrm>
          <a:prstGeom prst="rect">
            <a:avLst/>
          </a:prstGeom>
          <a:noFill/>
          <a:ln>
            <a:noFill/>
          </a:ln>
        </p:spPr>
      </p:pic>
      <p:sp>
        <p:nvSpPr>
          <p:cNvPr id="343" name="Google Shape;343;g6e4c203cfd_0_7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6e4c203cfd_0_89"/>
          <p:cNvSpPr txBox="1"/>
          <p:nvPr>
            <p:ph idx="1" type="body"/>
          </p:nvPr>
        </p:nvSpPr>
        <p:spPr>
          <a:xfrm>
            <a:off x="311700" y="9475"/>
            <a:ext cx="8520600" cy="489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t>5. Format Output using Escape Sequence</a:t>
            </a:r>
            <a:endParaRPr b="1"/>
          </a:p>
          <a:p>
            <a:pPr indent="0" lvl="0" marL="0" rtl="0" algn="l">
              <a:lnSpc>
                <a:spcPct val="115000"/>
              </a:lnSpc>
              <a:spcBef>
                <a:spcPts val="0"/>
              </a:spcBef>
              <a:spcAft>
                <a:spcPts val="0"/>
              </a:spcAft>
              <a:buSzPts val="1800"/>
              <a:buNone/>
            </a:pPr>
            <a:r>
              <a:rPr lang="en"/>
              <a:t>Output formatting can also be accomplished using a combination of a backslash and a character, known as escape sequence.</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SzPts val="1800"/>
              <a:buNone/>
            </a:pPr>
            <a:r>
              <a:t/>
            </a:r>
            <a:endParaRPr/>
          </a:p>
        </p:txBody>
      </p:sp>
      <p:graphicFrame>
        <p:nvGraphicFramePr>
          <p:cNvPr id="349" name="Google Shape;349;g6e4c203cfd_0_89"/>
          <p:cNvGraphicFramePr/>
          <p:nvPr/>
        </p:nvGraphicFramePr>
        <p:xfrm>
          <a:off x="232875" y="1123950"/>
          <a:ext cx="3000000" cy="3000000"/>
        </p:xfrm>
        <a:graphic>
          <a:graphicData uri="http://schemas.openxmlformats.org/drawingml/2006/table">
            <a:tbl>
              <a:tblPr>
                <a:noFill/>
                <a:tableStyleId>{8833F13D-1055-41CB-94B1-DEB62D9CAE1A}</a:tableStyleId>
              </a:tblPr>
              <a:tblGrid>
                <a:gridCol w="882425"/>
                <a:gridCol w="1706750"/>
                <a:gridCol w="6103375"/>
              </a:tblGrid>
              <a:tr h="41147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Escape</a:t>
                      </a:r>
                      <a:endParaRPr b="1"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Meaning</a:t>
                      </a:r>
                      <a:endParaRPr b="1"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 Description</a:t>
                      </a:r>
                      <a:endParaRPr b="1" sz="1400" u="none" cap="none" strike="noStrike"/>
                    </a:p>
                  </a:txBody>
                  <a:tcPr marT="91425" marB="91425" marR="91425" marL="91425"/>
                </a:tc>
              </a:tr>
              <a:tr h="463250">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t>\n</a:t>
                      </a:r>
                      <a:endParaRPr sz="15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t>New line</a:t>
                      </a:r>
                      <a:endParaRPr sz="15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t>Forces the cursor or insertion pointer to move to a new line</a:t>
                      </a:r>
                      <a:endParaRPr sz="1500" u="none" cap="none" strike="noStrike"/>
                    </a:p>
                  </a:txBody>
                  <a:tcPr marT="91425" marB="91425" marR="91425" marL="91425"/>
                </a:tc>
              </a:tr>
              <a:tr h="579200">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t>\t</a:t>
                      </a:r>
                      <a:endParaRPr sz="15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t>tab</a:t>
                      </a:r>
                      <a:endParaRPr sz="15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t>Moves tabs horizontally to create uniform white spaces between outputs.</a:t>
                      </a:r>
                      <a:endParaRPr sz="1500" u="none" cap="none" strike="noStrike"/>
                    </a:p>
                  </a:txBody>
                  <a:tcPr marT="91425" marB="91425" marR="91425" marL="91425"/>
                </a:tc>
              </a:tr>
              <a:tr h="369550">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t>\b</a:t>
                      </a:r>
                      <a:endParaRPr sz="15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t>backspace</a:t>
                      </a:r>
                      <a:endParaRPr sz="15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t>Move the character backwards withouterasing anything.</a:t>
                      </a:r>
                      <a:endParaRPr sz="1500" u="none" cap="none" strike="noStrike"/>
                    </a:p>
                  </a:txBody>
                  <a:tcPr marT="91425" marB="91425" marR="91425" marL="91425"/>
                </a:tc>
              </a:tr>
              <a:tr h="579200">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t>\v</a:t>
                      </a:r>
                      <a:endParaRPr sz="15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t>Vertical tab</a:t>
                      </a:r>
                      <a:endParaRPr sz="15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t>Moves tabs vertically to create uniform white spaces between outputs.</a:t>
                      </a:r>
                      <a:endParaRPr sz="1500" u="none" cap="none" strike="noStrike"/>
                    </a:p>
                  </a:txBody>
                  <a:tcPr marT="91425" marB="91425" marR="91425" marL="91425"/>
                </a:tc>
              </a:tr>
              <a:tr h="467400">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t>\r</a:t>
                      </a:r>
                      <a:endParaRPr sz="15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t>Carriage return</a:t>
                      </a:r>
                      <a:endParaRPr sz="15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t>Moves the cursor to the first column of the  net line.</a:t>
                      </a:r>
                      <a:endParaRPr sz="1500" u="none" cap="none" strike="noStrike"/>
                    </a:p>
                  </a:txBody>
                  <a:tcPr marT="91425" marB="91425" marR="91425" marL="91425"/>
                </a:tc>
              </a:tr>
              <a:tr h="355575">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t>\f</a:t>
                      </a:r>
                      <a:endParaRPr sz="15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t>form feed</a:t>
                      </a:r>
                      <a:endParaRPr sz="15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500"/>
                        <a:buFont typeface="Arial"/>
                        <a:buNone/>
                      </a:pPr>
                      <a:r>
                        <a:rPr lang="en" sz="1500" u="none" cap="none" strike="noStrike"/>
                        <a:t>Moves the cursor to the start on next page.</a:t>
                      </a:r>
                      <a:endParaRPr sz="1500" u="none" cap="none" strike="noStrike"/>
                    </a:p>
                  </a:txBody>
                  <a:tcPr marT="91425" marB="91425" marR="91425" marL="91425"/>
                </a:tc>
              </a:tr>
            </a:tbl>
          </a:graphicData>
        </a:graphic>
      </p:graphicFrame>
      <p:sp>
        <p:nvSpPr>
          <p:cNvPr id="350" name="Google Shape;350;g6e4c203cfd_0_8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6e4c203cfd_0_112"/>
          <p:cNvSpPr txBox="1"/>
          <p:nvPr>
            <p:ph idx="1" type="body"/>
          </p:nvPr>
        </p:nvSpPr>
        <p:spPr>
          <a:xfrm>
            <a:off x="153900" y="151875"/>
            <a:ext cx="8889300" cy="471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a:t> example</a:t>
            </a:r>
            <a:endParaRPr b="1"/>
          </a:p>
        </p:txBody>
      </p:sp>
      <p:sp>
        <p:nvSpPr>
          <p:cNvPr id="356" name="Google Shape;356;g6e4c203cfd_0_112"/>
          <p:cNvSpPr txBox="1"/>
          <p:nvPr/>
        </p:nvSpPr>
        <p:spPr>
          <a:xfrm>
            <a:off x="157775" y="992325"/>
            <a:ext cx="4668300" cy="2639700"/>
          </a:xfrm>
          <a:prstGeom prst="rect">
            <a:avLst/>
          </a:prstGeom>
          <a:solidFill>
            <a:srgbClr val="434343"/>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 include &lt;iostream&gt;</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using namespace std;</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int main(){</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cout &lt;&lt; "Name\t orange\t mango\t apple \n";</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cout &lt;&lt; "John :\t 3 \t 5 \t 8"&lt;&lt; endl;</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cout &lt;&lt; "Janet:\t 4 \t 5 \t 7"&lt;&lt; endl;</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cout &lt;&lt;"Peter:\t 5 \t 3 \t 6"&lt;&lt; endl;</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return 0;}</a:t>
            </a:r>
            <a:endParaRPr b="0" i="0" sz="1800" u="none" cap="none" strike="noStrike">
              <a:solidFill>
                <a:srgbClr val="FFFFFF"/>
              </a:solidFill>
              <a:latin typeface="Arial"/>
              <a:ea typeface="Arial"/>
              <a:cs typeface="Arial"/>
              <a:sym typeface="Arial"/>
            </a:endParaRPr>
          </a:p>
        </p:txBody>
      </p:sp>
      <p:pic>
        <p:nvPicPr>
          <p:cNvPr id="357" name="Google Shape;357;g6e4c203cfd_0_112"/>
          <p:cNvPicPr preferRelativeResize="0"/>
          <p:nvPr/>
        </p:nvPicPr>
        <p:blipFill rotWithShape="1">
          <a:blip r:embed="rId3">
            <a:alphaModFix/>
          </a:blip>
          <a:srcRect b="0" l="0" r="0" t="0"/>
          <a:stretch/>
        </p:blipFill>
        <p:spPr>
          <a:xfrm>
            <a:off x="4978475" y="1438263"/>
            <a:ext cx="4152900" cy="1133475"/>
          </a:xfrm>
          <a:prstGeom prst="rect">
            <a:avLst/>
          </a:prstGeom>
          <a:noFill/>
          <a:ln>
            <a:noFill/>
          </a:ln>
        </p:spPr>
      </p:pic>
      <p:sp>
        <p:nvSpPr>
          <p:cNvPr id="358" name="Google Shape;358;g6e4c203cfd_0_112"/>
          <p:cNvSpPr txBox="1"/>
          <p:nvPr/>
        </p:nvSpPr>
        <p:spPr>
          <a:xfrm>
            <a:off x="810825" y="599150"/>
            <a:ext cx="1845000" cy="39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Program</a:t>
            </a:r>
            <a:endParaRPr b="1" i="0" sz="1400" u="none" cap="none" strike="noStrike">
              <a:solidFill>
                <a:srgbClr val="000000"/>
              </a:solidFill>
              <a:latin typeface="Arial"/>
              <a:ea typeface="Arial"/>
              <a:cs typeface="Arial"/>
              <a:sym typeface="Arial"/>
            </a:endParaRPr>
          </a:p>
        </p:txBody>
      </p:sp>
      <p:sp>
        <p:nvSpPr>
          <p:cNvPr id="359" name="Google Shape;359;g6e4c203cfd_0_112"/>
          <p:cNvSpPr txBox="1"/>
          <p:nvPr/>
        </p:nvSpPr>
        <p:spPr>
          <a:xfrm>
            <a:off x="5743325" y="599150"/>
            <a:ext cx="1845000" cy="39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output</a:t>
            </a:r>
            <a:endParaRPr b="1" i="0" sz="1400" u="none" cap="none" strike="noStrike">
              <a:solidFill>
                <a:srgbClr val="000000"/>
              </a:solidFill>
              <a:latin typeface="Arial"/>
              <a:ea typeface="Arial"/>
              <a:cs typeface="Arial"/>
              <a:sym typeface="Arial"/>
            </a:endParaRPr>
          </a:p>
        </p:txBody>
      </p:sp>
      <p:sp>
        <p:nvSpPr>
          <p:cNvPr id="360" name="Google Shape;360;g6e4c203cfd_0_11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g7e44bd323b_3_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a:t>Solve Complex Problems using C++ functions</a:t>
            </a:r>
            <a:endParaRPr/>
          </a:p>
        </p:txBody>
      </p:sp>
      <p:sp>
        <p:nvSpPr>
          <p:cNvPr id="366" name="Google Shape;366;g7e44bd323b_3_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7e44bd323b_3_10"/>
          <p:cNvSpPr txBox="1"/>
          <p:nvPr>
            <p:ph type="title"/>
          </p:nvPr>
        </p:nvSpPr>
        <p:spPr>
          <a:xfrm>
            <a:off x="311700" y="2164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rPr b="1" lang="en" sz="1800">
                <a:solidFill>
                  <a:schemeClr val="dk2"/>
                </a:solidFill>
              </a:rPr>
              <a:t>1. Fundamentals of C++ Functions</a:t>
            </a:r>
            <a:endParaRPr b="1"/>
          </a:p>
        </p:txBody>
      </p:sp>
      <p:sp>
        <p:nvSpPr>
          <p:cNvPr id="372" name="Google Shape;372;g7e44bd323b_3_10"/>
          <p:cNvSpPr txBox="1"/>
          <p:nvPr>
            <p:ph idx="1" type="body"/>
          </p:nvPr>
        </p:nvSpPr>
        <p:spPr>
          <a:xfrm>
            <a:off x="227825" y="691225"/>
            <a:ext cx="8520600" cy="41649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800"/>
              <a:buNone/>
            </a:pPr>
            <a:r>
              <a:rPr lang="en" sz="2500">
                <a:solidFill>
                  <a:srgbClr val="000000"/>
                </a:solidFill>
              </a:rPr>
              <a:t>In C++, the smallest component having independent functionality is known as a function. </a:t>
            </a:r>
            <a:endParaRPr sz="2500">
              <a:solidFill>
                <a:srgbClr val="000000"/>
              </a:solidFill>
            </a:endParaRPr>
          </a:p>
          <a:p>
            <a:pPr indent="0" lvl="0" marL="0" rtl="0" algn="just">
              <a:lnSpc>
                <a:spcPct val="115000"/>
              </a:lnSpc>
              <a:spcBef>
                <a:spcPts val="0"/>
              </a:spcBef>
              <a:spcAft>
                <a:spcPts val="0"/>
              </a:spcAft>
              <a:buSzPts val="1800"/>
              <a:buNone/>
            </a:pPr>
            <a:r>
              <a:t/>
            </a:r>
            <a:endParaRPr sz="2500">
              <a:solidFill>
                <a:srgbClr val="000000"/>
              </a:solidFill>
            </a:endParaRPr>
          </a:p>
          <a:p>
            <a:pPr indent="0" lvl="0" marL="0" rtl="0" algn="just">
              <a:lnSpc>
                <a:spcPct val="115000"/>
              </a:lnSpc>
              <a:spcBef>
                <a:spcPts val="0"/>
              </a:spcBef>
              <a:spcAft>
                <a:spcPts val="0"/>
              </a:spcAft>
              <a:buClr>
                <a:schemeClr val="dk1"/>
              </a:buClr>
              <a:buSzPts val="1100"/>
              <a:buFont typeface="Arial"/>
              <a:buNone/>
            </a:pPr>
            <a:r>
              <a:rPr lang="en" sz="2500">
                <a:solidFill>
                  <a:srgbClr val="000000"/>
                </a:solidFill>
              </a:rPr>
              <a:t>Every C++ program has at least one function called main ( ) through which other functions interact with each other directly or indirectly. This</a:t>
            </a:r>
            <a:endParaRPr sz="2500">
              <a:solidFill>
                <a:srgbClr val="000000"/>
              </a:solidFill>
            </a:endParaRPr>
          </a:p>
          <a:p>
            <a:pPr indent="0" lvl="0" marL="0" rtl="0" algn="just">
              <a:lnSpc>
                <a:spcPct val="115000"/>
              </a:lnSpc>
              <a:spcBef>
                <a:spcPts val="0"/>
              </a:spcBef>
              <a:spcAft>
                <a:spcPts val="0"/>
              </a:spcAft>
              <a:buClr>
                <a:schemeClr val="dk1"/>
              </a:buClr>
              <a:buSzPts val="1100"/>
              <a:buFont typeface="Arial"/>
              <a:buNone/>
            </a:pPr>
            <a:r>
              <a:rPr lang="en" sz="2500">
                <a:solidFill>
                  <a:srgbClr val="000000"/>
                </a:solidFill>
              </a:rPr>
              <a:t>interaction is made possible through function calls and parameter passing discussed  later in this unit.</a:t>
            </a:r>
            <a:endParaRPr sz="2500">
              <a:solidFill>
                <a:srgbClr val="000000"/>
              </a:solidFill>
            </a:endParaRPr>
          </a:p>
          <a:p>
            <a:pPr indent="0" lvl="0" marL="0" rtl="0" algn="just">
              <a:lnSpc>
                <a:spcPct val="115000"/>
              </a:lnSpc>
              <a:spcBef>
                <a:spcPts val="0"/>
              </a:spcBef>
              <a:spcAft>
                <a:spcPts val="1600"/>
              </a:spcAft>
              <a:buSzPts val="1800"/>
              <a:buNone/>
            </a:pPr>
            <a:r>
              <a:t/>
            </a:r>
            <a:endParaRPr sz="2300">
              <a:solidFill>
                <a:srgbClr val="000000"/>
              </a:solidFill>
            </a:endParaRPr>
          </a:p>
        </p:txBody>
      </p:sp>
      <p:sp>
        <p:nvSpPr>
          <p:cNvPr id="373" name="Google Shape;373;g7e44bd323b_3_1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7e44bd323b_3_15"/>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1.1 Features of C++ Functions</a:t>
            </a:r>
            <a:endParaRPr/>
          </a:p>
        </p:txBody>
      </p:sp>
      <p:sp>
        <p:nvSpPr>
          <p:cNvPr id="379" name="Google Shape;379;g7e44bd323b_3_15"/>
          <p:cNvSpPr txBox="1"/>
          <p:nvPr>
            <p:ph idx="1" type="body"/>
          </p:nvPr>
        </p:nvSpPr>
        <p:spPr>
          <a:xfrm>
            <a:off x="0" y="619075"/>
            <a:ext cx="9001200" cy="452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700">
                <a:solidFill>
                  <a:srgbClr val="000000"/>
                </a:solidFill>
              </a:rPr>
              <a:t>Like in other structured programming languages, the following are characteristics</a:t>
            </a:r>
            <a:endParaRPr sz="1700">
              <a:solidFill>
                <a:srgbClr val="000000"/>
              </a:solidFill>
            </a:endParaRPr>
          </a:p>
          <a:p>
            <a:pPr indent="0" lvl="0" marL="0" rtl="0" algn="l">
              <a:lnSpc>
                <a:spcPct val="115000"/>
              </a:lnSpc>
              <a:spcBef>
                <a:spcPts val="0"/>
              </a:spcBef>
              <a:spcAft>
                <a:spcPts val="0"/>
              </a:spcAft>
              <a:buClr>
                <a:schemeClr val="dk1"/>
              </a:buClr>
              <a:buSzPts val="1100"/>
              <a:buFont typeface="Arial"/>
              <a:buNone/>
            </a:pPr>
            <a:r>
              <a:rPr lang="en" sz="1700">
                <a:solidFill>
                  <a:srgbClr val="000000"/>
                </a:solidFill>
              </a:rPr>
              <a:t>of C++ functions:</a:t>
            </a:r>
            <a:endParaRPr sz="1700">
              <a:solidFill>
                <a:srgbClr val="000000"/>
              </a:solidFill>
            </a:endParaRPr>
          </a:p>
          <a:p>
            <a:pPr indent="-336550" lvl="0" marL="457200" rtl="0" algn="l">
              <a:lnSpc>
                <a:spcPct val="115000"/>
              </a:lnSpc>
              <a:spcBef>
                <a:spcPts val="0"/>
              </a:spcBef>
              <a:spcAft>
                <a:spcPts val="0"/>
              </a:spcAft>
              <a:buClr>
                <a:srgbClr val="000000"/>
              </a:buClr>
              <a:buSzPts val="1700"/>
              <a:buChar char="●"/>
            </a:pPr>
            <a:r>
              <a:rPr lang="en" sz="1700">
                <a:solidFill>
                  <a:srgbClr val="000000"/>
                </a:solidFill>
              </a:rPr>
              <a:t>A function is a complete sub-program in itself that may contain input, processing and output logic.</a:t>
            </a:r>
            <a:endParaRPr sz="1700">
              <a:solidFill>
                <a:srgbClr val="000000"/>
              </a:solidFill>
            </a:endParaRPr>
          </a:p>
          <a:p>
            <a:pPr indent="-336550" lvl="0" marL="457200" rtl="0" algn="l">
              <a:lnSpc>
                <a:spcPct val="115000"/>
              </a:lnSpc>
              <a:spcBef>
                <a:spcPts val="0"/>
              </a:spcBef>
              <a:spcAft>
                <a:spcPts val="0"/>
              </a:spcAft>
              <a:buClr>
                <a:srgbClr val="000000"/>
              </a:buClr>
              <a:buSzPts val="1700"/>
              <a:buChar char="●"/>
            </a:pPr>
            <a:r>
              <a:rPr lang="en" sz="1700">
                <a:solidFill>
                  <a:srgbClr val="000000"/>
                </a:solidFill>
              </a:rPr>
              <a:t>A function is designed to perform a well defined task.</a:t>
            </a:r>
            <a:endParaRPr sz="1700">
              <a:solidFill>
                <a:srgbClr val="000000"/>
              </a:solidFill>
            </a:endParaRPr>
          </a:p>
          <a:p>
            <a:pPr indent="-336550" lvl="0" marL="457200" rtl="0" algn="l">
              <a:lnSpc>
                <a:spcPct val="115000"/>
              </a:lnSpc>
              <a:spcBef>
                <a:spcPts val="0"/>
              </a:spcBef>
              <a:spcAft>
                <a:spcPts val="0"/>
              </a:spcAft>
              <a:buClr>
                <a:srgbClr val="000000"/>
              </a:buClr>
              <a:buSzPts val="1700"/>
              <a:buChar char="●"/>
            </a:pPr>
            <a:r>
              <a:rPr lang="en" sz="1700">
                <a:solidFill>
                  <a:srgbClr val="000000"/>
                </a:solidFill>
              </a:rPr>
              <a:t>A function can be compiled, tested and debugged separately without the intervention of other functions.</a:t>
            </a:r>
            <a:endParaRPr sz="1700">
              <a:solidFill>
                <a:srgbClr val="000000"/>
              </a:solidFill>
            </a:endParaRPr>
          </a:p>
          <a:p>
            <a:pPr indent="-336550" lvl="0" marL="457200" rtl="0" algn="l">
              <a:lnSpc>
                <a:spcPct val="115000"/>
              </a:lnSpc>
              <a:spcBef>
                <a:spcPts val="0"/>
              </a:spcBef>
              <a:spcAft>
                <a:spcPts val="0"/>
              </a:spcAft>
              <a:buClr>
                <a:srgbClr val="000000"/>
              </a:buClr>
              <a:buSzPts val="1700"/>
              <a:buChar char="●"/>
            </a:pPr>
            <a:r>
              <a:rPr lang="en" sz="1700">
                <a:solidFill>
                  <a:srgbClr val="000000"/>
                </a:solidFill>
              </a:rPr>
              <a:t>A function has only one entry and one exit point.</a:t>
            </a:r>
            <a:endParaRPr sz="1700">
              <a:solidFill>
                <a:srgbClr val="000000"/>
              </a:solidFill>
            </a:endParaRPr>
          </a:p>
          <a:p>
            <a:pPr indent="-336550" lvl="0" marL="457200" rtl="0" algn="l">
              <a:lnSpc>
                <a:spcPct val="115000"/>
              </a:lnSpc>
              <a:spcBef>
                <a:spcPts val="0"/>
              </a:spcBef>
              <a:spcAft>
                <a:spcPts val="0"/>
              </a:spcAft>
              <a:buClr>
                <a:srgbClr val="000000"/>
              </a:buClr>
              <a:buSzPts val="1700"/>
              <a:buChar char="●"/>
            </a:pPr>
            <a:r>
              <a:rPr lang="en" sz="1700">
                <a:solidFill>
                  <a:srgbClr val="000000"/>
                </a:solidFill>
              </a:rPr>
              <a:t>A function can interact with other functions using a mechanism known as function call and parameter passing.</a:t>
            </a:r>
            <a:endParaRPr sz="1700">
              <a:solidFill>
                <a:srgbClr val="000000"/>
              </a:solidFill>
            </a:endParaRPr>
          </a:p>
          <a:p>
            <a:pPr indent="-336550" lvl="0" marL="457200" rtl="0" algn="l">
              <a:lnSpc>
                <a:spcPct val="115000"/>
              </a:lnSpc>
              <a:spcBef>
                <a:spcPts val="0"/>
              </a:spcBef>
              <a:spcAft>
                <a:spcPts val="0"/>
              </a:spcAft>
              <a:buClr>
                <a:srgbClr val="000000"/>
              </a:buClr>
              <a:buSzPts val="1700"/>
              <a:buChar char="●"/>
            </a:pPr>
            <a:r>
              <a:rPr lang="en" sz="1700">
                <a:solidFill>
                  <a:srgbClr val="000000"/>
                </a:solidFill>
              </a:rPr>
              <a:t>A function is designed in such a manner that it can be used with different programs or software system.</a:t>
            </a:r>
            <a:endParaRPr sz="1700">
              <a:solidFill>
                <a:srgbClr val="000000"/>
              </a:solidFill>
            </a:endParaRPr>
          </a:p>
          <a:p>
            <a:pPr indent="-336550" lvl="0" marL="457200" rtl="0" algn="l">
              <a:lnSpc>
                <a:spcPct val="115000"/>
              </a:lnSpc>
              <a:spcBef>
                <a:spcPts val="0"/>
              </a:spcBef>
              <a:spcAft>
                <a:spcPts val="0"/>
              </a:spcAft>
              <a:buClr>
                <a:srgbClr val="000000"/>
              </a:buClr>
              <a:buSzPts val="1700"/>
              <a:buChar char="●"/>
            </a:pPr>
            <a:r>
              <a:rPr lang="en" sz="1700">
                <a:solidFill>
                  <a:srgbClr val="000000"/>
                </a:solidFill>
              </a:rPr>
              <a:t>The calling function is suspended during the execution of the called function.This implies that there is only one function in execution at any given time.</a:t>
            </a:r>
            <a:endParaRPr sz="1700">
              <a:solidFill>
                <a:srgbClr val="000000"/>
              </a:solidFill>
            </a:endParaRPr>
          </a:p>
          <a:p>
            <a:pPr indent="-336550" lvl="0" marL="457200" rtl="0" algn="l">
              <a:lnSpc>
                <a:spcPct val="115000"/>
              </a:lnSpc>
              <a:spcBef>
                <a:spcPts val="0"/>
              </a:spcBef>
              <a:spcAft>
                <a:spcPts val="0"/>
              </a:spcAft>
              <a:buClr>
                <a:srgbClr val="000000"/>
              </a:buClr>
              <a:buSzPts val="1700"/>
              <a:buChar char="●"/>
            </a:pPr>
            <a:r>
              <a:rPr lang="en" sz="1700">
                <a:solidFill>
                  <a:srgbClr val="000000"/>
                </a:solidFill>
              </a:rPr>
              <a:t>Control is always returned to the caller when the function execution terminates.</a:t>
            </a:r>
            <a:endParaRPr sz="1700">
              <a:solidFill>
                <a:srgbClr val="000000"/>
              </a:solidFill>
            </a:endParaRPr>
          </a:p>
          <a:p>
            <a:pPr indent="0" lvl="0" marL="0" rtl="0" algn="l">
              <a:lnSpc>
                <a:spcPct val="115000"/>
              </a:lnSpc>
              <a:spcBef>
                <a:spcPts val="0"/>
              </a:spcBef>
              <a:spcAft>
                <a:spcPts val="0"/>
              </a:spcAft>
              <a:buSzPts val="1800"/>
              <a:buNone/>
            </a:pPr>
            <a:r>
              <a:t/>
            </a:r>
            <a:endParaRPr sz="1700">
              <a:solidFill>
                <a:srgbClr val="000000"/>
              </a:solidFill>
            </a:endParaRPr>
          </a:p>
        </p:txBody>
      </p:sp>
      <p:sp>
        <p:nvSpPr>
          <p:cNvPr id="380" name="Google Shape;380;g7e44bd323b_3_1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g7e44bd323b_3_30"/>
          <p:cNvSpPr txBox="1"/>
          <p:nvPr>
            <p:ph type="title"/>
          </p:nvPr>
        </p:nvSpPr>
        <p:spPr>
          <a:xfrm>
            <a:off x="102050" y="9560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rPr b="1" lang="en" sz="1800">
                <a:solidFill>
                  <a:schemeClr val="dk2"/>
                </a:solidFill>
              </a:rPr>
              <a:t>2 Types of Functions</a:t>
            </a:r>
            <a:endParaRPr b="1"/>
          </a:p>
        </p:txBody>
      </p:sp>
      <p:sp>
        <p:nvSpPr>
          <p:cNvPr id="386" name="Google Shape;386;g7e44bd323b_3_30"/>
          <p:cNvSpPr txBox="1"/>
          <p:nvPr>
            <p:ph idx="1" type="body"/>
          </p:nvPr>
        </p:nvSpPr>
        <p:spPr>
          <a:xfrm>
            <a:off x="199900" y="515900"/>
            <a:ext cx="8787300" cy="4516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400">
                <a:solidFill>
                  <a:srgbClr val="000000"/>
                </a:solidFill>
              </a:rPr>
              <a:t>Functions may be classified into two categories namely: Library or (built-in)functions and user-defined functions. Library functions are compiled and put in C++ library to simplify programming task while user-defined function are the functions that we write to create a modular program.</a:t>
            </a:r>
            <a:endParaRPr sz="1400">
              <a:solidFill>
                <a:srgbClr val="000000"/>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rgbClr val="000000"/>
              </a:solidFill>
            </a:endParaRPr>
          </a:p>
          <a:p>
            <a:pPr indent="0" lvl="0" marL="0" rtl="0" algn="l">
              <a:lnSpc>
                <a:spcPct val="115000"/>
              </a:lnSpc>
              <a:spcBef>
                <a:spcPts val="0"/>
              </a:spcBef>
              <a:spcAft>
                <a:spcPts val="0"/>
              </a:spcAft>
              <a:buClr>
                <a:schemeClr val="dk1"/>
              </a:buClr>
              <a:buSzPts val="1100"/>
              <a:buFont typeface="Arial"/>
              <a:buNone/>
            </a:pPr>
            <a:r>
              <a:rPr b="1" lang="en" sz="1400">
                <a:solidFill>
                  <a:srgbClr val="000000"/>
                </a:solidFill>
              </a:rPr>
              <a:t>2.1 Library functions</a:t>
            </a:r>
            <a:endParaRPr b="1" sz="1400">
              <a:solidFill>
                <a:srgbClr val="000000"/>
              </a:solidFill>
            </a:endParaRPr>
          </a:p>
          <a:p>
            <a:pPr indent="0" lvl="0" marL="0" rtl="0" algn="just">
              <a:lnSpc>
                <a:spcPct val="115000"/>
              </a:lnSpc>
              <a:spcBef>
                <a:spcPts val="1600"/>
              </a:spcBef>
              <a:spcAft>
                <a:spcPts val="0"/>
              </a:spcAft>
              <a:buSzPts val="1800"/>
              <a:buNone/>
            </a:pPr>
            <a:r>
              <a:rPr lang="en" sz="1400">
                <a:solidFill>
                  <a:srgbClr val="000000"/>
                </a:solidFill>
              </a:rPr>
              <a:t>So far, we have been writing programs by first including (importing) functions from C++ Standard Library. C++ Standard Library provides a collection of predefined functions for common input and output manipulation, calculations, error checking and many other useful operations. </a:t>
            </a:r>
            <a:endParaRPr sz="1400">
              <a:solidFill>
                <a:srgbClr val="000000"/>
              </a:solidFill>
            </a:endParaRPr>
          </a:p>
          <a:p>
            <a:pPr indent="0" lvl="0" marL="0" rtl="0" algn="just">
              <a:lnSpc>
                <a:spcPct val="115000"/>
              </a:lnSpc>
              <a:spcBef>
                <a:spcPts val="0"/>
              </a:spcBef>
              <a:spcAft>
                <a:spcPts val="0"/>
              </a:spcAft>
              <a:buSzPts val="1800"/>
              <a:buNone/>
            </a:pPr>
            <a:r>
              <a:t/>
            </a:r>
            <a:endParaRPr sz="1400">
              <a:solidFill>
                <a:srgbClr val="000000"/>
              </a:solidFill>
            </a:endParaRPr>
          </a:p>
          <a:p>
            <a:pPr indent="0" lvl="0" marL="0" rtl="0" algn="just">
              <a:lnSpc>
                <a:spcPct val="115000"/>
              </a:lnSpc>
              <a:spcBef>
                <a:spcPts val="0"/>
              </a:spcBef>
              <a:spcAft>
                <a:spcPts val="0"/>
              </a:spcAft>
              <a:buSzPts val="1800"/>
              <a:buNone/>
            </a:pPr>
            <a:r>
              <a:rPr lang="en" sz="1400">
                <a:solidFill>
                  <a:srgbClr val="000000"/>
                </a:solidFill>
              </a:rPr>
              <a:t>To use a library function, we first include its header file, then use a function that passes list of arguments from the calling portion of the program.</a:t>
            </a:r>
            <a:endParaRPr sz="1400">
              <a:solidFill>
                <a:srgbClr val="000000"/>
              </a:solidFill>
            </a:endParaRPr>
          </a:p>
          <a:p>
            <a:pPr indent="0" lvl="0" marL="0" rtl="0" algn="just">
              <a:lnSpc>
                <a:spcPct val="115000"/>
              </a:lnSpc>
              <a:spcBef>
                <a:spcPts val="0"/>
              </a:spcBef>
              <a:spcAft>
                <a:spcPts val="0"/>
              </a:spcAft>
              <a:buSzPts val="1800"/>
              <a:buNone/>
            </a:pPr>
            <a:r>
              <a:rPr lang="en" sz="1400">
                <a:solidFill>
                  <a:srgbClr val="000000"/>
                </a:solidFill>
              </a:rPr>
              <a:t> </a:t>
            </a:r>
            <a:endParaRPr sz="1400">
              <a:solidFill>
                <a:srgbClr val="000000"/>
              </a:solidFill>
            </a:endParaRPr>
          </a:p>
          <a:p>
            <a:pPr indent="0" lvl="0" marL="0" rtl="0" algn="just">
              <a:lnSpc>
                <a:spcPct val="115000"/>
              </a:lnSpc>
              <a:spcBef>
                <a:spcPts val="0"/>
              </a:spcBef>
              <a:spcAft>
                <a:spcPts val="0"/>
              </a:spcAft>
              <a:buSzPts val="1800"/>
              <a:buNone/>
            </a:pPr>
            <a:r>
              <a:rPr b="1" i="1" lang="en" sz="1400">
                <a:solidFill>
                  <a:srgbClr val="000000"/>
                </a:solidFill>
              </a:rPr>
              <a:t>For example, to find the square root of a number, we use square root function sqrt() as follows:</a:t>
            </a:r>
            <a:endParaRPr b="1" i="1" sz="1400">
              <a:solidFill>
                <a:srgbClr val="000000"/>
              </a:solidFill>
            </a:endParaRPr>
          </a:p>
          <a:p>
            <a:pPr indent="0" lvl="0" marL="0" rtl="0" algn="just">
              <a:lnSpc>
                <a:spcPct val="115000"/>
              </a:lnSpc>
              <a:spcBef>
                <a:spcPts val="0"/>
              </a:spcBef>
              <a:spcAft>
                <a:spcPts val="0"/>
              </a:spcAft>
              <a:buSzPts val="1800"/>
              <a:buNone/>
            </a:pPr>
            <a:r>
              <a:rPr b="1" lang="en" sz="1400">
                <a:solidFill>
                  <a:srgbClr val="000000"/>
                </a:solidFill>
              </a:rPr>
              <a:t>root = sqrt(16);</a:t>
            </a:r>
            <a:endParaRPr b="1" sz="1400">
              <a:solidFill>
                <a:srgbClr val="000000"/>
              </a:solidFill>
            </a:endParaRPr>
          </a:p>
          <a:p>
            <a:pPr indent="0" lvl="0" marL="0" rtl="0" algn="just">
              <a:lnSpc>
                <a:spcPct val="115000"/>
              </a:lnSpc>
              <a:spcBef>
                <a:spcPts val="0"/>
              </a:spcBef>
              <a:spcAft>
                <a:spcPts val="0"/>
              </a:spcAft>
              <a:buSzPts val="1800"/>
              <a:buNone/>
            </a:pPr>
            <a:r>
              <a:t/>
            </a:r>
            <a:endParaRPr b="1" sz="1400">
              <a:solidFill>
                <a:srgbClr val="000000"/>
              </a:solidFill>
            </a:endParaRPr>
          </a:p>
          <a:p>
            <a:pPr indent="0" lvl="0" marL="0" rtl="0" algn="just">
              <a:lnSpc>
                <a:spcPct val="115000"/>
              </a:lnSpc>
              <a:spcBef>
                <a:spcPts val="0"/>
              </a:spcBef>
              <a:spcAft>
                <a:spcPts val="0"/>
              </a:spcAft>
              <a:buSzPts val="1800"/>
              <a:buNone/>
            </a:pPr>
            <a:r>
              <a:rPr lang="en" sz="1400">
                <a:solidFill>
                  <a:srgbClr val="000000"/>
                </a:solidFill>
              </a:rPr>
              <a:t>The function sqrt() evaluates the square root of 16 and returns 4 which is then assigned to the root. In this section, we demonstrate how to use mathematical, string and character manipulation functions.</a:t>
            </a:r>
            <a:endParaRPr sz="1400">
              <a:solidFill>
                <a:srgbClr val="000000"/>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rgbClr val="000000"/>
              </a:solidFill>
            </a:endParaRPr>
          </a:p>
          <a:p>
            <a:pPr indent="0" lvl="0" marL="0" rtl="0" algn="l">
              <a:lnSpc>
                <a:spcPct val="115000"/>
              </a:lnSpc>
              <a:spcBef>
                <a:spcPts val="1600"/>
              </a:spcBef>
              <a:spcAft>
                <a:spcPts val="1600"/>
              </a:spcAft>
              <a:buSzPts val="1800"/>
              <a:buNone/>
            </a:pPr>
            <a:r>
              <a:t/>
            </a:r>
            <a:endParaRPr sz="1400">
              <a:solidFill>
                <a:srgbClr val="000000"/>
              </a:solidFill>
            </a:endParaRPr>
          </a:p>
        </p:txBody>
      </p:sp>
      <p:sp>
        <p:nvSpPr>
          <p:cNvPr id="387" name="Google Shape;387;g7e44bd323b_3_3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g7e44bd323b_3_35"/>
          <p:cNvSpPr txBox="1"/>
          <p:nvPr>
            <p:ph type="title"/>
          </p:nvPr>
        </p:nvSpPr>
        <p:spPr>
          <a:xfrm>
            <a:off x="311700" y="1515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rPr b="1" lang="en" sz="2400">
                <a:solidFill>
                  <a:schemeClr val="dk2"/>
                </a:solidFill>
              </a:rPr>
              <a:t>2.1.1 Math Functions</a:t>
            </a:r>
            <a:endParaRPr b="1" sz="2400"/>
          </a:p>
        </p:txBody>
      </p:sp>
      <p:sp>
        <p:nvSpPr>
          <p:cNvPr id="393" name="Google Shape;393;g7e44bd323b_3_35"/>
          <p:cNvSpPr txBox="1"/>
          <p:nvPr>
            <p:ph idx="1" type="body"/>
          </p:nvPr>
        </p:nvSpPr>
        <p:spPr>
          <a:xfrm>
            <a:off x="311700" y="695275"/>
            <a:ext cx="8520600" cy="413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2400"/>
              <a:t>The C++ Library provides a collection of Math functions used to perform mathematical and trigonometric computations.</a:t>
            </a:r>
            <a:endParaRPr sz="2400"/>
          </a:p>
          <a:p>
            <a:pPr indent="0" lvl="0" marL="0" rtl="0" algn="l">
              <a:lnSpc>
                <a:spcPct val="115000"/>
              </a:lnSpc>
              <a:spcBef>
                <a:spcPts val="1600"/>
              </a:spcBef>
              <a:spcAft>
                <a:spcPts val="0"/>
              </a:spcAft>
              <a:buClr>
                <a:schemeClr val="dk1"/>
              </a:buClr>
              <a:buSzPts val="1100"/>
              <a:buFont typeface="Arial"/>
              <a:buNone/>
            </a:pPr>
            <a:r>
              <a:rPr lang="en" sz="2400"/>
              <a:t> For example, to raise 5 to power 3, we use the pow() function as follows:</a:t>
            </a:r>
            <a:endParaRPr sz="2400"/>
          </a:p>
          <a:p>
            <a:pPr indent="0" lvl="0" marL="0" rtl="0" algn="l">
              <a:lnSpc>
                <a:spcPct val="115000"/>
              </a:lnSpc>
              <a:spcBef>
                <a:spcPts val="1600"/>
              </a:spcBef>
              <a:spcAft>
                <a:spcPts val="0"/>
              </a:spcAft>
              <a:buClr>
                <a:schemeClr val="dk1"/>
              </a:buClr>
              <a:buSzPts val="1100"/>
              <a:buFont typeface="Arial"/>
              <a:buNone/>
            </a:pPr>
            <a:r>
              <a:rPr b="1" lang="en" sz="2400"/>
              <a:t>power = pow(5,3);//returns 125</a:t>
            </a:r>
            <a:endParaRPr b="1" sz="2400"/>
          </a:p>
          <a:p>
            <a:pPr indent="0" lvl="0" marL="0" rtl="0" algn="l">
              <a:lnSpc>
                <a:spcPct val="115000"/>
              </a:lnSpc>
              <a:spcBef>
                <a:spcPts val="1600"/>
              </a:spcBef>
              <a:spcAft>
                <a:spcPts val="0"/>
              </a:spcAft>
              <a:buClr>
                <a:schemeClr val="dk1"/>
              </a:buClr>
              <a:buSzPts val="1100"/>
              <a:buFont typeface="Arial"/>
              <a:buNone/>
            </a:pPr>
            <a:r>
              <a:rPr lang="en" sz="2400"/>
              <a:t>Next slide enumerates frequently used functions that require inclusion or importing of &lt;cmath&gt; or &lt;math.h&gt; header file using #include directive.</a:t>
            </a:r>
            <a:endParaRPr sz="2400"/>
          </a:p>
          <a:p>
            <a:pPr indent="0" lvl="0" marL="0" rtl="0" algn="l">
              <a:lnSpc>
                <a:spcPct val="115000"/>
              </a:lnSpc>
              <a:spcBef>
                <a:spcPts val="1600"/>
              </a:spcBef>
              <a:spcAft>
                <a:spcPts val="1600"/>
              </a:spcAft>
              <a:buSzPts val="1800"/>
              <a:buNone/>
            </a:pPr>
            <a:r>
              <a:t/>
            </a:r>
            <a:endParaRPr sz="2400"/>
          </a:p>
        </p:txBody>
      </p:sp>
      <p:sp>
        <p:nvSpPr>
          <p:cNvPr id="394" name="Google Shape;394;g7e44bd323b_3_3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graphicFrame>
        <p:nvGraphicFramePr>
          <p:cNvPr id="399" name="Google Shape;399;g7e44bd323b_3_40"/>
          <p:cNvGraphicFramePr/>
          <p:nvPr/>
        </p:nvGraphicFramePr>
        <p:xfrm>
          <a:off x="126975" y="152400"/>
          <a:ext cx="3000000" cy="3000000"/>
        </p:xfrm>
        <a:graphic>
          <a:graphicData uri="http://schemas.openxmlformats.org/drawingml/2006/table">
            <a:tbl>
              <a:tblPr>
                <a:noFill/>
                <a:tableStyleId>{8833F13D-1055-41CB-94B1-DEB62D9CAE1A}</a:tableStyleId>
              </a:tblPr>
              <a:tblGrid>
                <a:gridCol w="1071800"/>
                <a:gridCol w="4315900"/>
                <a:gridCol w="3629325"/>
              </a:tblGrid>
              <a:tr h="317075">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t>Function</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t>Description</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t>Example</a:t>
                      </a:r>
                      <a:endParaRPr b="1" sz="1100" u="none" cap="none" strike="noStrike"/>
                    </a:p>
                  </a:txBody>
                  <a:tcPr marT="91425" marB="91425" marR="91425" marL="91425"/>
                </a:tc>
              </a:tr>
              <a:tr h="470525">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t>ceil(x)</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rounds x to the  smallest integer </a:t>
                      </a:r>
                      <a:r>
                        <a:rPr lang="en" sz="1100" u="none" cap="none" strike="noStrike">
                          <a:solidFill>
                            <a:schemeClr val="dk1"/>
                          </a:solidFill>
                          <a:highlight>
                            <a:srgbClr val="FFFFFF"/>
                          </a:highlight>
                          <a:latin typeface="Roboto"/>
                          <a:ea typeface="Roboto"/>
                          <a:cs typeface="Roboto"/>
                          <a:sym typeface="Roboto"/>
                        </a:rPr>
                        <a:t>that is greater than or equal to x (rounds up the nearest integer).</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ceil(9.2) is 10. ceil (-9.8) is -9.</a:t>
                      </a:r>
                      <a:endParaRPr sz="1100" u="none" cap="none" strike="noStrike"/>
                    </a:p>
                    <a:p>
                      <a:pPr indent="0" lvl="0" marL="0" marR="0" rtl="0" algn="l">
                        <a:lnSpc>
                          <a:spcPct val="100000"/>
                        </a:lnSpc>
                        <a:spcBef>
                          <a:spcPts val="0"/>
                        </a:spcBef>
                        <a:spcAft>
                          <a:spcPts val="0"/>
                        </a:spcAft>
                        <a:buClr>
                          <a:srgbClr val="000000"/>
                        </a:buClr>
                        <a:buSzPts val="1100"/>
                        <a:buFont typeface="Arial"/>
                        <a:buNone/>
                      </a:pPr>
                      <a:r>
                        <a:rPr lang="en" sz="1100" u="none" cap="none" strike="noStrike"/>
                        <a:t>X is a floating value</a:t>
                      </a:r>
                      <a:endParaRPr sz="1100" u="none" cap="none" strike="noStrike"/>
                    </a:p>
                  </a:txBody>
                  <a:tcPr marT="91425" marB="91425" marR="91425" marL="91425"/>
                </a:tc>
              </a:tr>
              <a:tr h="317075">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t>cos(x)</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cosine of x (x in radians)</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cos(0.0) is 1</a:t>
                      </a:r>
                      <a:endParaRPr sz="1100" u="none" cap="none" strike="noStrike"/>
                    </a:p>
                  </a:txBody>
                  <a:tcPr marT="91425" marB="91425" marR="91425" marL="91425"/>
                </a:tc>
              </a:tr>
              <a:tr h="317075">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t>exp(x)</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exponential function</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exp(1.0) is 2.718282</a:t>
                      </a:r>
                      <a:endParaRPr sz="1100" u="none" cap="none" strike="noStrike"/>
                    </a:p>
                  </a:txBody>
                  <a:tcPr marT="91425" marB="91425" marR="91425" marL="91425"/>
                </a:tc>
              </a:tr>
              <a:tr h="317075">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t>fabs(x)</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absolute value of x</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fabs(5.0) is 5.0. fabs(-8.76) is 8.76</a:t>
                      </a:r>
                      <a:endParaRPr sz="1100" u="none" cap="none" strike="noStrike"/>
                    </a:p>
                  </a:txBody>
                  <a:tcPr marT="91425" marB="91425" marR="91425" marL="91425"/>
                </a:tc>
              </a:tr>
              <a:tr h="470525">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t>floor(x)</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rounds x to the largest integer </a:t>
                      </a:r>
                      <a:r>
                        <a:rPr lang="en" sz="1100" u="none" cap="none" strike="noStrike">
                          <a:solidFill>
                            <a:schemeClr val="dk1"/>
                          </a:solidFill>
                          <a:highlight>
                            <a:srgbClr val="FFFFFF"/>
                          </a:highlight>
                          <a:latin typeface="Roboto"/>
                          <a:ea typeface="Roboto"/>
                          <a:cs typeface="Roboto"/>
                          <a:sym typeface="Roboto"/>
                        </a:rPr>
                        <a:t>that is smaller than or equal to x (rounds downs the nearest integer).</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floor (9.2) is 9. floor(-9.8) is -10</a:t>
                      </a:r>
                      <a:endParaRPr sz="1100" u="none" cap="none" strike="noStrike"/>
                    </a:p>
                    <a:p>
                      <a:pPr indent="0" lvl="0" marL="0" marR="0" rtl="0" algn="l">
                        <a:lnSpc>
                          <a:spcPct val="100000"/>
                        </a:lnSpc>
                        <a:spcBef>
                          <a:spcPts val="0"/>
                        </a:spcBef>
                        <a:spcAft>
                          <a:spcPts val="0"/>
                        </a:spcAft>
                        <a:buClr>
                          <a:srgbClr val="000000"/>
                        </a:buClr>
                        <a:buSzPts val="1100"/>
                        <a:buFont typeface="Arial"/>
                        <a:buNone/>
                      </a:pPr>
                      <a:r>
                        <a:rPr lang="en" sz="1100" u="none" cap="none" strike="noStrike"/>
                        <a:t>X is a floating value</a:t>
                      </a:r>
                      <a:endParaRPr sz="1100" u="none" cap="none" strike="noStrike"/>
                    </a:p>
                  </a:txBody>
                  <a:tcPr marT="91425" marB="91425" marR="91425" marL="91425"/>
                </a:tc>
              </a:tr>
              <a:tr h="317075">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t>fmod(x,y)</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remainder of x/y as a floating point</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fmod(2.6, 1.2) is 0.2</a:t>
                      </a:r>
                      <a:endParaRPr sz="1100" u="none" cap="none" strike="noStrike"/>
                    </a:p>
                  </a:txBody>
                  <a:tcPr marT="91425" marB="91425" marR="91425" marL="91425"/>
                </a:tc>
              </a:tr>
              <a:tr h="317075">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t>log(x)</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natural logarithm of x (base e)</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log(2.718282) is 1.0</a:t>
                      </a:r>
                      <a:endParaRPr sz="1100" u="none" cap="none" strike="noStrike"/>
                    </a:p>
                  </a:txBody>
                  <a:tcPr marT="91425" marB="91425" marR="91425" marL="91425"/>
                </a:tc>
              </a:tr>
              <a:tr h="317075">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t>log10(x)</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logarithm of x (base 10)</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log10(100.0) is 2.0</a:t>
                      </a:r>
                      <a:endParaRPr sz="1100" u="none" cap="none" strike="noStrike"/>
                    </a:p>
                  </a:txBody>
                  <a:tcPr marT="91425" marB="91425" marR="91425" marL="91425"/>
                </a:tc>
              </a:tr>
              <a:tr h="317075">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t>pow(x,y)</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x raised to power y (x,y)</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pow(2.7) is 128</a:t>
                      </a:r>
                      <a:endParaRPr sz="1100" u="none" cap="none" strike="noStrike"/>
                    </a:p>
                  </a:txBody>
                  <a:tcPr marT="91425" marB="91425" marR="91425" marL="91425"/>
                </a:tc>
              </a:tr>
              <a:tr h="317075">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t>sin(x)</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trigonometric sine of x (x in radians)</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sin(0.0) is 0</a:t>
                      </a:r>
                      <a:endParaRPr sz="1100" u="none" cap="none" strike="noStrike"/>
                    </a:p>
                  </a:txBody>
                  <a:tcPr marT="91425" marB="91425" marR="91425" marL="91425"/>
                </a:tc>
              </a:tr>
              <a:tr h="317075">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t>sqrt(x)</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square root of x (where x is a non negative value)</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sqrt(9.0) is 3.0</a:t>
                      </a:r>
                      <a:endParaRPr sz="1100" u="none" cap="none" strike="noStrike"/>
                    </a:p>
                  </a:txBody>
                  <a:tcPr marT="91425" marB="91425" marR="91425" marL="91425"/>
                </a:tc>
              </a:tr>
              <a:tr h="317075">
                <a:tc>
                  <a:txBody>
                    <a:bodyPr/>
                    <a:lstStyle/>
                    <a:p>
                      <a:pPr indent="0" lvl="0" marL="0" marR="0" rtl="0" algn="l">
                        <a:lnSpc>
                          <a:spcPct val="100000"/>
                        </a:lnSpc>
                        <a:spcBef>
                          <a:spcPts val="0"/>
                        </a:spcBef>
                        <a:spcAft>
                          <a:spcPts val="0"/>
                        </a:spcAft>
                        <a:buClr>
                          <a:srgbClr val="000000"/>
                        </a:buClr>
                        <a:buSzPts val="1100"/>
                        <a:buFont typeface="Arial"/>
                        <a:buNone/>
                      </a:pPr>
                      <a:r>
                        <a:rPr b="1" lang="en" sz="1100" u="none" cap="none" strike="noStrike"/>
                        <a:t>tan(x)</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tangent of x (x in radians)</a:t>
                      </a:r>
                      <a:endParaRPr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tan(0.0) is 0</a:t>
                      </a:r>
                      <a:endParaRPr sz="1100" u="none" cap="none" strike="noStrike"/>
                    </a:p>
                  </a:txBody>
                  <a:tcPr marT="91425" marB="91425" marR="91425" marL="91425"/>
                </a:tc>
              </a:tr>
            </a:tbl>
          </a:graphicData>
        </a:graphic>
      </p:graphicFrame>
      <p:sp>
        <p:nvSpPr>
          <p:cNvPr id="400" name="Google Shape;400;g7e44bd323b_3_4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g7e44bd323b_3_44"/>
          <p:cNvSpPr txBox="1"/>
          <p:nvPr>
            <p:ph type="title"/>
          </p:nvPr>
        </p:nvSpPr>
        <p:spPr>
          <a:xfrm>
            <a:off x="311700" y="1465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fmax and fmin</a:t>
            </a:r>
            <a:endParaRPr/>
          </a:p>
        </p:txBody>
      </p:sp>
      <p:sp>
        <p:nvSpPr>
          <p:cNvPr id="406" name="Google Shape;406;g7e44bd323b_3_44"/>
          <p:cNvSpPr txBox="1"/>
          <p:nvPr>
            <p:ph idx="1" type="body"/>
          </p:nvPr>
        </p:nvSpPr>
        <p:spPr>
          <a:xfrm>
            <a:off x="14200" y="719225"/>
            <a:ext cx="3349800" cy="4342500"/>
          </a:xfrm>
          <a:prstGeom prst="rect">
            <a:avLst/>
          </a:prstGeom>
          <a:noFill/>
          <a:ln>
            <a:noFill/>
          </a:ln>
        </p:spPr>
        <p:txBody>
          <a:bodyPr anchorCtr="0" anchor="t" bIns="91425" lIns="91425" spcFirstLastPara="1" rIns="91425" wrap="square" tIns="91425">
            <a:noAutofit/>
          </a:bodyPr>
          <a:lstStyle/>
          <a:p>
            <a:pPr indent="0" lvl="0" marL="0" rtl="0" algn="l">
              <a:lnSpc>
                <a:spcPct val="171429"/>
              </a:lnSpc>
              <a:spcBef>
                <a:spcPts val="0"/>
              </a:spcBef>
              <a:spcAft>
                <a:spcPts val="0"/>
              </a:spcAft>
              <a:buClr>
                <a:schemeClr val="dk1"/>
              </a:buClr>
              <a:buSzPts val="1100"/>
              <a:buFont typeface="Arial"/>
              <a:buNone/>
            </a:pPr>
            <a:r>
              <a:rPr lang="en" sz="1200">
                <a:solidFill>
                  <a:schemeClr val="dk1"/>
                </a:solidFill>
                <a:highlight>
                  <a:srgbClr val="FFFFFF"/>
                </a:highlight>
                <a:latin typeface="Roboto"/>
                <a:ea typeface="Roboto"/>
                <a:cs typeface="Roboto"/>
                <a:sym typeface="Roboto"/>
              </a:rPr>
              <a:t>fmax() and fmin() functions are defined in </a:t>
            </a:r>
            <a:r>
              <a:rPr b="1" lang="en" sz="1200">
                <a:solidFill>
                  <a:schemeClr val="dk1"/>
                </a:solidFill>
                <a:highlight>
                  <a:srgbClr val="FFFFFF"/>
                </a:highlight>
                <a:latin typeface="Roboto"/>
                <a:ea typeface="Roboto"/>
                <a:cs typeface="Roboto"/>
                <a:sym typeface="Roboto"/>
              </a:rPr>
              <a:t>cmath</a:t>
            </a:r>
            <a:r>
              <a:rPr lang="en" sz="1200">
                <a:solidFill>
                  <a:schemeClr val="dk1"/>
                </a:solidFill>
                <a:highlight>
                  <a:srgbClr val="FFFFFF"/>
                </a:highlight>
                <a:latin typeface="Roboto"/>
                <a:ea typeface="Roboto"/>
                <a:cs typeface="Roboto"/>
                <a:sym typeface="Roboto"/>
              </a:rPr>
              <a:t> header file.</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 sz="1200">
                <a:solidFill>
                  <a:schemeClr val="dk1"/>
                </a:solidFill>
                <a:highlight>
                  <a:srgbClr val="FFFFFF"/>
                </a:highlight>
                <a:latin typeface="Roboto"/>
                <a:ea typeface="Roboto"/>
                <a:cs typeface="Roboto"/>
                <a:sym typeface="Roboto"/>
              </a:rPr>
              <a:t>fmax() function:</a:t>
            </a:r>
            <a:r>
              <a:rPr lang="en" sz="1200">
                <a:solidFill>
                  <a:schemeClr val="dk1"/>
                </a:solidFill>
                <a:highlight>
                  <a:srgbClr val="FFFFFF"/>
                </a:highlight>
                <a:latin typeface="Roboto"/>
                <a:ea typeface="Roboto"/>
                <a:cs typeface="Roboto"/>
                <a:sym typeface="Roboto"/>
              </a:rPr>
              <a:t> The syntax of this function is:</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 sz="1150">
                <a:solidFill>
                  <a:schemeClr val="dk1"/>
                </a:solidFill>
                <a:highlight>
                  <a:srgbClr val="E0E0E0"/>
                </a:highlight>
                <a:latin typeface="Courier New"/>
                <a:ea typeface="Courier New"/>
                <a:cs typeface="Courier New"/>
                <a:sym typeface="Courier New"/>
              </a:rPr>
              <a:t>double fmax (double x, double y);</a:t>
            </a:r>
            <a:endParaRPr b="1" sz="1150">
              <a:solidFill>
                <a:schemeClr val="dk1"/>
              </a:solidFill>
              <a:highlight>
                <a:srgbClr val="E0E0E0"/>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b="1" lang="en" sz="1150">
                <a:solidFill>
                  <a:schemeClr val="dk1"/>
                </a:solidFill>
                <a:highlight>
                  <a:srgbClr val="E0E0E0"/>
                </a:highlight>
                <a:latin typeface="Courier New"/>
                <a:ea typeface="Courier New"/>
                <a:cs typeface="Courier New"/>
                <a:sym typeface="Courier New"/>
              </a:rPr>
              <a:t>float fmax (float x, float y);</a:t>
            </a:r>
            <a:endParaRPr b="1" sz="1150">
              <a:solidFill>
                <a:schemeClr val="dk1"/>
              </a:solidFill>
              <a:highlight>
                <a:srgbClr val="E0E0E0"/>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b="1" lang="en" sz="1150">
                <a:solidFill>
                  <a:schemeClr val="dk1"/>
                </a:solidFill>
                <a:highlight>
                  <a:srgbClr val="E0E0E0"/>
                </a:highlight>
                <a:latin typeface="Courier New"/>
                <a:ea typeface="Courier New"/>
                <a:cs typeface="Courier New"/>
                <a:sym typeface="Courier New"/>
              </a:rPr>
              <a:t>long double fmax (long double x, long double y);</a:t>
            </a:r>
            <a:br>
              <a:rPr lang="en" sz="1150">
                <a:solidFill>
                  <a:schemeClr val="dk1"/>
                </a:solidFill>
                <a:highlight>
                  <a:srgbClr val="E0E0E0"/>
                </a:highlight>
                <a:latin typeface="Courier New"/>
                <a:ea typeface="Courier New"/>
                <a:cs typeface="Courier New"/>
                <a:sym typeface="Courier New"/>
              </a:rPr>
            </a:br>
            <a:r>
              <a:rPr lang="en" sz="1200">
                <a:solidFill>
                  <a:schemeClr val="dk1"/>
                </a:solidFill>
                <a:highlight>
                  <a:srgbClr val="FFFFFF"/>
                </a:highlight>
                <a:latin typeface="Roboto"/>
                <a:ea typeface="Roboto"/>
                <a:cs typeface="Roboto"/>
                <a:sym typeface="Roboto"/>
              </a:rPr>
              <a:t>The input to this function are two values of type float, double or long double. The function returns maximum of the two input values.</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1600"/>
              </a:spcAft>
              <a:buSzPts val="1800"/>
              <a:buNone/>
            </a:pPr>
            <a:r>
              <a:t/>
            </a:r>
            <a:endParaRPr/>
          </a:p>
        </p:txBody>
      </p:sp>
      <p:sp>
        <p:nvSpPr>
          <p:cNvPr id="407" name="Google Shape;407;g7e44bd323b_3_44"/>
          <p:cNvSpPr txBox="1"/>
          <p:nvPr/>
        </p:nvSpPr>
        <p:spPr>
          <a:xfrm>
            <a:off x="3363950" y="344525"/>
            <a:ext cx="4431900" cy="4760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#include &lt;cmath&gt;</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#include &lt;iomanip&gt;</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#include &lt;iostream&gt;</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using namespace std;</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int main()</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double val;</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 Find maximum value when both the inputs</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 are positive.</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a:t>
            </a:r>
            <a:r>
              <a:rPr b="1" i="0" lang="en" sz="1100" u="none" cap="none" strike="noStrike">
                <a:solidFill>
                  <a:schemeClr val="dk1"/>
                </a:solidFill>
                <a:highlight>
                  <a:srgbClr val="FFFFFF"/>
                </a:highlight>
                <a:latin typeface="Courier New"/>
                <a:ea typeface="Courier New"/>
                <a:cs typeface="Courier New"/>
                <a:sym typeface="Courier New"/>
              </a:rPr>
              <a:t>  val = fmax(10.0, 1.0);</a:t>
            </a:r>
            <a:endParaRPr b="1"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a:t>
            </a:r>
            <a:r>
              <a:rPr b="1" i="0" lang="en" sz="1100" u="none" cap="none" strike="noStrike">
                <a:solidFill>
                  <a:schemeClr val="dk1"/>
                </a:solidFill>
                <a:highlight>
                  <a:srgbClr val="FFFFFF"/>
                </a:highlight>
                <a:latin typeface="Courier New"/>
                <a:ea typeface="Courier New"/>
                <a:cs typeface="Courier New"/>
                <a:sym typeface="Courier New"/>
              </a:rPr>
              <a:t>cout &lt;&lt; fixed &lt;&lt; setprecision(4)</a:t>
            </a:r>
            <a:endParaRPr b="1"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highlight>
                  <a:srgbClr val="FFFFFF"/>
                </a:highlight>
                <a:latin typeface="Courier New"/>
                <a:ea typeface="Courier New"/>
                <a:cs typeface="Courier New"/>
                <a:sym typeface="Courier New"/>
              </a:rPr>
              <a:t>         &lt;&lt; "fmax(10.0, 1.0) = " &lt;&lt; val &lt;&lt; "\n";</a:t>
            </a:r>
            <a:endParaRPr b="1"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 Find maximum value when inputs have</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 opposite sign.</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a:t>
            </a:r>
            <a:r>
              <a:rPr b="1" i="0" lang="en" sz="1100" u="none" cap="none" strike="noStrike">
                <a:solidFill>
                  <a:schemeClr val="dk1"/>
                </a:solidFill>
                <a:highlight>
                  <a:srgbClr val="FFFFFF"/>
                </a:highlight>
                <a:latin typeface="Courier New"/>
                <a:ea typeface="Courier New"/>
                <a:cs typeface="Courier New"/>
                <a:sym typeface="Courier New"/>
              </a:rPr>
              <a:t> val = fmax(-10.0, 1.0);</a:t>
            </a:r>
            <a:endParaRPr b="1"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highlight>
                  <a:srgbClr val="FFFFFF"/>
                </a:highlight>
                <a:latin typeface="Courier New"/>
                <a:ea typeface="Courier New"/>
                <a:cs typeface="Courier New"/>
                <a:sym typeface="Courier New"/>
              </a:rPr>
              <a:t>    cout &lt;&lt; fixed &lt;&lt; setprecision(4)</a:t>
            </a:r>
            <a:endParaRPr b="1"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highlight>
                  <a:srgbClr val="FFFFFF"/>
                </a:highlight>
                <a:latin typeface="Courier New"/>
                <a:ea typeface="Courier New"/>
                <a:cs typeface="Courier New"/>
                <a:sym typeface="Courier New"/>
              </a:rPr>
              <a:t>         &lt;&lt; "fmax(-10.0, 1.0) = " &lt;&lt; val &lt;&lt; "\n";</a:t>
            </a:r>
            <a:endParaRPr b="1"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 Find maximum value when both the inputs</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 are negative.</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a:t>
            </a:r>
            <a:r>
              <a:rPr b="1" i="0" lang="en" sz="1100" u="none" cap="none" strike="noStrike">
                <a:solidFill>
                  <a:schemeClr val="dk1"/>
                </a:solidFill>
                <a:highlight>
                  <a:srgbClr val="FFFFFF"/>
                </a:highlight>
                <a:latin typeface="Courier New"/>
                <a:ea typeface="Courier New"/>
                <a:cs typeface="Courier New"/>
                <a:sym typeface="Courier New"/>
              </a:rPr>
              <a:t>val = fmax(-10.0, -1.0);</a:t>
            </a:r>
            <a:endParaRPr b="1"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highlight>
                  <a:srgbClr val="FFFFFF"/>
                </a:highlight>
                <a:latin typeface="Courier New"/>
                <a:ea typeface="Courier New"/>
                <a:cs typeface="Courier New"/>
                <a:sym typeface="Courier New"/>
              </a:rPr>
              <a:t>    cout &lt;&lt; fixed &lt;&lt; setprecision(4)</a:t>
            </a:r>
            <a:endParaRPr b="1"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highlight>
                  <a:srgbClr val="FFFFFF"/>
                </a:highlight>
                <a:latin typeface="Courier New"/>
                <a:ea typeface="Courier New"/>
                <a:cs typeface="Courier New"/>
                <a:sym typeface="Courier New"/>
              </a:rPr>
              <a:t>         &lt;&lt; "fmax(-10.0, -1.0) = " &lt;&lt; val &lt;&lt; "\n";</a:t>
            </a:r>
            <a:endParaRPr b="1"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return 0;</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a:t>
            </a:r>
            <a:endParaRPr b="0" i="0" sz="1100" u="none" cap="none" strike="noStrike">
              <a:solidFill>
                <a:schemeClr val="dk1"/>
              </a:solidFill>
              <a:highlight>
                <a:srgbClr val="FFFFFF"/>
              </a:highlight>
              <a:latin typeface="Courier New"/>
              <a:ea typeface="Courier New"/>
              <a:cs typeface="Courier New"/>
              <a:sym typeface="Courier New"/>
            </a:endParaRPr>
          </a:p>
        </p:txBody>
      </p:sp>
      <p:sp>
        <p:nvSpPr>
          <p:cNvPr id="408" name="Google Shape;408;g7e44bd323b_3_44"/>
          <p:cNvSpPr txBox="1"/>
          <p:nvPr/>
        </p:nvSpPr>
        <p:spPr>
          <a:xfrm rot="-4175047">
            <a:off x="6541911" y="830439"/>
            <a:ext cx="2813104" cy="333464"/>
          </a:xfrm>
          <a:prstGeom prst="rect">
            <a:avLst/>
          </a:prstGeom>
          <a:noFill/>
          <a:ln>
            <a:noFill/>
          </a:ln>
        </p:spPr>
        <p:txBody>
          <a:bodyPr anchorCtr="0" anchor="t" bIns="91425" lIns="91425" spcFirstLastPara="1" rIns="91425" wrap="square" tIns="91425">
            <a:noAutofit/>
          </a:bodyPr>
          <a:lstStyle/>
          <a:p>
            <a:pPr indent="0" lvl="0" marL="101600" marR="101600" rtl="0" algn="l">
              <a:lnSpc>
                <a:spcPct val="158000"/>
              </a:lnSpc>
              <a:spcBef>
                <a:spcPts val="0"/>
              </a:spcBef>
              <a:spcAft>
                <a:spcPts val="800"/>
              </a:spcAft>
              <a:buClr>
                <a:srgbClr val="000000"/>
              </a:buClr>
              <a:buSzPts val="1150"/>
              <a:buFont typeface="Arial"/>
              <a:buNone/>
            </a:pPr>
            <a:r>
              <a:rPr b="0" i="0" lang="en" sz="1150" u="none" cap="none" strike="noStrike">
                <a:solidFill>
                  <a:schemeClr val="dk1"/>
                </a:solidFill>
                <a:highlight>
                  <a:srgbClr val="E0E0E0"/>
                </a:highlight>
                <a:latin typeface="Courier New"/>
                <a:ea typeface="Courier New"/>
                <a:cs typeface="Courier New"/>
                <a:sym typeface="Courier New"/>
              </a:rPr>
              <a:t>fmax(10.0, 1.0) = 10.0000</a:t>
            </a:r>
            <a:endParaRPr b="0" i="0" sz="1150" u="none" cap="none" strike="noStrike">
              <a:solidFill>
                <a:schemeClr val="dk1"/>
              </a:solidFill>
              <a:highlight>
                <a:srgbClr val="E0E0E0"/>
              </a:highlight>
              <a:latin typeface="Courier New"/>
              <a:ea typeface="Courier New"/>
              <a:cs typeface="Courier New"/>
              <a:sym typeface="Courier New"/>
            </a:endParaRPr>
          </a:p>
        </p:txBody>
      </p:sp>
      <p:sp>
        <p:nvSpPr>
          <p:cNvPr id="409" name="Google Shape;409;g7e44bd323b_3_44"/>
          <p:cNvSpPr txBox="1"/>
          <p:nvPr/>
        </p:nvSpPr>
        <p:spPr>
          <a:xfrm rot="-4022710">
            <a:off x="6831196" y="1726386"/>
            <a:ext cx="2999959" cy="385414"/>
          </a:xfrm>
          <a:prstGeom prst="rect">
            <a:avLst/>
          </a:prstGeom>
          <a:noFill/>
          <a:ln>
            <a:noFill/>
          </a:ln>
        </p:spPr>
        <p:txBody>
          <a:bodyPr anchorCtr="0" anchor="t" bIns="91425" lIns="91425" spcFirstLastPara="1" rIns="91425" wrap="square" tIns="91425">
            <a:noAutofit/>
          </a:bodyPr>
          <a:lstStyle/>
          <a:p>
            <a:pPr indent="0" lvl="0" marL="101600" marR="101600" rtl="0" algn="l">
              <a:lnSpc>
                <a:spcPct val="158000"/>
              </a:lnSpc>
              <a:spcBef>
                <a:spcPts val="0"/>
              </a:spcBef>
              <a:spcAft>
                <a:spcPts val="800"/>
              </a:spcAft>
              <a:buClr>
                <a:srgbClr val="000000"/>
              </a:buClr>
              <a:buSzPts val="1150"/>
              <a:buFont typeface="Arial"/>
              <a:buNone/>
            </a:pPr>
            <a:r>
              <a:rPr b="0" i="0" lang="en" sz="1150" u="none" cap="none" strike="noStrike">
                <a:solidFill>
                  <a:schemeClr val="dk1"/>
                </a:solidFill>
                <a:highlight>
                  <a:srgbClr val="E0E0E0"/>
                </a:highlight>
                <a:latin typeface="Courier New"/>
                <a:ea typeface="Courier New"/>
                <a:cs typeface="Courier New"/>
                <a:sym typeface="Courier New"/>
              </a:rPr>
              <a:t>fmax(-10.0, 1.0) = 1.0000</a:t>
            </a:r>
            <a:endParaRPr b="0" i="0" sz="1150" u="none" cap="none" strike="noStrike">
              <a:solidFill>
                <a:schemeClr val="dk1"/>
              </a:solidFill>
              <a:highlight>
                <a:srgbClr val="E0E0E0"/>
              </a:highlight>
              <a:latin typeface="Courier New"/>
              <a:ea typeface="Courier New"/>
              <a:cs typeface="Courier New"/>
              <a:sym typeface="Courier New"/>
            </a:endParaRPr>
          </a:p>
        </p:txBody>
      </p:sp>
      <p:sp>
        <p:nvSpPr>
          <p:cNvPr id="410" name="Google Shape;410;g7e44bd323b_3_44"/>
          <p:cNvSpPr txBox="1"/>
          <p:nvPr/>
        </p:nvSpPr>
        <p:spPr>
          <a:xfrm rot="-4038418">
            <a:off x="6907442" y="3264473"/>
            <a:ext cx="3000049" cy="328385"/>
          </a:xfrm>
          <a:prstGeom prst="rect">
            <a:avLst/>
          </a:prstGeom>
          <a:noFill/>
          <a:ln>
            <a:noFill/>
          </a:ln>
        </p:spPr>
        <p:txBody>
          <a:bodyPr anchorCtr="0" anchor="t" bIns="91425" lIns="91425" spcFirstLastPara="1" rIns="91425" wrap="square" tIns="91425">
            <a:noAutofit/>
          </a:bodyPr>
          <a:lstStyle/>
          <a:p>
            <a:pPr indent="0" lvl="0" marL="101600" marR="101600" rtl="0" algn="l">
              <a:lnSpc>
                <a:spcPct val="158000"/>
              </a:lnSpc>
              <a:spcBef>
                <a:spcPts val="0"/>
              </a:spcBef>
              <a:spcAft>
                <a:spcPts val="800"/>
              </a:spcAft>
              <a:buClr>
                <a:srgbClr val="000000"/>
              </a:buClr>
              <a:buSzPts val="1150"/>
              <a:buFont typeface="Arial"/>
              <a:buNone/>
            </a:pPr>
            <a:r>
              <a:rPr b="0" i="0" lang="en" sz="1150" u="none" cap="none" strike="noStrike">
                <a:solidFill>
                  <a:schemeClr val="dk1"/>
                </a:solidFill>
                <a:highlight>
                  <a:srgbClr val="E0E0E0"/>
                </a:highlight>
                <a:latin typeface="Courier New"/>
                <a:ea typeface="Courier New"/>
                <a:cs typeface="Courier New"/>
                <a:sym typeface="Courier New"/>
              </a:rPr>
              <a:t>fmax(-10.0, -1.0) = -1.0000</a:t>
            </a:r>
            <a:endParaRPr b="0" i="0" sz="1150" u="none" cap="none" strike="noStrike">
              <a:solidFill>
                <a:schemeClr val="dk1"/>
              </a:solidFill>
              <a:highlight>
                <a:srgbClr val="E0E0E0"/>
              </a:highlight>
              <a:latin typeface="Courier New"/>
              <a:ea typeface="Courier New"/>
              <a:cs typeface="Courier New"/>
              <a:sym typeface="Courier New"/>
            </a:endParaRPr>
          </a:p>
        </p:txBody>
      </p:sp>
      <p:sp>
        <p:nvSpPr>
          <p:cNvPr id="411" name="Google Shape;411;g7e44bd323b_3_44"/>
          <p:cNvSpPr txBox="1"/>
          <p:nvPr/>
        </p:nvSpPr>
        <p:spPr>
          <a:xfrm>
            <a:off x="7225325" y="-76200"/>
            <a:ext cx="1251300" cy="298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output</a:t>
            </a:r>
            <a:endParaRPr b="1" i="0" sz="1400" u="none" cap="none" strike="noStrike">
              <a:solidFill>
                <a:srgbClr val="000000"/>
              </a:solidFill>
              <a:latin typeface="Arial"/>
              <a:ea typeface="Arial"/>
              <a:cs typeface="Arial"/>
              <a:sym typeface="Arial"/>
            </a:endParaRPr>
          </a:p>
        </p:txBody>
      </p:sp>
      <p:sp>
        <p:nvSpPr>
          <p:cNvPr id="412" name="Google Shape;412;g7e44bd323b_3_4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g7e44bd323b_3_54"/>
          <p:cNvSpPr txBox="1"/>
          <p:nvPr>
            <p:ph type="title"/>
          </p:nvPr>
        </p:nvSpPr>
        <p:spPr>
          <a:xfrm>
            <a:off x="162450" y="12355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fmin()</a:t>
            </a:r>
            <a:endParaRPr/>
          </a:p>
        </p:txBody>
      </p:sp>
      <p:sp>
        <p:nvSpPr>
          <p:cNvPr id="418" name="Google Shape;418;g7e44bd323b_3_54"/>
          <p:cNvSpPr txBox="1"/>
          <p:nvPr>
            <p:ph idx="1" type="body"/>
          </p:nvPr>
        </p:nvSpPr>
        <p:spPr>
          <a:xfrm>
            <a:off x="162450" y="696250"/>
            <a:ext cx="3121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Roboto"/>
                <a:ea typeface="Roboto"/>
                <a:cs typeface="Roboto"/>
                <a:sym typeface="Roboto"/>
              </a:rPr>
              <a:t>fmin() function:</a:t>
            </a:r>
            <a:r>
              <a:rPr lang="en" sz="1200">
                <a:solidFill>
                  <a:schemeClr val="dk1"/>
                </a:solidFill>
                <a:highlight>
                  <a:srgbClr val="FFFFFF"/>
                </a:highlight>
                <a:latin typeface="Roboto"/>
                <a:ea typeface="Roboto"/>
                <a:cs typeface="Roboto"/>
                <a:sym typeface="Roboto"/>
              </a:rPr>
              <a:t> The syntax of this function is:</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1600"/>
              </a:spcBef>
              <a:spcAft>
                <a:spcPts val="0"/>
              </a:spcAft>
              <a:buSzPts val="1800"/>
              <a:buNone/>
            </a:pPr>
            <a:r>
              <a:rPr b="1" lang="en" sz="1150">
                <a:solidFill>
                  <a:schemeClr val="dk1"/>
                </a:solidFill>
                <a:highlight>
                  <a:srgbClr val="E0E0E0"/>
                </a:highlight>
                <a:latin typeface="Courier New"/>
                <a:ea typeface="Courier New"/>
                <a:cs typeface="Courier New"/>
                <a:sym typeface="Courier New"/>
              </a:rPr>
              <a:t>double fmin (double x, double y);</a:t>
            </a:r>
            <a:endParaRPr b="1" sz="1150">
              <a:solidFill>
                <a:schemeClr val="dk1"/>
              </a:solidFill>
              <a:highlight>
                <a:srgbClr val="E0E0E0"/>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b="1" lang="en" sz="1150">
                <a:solidFill>
                  <a:schemeClr val="dk1"/>
                </a:solidFill>
                <a:highlight>
                  <a:srgbClr val="E0E0E0"/>
                </a:highlight>
                <a:latin typeface="Courier New"/>
                <a:ea typeface="Courier New"/>
                <a:cs typeface="Courier New"/>
                <a:sym typeface="Courier New"/>
              </a:rPr>
              <a:t>float fmin (float x, float y);</a:t>
            </a:r>
            <a:endParaRPr b="1" sz="1150">
              <a:solidFill>
                <a:schemeClr val="dk1"/>
              </a:solidFill>
              <a:highlight>
                <a:srgbClr val="E0E0E0"/>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b="1" lang="en" sz="1150">
                <a:solidFill>
                  <a:schemeClr val="dk1"/>
                </a:solidFill>
                <a:highlight>
                  <a:srgbClr val="E0E0E0"/>
                </a:highlight>
                <a:latin typeface="Courier New"/>
                <a:ea typeface="Courier New"/>
                <a:cs typeface="Courier New"/>
                <a:sym typeface="Courier New"/>
              </a:rPr>
              <a:t>long double fmin (long double x, long double y);</a:t>
            </a:r>
            <a:endParaRPr sz="1150">
              <a:solidFill>
                <a:schemeClr val="dk1"/>
              </a:solidFill>
              <a:highlight>
                <a:srgbClr val="E0E0E0"/>
              </a:highlight>
              <a:latin typeface="Courier New"/>
              <a:ea typeface="Courier New"/>
              <a:cs typeface="Courier New"/>
              <a:sym typeface="Courier New"/>
            </a:endParaRPr>
          </a:p>
          <a:p>
            <a:pPr indent="0" lvl="0" marL="0" rtl="0" algn="l">
              <a:lnSpc>
                <a:spcPct val="171429"/>
              </a:lnSpc>
              <a:spcBef>
                <a:spcPts val="0"/>
              </a:spcBef>
              <a:spcAft>
                <a:spcPts val="0"/>
              </a:spcAft>
              <a:buClr>
                <a:schemeClr val="dk1"/>
              </a:buClr>
              <a:buSzPts val="1100"/>
              <a:buFont typeface="Arial"/>
              <a:buNone/>
            </a:pPr>
            <a:r>
              <a:rPr lang="en" sz="1200">
                <a:solidFill>
                  <a:schemeClr val="dk1"/>
                </a:solidFill>
                <a:highlight>
                  <a:srgbClr val="FFFFFF"/>
                </a:highlight>
                <a:latin typeface="Roboto"/>
                <a:ea typeface="Roboto"/>
                <a:cs typeface="Roboto"/>
                <a:sym typeface="Roboto"/>
              </a:rPr>
              <a:t>The input to this function are two values of type float, double or long double. The function returns minimum of the two input values.</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800"/>
              </a:spcBef>
              <a:spcAft>
                <a:spcPts val="1600"/>
              </a:spcAft>
              <a:buSzPts val="1800"/>
              <a:buNone/>
            </a:pPr>
            <a:r>
              <a:t/>
            </a:r>
            <a:endParaRPr/>
          </a:p>
        </p:txBody>
      </p:sp>
      <p:sp>
        <p:nvSpPr>
          <p:cNvPr id="419" name="Google Shape;419;g7e44bd323b_3_54"/>
          <p:cNvSpPr txBox="1"/>
          <p:nvPr/>
        </p:nvSpPr>
        <p:spPr>
          <a:xfrm>
            <a:off x="3375425" y="-57400"/>
            <a:ext cx="4374600" cy="5029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CPP program to show working</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of fmin() function.</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#include &lt;cmath&gt;</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#include &lt;iomanip&gt;</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#include &lt;iostream&gt; </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using namespace std;</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int main()</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double val;</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 Find minimum value when both the inputs</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 are positive.</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a:t>
            </a:r>
            <a:r>
              <a:rPr b="1" i="0" lang="en" sz="1100" u="none" cap="none" strike="noStrike">
                <a:solidFill>
                  <a:schemeClr val="dk1"/>
                </a:solidFill>
                <a:highlight>
                  <a:srgbClr val="FFFFFF"/>
                </a:highlight>
                <a:latin typeface="Courier New"/>
                <a:ea typeface="Courier New"/>
                <a:cs typeface="Courier New"/>
                <a:sym typeface="Courier New"/>
              </a:rPr>
              <a:t> val = fmin(10.0, 1.0);</a:t>
            </a:r>
            <a:endParaRPr b="1"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highlight>
                  <a:srgbClr val="FFFFFF"/>
                </a:highlight>
                <a:latin typeface="Courier New"/>
                <a:ea typeface="Courier New"/>
                <a:cs typeface="Courier New"/>
                <a:sym typeface="Courier New"/>
              </a:rPr>
              <a:t>    cout &lt;&lt; fixed &lt;&lt; setprecision(4)</a:t>
            </a:r>
            <a:endParaRPr b="1"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highlight>
                  <a:srgbClr val="FFFFFF"/>
                </a:highlight>
                <a:latin typeface="Courier New"/>
                <a:ea typeface="Courier New"/>
                <a:cs typeface="Courier New"/>
                <a:sym typeface="Courier New"/>
              </a:rPr>
              <a:t>         &lt;&lt; "fmin(10.0, 1.0) = " &lt;&lt; val &lt;&lt; "\n";</a:t>
            </a:r>
            <a:endParaRPr b="1"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 Find minimum value when inputs have</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 opposite sign.</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a:t>
            </a:r>
            <a:r>
              <a:rPr b="1" i="0" lang="en" sz="1100" u="none" cap="none" strike="noStrike">
                <a:solidFill>
                  <a:schemeClr val="dk1"/>
                </a:solidFill>
                <a:highlight>
                  <a:srgbClr val="FFFFFF"/>
                </a:highlight>
                <a:latin typeface="Courier New"/>
                <a:ea typeface="Courier New"/>
                <a:cs typeface="Courier New"/>
                <a:sym typeface="Courier New"/>
              </a:rPr>
              <a:t>  val = fmin(-10.0, 1.0);</a:t>
            </a:r>
            <a:endParaRPr b="1"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highlight>
                  <a:srgbClr val="FFFFFF"/>
                </a:highlight>
                <a:latin typeface="Courier New"/>
                <a:ea typeface="Courier New"/>
                <a:cs typeface="Courier New"/>
                <a:sym typeface="Courier New"/>
              </a:rPr>
              <a:t>    cout &lt;&lt; fixed &lt;&lt; setprecision(4)</a:t>
            </a:r>
            <a:endParaRPr b="1"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highlight>
                  <a:srgbClr val="FFFFFF"/>
                </a:highlight>
                <a:latin typeface="Courier New"/>
                <a:ea typeface="Courier New"/>
                <a:cs typeface="Courier New"/>
                <a:sym typeface="Courier New"/>
              </a:rPr>
              <a:t>         &lt;&lt; "fmin(-10.0, 1.0) = " &lt;&lt; val &lt;&lt; "\n";</a:t>
            </a:r>
            <a:endParaRPr b="1"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 Find minimum value when both the inputs</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 are negative.</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a:t>
            </a:r>
            <a:r>
              <a:rPr b="1" i="0" lang="en" sz="1100" u="none" cap="none" strike="noStrike">
                <a:solidFill>
                  <a:schemeClr val="dk1"/>
                </a:solidFill>
                <a:highlight>
                  <a:srgbClr val="FFFFFF"/>
                </a:highlight>
                <a:latin typeface="Courier New"/>
                <a:ea typeface="Courier New"/>
                <a:cs typeface="Courier New"/>
                <a:sym typeface="Courier New"/>
              </a:rPr>
              <a:t>  val = fmin(-10.0, -1.0);</a:t>
            </a:r>
            <a:endParaRPr b="1"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highlight>
                  <a:srgbClr val="FFFFFF"/>
                </a:highlight>
                <a:latin typeface="Courier New"/>
                <a:ea typeface="Courier New"/>
                <a:cs typeface="Courier New"/>
                <a:sym typeface="Courier New"/>
              </a:rPr>
              <a:t>    cout &lt;&lt; fixed &lt;&lt; setprecision(4)</a:t>
            </a:r>
            <a:endParaRPr b="1"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1"/>
                </a:solidFill>
                <a:highlight>
                  <a:srgbClr val="FFFFFF"/>
                </a:highlight>
                <a:latin typeface="Courier New"/>
                <a:ea typeface="Courier New"/>
                <a:cs typeface="Courier New"/>
                <a:sym typeface="Courier New"/>
              </a:rPr>
              <a:t>         &lt;&lt; "fmin(-10.0, -1.0) = " &lt;&lt; val &lt;&lt; "\n";</a:t>
            </a:r>
            <a:endParaRPr b="1"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    return 0;</a:t>
            </a:r>
            <a:endParaRPr b="0" i="0" sz="11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highlight>
                  <a:srgbClr val="FFFFFF"/>
                </a:highlight>
                <a:latin typeface="Courier New"/>
                <a:ea typeface="Courier New"/>
                <a:cs typeface="Courier New"/>
                <a:sym typeface="Courier New"/>
              </a:rPr>
              <a:t>}</a:t>
            </a:r>
            <a:endParaRPr b="0" i="0" sz="1100" u="none" cap="none" strike="noStrike">
              <a:solidFill>
                <a:schemeClr val="dk1"/>
              </a:solidFill>
              <a:highlight>
                <a:srgbClr val="FFFFFF"/>
              </a:highlight>
              <a:latin typeface="Courier New"/>
              <a:ea typeface="Courier New"/>
              <a:cs typeface="Courier New"/>
              <a:sym typeface="Courier New"/>
            </a:endParaRPr>
          </a:p>
        </p:txBody>
      </p:sp>
      <p:sp>
        <p:nvSpPr>
          <p:cNvPr id="420" name="Google Shape;420;g7e44bd323b_3_54"/>
          <p:cNvSpPr txBox="1"/>
          <p:nvPr/>
        </p:nvSpPr>
        <p:spPr>
          <a:xfrm rot="-3656156">
            <a:off x="6720415" y="1029831"/>
            <a:ext cx="3000079" cy="310617"/>
          </a:xfrm>
          <a:prstGeom prst="rect">
            <a:avLst/>
          </a:prstGeom>
          <a:noFill/>
          <a:ln>
            <a:noFill/>
          </a:ln>
        </p:spPr>
        <p:txBody>
          <a:bodyPr anchorCtr="0" anchor="t" bIns="91425" lIns="91425" spcFirstLastPara="1" rIns="91425" wrap="square" tIns="91425">
            <a:noAutofit/>
          </a:bodyPr>
          <a:lstStyle/>
          <a:p>
            <a:pPr indent="0" lvl="0" marL="101600" marR="101600" rtl="0" algn="l">
              <a:lnSpc>
                <a:spcPct val="158000"/>
              </a:lnSpc>
              <a:spcBef>
                <a:spcPts val="0"/>
              </a:spcBef>
              <a:spcAft>
                <a:spcPts val="800"/>
              </a:spcAft>
              <a:buClr>
                <a:srgbClr val="000000"/>
              </a:buClr>
              <a:buSzPts val="1150"/>
              <a:buFont typeface="Arial"/>
              <a:buNone/>
            </a:pPr>
            <a:r>
              <a:rPr b="0" i="0" lang="en" sz="1150" u="none" cap="none" strike="noStrike">
                <a:solidFill>
                  <a:schemeClr val="dk1"/>
                </a:solidFill>
                <a:highlight>
                  <a:srgbClr val="E0E0E0"/>
                </a:highlight>
                <a:latin typeface="Courier New"/>
                <a:ea typeface="Courier New"/>
                <a:cs typeface="Courier New"/>
                <a:sym typeface="Courier New"/>
              </a:rPr>
              <a:t>fmin(10.0f, 1.0) = 1.0000</a:t>
            </a:r>
            <a:endParaRPr b="0" i="0" sz="1150" u="none" cap="none" strike="noStrike">
              <a:solidFill>
                <a:schemeClr val="dk1"/>
              </a:solidFill>
              <a:highlight>
                <a:srgbClr val="E0E0E0"/>
              </a:highlight>
              <a:latin typeface="Courier New"/>
              <a:ea typeface="Courier New"/>
              <a:cs typeface="Courier New"/>
              <a:sym typeface="Courier New"/>
            </a:endParaRPr>
          </a:p>
        </p:txBody>
      </p:sp>
      <p:sp>
        <p:nvSpPr>
          <p:cNvPr id="421" name="Google Shape;421;g7e44bd323b_3_54"/>
          <p:cNvSpPr txBox="1"/>
          <p:nvPr/>
        </p:nvSpPr>
        <p:spPr>
          <a:xfrm rot="-3687076">
            <a:off x="6904305" y="2076730"/>
            <a:ext cx="2999962" cy="350233"/>
          </a:xfrm>
          <a:prstGeom prst="rect">
            <a:avLst/>
          </a:prstGeom>
          <a:noFill/>
          <a:ln>
            <a:noFill/>
          </a:ln>
        </p:spPr>
        <p:txBody>
          <a:bodyPr anchorCtr="0" anchor="t" bIns="91425" lIns="91425" spcFirstLastPara="1" rIns="91425" wrap="square" tIns="91425">
            <a:noAutofit/>
          </a:bodyPr>
          <a:lstStyle/>
          <a:p>
            <a:pPr indent="0" lvl="0" marL="101600" marR="101600" rtl="0" algn="l">
              <a:lnSpc>
                <a:spcPct val="158000"/>
              </a:lnSpc>
              <a:spcBef>
                <a:spcPts val="0"/>
              </a:spcBef>
              <a:spcAft>
                <a:spcPts val="800"/>
              </a:spcAft>
              <a:buClr>
                <a:srgbClr val="000000"/>
              </a:buClr>
              <a:buSzPts val="1150"/>
              <a:buFont typeface="Arial"/>
              <a:buNone/>
            </a:pPr>
            <a:r>
              <a:rPr b="0" i="0" lang="en" sz="1150" u="none" cap="none" strike="noStrike">
                <a:solidFill>
                  <a:schemeClr val="dk1"/>
                </a:solidFill>
                <a:highlight>
                  <a:srgbClr val="E0E0E0"/>
                </a:highlight>
                <a:latin typeface="Courier New"/>
                <a:ea typeface="Courier New"/>
                <a:cs typeface="Courier New"/>
                <a:sym typeface="Courier New"/>
              </a:rPr>
              <a:t>fmin(-10.0, 1.0) = -10.0000</a:t>
            </a:r>
            <a:endParaRPr b="0" i="0" sz="1150" u="none" cap="none" strike="noStrike">
              <a:solidFill>
                <a:schemeClr val="dk1"/>
              </a:solidFill>
              <a:highlight>
                <a:srgbClr val="E0E0E0"/>
              </a:highlight>
              <a:latin typeface="Courier New"/>
              <a:ea typeface="Courier New"/>
              <a:cs typeface="Courier New"/>
              <a:sym typeface="Courier New"/>
            </a:endParaRPr>
          </a:p>
        </p:txBody>
      </p:sp>
      <p:sp>
        <p:nvSpPr>
          <p:cNvPr id="422" name="Google Shape;422;g7e44bd323b_3_54"/>
          <p:cNvSpPr txBox="1"/>
          <p:nvPr/>
        </p:nvSpPr>
        <p:spPr>
          <a:xfrm rot="-3789185">
            <a:off x="7026360" y="3348163"/>
            <a:ext cx="2999945" cy="339573"/>
          </a:xfrm>
          <a:prstGeom prst="rect">
            <a:avLst/>
          </a:prstGeom>
          <a:noFill/>
          <a:ln>
            <a:noFill/>
          </a:ln>
        </p:spPr>
        <p:txBody>
          <a:bodyPr anchorCtr="0" anchor="t" bIns="91425" lIns="91425" spcFirstLastPara="1" rIns="91425" wrap="square" tIns="91425">
            <a:noAutofit/>
          </a:bodyPr>
          <a:lstStyle/>
          <a:p>
            <a:pPr indent="0" lvl="0" marL="101600" marR="101600" rtl="0" algn="l">
              <a:lnSpc>
                <a:spcPct val="158000"/>
              </a:lnSpc>
              <a:spcBef>
                <a:spcPts val="0"/>
              </a:spcBef>
              <a:spcAft>
                <a:spcPts val="800"/>
              </a:spcAft>
              <a:buClr>
                <a:srgbClr val="000000"/>
              </a:buClr>
              <a:buSzPts val="1150"/>
              <a:buFont typeface="Arial"/>
              <a:buNone/>
            </a:pPr>
            <a:r>
              <a:rPr b="0" i="0" lang="en" sz="1150" u="none" cap="none" strike="noStrike">
                <a:solidFill>
                  <a:schemeClr val="dk1"/>
                </a:solidFill>
                <a:highlight>
                  <a:srgbClr val="E0E0E0"/>
                </a:highlight>
                <a:latin typeface="Courier New"/>
                <a:ea typeface="Courier New"/>
                <a:cs typeface="Courier New"/>
                <a:sym typeface="Courier New"/>
              </a:rPr>
              <a:t>fmin(-10.0, -1.0) = -10.0000</a:t>
            </a:r>
            <a:endParaRPr b="0" i="0" sz="1150" u="none" cap="none" strike="noStrike">
              <a:solidFill>
                <a:schemeClr val="dk1"/>
              </a:solidFill>
              <a:highlight>
                <a:srgbClr val="E0E0E0"/>
              </a:highlight>
              <a:latin typeface="Courier New"/>
              <a:ea typeface="Courier New"/>
              <a:cs typeface="Courier New"/>
              <a:sym typeface="Courier New"/>
            </a:endParaRPr>
          </a:p>
        </p:txBody>
      </p:sp>
      <p:sp>
        <p:nvSpPr>
          <p:cNvPr id="423" name="Google Shape;423;g7e44bd323b_3_54"/>
          <p:cNvSpPr txBox="1"/>
          <p:nvPr/>
        </p:nvSpPr>
        <p:spPr>
          <a:xfrm>
            <a:off x="7690425" y="34925"/>
            <a:ext cx="1251300" cy="298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output</a:t>
            </a:r>
            <a:endParaRPr b="1" i="0" sz="1400" u="none" cap="none" strike="noStrike">
              <a:solidFill>
                <a:srgbClr val="000000"/>
              </a:solidFill>
              <a:latin typeface="Arial"/>
              <a:ea typeface="Arial"/>
              <a:cs typeface="Arial"/>
              <a:sym typeface="Arial"/>
            </a:endParaRPr>
          </a:p>
        </p:txBody>
      </p:sp>
      <p:sp>
        <p:nvSpPr>
          <p:cNvPr id="424" name="Google Shape;424;g7e44bd323b_3_5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g7e44bd323b_3_64"/>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Exercises</a:t>
            </a:r>
            <a:endParaRPr/>
          </a:p>
        </p:txBody>
      </p:sp>
      <p:sp>
        <p:nvSpPr>
          <p:cNvPr id="430" name="Google Shape;430;g7e44bd323b_3_64"/>
          <p:cNvSpPr txBox="1"/>
          <p:nvPr>
            <p:ph idx="1" type="body"/>
          </p:nvPr>
        </p:nvSpPr>
        <p:spPr>
          <a:xfrm>
            <a:off x="167875" y="695275"/>
            <a:ext cx="8889300" cy="39909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SzPts val="2400"/>
              <a:buAutoNum type="arabicPeriod"/>
            </a:pPr>
            <a:r>
              <a:rPr lang="en" sz="2000"/>
              <a:t>Using sqrt() and pow() calculate the hypotenuse of the right triangle</a:t>
            </a:r>
            <a:r>
              <a:rPr lang="en" sz="2400"/>
              <a:t>.</a:t>
            </a:r>
            <a:endParaRPr sz="2400"/>
          </a:p>
          <a:p>
            <a:pPr indent="0" lvl="0" marL="457200" rtl="0" algn="l">
              <a:lnSpc>
                <a:spcPct val="115000"/>
              </a:lnSpc>
              <a:spcBef>
                <a:spcPts val="1600"/>
              </a:spcBef>
              <a:spcAft>
                <a:spcPts val="0"/>
              </a:spcAft>
              <a:buSzPts val="1800"/>
              <a:buNone/>
            </a:pPr>
            <a:r>
              <a:t/>
            </a:r>
            <a:endParaRPr sz="2400"/>
          </a:p>
          <a:p>
            <a:pPr indent="0" lvl="0" marL="0" rtl="0" algn="l">
              <a:lnSpc>
                <a:spcPct val="115000"/>
              </a:lnSpc>
              <a:spcBef>
                <a:spcPts val="1600"/>
              </a:spcBef>
              <a:spcAft>
                <a:spcPts val="0"/>
              </a:spcAft>
              <a:buNone/>
            </a:pPr>
            <a:r>
              <a:rPr lang="en" sz="2000"/>
              <a:t>2. </a:t>
            </a:r>
            <a:r>
              <a:rPr lang="en" sz="2000"/>
              <a:t>Print all integer pairs(a,b) greater than 1 and  less than 100 that can satisfy hypotenuse rule. Hypotenuse should be also integer. Display the number of pairs found. Treat (3,4) and (4,3) as one pair.</a:t>
            </a:r>
            <a:endParaRPr sz="2000"/>
          </a:p>
          <a:p>
            <a:pPr indent="0" lvl="0" marL="457200" rtl="0" algn="l">
              <a:lnSpc>
                <a:spcPct val="115000"/>
              </a:lnSpc>
              <a:spcBef>
                <a:spcPts val="1600"/>
              </a:spcBef>
              <a:spcAft>
                <a:spcPts val="0"/>
              </a:spcAft>
              <a:buSzPts val="1800"/>
              <a:buNone/>
            </a:pPr>
            <a:r>
              <a:t/>
            </a:r>
            <a:endParaRPr sz="2400"/>
          </a:p>
          <a:p>
            <a:pPr indent="0" lvl="0" marL="0" rtl="0" algn="l">
              <a:lnSpc>
                <a:spcPct val="115000"/>
              </a:lnSpc>
              <a:spcBef>
                <a:spcPts val="1600"/>
              </a:spcBef>
              <a:spcAft>
                <a:spcPts val="0"/>
              </a:spcAft>
              <a:buNone/>
            </a:pPr>
            <a:r>
              <a:rPr lang="en" sz="2000"/>
              <a:t>3. </a:t>
            </a:r>
            <a:r>
              <a:rPr lang="en" sz="2000"/>
              <a:t>Find the roots of quadratic function if the values of a, b and c are provided</a:t>
            </a:r>
            <a:endParaRPr sz="2000"/>
          </a:p>
          <a:p>
            <a:pPr indent="0" lvl="0" marL="457200" rtl="0" algn="ctr">
              <a:lnSpc>
                <a:spcPct val="115000"/>
              </a:lnSpc>
              <a:spcBef>
                <a:spcPts val="1600"/>
              </a:spcBef>
              <a:spcAft>
                <a:spcPts val="1600"/>
              </a:spcAft>
              <a:buSzPts val="1800"/>
              <a:buNone/>
            </a:pPr>
            <a:r>
              <a:t/>
            </a:r>
            <a:endParaRPr sz="2400"/>
          </a:p>
        </p:txBody>
      </p:sp>
      <p:pic>
        <p:nvPicPr>
          <p:cNvPr id="431" name="Google Shape;431;g7e44bd323b_3_64"/>
          <p:cNvPicPr preferRelativeResize="0"/>
          <p:nvPr/>
        </p:nvPicPr>
        <p:blipFill rotWithShape="1">
          <a:blip r:embed="rId3">
            <a:alphaModFix/>
          </a:blip>
          <a:srcRect b="0" l="0" r="0" t="0"/>
          <a:stretch/>
        </p:blipFill>
        <p:spPr>
          <a:xfrm>
            <a:off x="3306726" y="4200925"/>
            <a:ext cx="2969500" cy="804825"/>
          </a:xfrm>
          <a:prstGeom prst="rect">
            <a:avLst/>
          </a:prstGeom>
          <a:noFill/>
          <a:ln>
            <a:noFill/>
          </a:ln>
        </p:spPr>
      </p:pic>
      <p:pic>
        <p:nvPicPr>
          <p:cNvPr id="432" name="Google Shape;432;g7e44bd323b_3_64"/>
          <p:cNvPicPr preferRelativeResize="0"/>
          <p:nvPr/>
        </p:nvPicPr>
        <p:blipFill rotWithShape="1">
          <a:blip r:embed="rId4">
            <a:alphaModFix/>
          </a:blip>
          <a:srcRect b="0" l="0" r="0" t="0"/>
          <a:stretch/>
        </p:blipFill>
        <p:spPr>
          <a:xfrm>
            <a:off x="2244905" y="1449363"/>
            <a:ext cx="2844252" cy="478125"/>
          </a:xfrm>
          <a:prstGeom prst="rect">
            <a:avLst/>
          </a:prstGeom>
          <a:noFill/>
          <a:ln>
            <a:noFill/>
          </a:ln>
        </p:spPr>
      </p:pic>
      <p:pic>
        <p:nvPicPr>
          <p:cNvPr id="433" name="Google Shape;433;g7e44bd323b_3_64"/>
          <p:cNvPicPr preferRelativeResize="0"/>
          <p:nvPr/>
        </p:nvPicPr>
        <p:blipFill rotWithShape="1">
          <a:blip r:embed="rId4">
            <a:alphaModFix/>
          </a:blip>
          <a:srcRect b="0" l="0" r="0" t="0"/>
          <a:stretch/>
        </p:blipFill>
        <p:spPr>
          <a:xfrm>
            <a:off x="2397305" y="3197325"/>
            <a:ext cx="2844252" cy="478125"/>
          </a:xfrm>
          <a:prstGeom prst="rect">
            <a:avLst/>
          </a:prstGeom>
          <a:noFill/>
          <a:ln>
            <a:noFill/>
          </a:ln>
        </p:spPr>
      </p:pic>
      <p:sp>
        <p:nvSpPr>
          <p:cNvPr id="434" name="Google Shape;434;g7e44bd323b_3_6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g37f9f70ad5c_17_0"/>
          <p:cNvSpPr txBox="1"/>
          <p:nvPr>
            <p:ph type="title"/>
          </p:nvPr>
        </p:nvSpPr>
        <p:spPr>
          <a:xfrm>
            <a:off x="122325" y="86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Rock Paper Scissors Game</a:t>
            </a:r>
            <a:endParaRPr/>
          </a:p>
        </p:txBody>
      </p:sp>
      <p:sp>
        <p:nvSpPr>
          <p:cNvPr id="440" name="Google Shape;440;g37f9f70ad5c_17_0"/>
          <p:cNvSpPr txBox="1"/>
          <p:nvPr>
            <p:ph idx="1" type="body"/>
          </p:nvPr>
        </p:nvSpPr>
        <p:spPr>
          <a:xfrm>
            <a:off x="311700" y="718684"/>
            <a:ext cx="8520600" cy="3416400"/>
          </a:xfrm>
          <a:prstGeom prst="rect">
            <a:avLst/>
          </a:prstGeom>
        </p:spPr>
        <p:txBody>
          <a:bodyPr anchorCtr="0" anchor="t" bIns="91425" lIns="91425" spcFirstLastPara="1" rIns="91425" wrap="square" tIns="91425">
            <a:noAutofit/>
          </a:bodyPr>
          <a:lstStyle/>
          <a:p>
            <a:pPr indent="0" lvl="0" marL="0" rtl="0" algn="l">
              <a:lnSpc>
                <a:spcPct val="160000"/>
              </a:lnSpc>
              <a:spcBef>
                <a:spcPts val="0"/>
              </a:spcBef>
              <a:spcAft>
                <a:spcPts val="0"/>
              </a:spcAft>
              <a:buNone/>
            </a:pPr>
            <a:r>
              <a:rPr lang="en" sz="1200">
                <a:solidFill>
                  <a:srgbClr val="161C20"/>
                </a:solidFill>
                <a:highlight>
                  <a:srgbClr val="FFFFFF"/>
                </a:highlight>
              </a:rPr>
              <a:t>Create a function  that uses ternary operator which simulates the game "rock, paper, scissors". The function takes the input of both players (rock, paper or scissors), first parameter from first player, second from second player. The function returns the result as such:</a:t>
            </a:r>
            <a:endParaRPr sz="1200">
              <a:solidFill>
                <a:srgbClr val="161C20"/>
              </a:solidFill>
              <a:highlight>
                <a:srgbClr val="FFFFFF"/>
              </a:highlight>
            </a:endParaRPr>
          </a:p>
          <a:p>
            <a:pPr indent="-304800" lvl="0" marL="457200" rtl="0" algn="l">
              <a:lnSpc>
                <a:spcPct val="115000"/>
              </a:lnSpc>
              <a:spcBef>
                <a:spcPts val="1200"/>
              </a:spcBef>
              <a:spcAft>
                <a:spcPts val="0"/>
              </a:spcAft>
              <a:buClr>
                <a:srgbClr val="161C20"/>
              </a:buClr>
              <a:buSzPts val="1200"/>
              <a:buChar char="●"/>
            </a:pPr>
            <a:r>
              <a:rPr lang="en" sz="1200">
                <a:solidFill>
                  <a:srgbClr val="161C20"/>
                </a:solidFill>
                <a:highlight>
                  <a:srgbClr val="FFFFFF"/>
                </a:highlight>
              </a:rPr>
              <a:t>"Player 1 wins"</a:t>
            </a:r>
            <a:endParaRPr sz="1200">
              <a:solidFill>
                <a:srgbClr val="161C20"/>
              </a:solidFill>
              <a:highlight>
                <a:srgbClr val="FFFFFF"/>
              </a:highlight>
            </a:endParaRPr>
          </a:p>
          <a:p>
            <a:pPr indent="-304800" lvl="0" marL="457200" rtl="0" algn="l">
              <a:lnSpc>
                <a:spcPct val="115000"/>
              </a:lnSpc>
              <a:spcBef>
                <a:spcPts val="0"/>
              </a:spcBef>
              <a:spcAft>
                <a:spcPts val="0"/>
              </a:spcAft>
              <a:buClr>
                <a:srgbClr val="161C20"/>
              </a:buClr>
              <a:buSzPts val="1200"/>
              <a:buChar char="●"/>
            </a:pPr>
            <a:r>
              <a:rPr lang="en" sz="1200">
                <a:solidFill>
                  <a:srgbClr val="161C20"/>
                </a:solidFill>
                <a:highlight>
                  <a:srgbClr val="FFFFFF"/>
                </a:highlight>
              </a:rPr>
              <a:t>"Player 2 wins"</a:t>
            </a:r>
            <a:endParaRPr sz="1200">
              <a:solidFill>
                <a:srgbClr val="161C20"/>
              </a:solidFill>
              <a:highlight>
                <a:srgbClr val="FFFFFF"/>
              </a:highlight>
            </a:endParaRPr>
          </a:p>
          <a:p>
            <a:pPr indent="-304800" lvl="0" marL="457200" rtl="0" algn="l">
              <a:lnSpc>
                <a:spcPct val="115000"/>
              </a:lnSpc>
              <a:spcBef>
                <a:spcPts val="0"/>
              </a:spcBef>
              <a:spcAft>
                <a:spcPts val="0"/>
              </a:spcAft>
              <a:buClr>
                <a:srgbClr val="161C20"/>
              </a:buClr>
              <a:buSzPts val="1200"/>
              <a:buChar char="●"/>
            </a:pPr>
            <a:r>
              <a:rPr lang="en" sz="1200">
                <a:solidFill>
                  <a:srgbClr val="161C20"/>
                </a:solidFill>
                <a:highlight>
                  <a:srgbClr val="FFFFFF"/>
                </a:highlight>
              </a:rPr>
              <a:t>"TIE" (if both inputs are the same)</a:t>
            </a:r>
            <a:endParaRPr sz="1200">
              <a:solidFill>
                <a:srgbClr val="161C20"/>
              </a:solidFill>
              <a:highlight>
                <a:srgbClr val="FFFFFF"/>
              </a:highlight>
            </a:endParaRPr>
          </a:p>
          <a:p>
            <a:pPr indent="0" lvl="0" marL="0" rtl="0" algn="l">
              <a:lnSpc>
                <a:spcPct val="160000"/>
              </a:lnSpc>
              <a:spcBef>
                <a:spcPts val="1200"/>
              </a:spcBef>
              <a:spcAft>
                <a:spcPts val="0"/>
              </a:spcAft>
              <a:buClr>
                <a:schemeClr val="dk1"/>
              </a:buClr>
              <a:buSzPts val="1100"/>
              <a:buFont typeface="Arial"/>
              <a:buNone/>
            </a:pPr>
            <a:r>
              <a:rPr lang="en" sz="1200">
                <a:solidFill>
                  <a:srgbClr val="161C20"/>
                </a:solidFill>
                <a:highlight>
                  <a:srgbClr val="FFFFFF"/>
                </a:highlight>
              </a:rPr>
              <a:t>The rules of rock, paper, scissors, if not known:</a:t>
            </a:r>
            <a:endParaRPr sz="1200">
              <a:solidFill>
                <a:srgbClr val="161C20"/>
              </a:solidFill>
              <a:highlight>
                <a:srgbClr val="FFFFFF"/>
              </a:highlight>
            </a:endParaRPr>
          </a:p>
          <a:p>
            <a:pPr indent="-304800" lvl="0" marL="457200" rtl="0" algn="l">
              <a:lnSpc>
                <a:spcPct val="115000"/>
              </a:lnSpc>
              <a:spcBef>
                <a:spcPts val="1200"/>
              </a:spcBef>
              <a:spcAft>
                <a:spcPts val="0"/>
              </a:spcAft>
              <a:buClr>
                <a:srgbClr val="161C20"/>
              </a:buClr>
              <a:buSzPts val="1200"/>
              <a:buChar char="●"/>
            </a:pPr>
            <a:r>
              <a:rPr lang="en" sz="1200">
                <a:solidFill>
                  <a:srgbClr val="161C20"/>
                </a:solidFill>
                <a:highlight>
                  <a:srgbClr val="FFFFFF"/>
                </a:highlight>
              </a:rPr>
              <a:t>Both players have to say either "rock", "paper" or "scissors" at the same time.</a:t>
            </a:r>
            <a:endParaRPr sz="1200">
              <a:solidFill>
                <a:srgbClr val="161C20"/>
              </a:solidFill>
              <a:highlight>
                <a:srgbClr val="FFFFFF"/>
              </a:highlight>
            </a:endParaRPr>
          </a:p>
          <a:p>
            <a:pPr indent="-304800" lvl="0" marL="457200" rtl="0" algn="l">
              <a:lnSpc>
                <a:spcPct val="115000"/>
              </a:lnSpc>
              <a:spcBef>
                <a:spcPts val="0"/>
              </a:spcBef>
              <a:spcAft>
                <a:spcPts val="0"/>
              </a:spcAft>
              <a:buClr>
                <a:srgbClr val="161C20"/>
              </a:buClr>
              <a:buSzPts val="1200"/>
              <a:buChar char="●"/>
            </a:pPr>
            <a:r>
              <a:rPr lang="en" sz="1200">
                <a:solidFill>
                  <a:srgbClr val="161C20"/>
                </a:solidFill>
                <a:highlight>
                  <a:srgbClr val="FFFFFF"/>
                </a:highlight>
              </a:rPr>
              <a:t>Rock beats scissors, paper beats rock, scissors beat paper.</a:t>
            </a:r>
            <a:endParaRPr/>
          </a:p>
        </p:txBody>
      </p:sp>
      <p:sp>
        <p:nvSpPr>
          <p:cNvPr id="441" name="Google Shape;441;g37f9f70ad5c_17_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442" name="Google Shape;442;g37f9f70ad5c_17_0"/>
          <p:cNvSpPr txBox="1"/>
          <p:nvPr/>
        </p:nvSpPr>
        <p:spPr>
          <a:xfrm>
            <a:off x="4881009" y="3139930"/>
            <a:ext cx="4468500" cy="1988400"/>
          </a:xfrm>
          <a:prstGeom prst="rect">
            <a:avLst/>
          </a:prstGeom>
          <a:noFill/>
          <a:ln>
            <a:noFill/>
          </a:ln>
        </p:spPr>
        <p:txBody>
          <a:bodyPr anchorCtr="0" anchor="t" bIns="91425" lIns="91425" spcFirstLastPara="1" rIns="91425" wrap="square" tIns="91425">
            <a:spAutoFit/>
          </a:bodyPr>
          <a:lstStyle/>
          <a:p>
            <a:pPr indent="0" lvl="0" marL="0" rtl="0" algn="l">
              <a:lnSpc>
                <a:spcPct val="128570"/>
              </a:lnSpc>
              <a:spcBef>
                <a:spcPts val="1400"/>
              </a:spcBef>
              <a:spcAft>
                <a:spcPts val="0"/>
              </a:spcAft>
              <a:buNone/>
            </a:pPr>
            <a:r>
              <a:rPr b="1" lang="en" sz="1300">
                <a:solidFill>
                  <a:srgbClr val="161C20"/>
                </a:solidFill>
                <a:highlight>
                  <a:srgbClr val="FFFFFF"/>
                </a:highlight>
              </a:rPr>
              <a:t>Examples</a:t>
            </a:r>
            <a:endParaRPr b="1" sz="1300">
              <a:solidFill>
                <a:srgbClr val="161C20"/>
              </a:solidFill>
              <a:highlight>
                <a:srgbClr val="FFFFFF"/>
              </a:highlight>
            </a:endParaRPr>
          </a:p>
          <a:p>
            <a:pPr indent="0" lvl="0" marL="0" rtl="0" algn="l">
              <a:lnSpc>
                <a:spcPct val="115000"/>
              </a:lnSpc>
              <a:spcBef>
                <a:spcPts val="1000"/>
              </a:spcBef>
              <a:spcAft>
                <a:spcPts val="0"/>
              </a:spcAft>
              <a:buNone/>
            </a:pPr>
            <a:r>
              <a:rPr lang="en" sz="1050">
                <a:solidFill>
                  <a:srgbClr val="161C20"/>
                </a:solidFill>
                <a:highlight>
                  <a:srgbClr val="FFFFFF"/>
                </a:highlight>
                <a:latin typeface="Courier New"/>
                <a:ea typeface="Courier New"/>
                <a:cs typeface="Courier New"/>
                <a:sym typeface="Courier New"/>
              </a:rPr>
              <a:t>rps("rock", "paper") ➞ "Player 2 wins"</a:t>
            </a:r>
            <a:endParaRPr sz="1050">
              <a:solidFill>
                <a:srgbClr val="161C20"/>
              </a:solidFill>
              <a:highlight>
                <a:srgbClr val="FFFFFF"/>
              </a:highlight>
              <a:latin typeface="Courier New"/>
              <a:ea typeface="Courier New"/>
              <a:cs typeface="Courier New"/>
              <a:sym typeface="Courier New"/>
            </a:endParaRPr>
          </a:p>
          <a:p>
            <a:pPr indent="0" lvl="0" marL="0" rtl="0" algn="l">
              <a:lnSpc>
                <a:spcPct val="115000"/>
              </a:lnSpc>
              <a:spcBef>
                <a:spcPts val="1000"/>
              </a:spcBef>
              <a:spcAft>
                <a:spcPts val="0"/>
              </a:spcAft>
              <a:buNone/>
            </a:pPr>
            <a:r>
              <a:rPr lang="en" sz="1050">
                <a:solidFill>
                  <a:srgbClr val="161C20"/>
                </a:solidFill>
                <a:highlight>
                  <a:srgbClr val="FFFFFF"/>
                </a:highlight>
                <a:latin typeface="Courier New"/>
                <a:ea typeface="Courier New"/>
                <a:cs typeface="Courier New"/>
                <a:sym typeface="Courier New"/>
              </a:rPr>
              <a:t>rps("paper", "rock") ➞ "Player 1 wins"</a:t>
            </a:r>
            <a:endParaRPr sz="1050">
              <a:solidFill>
                <a:srgbClr val="161C20"/>
              </a:solidFill>
              <a:highlight>
                <a:srgbClr val="FFFFFF"/>
              </a:highlight>
              <a:latin typeface="Courier New"/>
              <a:ea typeface="Courier New"/>
              <a:cs typeface="Courier New"/>
              <a:sym typeface="Courier New"/>
            </a:endParaRPr>
          </a:p>
          <a:p>
            <a:pPr indent="0" lvl="0" marL="0" rtl="0" algn="l">
              <a:lnSpc>
                <a:spcPct val="115000"/>
              </a:lnSpc>
              <a:spcBef>
                <a:spcPts val="1000"/>
              </a:spcBef>
              <a:spcAft>
                <a:spcPts val="0"/>
              </a:spcAft>
              <a:buNone/>
            </a:pPr>
            <a:r>
              <a:rPr lang="en" sz="1050">
                <a:solidFill>
                  <a:srgbClr val="161C20"/>
                </a:solidFill>
                <a:highlight>
                  <a:srgbClr val="FFFFFF"/>
                </a:highlight>
                <a:latin typeface="Courier New"/>
                <a:ea typeface="Courier New"/>
                <a:cs typeface="Courier New"/>
                <a:sym typeface="Courier New"/>
              </a:rPr>
              <a:t>rps("paper", "scissors") ➞ "Player 2 wins"</a:t>
            </a:r>
            <a:endParaRPr sz="1050">
              <a:solidFill>
                <a:srgbClr val="161C20"/>
              </a:solidFill>
              <a:highlight>
                <a:srgbClr val="FFFFFF"/>
              </a:highlight>
              <a:latin typeface="Courier New"/>
              <a:ea typeface="Courier New"/>
              <a:cs typeface="Courier New"/>
              <a:sym typeface="Courier New"/>
            </a:endParaRPr>
          </a:p>
          <a:p>
            <a:pPr indent="0" lvl="0" marL="0" rtl="0" algn="l">
              <a:lnSpc>
                <a:spcPct val="115000"/>
              </a:lnSpc>
              <a:spcBef>
                <a:spcPts val="1000"/>
              </a:spcBef>
              <a:spcAft>
                <a:spcPts val="0"/>
              </a:spcAft>
              <a:buNone/>
            </a:pPr>
            <a:r>
              <a:rPr lang="en" sz="1050">
                <a:solidFill>
                  <a:srgbClr val="161C20"/>
                </a:solidFill>
                <a:highlight>
                  <a:srgbClr val="FFFFFF"/>
                </a:highlight>
                <a:latin typeface="Courier New"/>
                <a:ea typeface="Courier New"/>
                <a:cs typeface="Courier New"/>
                <a:sym typeface="Courier New"/>
              </a:rPr>
              <a:t>rps("scissors", "scissors") ➞ "TIE"</a:t>
            </a:r>
            <a:endParaRPr sz="1050">
              <a:solidFill>
                <a:srgbClr val="161C20"/>
              </a:solidFill>
              <a:highlight>
                <a:srgbClr val="FFFFFF"/>
              </a:highlight>
              <a:latin typeface="Courier New"/>
              <a:ea typeface="Courier New"/>
              <a:cs typeface="Courier New"/>
              <a:sym typeface="Courier New"/>
            </a:endParaRPr>
          </a:p>
          <a:p>
            <a:pPr indent="0" lvl="0" marL="0" rtl="0" algn="l">
              <a:lnSpc>
                <a:spcPct val="120000"/>
              </a:lnSpc>
              <a:spcBef>
                <a:spcPts val="1000"/>
              </a:spcBef>
              <a:spcAft>
                <a:spcPts val="1000"/>
              </a:spcAft>
              <a:buNone/>
            </a:pPr>
            <a:r>
              <a:rPr lang="en" sz="1050">
                <a:solidFill>
                  <a:srgbClr val="161C20"/>
                </a:solidFill>
                <a:highlight>
                  <a:srgbClr val="FFFFFF"/>
                </a:highlight>
                <a:latin typeface="Courier New"/>
                <a:ea typeface="Courier New"/>
                <a:cs typeface="Courier New"/>
                <a:sym typeface="Courier New"/>
              </a:rPr>
              <a:t>rps("scissors", "paper") ➞ "Player 1 wins"</a:t>
            </a:r>
            <a:endParaRPr/>
          </a:p>
        </p:txBody>
      </p:sp>
      <p:sp>
        <p:nvSpPr>
          <p:cNvPr id="443" name="Google Shape;443;g37f9f70ad5c_17_0"/>
          <p:cNvSpPr txBox="1"/>
          <p:nvPr/>
        </p:nvSpPr>
        <p:spPr>
          <a:xfrm>
            <a:off x="6301775" y="1748400"/>
            <a:ext cx="1993500" cy="9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0000"/>
                </a:solidFill>
              </a:rPr>
              <a:t>Note: No if else allowed in the function</a:t>
            </a:r>
            <a:endParaRPr sz="1800">
              <a:solidFill>
                <a:srgbClr val="FF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g7e44bd323b_3_7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2.1.2 Character Functions</a:t>
            </a:r>
            <a:endParaRPr/>
          </a:p>
        </p:txBody>
      </p:sp>
      <p:sp>
        <p:nvSpPr>
          <p:cNvPr id="449" name="Google Shape;449;g7e44bd323b_3_7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Although a computer is a numerical machine, most often, data entered into a computer consist of numbers, characters and strings. The underlying fact is that characters are treated as integers. The C++ Library has in-built functions used to manipulate characters. The functions can be accessed by including &lt;cctype&gt; header file. </a:t>
            </a:r>
            <a:endParaRPr/>
          </a:p>
          <a:p>
            <a:pPr indent="0" lvl="0" marL="0" rtl="0" algn="l">
              <a:lnSpc>
                <a:spcPct val="115000"/>
              </a:lnSpc>
              <a:spcBef>
                <a:spcPts val="1600"/>
              </a:spcBef>
              <a:spcAft>
                <a:spcPts val="0"/>
              </a:spcAft>
              <a:buClr>
                <a:schemeClr val="dk1"/>
              </a:buClr>
              <a:buSzPts val="1100"/>
              <a:buFont typeface="Arial"/>
              <a:buNone/>
            </a:pPr>
            <a:r>
              <a:rPr lang="en"/>
              <a:t>For example, to convert a character c from uppercase to lower case, we use the following statement:</a:t>
            </a:r>
            <a:endParaRPr/>
          </a:p>
          <a:p>
            <a:pPr indent="0" lvl="0" marL="0" rtl="0" algn="l">
              <a:lnSpc>
                <a:spcPct val="115000"/>
              </a:lnSpc>
              <a:spcBef>
                <a:spcPts val="1600"/>
              </a:spcBef>
              <a:spcAft>
                <a:spcPts val="0"/>
              </a:spcAft>
              <a:buClr>
                <a:schemeClr val="dk1"/>
              </a:buClr>
              <a:buSzPts val="1100"/>
              <a:buFont typeface="Arial"/>
              <a:buNone/>
            </a:pPr>
            <a:r>
              <a:rPr b="1" i="1" lang="en"/>
              <a:t>letter = tolower(c)</a:t>
            </a:r>
            <a:endParaRPr b="1" i="1"/>
          </a:p>
          <a:p>
            <a:pPr indent="0" lvl="0" marL="0" rtl="0" algn="l">
              <a:lnSpc>
                <a:spcPct val="115000"/>
              </a:lnSpc>
              <a:spcBef>
                <a:spcPts val="1600"/>
              </a:spcBef>
              <a:spcAft>
                <a:spcPts val="1600"/>
              </a:spcAft>
              <a:buSzPts val="1800"/>
              <a:buNone/>
            </a:pPr>
            <a:r>
              <a:rPr b="1" i="1" lang="en"/>
              <a:t>Activity: Prompt the user to enter a character and get it converted to lowercase</a:t>
            </a:r>
            <a:endParaRPr b="1" i="1"/>
          </a:p>
        </p:txBody>
      </p:sp>
      <p:sp>
        <p:nvSpPr>
          <p:cNvPr id="450" name="Google Shape;450;g7e44bd323b_3_7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g7e44bd323b_3_77"/>
          <p:cNvSpPr txBox="1"/>
          <p:nvPr>
            <p:ph type="title"/>
          </p:nvPr>
        </p:nvSpPr>
        <p:spPr>
          <a:xfrm>
            <a:off x="59125" y="6615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Character functions</a:t>
            </a:r>
            <a:endParaRPr/>
          </a:p>
        </p:txBody>
      </p:sp>
      <p:graphicFrame>
        <p:nvGraphicFramePr>
          <p:cNvPr id="456" name="Google Shape;456;g7e44bd323b_3_77"/>
          <p:cNvGraphicFramePr/>
          <p:nvPr/>
        </p:nvGraphicFramePr>
        <p:xfrm>
          <a:off x="171800" y="696025"/>
          <a:ext cx="3000000" cy="3000000"/>
        </p:xfrm>
        <a:graphic>
          <a:graphicData uri="http://schemas.openxmlformats.org/drawingml/2006/table">
            <a:tbl>
              <a:tblPr>
                <a:noFill/>
                <a:tableStyleId>{8833F13D-1055-41CB-94B1-DEB62D9CAE1A}</a:tableStyleId>
              </a:tblPr>
              <a:tblGrid>
                <a:gridCol w="1393175"/>
                <a:gridCol w="4355250"/>
                <a:gridCol w="2323150"/>
              </a:tblGrid>
              <a:tr h="415525">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Function</a:t>
                      </a:r>
                      <a:endParaRPr b="1"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Description</a:t>
                      </a:r>
                      <a:endParaRPr b="1"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t>Example</a:t>
                      </a:r>
                      <a:endParaRPr b="1" sz="1400" u="none" cap="none" strike="noStrike"/>
                    </a:p>
                  </a:txBody>
                  <a:tcPr marT="91425" marB="91425" marR="91425" marL="91425"/>
                </a:tc>
              </a:tr>
              <a:tr h="4738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isdigit(c)</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Check whether c is a numeric digit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isdigit(‘5’)//returns 1</a:t>
                      </a:r>
                      <a:endParaRPr sz="1400" u="none" cap="none" strike="noStrike"/>
                    </a:p>
                  </a:txBody>
                  <a:tcPr marT="91425" marB="91425" marR="91425" marL="91425"/>
                </a:tc>
              </a:tr>
              <a:tr h="4155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isalpha(c)</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Check whether c is a letter</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isalpha(‘5’)//returns 0</a:t>
                      </a:r>
                      <a:endParaRPr sz="1400" u="none" cap="none" strike="noStrike"/>
                    </a:p>
                  </a:txBody>
                  <a:tcPr marT="91425" marB="91425" marR="91425" marL="91425"/>
                </a:tc>
              </a:tr>
              <a:tr h="4738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isupper(c)</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Check whether c is in uppercase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isupper(‘x’)//returns 0</a:t>
                      </a:r>
                      <a:endParaRPr sz="1400" u="none" cap="none" strike="noStrike"/>
                    </a:p>
                  </a:txBody>
                  <a:tcPr marT="91425" marB="91425" marR="91425" marL="91425"/>
                </a:tc>
              </a:tr>
              <a:tr h="4155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tolower(c)</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Converts c to lowercase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tolower(‘R’)//returns r</a:t>
                      </a:r>
                      <a:endParaRPr sz="1400" u="none" cap="none" strike="noStrike"/>
                    </a:p>
                  </a:txBody>
                  <a:tcPr marT="91425" marB="91425" marR="91425" marL="91425"/>
                </a:tc>
              </a:tr>
              <a:tr h="4155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toupper(c)</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Converts c to uppercase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toupper(‘r’)//returns R</a:t>
                      </a:r>
                      <a:endParaRPr sz="1400" u="none" cap="none" strike="noStrike"/>
                    </a:p>
                  </a:txBody>
                  <a:tcPr marT="91425" marB="91425" marR="91425" marL="91425"/>
                </a:tc>
              </a:tr>
              <a:tr h="4155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 isblank(c)</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Returns true if character is a space or tab else returns false.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isblank(‘ ‘) or </a:t>
                      </a:r>
                      <a:r>
                        <a:rPr lang="en" sz="1400" u="none" cap="none" strike="noStrike">
                          <a:solidFill>
                            <a:schemeClr val="dk1"/>
                          </a:solidFill>
                        </a:rPr>
                        <a:t>isblank(‘\t’) return 1</a:t>
                      </a:r>
                      <a:endParaRPr sz="1400" u="none" cap="none" strike="noStrike"/>
                    </a:p>
                  </a:txBody>
                  <a:tcPr marT="91425" marB="91425" marR="91425" marL="91425"/>
                </a:tc>
              </a:tr>
              <a:tr h="4155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isspace(c)</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Returns true if character is a space or tab or whitespace control code ( Eg.\n,\r ) else returns false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isspace(‘\n’) return 1</a:t>
                      </a:r>
                      <a:endParaRPr sz="1400" u="none" cap="none" strike="noStrike"/>
                    </a:p>
                  </a:txBody>
                  <a:tcPr marT="91425" marB="91425" marR="91425" marL="91425"/>
                </a:tc>
              </a:tr>
              <a:tr h="4155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 iscntrl(c)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Returns true if character is tab or any control codeelse returns false.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 sz="1400" u="none" cap="none" strike="noStrike">
                          <a:solidFill>
                            <a:schemeClr val="dk1"/>
                          </a:solidFill>
                        </a:rPr>
                        <a:t> iscntrl(‘\t’)  return 1</a:t>
                      </a:r>
                      <a:endParaRPr b="1" sz="1400" u="none" cap="none" strike="noStrike"/>
                    </a:p>
                  </a:txBody>
                  <a:tcPr marT="91425" marB="91425" marR="91425" marL="91425"/>
                </a:tc>
              </a:tr>
            </a:tbl>
          </a:graphicData>
        </a:graphic>
      </p:graphicFrame>
      <p:sp>
        <p:nvSpPr>
          <p:cNvPr id="457" name="Google Shape;457;g7e44bd323b_3_7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g7e44bd323b_3_82"/>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Exercises</a:t>
            </a:r>
            <a:endParaRPr/>
          </a:p>
        </p:txBody>
      </p:sp>
      <p:sp>
        <p:nvSpPr>
          <p:cNvPr id="463" name="Google Shape;463;g7e44bd323b_3_82"/>
          <p:cNvSpPr txBox="1"/>
          <p:nvPr>
            <p:ph idx="1" type="body"/>
          </p:nvPr>
        </p:nvSpPr>
        <p:spPr>
          <a:xfrm>
            <a:off x="311700" y="8476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AutoNum type="arabicPeriod"/>
            </a:pPr>
            <a:r>
              <a:rPr lang="en"/>
              <a:t>Build a program that checks the number of spaces in a given string. </a:t>
            </a:r>
            <a:endParaRPr/>
          </a:p>
          <a:p>
            <a:pPr indent="-342900" lvl="0" marL="457200" rtl="0" algn="l">
              <a:lnSpc>
                <a:spcPct val="115000"/>
              </a:lnSpc>
              <a:spcBef>
                <a:spcPts val="0"/>
              </a:spcBef>
              <a:spcAft>
                <a:spcPts val="0"/>
              </a:spcAft>
              <a:buSzPts val="1800"/>
              <a:buAutoNum type="arabicPeriod"/>
            </a:pPr>
            <a:r>
              <a:rPr lang="en"/>
              <a:t>Build a program that check if an entered character is a digit or alpha letter.</a:t>
            </a:r>
            <a:endParaRPr/>
          </a:p>
          <a:p>
            <a:pPr indent="-342900" lvl="0" marL="457200" rtl="0" algn="l">
              <a:lnSpc>
                <a:spcPct val="115000"/>
              </a:lnSpc>
              <a:spcBef>
                <a:spcPts val="0"/>
              </a:spcBef>
              <a:spcAft>
                <a:spcPts val="0"/>
              </a:spcAft>
              <a:buSzPts val="1800"/>
              <a:buAutoNum type="arabicPeriod"/>
            </a:pPr>
            <a:r>
              <a:rPr lang="en"/>
              <a:t>Build  a word count program which display the following through input provided by the user:</a:t>
            </a:r>
            <a:endParaRPr/>
          </a:p>
          <a:p>
            <a:pPr indent="-317500" lvl="2" marL="1371600" rtl="0" algn="l">
              <a:lnSpc>
                <a:spcPct val="115000"/>
              </a:lnSpc>
              <a:spcBef>
                <a:spcPts val="0"/>
              </a:spcBef>
              <a:spcAft>
                <a:spcPts val="0"/>
              </a:spcAft>
              <a:buSzPts val="1400"/>
              <a:buAutoNum type="romanLcPeriod"/>
            </a:pPr>
            <a:r>
              <a:rPr lang="en"/>
              <a:t>Number of characters without spaces</a:t>
            </a:r>
            <a:endParaRPr/>
          </a:p>
          <a:p>
            <a:pPr indent="-317500" lvl="2" marL="1371600" rtl="0" algn="l">
              <a:lnSpc>
                <a:spcPct val="115000"/>
              </a:lnSpc>
              <a:spcBef>
                <a:spcPts val="0"/>
              </a:spcBef>
              <a:spcAft>
                <a:spcPts val="0"/>
              </a:spcAft>
              <a:buSzPts val="1400"/>
              <a:buAutoNum type="romanLcPeriod"/>
            </a:pPr>
            <a:r>
              <a:rPr lang="en"/>
              <a:t>Number of characters with spaces</a:t>
            </a:r>
            <a:endParaRPr/>
          </a:p>
          <a:p>
            <a:pPr indent="-317500" lvl="2" marL="1371600" rtl="0" algn="l">
              <a:lnSpc>
                <a:spcPct val="115000"/>
              </a:lnSpc>
              <a:spcBef>
                <a:spcPts val="0"/>
              </a:spcBef>
              <a:spcAft>
                <a:spcPts val="0"/>
              </a:spcAft>
              <a:buSzPts val="1400"/>
              <a:buAutoNum type="romanLcPeriod"/>
            </a:pPr>
            <a:r>
              <a:rPr lang="en"/>
              <a:t>Number of words</a:t>
            </a:r>
            <a:endParaRPr/>
          </a:p>
          <a:p>
            <a:pPr indent="-342900" lvl="0" marL="457200" rtl="0" algn="l">
              <a:lnSpc>
                <a:spcPct val="115000"/>
              </a:lnSpc>
              <a:spcBef>
                <a:spcPts val="0"/>
              </a:spcBef>
              <a:spcAft>
                <a:spcPts val="0"/>
              </a:spcAft>
              <a:buSzPts val="1800"/>
              <a:buAutoNum type="arabicPeriod"/>
            </a:pPr>
            <a:r>
              <a:rPr lang="en"/>
              <a:t>Build a program that reverse  a given string</a:t>
            </a:r>
            <a:endParaRPr/>
          </a:p>
          <a:p>
            <a:pPr indent="0" lvl="0" marL="457200" rtl="0" algn="l">
              <a:lnSpc>
                <a:spcPct val="115000"/>
              </a:lnSpc>
              <a:spcBef>
                <a:spcPts val="1600"/>
              </a:spcBef>
              <a:spcAft>
                <a:spcPts val="1600"/>
              </a:spcAft>
              <a:buSzPts val="1800"/>
              <a:buNone/>
            </a:pPr>
            <a:r>
              <a:rPr b="1" i="1" lang="en"/>
              <a:t>Note: Treat String as array of characters</a:t>
            </a:r>
            <a:endParaRPr b="1" i="1"/>
          </a:p>
        </p:txBody>
      </p:sp>
      <p:sp>
        <p:nvSpPr>
          <p:cNvPr id="464" name="Google Shape;464;g7e44bd323b_3_8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g70e08bb8ca_23_5"/>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String functions</a:t>
            </a:r>
            <a:endParaRPr/>
          </a:p>
        </p:txBody>
      </p:sp>
      <p:sp>
        <p:nvSpPr>
          <p:cNvPr id="470" name="Google Shape;470;g70e08bb8ca_23_5"/>
          <p:cNvSpPr txBox="1"/>
          <p:nvPr>
            <p:ph idx="1" type="body"/>
          </p:nvPr>
        </p:nvSpPr>
        <p:spPr>
          <a:xfrm>
            <a:off x="311700" y="619075"/>
            <a:ext cx="8666700" cy="441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500"/>
              <a:t>String is a collection of characters. There are two types of strings commonly used in C++ programming language:</a:t>
            </a:r>
            <a:endParaRPr sz="1500"/>
          </a:p>
          <a:p>
            <a:pPr indent="-323850" lvl="0" marL="457200" rtl="0" algn="l">
              <a:lnSpc>
                <a:spcPct val="115000"/>
              </a:lnSpc>
              <a:spcBef>
                <a:spcPts val="0"/>
              </a:spcBef>
              <a:spcAft>
                <a:spcPts val="0"/>
              </a:spcAft>
              <a:buSzPts val="1500"/>
              <a:buChar char="●"/>
            </a:pPr>
            <a:r>
              <a:rPr lang="en" sz="1500"/>
              <a:t>Strings that are objects of string class (The Standard C++ Library string class)</a:t>
            </a:r>
            <a:endParaRPr sz="1500"/>
          </a:p>
          <a:p>
            <a:pPr indent="-323850" lvl="0" marL="457200" rtl="0" algn="l">
              <a:lnSpc>
                <a:spcPct val="115000"/>
              </a:lnSpc>
              <a:spcBef>
                <a:spcPts val="0"/>
              </a:spcBef>
              <a:spcAft>
                <a:spcPts val="0"/>
              </a:spcAft>
              <a:buSzPts val="1500"/>
              <a:buChar char="●"/>
            </a:pPr>
            <a:r>
              <a:rPr lang="en" sz="1500"/>
              <a:t>Character array or C-strings (C-style Strings)</a:t>
            </a:r>
            <a:endParaRPr sz="1500">
              <a:solidFill>
                <a:schemeClr val="dk1"/>
              </a:solidFill>
              <a:highlight>
                <a:srgbClr val="F9FAFC"/>
              </a:highlight>
            </a:endParaRPr>
          </a:p>
          <a:p>
            <a:pPr indent="0" lvl="0" marL="0" rtl="0" algn="l">
              <a:lnSpc>
                <a:spcPct val="115000"/>
              </a:lnSpc>
              <a:spcBef>
                <a:spcPts val="0"/>
              </a:spcBef>
              <a:spcAft>
                <a:spcPts val="0"/>
              </a:spcAft>
              <a:buClr>
                <a:schemeClr val="dk1"/>
              </a:buClr>
              <a:buSzPts val="1100"/>
              <a:buFont typeface="Arial"/>
              <a:buNone/>
            </a:pPr>
            <a:r>
              <a:rPr lang="en" sz="1500"/>
              <a:t>The string-handling library provides many useful functions for manipulating string</a:t>
            </a:r>
            <a:endParaRPr sz="1500"/>
          </a:p>
          <a:p>
            <a:pPr indent="0" lvl="0" marL="0" rtl="0" algn="l">
              <a:lnSpc>
                <a:spcPct val="115000"/>
              </a:lnSpc>
              <a:spcBef>
                <a:spcPts val="0"/>
              </a:spcBef>
              <a:spcAft>
                <a:spcPts val="0"/>
              </a:spcAft>
              <a:buClr>
                <a:schemeClr val="dk1"/>
              </a:buClr>
              <a:buSzPts val="1100"/>
              <a:buFont typeface="Arial"/>
              <a:buNone/>
            </a:pPr>
            <a:r>
              <a:rPr lang="en" sz="1500"/>
              <a:t>data, comparing strings, searching strings for characters and substrings. To use</a:t>
            </a:r>
            <a:endParaRPr sz="1500"/>
          </a:p>
          <a:p>
            <a:pPr indent="0" lvl="0" marL="0" rtl="0" algn="l">
              <a:lnSpc>
                <a:spcPct val="115000"/>
              </a:lnSpc>
              <a:spcBef>
                <a:spcPts val="0"/>
              </a:spcBef>
              <a:spcAft>
                <a:spcPts val="0"/>
              </a:spcAft>
              <a:buClr>
                <a:schemeClr val="dk1"/>
              </a:buClr>
              <a:buSzPts val="1100"/>
              <a:buFont typeface="Arial"/>
              <a:buNone/>
            </a:pPr>
            <a:r>
              <a:rPr lang="en" sz="1500"/>
              <a:t>the string manipulation functions, you must include the &lt;cstring&gt;&lt;string.h&gt; header file. For example, the following statement returns the number of characters in “My House”String</a:t>
            </a:r>
            <a:endParaRPr sz="1500"/>
          </a:p>
          <a:p>
            <a:pPr indent="0" lvl="0" marL="914400" rtl="0" algn="l">
              <a:lnSpc>
                <a:spcPct val="115000"/>
              </a:lnSpc>
              <a:spcBef>
                <a:spcPts val="0"/>
              </a:spcBef>
              <a:spcAft>
                <a:spcPts val="0"/>
              </a:spcAft>
              <a:buSzPts val="1800"/>
              <a:buNone/>
            </a:pPr>
            <a:r>
              <a:rPr b="1" i="1" lang="en" sz="1500"/>
              <a:t>#include &lt;iostream&gt;</a:t>
            </a:r>
            <a:endParaRPr b="1" i="1" sz="1500"/>
          </a:p>
          <a:p>
            <a:pPr indent="0" lvl="0" marL="914400" rtl="0" algn="l">
              <a:lnSpc>
                <a:spcPct val="115000"/>
              </a:lnSpc>
              <a:spcBef>
                <a:spcPts val="0"/>
              </a:spcBef>
              <a:spcAft>
                <a:spcPts val="0"/>
              </a:spcAft>
              <a:buSzPts val="1800"/>
              <a:buNone/>
            </a:pPr>
            <a:r>
              <a:rPr b="1" i="1" lang="en" sz="1500"/>
              <a:t>#include&lt;string.h&gt;</a:t>
            </a:r>
            <a:endParaRPr b="1" i="1" sz="1500"/>
          </a:p>
          <a:p>
            <a:pPr indent="0" lvl="0" marL="914400" rtl="0" algn="l">
              <a:lnSpc>
                <a:spcPct val="115000"/>
              </a:lnSpc>
              <a:spcBef>
                <a:spcPts val="0"/>
              </a:spcBef>
              <a:spcAft>
                <a:spcPts val="0"/>
              </a:spcAft>
              <a:buSzPts val="1800"/>
              <a:buNone/>
            </a:pPr>
            <a:r>
              <a:rPr b="1" i="1" lang="en" sz="1500"/>
              <a:t>using namespace std;</a:t>
            </a:r>
            <a:endParaRPr b="1" i="1" sz="1500"/>
          </a:p>
          <a:p>
            <a:pPr indent="0" lvl="0" marL="914400" rtl="0" algn="l">
              <a:lnSpc>
                <a:spcPct val="115000"/>
              </a:lnSpc>
              <a:spcBef>
                <a:spcPts val="0"/>
              </a:spcBef>
              <a:spcAft>
                <a:spcPts val="0"/>
              </a:spcAft>
              <a:buSzPts val="1800"/>
              <a:buNone/>
            </a:pPr>
            <a:r>
              <a:rPr b="1" i="1" lang="en" sz="1500"/>
              <a:t>int main(){</a:t>
            </a:r>
            <a:endParaRPr b="1" i="1" sz="1500"/>
          </a:p>
          <a:p>
            <a:pPr indent="0" lvl="0" marL="914400" rtl="0" algn="l">
              <a:lnSpc>
                <a:spcPct val="115000"/>
              </a:lnSpc>
              <a:spcBef>
                <a:spcPts val="0"/>
              </a:spcBef>
              <a:spcAft>
                <a:spcPts val="0"/>
              </a:spcAft>
              <a:buSzPts val="1800"/>
              <a:buNone/>
            </a:pPr>
            <a:r>
              <a:rPr b="1" i="1" lang="en" sz="1500"/>
              <a:t>int count=0;</a:t>
            </a:r>
            <a:endParaRPr b="1" i="1" sz="1500"/>
          </a:p>
          <a:p>
            <a:pPr indent="0" lvl="0" marL="914400" rtl="0" algn="l">
              <a:lnSpc>
                <a:spcPct val="115000"/>
              </a:lnSpc>
              <a:spcBef>
                <a:spcPts val="0"/>
              </a:spcBef>
              <a:spcAft>
                <a:spcPts val="0"/>
              </a:spcAft>
              <a:buSzPts val="1800"/>
              <a:buNone/>
            </a:pPr>
            <a:r>
              <a:rPr b="1" i="1" lang="en" sz="1500"/>
              <a:t>count = strlen("My House");//</a:t>
            </a:r>
            <a:endParaRPr b="1" i="1" sz="1500"/>
          </a:p>
          <a:p>
            <a:pPr indent="0" lvl="0" marL="914400" rtl="0" algn="l">
              <a:lnSpc>
                <a:spcPct val="115000"/>
              </a:lnSpc>
              <a:spcBef>
                <a:spcPts val="0"/>
              </a:spcBef>
              <a:spcAft>
                <a:spcPts val="0"/>
              </a:spcAft>
              <a:buSzPts val="1800"/>
              <a:buNone/>
            </a:pPr>
            <a:r>
              <a:rPr b="1" i="1" lang="en" sz="1500"/>
              <a:t>cout &lt;&lt;"Number of characters are: "&lt;&lt;count&lt;&lt;endl; //return 8</a:t>
            </a:r>
            <a:endParaRPr b="1" i="1" sz="1500"/>
          </a:p>
          <a:p>
            <a:pPr indent="0" lvl="0" marL="914400" rtl="0" algn="l">
              <a:lnSpc>
                <a:spcPct val="115000"/>
              </a:lnSpc>
              <a:spcBef>
                <a:spcPts val="0"/>
              </a:spcBef>
              <a:spcAft>
                <a:spcPts val="0"/>
              </a:spcAft>
              <a:buSzPts val="1800"/>
              <a:buNone/>
            </a:pPr>
            <a:r>
              <a:rPr b="1" i="1" lang="en" sz="1500"/>
              <a:t>return 0;}</a:t>
            </a:r>
            <a:endParaRPr b="1" i="1" sz="1500"/>
          </a:p>
          <a:p>
            <a:pPr indent="0" lvl="0" marL="0" rtl="0" algn="l">
              <a:lnSpc>
                <a:spcPct val="115000"/>
              </a:lnSpc>
              <a:spcBef>
                <a:spcPts val="0"/>
              </a:spcBef>
              <a:spcAft>
                <a:spcPts val="0"/>
              </a:spcAft>
              <a:buSzPts val="1800"/>
              <a:buNone/>
            </a:pPr>
            <a:r>
              <a:t/>
            </a:r>
            <a:endParaRPr b="1" i="1" sz="1500"/>
          </a:p>
          <a:p>
            <a:pPr indent="0" lvl="0" marL="0" rtl="0" algn="l">
              <a:lnSpc>
                <a:spcPct val="115000"/>
              </a:lnSpc>
              <a:spcBef>
                <a:spcPts val="0"/>
              </a:spcBef>
              <a:spcAft>
                <a:spcPts val="0"/>
              </a:spcAft>
              <a:buClr>
                <a:schemeClr val="dk1"/>
              </a:buClr>
              <a:buSzPts val="1100"/>
              <a:buFont typeface="Arial"/>
              <a:buNone/>
            </a:pPr>
            <a:r>
              <a:t/>
            </a:r>
            <a:endParaRPr sz="1500"/>
          </a:p>
          <a:p>
            <a:pPr indent="0" lvl="0" marL="0" rtl="0" algn="l">
              <a:lnSpc>
                <a:spcPct val="115000"/>
              </a:lnSpc>
              <a:spcBef>
                <a:spcPts val="0"/>
              </a:spcBef>
              <a:spcAft>
                <a:spcPts val="1600"/>
              </a:spcAft>
              <a:buSzPts val="1800"/>
              <a:buNone/>
            </a:pPr>
            <a:r>
              <a:t/>
            </a:r>
            <a:endParaRPr sz="1500"/>
          </a:p>
        </p:txBody>
      </p:sp>
      <p:sp>
        <p:nvSpPr>
          <p:cNvPr id="471" name="Google Shape;471;g70e08bb8ca_23_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g70e08bb8ca_23_10"/>
          <p:cNvSpPr txBox="1"/>
          <p:nvPr>
            <p:ph type="title"/>
          </p:nvPr>
        </p:nvSpPr>
        <p:spPr>
          <a:xfrm>
            <a:off x="311700" y="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String vs character array(c-string)</a:t>
            </a:r>
            <a:endParaRPr/>
          </a:p>
        </p:txBody>
      </p:sp>
      <p:sp>
        <p:nvSpPr>
          <p:cNvPr id="477" name="Google Shape;477;g70e08bb8ca_23_10"/>
          <p:cNvSpPr txBox="1"/>
          <p:nvPr>
            <p:ph idx="1" type="body"/>
          </p:nvPr>
        </p:nvSpPr>
        <p:spPr>
          <a:xfrm>
            <a:off x="311700" y="466675"/>
            <a:ext cx="8520600" cy="4447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600">
                <a:solidFill>
                  <a:schemeClr val="dk1"/>
                </a:solidFill>
                <a:highlight>
                  <a:srgbClr val="FFFFFF"/>
                </a:highlight>
                <a:latin typeface="Roboto"/>
                <a:ea typeface="Roboto"/>
                <a:cs typeface="Roboto"/>
                <a:sym typeface="Roboto"/>
              </a:rPr>
              <a:t>A character array is simply an </a:t>
            </a:r>
            <a:r>
              <a:rPr b="1" lang="en" sz="1600">
                <a:solidFill>
                  <a:schemeClr val="dk1"/>
                </a:solidFill>
                <a:highlight>
                  <a:srgbClr val="FFFFFF"/>
                </a:highlight>
                <a:latin typeface="Roboto"/>
                <a:ea typeface="Roboto"/>
                <a:cs typeface="Roboto"/>
                <a:sym typeface="Roboto"/>
              </a:rPr>
              <a:t>array of characters </a:t>
            </a:r>
            <a:r>
              <a:rPr lang="en" sz="1600">
                <a:solidFill>
                  <a:schemeClr val="dk1"/>
                </a:solidFill>
                <a:highlight>
                  <a:srgbClr val="FFFFFF"/>
                </a:highlight>
                <a:latin typeface="Roboto"/>
                <a:ea typeface="Roboto"/>
                <a:cs typeface="Roboto"/>
                <a:sym typeface="Roboto"/>
              </a:rPr>
              <a:t>that can be  terminated by a null character.</a:t>
            </a:r>
            <a:endParaRPr sz="1600"/>
          </a:p>
          <a:p>
            <a:pPr indent="0" lvl="0" marL="0" rtl="0" algn="l">
              <a:lnSpc>
                <a:spcPct val="115000"/>
              </a:lnSpc>
              <a:spcBef>
                <a:spcPts val="0"/>
              </a:spcBef>
              <a:spcAft>
                <a:spcPts val="0"/>
              </a:spcAft>
              <a:buSzPts val="1800"/>
              <a:buNone/>
            </a:pPr>
            <a:r>
              <a:rPr b="1" i="1" lang="en" sz="1600"/>
              <a:t>Example: </a:t>
            </a:r>
            <a:endParaRPr b="1" i="1" sz="1600"/>
          </a:p>
          <a:p>
            <a:pPr indent="0" lvl="0" marL="0" rtl="0" algn="l">
              <a:lnSpc>
                <a:spcPct val="115000"/>
              </a:lnSpc>
              <a:spcBef>
                <a:spcPts val="0"/>
              </a:spcBef>
              <a:spcAft>
                <a:spcPts val="0"/>
              </a:spcAft>
              <a:buSzPts val="1800"/>
              <a:buNone/>
            </a:pPr>
            <a:r>
              <a:rPr b="1" i="1" lang="en" sz="1400"/>
              <a:t>char str[11]=”C++”; </a:t>
            </a:r>
            <a:endParaRPr b="1" i="1" sz="1400"/>
          </a:p>
          <a:p>
            <a:pPr indent="0" lvl="0" marL="0" rtl="0" algn="l">
              <a:lnSpc>
                <a:spcPct val="115000"/>
              </a:lnSpc>
              <a:spcBef>
                <a:spcPts val="0"/>
              </a:spcBef>
              <a:spcAft>
                <a:spcPts val="0"/>
              </a:spcAft>
              <a:buSzPts val="1800"/>
              <a:buNone/>
            </a:pPr>
            <a:r>
              <a:rPr b="1" i="1" lang="en" sz="1400"/>
              <a:t>char str[ ]=”C++”; </a:t>
            </a:r>
            <a:endParaRPr b="1" i="1" sz="1400"/>
          </a:p>
          <a:p>
            <a:pPr indent="0" lvl="0" marL="0" rtl="0" algn="l">
              <a:lnSpc>
                <a:spcPct val="115000"/>
              </a:lnSpc>
              <a:spcBef>
                <a:spcPts val="0"/>
              </a:spcBef>
              <a:spcAft>
                <a:spcPts val="0"/>
              </a:spcAft>
              <a:buSzPts val="1800"/>
              <a:buNone/>
            </a:pPr>
            <a:r>
              <a:rPr b="1" i="1" lang="en" sz="1400"/>
              <a:t>char *str=”C++”</a:t>
            </a:r>
            <a:r>
              <a:rPr b="1" lang="en" sz="1400"/>
              <a:t>;</a:t>
            </a:r>
            <a:endParaRPr b="1" sz="1400"/>
          </a:p>
          <a:p>
            <a:pPr indent="0" lvl="0" marL="0" rtl="0" algn="l">
              <a:lnSpc>
                <a:spcPct val="115000"/>
              </a:lnSpc>
              <a:spcBef>
                <a:spcPts val="0"/>
              </a:spcBef>
              <a:spcAft>
                <a:spcPts val="0"/>
              </a:spcAft>
              <a:buSzPts val="1800"/>
              <a:buNone/>
            </a:pPr>
            <a:r>
              <a:rPr b="1" lang="en" sz="1400"/>
              <a:t>char str[] = {'C','+','+','\0'};</a:t>
            </a:r>
            <a:endParaRPr b="1" sz="1400"/>
          </a:p>
          <a:p>
            <a:pPr indent="0" lvl="0" marL="0" rtl="0" algn="l">
              <a:lnSpc>
                <a:spcPct val="115000"/>
              </a:lnSpc>
              <a:spcBef>
                <a:spcPts val="0"/>
              </a:spcBef>
              <a:spcAft>
                <a:spcPts val="0"/>
              </a:spcAft>
              <a:buSzPts val="1800"/>
              <a:buNone/>
            </a:pPr>
            <a:r>
              <a:rPr b="1" lang="en" sz="1400"/>
              <a:t>char str[4] = {'C','+','+','\0'};</a:t>
            </a:r>
            <a:endParaRPr b="1" sz="1400">
              <a:solidFill>
                <a:srgbClr val="25265E"/>
              </a:solidFill>
              <a:highlight>
                <a:srgbClr val="F5F5F5"/>
              </a:highlight>
              <a:latin typeface="Courier New"/>
              <a:ea typeface="Courier New"/>
              <a:cs typeface="Courier New"/>
              <a:sym typeface="Courier New"/>
            </a:endParaRPr>
          </a:p>
          <a:p>
            <a:pPr indent="0" lvl="0" marL="0" rtl="0" algn="l">
              <a:lnSpc>
                <a:spcPct val="115000"/>
              </a:lnSpc>
              <a:spcBef>
                <a:spcPts val="0"/>
              </a:spcBef>
              <a:spcAft>
                <a:spcPts val="0"/>
              </a:spcAft>
              <a:buSzPts val="1800"/>
              <a:buNone/>
            </a:pPr>
            <a:r>
              <a:t/>
            </a:r>
            <a:endParaRPr b="1" i="1" sz="1600"/>
          </a:p>
          <a:p>
            <a:pPr indent="0" lvl="0" marL="0" rtl="0" algn="l">
              <a:lnSpc>
                <a:spcPct val="115000"/>
              </a:lnSpc>
              <a:spcBef>
                <a:spcPts val="0"/>
              </a:spcBef>
              <a:spcAft>
                <a:spcPts val="0"/>
              </a:spcAft>
              <a:buSzPts val="1800"/>
              <a:buNone/>
            </a:pPr>
            <a:r>
              <a:rPr lang="en" sz="1600"/>
              <a:t>String is a class that characterises objects that can be depicted as a stream of characters.</a:t>
            </a:r>
            <a:endParaRPr sz="1600"/>
          </a:p>
          <a:p>
            <a:pPr indent="0" lvl="0" marL="0" rtl="0" algn="l">
              <a:lnSpc>
                <a:spcPct val="115000"/>
              </a:lnSpc>
              <a:spcBef>
                <a:spcPts val="0"/>
              </a:spcBef>
              <a:spcAft>
                <a:spcPts val="0"/>
              </a:spcAft>
              <a:buSzPts val="1800"/>
              <a:buNone/>
            </a:pPr>
            <a:r>
              <a:rPr b="1" lang="en" sz="1600"/>
              <a:t>Example:  </a:t>
            </a:r>
            <a:r>
              <a:rPr lang="en" sz="1600"/>
              <a:t>String s=”I like c++”;</a:t>
            </a:r>
            <a:endParaRPr sz="1600"/>
          </a:p>
          <a:p>
            <a:pPr indent="0" lvl="0" marL="0" rtl="0" algn="l">
              <a:lnSpc>
                <a:spcPct val="115000"/>
              </a:lnSpc>
              <a:spcBef>
                <a:spcPts val="0"/>
              </a:spcBef>
              <a:spcAft>
                <a:spcPts val="0"/>
              </a:spcAft>
              <a:buSzPts val="1800"/>
              <a:buNone/>
            </a:pPr>
            <a:r>
              <a:rPr lang="en" sz="1600"/>
              <a:t>The sizeof character array needs to be designated statically. More memory can’t be distributed at run time whenever required.</a:t>
            </a:r>
            <a:endParaRPr sz="1600"/>
          </a:p>
          <a:p>
            <a:pPr indent="0" lvl="0" marL="0" rtl="0" algn="l">
              <a:lnSpc>
                <a:spcPct val="115000"/>
              </a:lnSpc>
              <a:spcBef>
                <a:spcPts val="0"/>
              </a:spcBef>
              <a:spcAft>
                <a:spcPts val="0"/>
              </a:spcAft>
              <a:buSzPts val="1800"/>
              <a:buNone/>
            </a:pPr>
            <a:r>
              <a:rPr lang="en" sz="1600"/>
              <a:t>On string memory is distributed progressively and more memory can be distributed at run time.</a:t>
            </a:r>
            <a:endParaRPr sz="1600"/>
          </a:p>
          <a:p>
            <a:pPr indent="0" lvl="0" marL="0" rtl="0" algn="l">
              <a:lnSpc>
                <a:spcPct val="115000"/>
              </a:lnSpc>
              <a:spcBef>
                <a:spcPts val="0"/>
              </a:spcBef>
              <a:spcAft>
                <a:spcPts val="0"/>
              </a:spcAft>
              <a:buSzPts val="1800"/>
              <a:buNone/>
            </a:pPr>
            <a:r>
              <a:rPr lang="en" sz="1600"/>
              <a:t>Character array are quicker while strings are slower. Character array does not offer a lot inbuilt capabilities to control strings. String class has various functions that permit complex tasks on string.</a:t>
            </a:r>
            <a:endParaRPr sz="1600"/>
          </a:p>
          <a:p>
            <a:pPr indent="0" lvl="0" marL="0" rtl="0" algn="l">
              <a:lnSpc>
                <a:spcPct val="115000"/>
              </a:lnSpc>
              <a:spcBef>
                <a:spcPts val="0"/>
              </a:spcBef>
              <a:spcAft>
                <a:spcPts val="0"/>
              </a:spcAft>
              <a:buSzPts val="1800"/>
              <a:buNone/>
            </a:pPr>
            <a:r>
              <a:t/>
            </a:r>
            <a:endParaRPr sz="1600"/>
          </a:p>
        </p:txBody>
      </p:sp>
      <p:sp>
        <p:nvSpPr>
          <p:cNvPr id="478" name="Google Shape;478;g70e08bb8ca_23_1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g70e08bb8ca_23_15"/>
          <p:cNvSpPr txBox="1"/>
          <p:nvPr>
            <p:ph type="title"/>
          </p:nvPr>
        </p:nvSpPr>
        <p:spPr>
          <a:xfrm>
            <a:off x="311700" y="-81050"/>
            <a:ext cx="8520600" cy="491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1600"/>
              <a:t>Examples of Commonly used string functions</a:t>
            </a:r>
            <a:endParaRPr sz="1600"/>
          </a:p>
        </p:txBody>
      </p:sp>
      <p:graphicFrame>
        <p:nvGraphicFramePr>
          <p:cNvPr id="484" name="Google Shape;484;g70e08bb8ca_23_15"/>
          <p:cNvGraphicFramePr/>
          <p:nvPr/>
        </p:nvGraphicFramePr>
        <p:xfrm>
          <a:off x="110388" y="327750"/>
          <a:ext cx="3000000" cy="3000000"/>
        </p:xfrm>
        <a:graphic>
          <a:graphicData uri="http://schemas.openxmlformats.org/drawingml/2006/table">
            <a:tbl>
              <a:tblPr>
                <a:noFill/>
                <a:tableStyleId>{8833F13D-1055-41CB-94B1-DEB62D9CAE1A}</a:tableStyleId>
              </a:tblPr>
              <a:tblGrid>
                <a:gridCol w="1445150"/>
                <a:gridCol w="4331475"/>
                <a:gridCol w="3146600"/>
              </a:tblGrid>
              <a:tr h="354425">
                <a:tc>
                  <a:txBody>
                    <a:bodyPr/>
                    <a:lstStyle/>
                    <a:p>
                      <a:pPr indent="0" lvl="0" marL="0" marR="0" rtl="0" algn="l">
                        <a:lnSpc>
                          <a:spcPct val="100000"/>
                        </a:lnSpc>
                        <a:spcBef>
                          <a:spcPts val="0"/>
                        </a:spcBef>
                        <a:spcAft>
                          <a:spcPts val="0"/>
                        </a:spcAft>
                        <a:buClr>
                          <a:srgbClr val="000000"/>
                        </a:buClr>
                        <a:buSzPts val="1200"/>
                        <a:buFont typeface="Arial"/>
                        <a:buNone/>
                      </a:pPr>
                      <a:r>
                        <a:rPr b="1" lang="en" sz="1200" u="none" cap="none" strike="noStrike"/>
                        <a:t>Function</a:t>
                      </a:r>
                      <a:endParaRPr b="1"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b="1" lang="en" sz="1200" u="none" cap="none" strike="noStrike"/>
                        <a:t>Description </a:t>
                      </a:r>
                      <a:endParaRPr b="1"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b="1" lang="en" sz="1200" u="none" cap="none" strike="noStrike"/>
                        <a:t>Example</a:t>
                      </a:r>
                      <a:endParaRPr b="1" sz="1200" u="none" cap="none" strike="noStrike"/>
                    </a:p>
                  </a:txBody>
                  <a:tcPr marT="91425" marB="91425" marR="91425" marL="91425"/>
                </a:tc>
              </a:tr>
              <a:tr h="707025">
                <a:tc>
                  <a:txBody>
                    <a:bodyPr/>
                    <a:lstStyle/>
                    <a:p>
                      <a:pPr indent="0" lvl="0" marL="0" marR="0" rtl="0" algn="l">
                        <a:lnSpc>
                          <a:spcPct val="100000"/>
                        </a:lnSpc>
                        <a:spcBef>
                          <a:spcPts val="0"/>
                        </a:spcBef>
                        <a:spcAft>
                          <a:spcPts val="0"/>
                        </a:spcAft>
                        <a:buClr>
                          <a:srgbClr val="000000"/>
                        </a:buClr>
                        <a:buSzPts val="1200"/>
                        <a:buFont typeface="Arial"/>
                        <a:buNone/>
                      </a:pPr>
                      <a:r>
                        <a:rPr b="1" lang="en" sz="1200" u="none" cap="none" strike="noStrike"/>
                        <a:t>strcat(x,y)</a:t>
                      </a:r>
                      <a:endParaRPr b="1"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Concatenates two strings declared as array of characters. The second string is appended to first string.</a:t>
                      </a:r>
                      <a:endParaRPr sz="1200" u="none" cap="none" strike="noStrike"/>
                    </a:p>
                    <a:p>
                      <a:pPr indent="0" lvl="0" marL="0" marR="0" rtl="0" algn="l">
                        <a:lnSpc>
                          <a:spcPct val="100000"/>
                        </a:lnSpc>
                        <a:spcBef>
                          <a:spcPts val="0"/>
                        </a:spcBef>
                        <a:spcAft>
                          <a:spcPts val="0"/>
                        </a:spcAft>
                        <a:buClr>
                          <a:srgbClr val="000000"/>
                        </a:buClr>
                        <a:buSzPts val="1200"/>
                        <a:buFont typeface="Arial"/>
                        <a:buNone/>
                      </a:pPr>
                      <a:r>
                        <a:rPr lang="en" sz="1200" u="none" cap="none" strike="noStrike"/>
                        <a:t>Char str[]=”This is an”; char st[]=”example”;</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strcat(str, st)</a:t>
                      </a:r>
                      <a:endParaRPr sz="1200" u="none" cap="none" strike="noStrike"/>
                    </a:p>
                    <a:p>
                      <a:pPr indent="0" lvl="0" marL="0" marR="0" rtl="0" algn="l">
                        <a:lnSpc>
                          <a:spcPct val="100000"/>
                        </a:lnSpc>
                        <a:spcBef>
                          <a:spcPts val="0"/>
                        </a:spcBef>
                        <a:spcAft>
                          <a:spcPts val="0"/>
                        </a:spcAft>
                        <a:buClr>
                          <a:srgbClr val="000000"/>
                        </a:buClr>
                        <a:buSzPts val="1200"/>
                        <a:buFont typeface="Arial"/>
                        <a:buNone/>
                      </a:pPr>
                      <a:r>
                        <a:rPr lang="en" sz="1200" u="none" cap="none" strike="noStrike"/>
                        <a:t>Return </a:t>
                      </a:r>
                      <a:r>
                        <a:rPr b="1" lang="en" sz="1200" u="none" cap="none" strike="noStrike"/>
                        <a:t>This is an example</a:t>
                      </a:r>
                      <a:endParaRPr b="1" sz="1200" u="none" cap="none" strike="noStrike"/>
                    </a:p>
                  </a:txBody>
                  <a:tcPr marT="91425" marB="91425" marR="91425" marL="91425"/>
                </a:tc>
              </a:tr>
              <a:tr h="707025">
                <a:tc>
                  <a:txBody>
                    <a:bodyPr/>
                    <a:lstStyle/>
                    <a:p>
                      <a:pPr indent="0" lvl="0" marL="0" marR="0" rtl="0" algn="l">
                        <a:lnSpc>
                          <a:spcPct val="100000"/>
                        </a:lnSpc>
                        <a:spcBef>
                          <a:spcPts val="0"/>
                        </a:spcBef>
                        <a:spcAft>
                          <a:spcPts val="0"/>
                        </a:spcAft>
                        <a:buClr>
                          <a:srgbClr val="000000"/>
                        </a:buClr>
                        <a:buSzPts val="1200"/>
                        <a:buFont typeface="Arial"/>
                        <a:buNone/>
                      </a:pPr>
                      <a:r>
                        <a:rPr b="1" lang="en" sz="1200" u="none" cap="none" strike="noStrike"/>
                        <a:t>strcmp(x,y)</a:t>
                      </a:r>
                      <a:endParaRPr b="1"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Compare two strings</a:t>
                      </a:r>
                      <a:endParaRPr sz="1200" u="none" cap="none" strike="noStrike"/>
                    </a:p>
                    <a:p>
                      <a:pPr indent="0" lvl="0" marL="0" marR="0" rtl="0" algn="l">
                        <a:lnSpc>
                          <a:spcPct val="100000"/>
                        </a:lnSpc>
                        <a:spcBef>
                          <a:spcPts val="0"/>
                        </a:spcBef>
                        <a:spcAft>
                          <a:spcPts val="0"/>
                        </a:spcAft>
                        <a:buClr>
                          <a:srgbClr val="000000"/>
                        </a:buClr>
                        <a:buSzPts val="1200"/>
                        <a:buFont typeface="Arial"/>
                        <a:buNone/>
                      </a:pPr>
                      <a:r>
                        <a:rPr lang="en" sz="1200" u="none" cap="none" strike="noStrike"/>
                        <a:t>Return &lt;0,=0 or &gt;0 depending character value.</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strcomp(“he”,”se”) return -1</a:t>
                      </a:r>
                      <a:endParaRPr sz="1200" u="none" cap="none" strike="noStrike"/>
                    </a:p>
                    <a:p>
                      <a:pPr indent="0" lvl="0" marL="0" marR="0" rtl="0" algn="l">
                        <a:lnSpc>
                          <a:spcPct val="100000"/>
                        </a:lnSpc>
                        <a:spcBef>
                          <a:spcPts val="0"/>
                        </a:spcBef>
                        <a:spcAft>
                          <a:spcPts val="0"/>
                        </a:spcAft>
                        <a:buClr>
                          <a:srgbClr val="000000"/>
                        </a:buClr>
                        <a:buSzPts val="1200"/>
                        <a:buFont typeface="Arial"/>
                        <a:buNone/>
                      </a:pPr>
                      <a:r>
                        <a:rPr lang="en" sz="1200" u="none" cap="none" strike="noStrike"/>
                        <a:t>strcomp(“she”,”se”) return 1</a:t>
                      </a:r>
                      <a:endParaRPr sz="1200" u="none" cap="none" strike="noStrike"/>
                    </a:p>
                    <a:p>
                      <a:pPr indent="0" lvl="0" marL="0" marR="0" rtl="0" algn="l">
                        <a:lnSpc>
                          <a:spcPct val="100000"/>
                        </a:lnSpc>
                        <a:spcBef>
                          <a:spcPts val="0"/>
                        </a:spcBef>
                        <a:spcAft>
                          <a:spcPts val="0"/>
                        </a:spcAft>
                        <a:buClr>
                          <a:srgbClr val="000000"/>
                        </a:buClr>
                        <a:buSzPts val="1200"/>
                        <a:buFont typeface="Arial"/>
                        <a:buNone/>
                      </a:pPr>
                      <a:r>
                        <a:rPr lang="en" sz="1200" u="none" cap="none" strike="noStrike"/>
                        <a:t>strcomp(“se”,”se”) return 0</a:t>
                      </a:r>
                      <a:endParaRPr sz="1200" u="none" cap="none" strike="noStrike"/>
                    </a:p>
                  </a:txBody>
                  <a:tcPr marT="91425" marB="91425" marR="91425" marL="91425"/>
                </a:tc>
              </a:tr>
              <a:tr h="530725">
                <a:tc>
                  <a:txBody>
                    <a:bodyPr/>
                    <a:lstStyle/>
                    <a:p>
                      <a:pPr indent="0" lvl="0" marL="0" marR="0" rtl="0" algn="l">
                        <a:lnSpc>
                          <a:spcPct val="100000"/>
                        </a:lnSpc>
                        <a:spcBef>
                          <a:spcPts val="0"/>
                        </a:spcBef>
                        <a:spcAft>
                          <a:spcPts val="0"/>
                        </a:spcAft>
                        <a:buClr>
                          <a:srgbClr val="000000"/>
                        </a:buClr>
                        <a:buSzPts val="1200"/>
                        <a:buFont typeface="Arial"/>
                        <a:buNone/>
                      </a:pPr>
                      <a:r>
                        <a:rPr b="1" lang="en" sz="1200" u="none" cap="none" strike="noStrike"/>
                        <a:t>strlen (s)</a:t>
                      </a:r>
                      <a:endParaRPr b="1"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Returns the length of the string.  strlen (s) does not work on string variable. It is a c function</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strlen(‘him’)// returns 3</a:t>
                      </a:r>
                      <a:endParaRPr sz="1200" u="none" cap="none" strike="noStrike"/>
                    </a:p>
                  </a:txBody>
                  <a:tcPr marT="91425" marB="91425" marR="91425" marL="91425"/>
                </a:tc>
              </a:tr>
              <a:tr h="354425">
                <a:tc>
                  <a:txBody>
                    <a:bodyPr/>
                    <a:lstStyle/>
                    <a:p>
                      <a:pPr indent="0" lvl="0" marL="0" marR="0" rtl="0" algn="l">
                        <a:lnSpc>
                          <a:spcPct val="100000"/>
                        </a:lnSpc>
                        <a:spcBef>
                          <a:spcPts val="0"/>
                        </a:spcBef>
                        <a:spcAft>
                          <a:spcPts val="0"/>
                        </a:spcAft>
                        <a:buClr>
                          <a:schemeClr val="dk1"/>
                        </a:buClr>
                        <a:buSzPts val="1100"/>
                        <a:buFont typeface="Arial"/>
                        <a:buNone/>
                      </a:pPr>
                      <a:r>
                        <a:rPr b="1" lang="en" sz="1200" u="none" cap="none" strike="noStrike">
                          <a:solidFill>
                            <a:schemeClr val="dk1"/>
                          </a:solidFill>
                        </a:rPr>
                        <a:t>s.size()</a:t>
                      </a:r>
                      <a:endParaRPr b="1"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Return the length of string.</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String s=”him”; s.size()//return 3</a:t>
                      </a:r>
                      <a:endParaRPr sz="1200" u="none" cap="none" strike="noStrike"/>
                    </a:p>
                  </a:txBody>
                  <a:tcPr marT="91425" marB="91425" marR="91425" marL="91425"/>
                </a:tc>
              </a:tr>
              <a:tr h="391550">
                <a:tc>
                  <a:txBody>
                    <a:bodyPr/>
                    <a:lstStyle/>
                    <a:p>
                      <a:pPr indent="0" lvl="0" marL="0" marR="0" rtl="0" algn="l">
                        <a:lnSpc>
                          <a:spcPct val="100000"/>
                        </a:lnSpc>
                        <a:spcBef>
                          <a:spcPts val="0"/>
                        </a:spcBef>
                        <a:spcAft>
                          <a:spcPts val="0"/>
                        </a:spcAft>
                        <a:buClr>
                          <a:srgbClr val="000000"/>
                        </a:buClr>
                        <a:buSzPts val="1200"/>
                        <a:buFont typeface="Arial"/>
                        <a:buNone/>
                      </a:pPr>
                      <a:r>
                        <a:rPr b="1" lang="en" sz="1200" u="none" cap="none" strike="noStrike">
                          <a:solidFill>
                            <a:schemeClr val="dk1"/>
                          </a:solidFill>
                        </a:rPr>
                        <a:t>s.length()</a:t>
                      </a:r>
                      <a:endParaRPr b="1" sz="12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Return the length of string.</a:t>
                      </a:r>
                      <a:endParaRPr sz="1200" u="none" cap="none" strike="noStrike"/>
                    </a:p>
                  </a:txBody>
                  <a:tcPr marT="91425" marB="91425" marR="91425" marL="91425"/>
                </a:tc>
                <a:tc>
                  <a:txBody>
                    <a:bodyPr/>
                    <a:lstStyle/>
                    <a:p>
                      <a:pPr indent="0" lvl="0" marL="0" marR="0" rtl="0" algn="l">
                        <a:lnSpc>
                          <a:spcPct val="120000"/>
                        </a:lnSpc>
                        <a:spcBef>
                          <a:spcPts val="0"/>
                        </a:spcBef>
                        <a:spcAft>
                          <a:spcPts val="0"/>
                        </a:spcAft>
                        <a:buClr>
                          <a:srgbClr val="000000"/>
                        </a:buClr>
                        <a:buSzPts val="1200"/>
                        <a:buFont typeface="Arial"/>
                        <a:buNone/>
                      </a:pPr>
                      <a:r>
                        <a:rPr lang="en" sz="1200" u="none" cap="none" strike="noStrike">
                          <a:solidFill>
                            <a:schemeClr val="dk1"/>
                          </a:solidFill>
                        </a:rPr>
                        <a:t>String s=”him”; s.length()//return 3</a:t>
                      </a:r>
                      <a:endParaRPr sz="1200" u="none" cap="none" strike="noStrike"/>
                    </a:p>
                  </a:txBody>
                  <a:tcPr marT="91425" marB="91425" marR="91425" marL="91425"/>
                </a:tc>
              </a:tr>
              <a:tr h="530725">
                <a:tc>
                  <a:txBody>
                    <a:bodyPr/>
                    <a:lstStyle/>
                    <a:p>
                      <a:pPr indent="0" lvl="0" marL="0" marR="0" rtl="0" algn="l">
                        <a:lnSpc>
                          <a:spcPct val="100000"/>
                        </a:lnSpc>
                        <a:spcBef>
                          <a:spcPts val="0"/>
                        </a:spcBef>
                        <a:spcAft>
                          <a:spcPts val="0"/>
                        </a:spcAft>
                        <a:buClr>
                          <a:srgbClr val="000000"/>
                        </a:buClr>
                        <a:buSzPts val="1200"/>
                        <a:buFont typeface="Arial"/>
                        <a:buNone/>
                      </a:pPr>
                      <a:r>
                        <a:rPr b="1" lang="en" sz="1200" u="none" cap="none" strike="noStrike"/>
                        <a:t>strcpy(x,y)</a:t>
                      </a:r>
                      <a:endParaRPr b="1"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Copies the second string to first string. It overrides the value of first string.</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strcpy(y,x); copy x to y</a:t>
                      </a:r>
                      <a:endParaRPr sz="1200" u="none" cap="none" strike="noStrike"/>
                    </a:p>
                  </a:txBody>
                  <a:tcPr marT="91425" marB="91425" marR="91425" marL="91425"/>
                </a:tc>
              </a:tr>
              <a:tr h="530725">
                <a:tc>
                  <a:txBody>
                    <a:bodyPr/>
                    <a:lstStyle/>
                    <a:p>
                      <a:pPr indent="0" lvl="0" marL="0" marR="0" rtl="0" algn="l">
                        <a:lnSpc>
                          <a:spcPct val="100000"/>
                        </a:lnSpc>
                        <a:spcBef>
                          <a:spcPts val="0"/>
                        </a:spcBef>
                        <a:spcAft>
                          <a:spcPts val="0"/>
                        </a:spcAft>
                        <a:buClr>
                          <a:srgbClr val="000000"/>
                        </a:buClr>
                        <a:buSzPts val="1200"/>
                        <a:buFont typeface="Arial"/>
                        <a:buNone/>
                      </a:pPr>
                      <a:r>
                        <a:rPr b="1" lang="en" sz="1200" u="none" cap="none" strike="noStrike"/>
                        <a:t>getline()</a:t>
                      </a:r>
                      <a:endParaRPr b="1"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This function is used to store a stream of characters as entered by the user in the object memory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getline(cin, x)// x as a stream of characters entered</a:t>
                      </a:r>
                      <a:endParaRPr sz="1200" u="none" cap="none" strike="noStrike"/>
                    </a:p>
                  </a:txBody>
                  <a:tcPr marT="91425" marB="91425" marR="91425" marL="91425"/>
                </a:tc>
              </a:tr>
              <a:tr h="385975">
                <a:tc>
                  <a:txBody>
                    <a:bodyPr/>
                    <a:lstStyle/>
                    <a:p>
                      <a:pPr indent="0" lvl="0" marL="0" marR="0" rtl="0" algn="l">
                        <a:lnSpc>
                          <a:spcPct val="100000"/>
                        </a:lnSpc>
                        <a:spcBef>
                          <a:spcPts val="0"/>
                        </a:spcBef>
                        <a:spcAft>
                          <a:spcPts val="0"/>
                        </a:spcAft>
                        <a:buClr>
                          <a:srgbClr val="000000"/>
                        </a:buClr>
                        <a:buSzPts val="1200"/>
                        <a:buFont typeface="Arial"/>
                        <a:buNone/>
                      </a:pPr>
                      <a:r>
                        <a:rPr b="1" lang="en" sz="1200" u="none" cap="none" strike="noStrike"/>
                        <a:t>s.push_back('c'); </a:t>
                      </a:r>
                      <a:endParaRPr b="1"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Insert a character c from the end</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String s=”hi”; s.push_back(‘m’);// return him</a:t>
                      </a:r>
                      <a:endParaRPr sz="1200" u="none" cap="none" strike="noStrike"/>
                    </a:p>
                  </a:txBody>
                  <a:tcPr marT="91425" marB="91425" marR="91425" marL="91425"/>
                </a:tc>
              </a:tr>
              <a:tr h="354425">
                <a:tc>
                  <a:txBody>
                    <a:bodyPr/>
                    <a:lstStyle/>
                    <a:p>
                      <a:pPr indent="0" lvl="0" marL="0" marR="0" rtl="0" algn="l">
                        <a:lnSpc>
                          <a:spcPct val="100000"/>
                        </a:lnSpc>
                        <a:spcBef>
                          <a:spcPts val="0"/>
                        </a:spcBef>
                        <a:spcAft>
                          <a:spcPts val="0"/>
                        </a:spcAft>
                        <a:buClr>
                          <a:srgbClr val="000000"/>
                        </a:buClr>
                        <a:buSzPts val="1200"/>
                        <a:buFont typeface="Arial"/>
                        <a:buNone/>
                      </a:pPr>
                      <a:r>
                        <a:rPr b="1" lang="en" sz="1200" u="none" cap="none" strike="noStrike"/>
                        <a:t>s.pop_back()</a:t>
                      </a:r>
                      <a:endParaRPr b="1"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Delete a character at the end of a string</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t> String s=”him”; s.pop_back(s);// return hi</a:t>
                      </a:r>
                      <a:endParaRPr sz="1200" u="none" cap="none" strike="noStrike"/>
                    </a:p>
                  </a:txBody>
                  <a:tcPr marT="91425" marB="91425" marR="91425" marL="91425"/>
                </a:tc>
              </a:tr>
            </a:tbl>
          </a:graphicData>
        </a:graphic>
      </p:graphicFrame>
      <p:sp>
        <p:nvSpPr>
          <p:cNvPr id="485" name="Google Shape;485;g70e08bb8ca_23_1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g70e08bb8ca_23_20"/>
          <p:cNvSpPr txBox="1"/>
          <p:nvPr>
            <p:ph type="title"/>
          </p:nvPr>
        </p:nvSpPr>
        <p:spPr>
          <a:xfrm>
            <a:off x="311700" y="140225"/>
            <a:ext cx="8520600" cy="581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Examples</a:t>
            </a:r>
            <a:endParaRPr/>
          </a:p>
        </p:txBody>
      </p:sp>
      <p:sp>
        <p:nvSpPr>
          <p:cNvPr id="491" name="Google Shape;491;g70e08bb8ca_23_20"/>
          <p:cNvSpPr txBox="1"/>
          <p:nvPr>
            <p:ph idx="1" type="body"/>
          </p:nvPr>
        </p:nvSpPr>
        <p:spPr>
          <a:xfrm>
            <a:off x="311700" y="847675"/>
            <a:ext cx="2488800" cy="3416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400">
                <a:solidFill>
                  <a:srgbClr val="000000"/>
                </a:solidFill>
              </a:rPr>
              <a:t>#include &lt;iostream&gt;</a:t>
            </a:r>
            <a:endParaRPr sz="1400">
              <a:solidFill>
                <a:srgbClr val="000000"/>
              </a:solidFill>
            </a:endParaRPr>
          </a:p>
          <a:p>
            <a:pPr indent="0" lvl="0" marL="0" rtl="0" algn="l">
              <a:lnSpc>
                <a:spcPct val="115000"/>
              </a:lnSpc>
              <a:spcBef>
                <a:spcPts val="0"/>
              </a:spcBef>
              <a:spcAft>
                <a:spcPts val="0"/>
              </a:spcAft>
              <a:buSzPts val="1800"/>
              <a:buNone/>
            </a:pPr>
            <a:r>
              <a:rPr lang="en" sz="1400">
                <a:solidFill>
                  <a:srgbClr val="000000"/>
                </a:solidFill>
              </a:rPr>
              <a:t>#include &lt;cstring&gt;</a:t>
            </a:r>
            <a:endParaRPr sz="1400">
              <a:solidFill>
                <a:srgbClr val="000000"/>
              </a:solidFill>
            </a:endParaRPr>
          </a:p>
          <a:p>
            <a:pPr indent="0" lvl="0" marL="0" rtl="0" algn="l">
              <a:lnSpc>
                <a:spcPct val="115000"/>
              </a:lnSpc>
              <a:spcBef>
                <a:spcPts val="0"/>
              </a:spcBef>
              <a:spcAft>
                <a:spcPts val="0"/>
              </a:spcAft>
              <a:buSzPts val="1800"/>
              <a:buNone/>
            </a:pPr>
            <a:r>
              <a:rPr lang="en" sz="1400">
                <a:solidFill>
                  <a:srgbClr val="000000"/>
                </a:solidFill>
              </a:rPr>
              <a:t>using namespace std;</a:t>
            </a:r>
            <a:endParaRPr sz="1400">
              <a:solidFill>
                <a:srgbClr val="000000"/>
              </a:solidFill>
            </a:endParaRPr>
          </a:p>
          <a:p>
            <a:pPr indent="0" lvl="0" marL="0" rtl="0" algn="l">
              <a:lnSpc>
                <a:spcPct val="115000"/>
              </a:lnSpc>
              <a:spcBef>
                <a:spcPts val="0"/>
              </a:spcBef>
              <a:spcAft>
                <a:spcPts val="0"/>
              </a:spcAft>
              <a:buSzPts val="1800"/>
              <a:buNone/>
            </a:pPr>
            <a:r>
              <a:rPr lang="en" sz="1400">
                <a:solidFill>
                  <a:srgbClr val="000000"/>
                </a:solidFill>
              </a:rPr>
              <a:t>int main ()</a:t>
            </a:r>
            <a:endParaRPr sz="1400">
              <a:solidFill>
                <a:srgbClr val="000000"/>
              </a:solidFill>
            </a:endParaRPr>
          </a:p>
          <a:p>
            <a:pPr indent="0" lvl="0" marL="0" rtl="0" algn="l">
              <a:lnSpc>
                <a:spcPct val="115000"/>
              </a:lnSpc>
              <a:spcBef>
                <a:spcPts val="0"/>
              </a:spcBef>
              <a:spcAft>
                <a:spcPts val="0"/>
              </a:spcAft>
              <a:buSzPts val="1800"/>
              <a:buNone/>
            </a:pPr>
            <a:r>
              <a:rPr lang="en" sz="1400">
                <a:solidFill>
                  <a:srgbClr val="000000"/>
                </a:solidFill>
              </a:rPr>
              <a:t>{</a:t>
            </a:r>
            <a:endParaRPr sz="1400">
              <a:solidFill>
                <a:srgbClr val="000000"/>
              </a:solidFill>
            </a:endParaRPr>
          </a:p>
          <a:p>
            <a:pPr indent="0" lvl="0" marL="0" rtl="0" algn="l">
              <a:lnSpc>
                <a:spcPct val="115000"/>
              </a:lnSpc>
              <a:spcBef>
                <a:spcPts val="0"/>
              </a:spcBef>
              <a:spcAft>
                <a:spcPts val="0"/>
              </a:spcAft>
              <a:buSzPts val="1800"/>
              <a:buNone/>
            </a:pPr>
            <a:r>
              <a:rPr lang="en" sz="1400">
                <a:solidFill>
                  <a:srgbClr val="000000"/>
                </a:solidFill>
              </a:rPr>
              <a:t>  char str[80];</a:t>
            </a:r>
            <a:endParaRPr sz="1400">
              <a:solidFill>
                <a:srgbClr val="000000"/>
              </a:solidFill>
            </a:endParaRPr>
          </a:p>
          <a:p>
            <a:pPr indent="0" lvl="0" marL="0" rtl="0" algn="l">
              <a:lnSpc>
                <a:spcPct val="115000"/>
              </a:lnSpc>
              <a:spcBef>
                <a:spcPts val="0"/>
              </a:spcBef>
              <a:spcAft>
                <a:spcPts val="0"/>
              </a:spcAft>
              <a:buSzPts val="1800"/>
              <a:buNone/>
            </a:pPr>
            <a:r>
              <a:rPr lang="en" sz="1400">
                <a:solidFill>
                  <a:srgbClr val="000000"/>
                </a:solidFill>
              </a:rPr>
              <a:t>  strcpy (str,"these ");</a:t>
            </a:r>
            <a:endParaRPr sz="1400">
              <a:solidFill>
                <a:srgbClr val="000000"/>
              </a:solidFill>
            </a:endParaRPr>
          </a:p>
          <a:p>
            <a:pPr indent="0" lvl="0" marL="0" rtl="0" algn="l">
              <a:lnSpc>
                <a:spcPct val="115000"/>
              </a:lnSpc>
              <a:spcBef>
                <a:spcPts val="0"/>
              </a:spcBef>
              <a:spcAft>
                <a:spcPts val="0"/>
              </a:spcAft>
              <a:buSzPts val="1800"/>
              <a:buNone/>
            </a:pPr>
            <a:r>
              <a:rPr lang="en" sz="1400">
                <a:solidFill>
                  <a:srgbClr val="000000"/>
                </a:solidFill>
              </a:rPr>
              <a:t>  strcat (str,"strings ");</a:t>
            </a:r>
            <a:endParaRPr sz="1400">
              <a:solidFill>
                <a:srgbClr val="000000"/>
              </a:solidFill>
            </a:endParaRPr>
          </a:p>
          <a:p>
            <a:pPr indent="0" lvl="0" marL="0" rtl="0" algn="l">
              <a:lnSpc>
                <a:spcPct val="115000"/>
              </a:lnSpc>
              <a:spcBef>
                <a:spcPts val="0"/>
              </a:spcBef>
              <a:spcAft>
                <a:spcPts val="0"/>
              </a:spcAft>
              <a:buSzPts val="1800"/>
              <a:buNone/>
            </a:pPr>
            <a:r>
              <a:rPr lang="en" sz="1400">
                <a:solidFill>
                  <a:srgbClr val="000000"/>
                </a:solidFill>
              </a:rPr>
              <a:t>  strcat (str,"are ");</a:t>
            </a:r>
            <a:endParaRPr sz="1400">
              <a:solidFill>
                <a:srgbClr val="000000"/>
              </a:solidFill>
            </a:endParaRPr>
          </a:p>
          <a:p>
            <a:pPr indent="0" lvl="0" marL="0" rtl="0" algn="l">
              <a:lnSpc>
                <a:spcPct val="115000"/>
              </a:lnSpc>
              <a:spcBef>
                <a:spcPts val="0"/>
              </a:spcBef>
              <a:spcAft>
                <a:spcPts val="0"/>
              </a:spcAft>
              <a:buSzPts val="1800"/>
              <a:buNone/>
            </a:pPr>
            <a:r>
              <a:rPr lang="en" sz="1400">
                <a:solidFill>
                  <a:srgbClr val="000000"/>
                </a:solidFill>
              </a:rPr>
              <a:t>  strcat (str,"concatenated.");</a:t>
            </a:r>
            <a:endParaRPr sz="1400">
              <a:solidFill>
                <a:srgbClr val="000000"/>
              </a:solidFill>
            </a:endParaRPr>
          </a:p>
          <a:p>
            <a:pPr indent="0" lvl="0" marL="0" rtl="0" algn="l">
              <a:lnSpc>
                <a:spcPct val="115000"/>
              </a:lnSpc>
              <a:spcBef>
                <a:spcPts val="0"/>
              </a:spcBef>
              <a:spcAft>
                <a:spcPts val="0"/>
              </a:spcAft>
              <a:buSzPts val="1800"/>
              <a:buNone/>
            </a:pPr>
            <a:r>
              <a:rPr lang="en" sz="1400">
                <a:solidFill>
                  <a:srgbClr val="000000"/>
                </a:solidFill>
              </a:rPr>
              <a:t>  cout&lt;&lt;(str);</a:t>
            </a:r>
            <a:endParaRPr sz="1400">
              <a:solidFill>
                <a:srgbClr val="000000"/>
              </a:solidFill>
            </a:endParaRPr>
          </a:p>
          <a:p>
            <a:pPr indent="0" lvl="0" marL="0" rtl="0" algn="l">
              <a:lnSpc>
                <a:spcPct val="115000"/>
              </a:lnSpc>
              <a:spcBef>
                <a:spcPts val="0"/>
              </a:spcBef>
              <a:spcAft>
                <a:spcPts val="0"/>
              </a:spcAft>
              <a:buSzPts val="1800"/>
              <a:buNone/>
            </a:pPr>
            <a:r>
              <a:rPr lang="en" sz="1400">
                <a:solidFill>
                  <a:srgbClr val="000000"/>
                </a:solidFill>
              </a:rPr>
              <a:t>  return 0;</a:t>
            </a:r>
            <a:endParaRPr sz="1400">
              <a:solidFill>
                <a:srgbClr val="000000"/>
              </a:solidFill>
            </a:endParaRPr>
          </a:p>
          <a:p>
            <a:pPr indent="0" lvl="0" marL="0" rtl="0" algn="l">
              <a:lnSpc>
                <a:spcPct val="115000"/>
              </a:lnSpc>
              <a:spcBef>
                <a:spcPts val="0"/>
              </a:spcBef>
              <a:spcAft>
                <a:spcPts val="0"/>
              </a:spcAft>
              <a:buSzPts val="1800"/>
              <a:buNone/>
            </a:pPr>
            <a:r>
              <a:rPr lang="en" sz="1400">
                <a:solidFill>
                  <a:srgbClr val="000000"/>
                </a:solidFill>
              </a:rPr>
              <a:t>}</a:t>
            </a:r>
            <a:endParaRPr sz="1400">
              <a:solidFill>
                <a:srgbClr val="000000"/>
              </a:solidFill>
            </a:endParaRPr>
          </a:p>
          <a:p>
            <a:pPr indent="0" lvl="0" marL="0" rtl="0" algn="l">
              <a:lnSpc>
                <a:spcPct val="115000"/>
              </a:lnSpc>
              <a:spcBef>
                <a:spcPts val="0"/>
              </a:spcBef>
              <a:spcAft>
                <a:spcPts val="0"/>
              </a:spcAft>
              <a:buClr>
                <a:schemeClr val="dk1"/>
              </a:buClr>
              <a:buSzPts val="1100"/>
              <a:buFont typeface="Arial"/>
              <a:buNone/>
            </a:pPr>
            <a:r>
              <a:t/>
            </a:r>
            <a:endParaRPr sz="900">
              <a:solidFill>
                <a:srgbClr val="007000"/>
              </a:solidFill>
            </a:endParaRPr>
          </a:p>
          <a:p>
            <a:pPr indent="0" lvl="0" marL="0" rtl="0" algn="l">
              <a:lnSpc>
                <a:spcPct val="115000"/>
              </a:lnSpc>
              <a:spcBef>
                <a:spcPts val="0"/>
              </a:spcBef>
              <a:spcAft>
                <a:spcPts val="1600"/>
              </a:spcAft>
              <a:buSzPts val="1800"/>
              <a:buNone/>
            </a:pPr>
            <a:r>
              <a:t/>
            </a:r>
            <a:endParaRPr/>
          </a:p>
        </p:txBody>
      </p:sp>
      <p:sp>
        <p:nvSpPr>
          <p:cNvPr id="492" name="Google Shape;492;g70e08bb8ca_23_20"/>
          <p:cNvSpPr txBox="1"/>
          <p:nvPr/>
        </p:nvSpPr>
        <p:spPr>
          <a:xfrm>
            <a:off x="357650" y="4264075"/>
            <a:ext cx="3000000" cy="39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900"/>
              <a:buFont typeface="Arial"/>
              <a:buNone/>
            </a:pPr>
            <a:r>
              <a:rPr b="1" i="0" lang="en" sz="900" u="none" cap="none" strike="noStrike">
                <a:solidFill>
                  <a:schemeClr val="dk1"/>
                </a:solidFill>
                <a:latin typeface="Arial"/>
                <a:ea typeface="Arial"/>
                <a:cs typeface="Arial"/>
                <a:sym typeface="Arial"/>
              </a:rPr>
              <a:t> Output</a:t>
            </a:r>
            <a:endParaRPr b="1" i="0" sz="9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chemeClr val="dk1"/>
                </a:solidFill>
                <a:latin typeface="Arial"/>
                <a:ea typeface="Arial"/>
                <a:cs typeface="Arial"/>
                <a:sym typeface="Arial"/>
              </a:rPr>
              <a:t>These strings are concatenated.</a:t>
            </a:r>
            <a:endParaRPr b="0" i="0" sz="900" u="none" cap="none" strike="noStrike">
              <a:solidFill>
                <a:schemeClr val="dk1"/>
              </a:solidFill>
              <a:latin typeface="Arial"/>
              <a:ea typeface="Arial"/>
              <a:cs typeface="Arial"/>
              <a:sym typeface="Arial"/>
            </a:endParaRPr>
          </a:p>
        </p:txBody>
      </p:sp>
      <p:sp>
        <p:nvSpPr>
          <p:cNvPr id="493" name="Google Shape;493;g70e08bb8ca_23_20"/>
          <p:cNvSpPr txBox="1"/>
          <p:nvPr/>
        </p:nvSpPr>
        <p:spPr>
          <a:xfrm>
            <a:off x="3486600" y="1045988"/>
            <a:ext cx="4316100" cy="2786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#include &lt;iostream&gt;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#include &lt;cstring&gt;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using namespace std;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int main()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string str = "Rwanda Coding Academy";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cout &lt;&lt; str.size() &lt;&lt; endl;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cout &lt;&lt; str.length() &lt;&lt; endl;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cout &lt;&lt; strlen(str.c_str()) &lt;&lt; endl;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cout&lt;&lt;strlen(“Rwanda Coding Academy”)&lt;&lt;endl;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return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94" name="Google Shape;494;g70e08bb8ca_23_20"/>
          <p:cNvSpPr txBox="1"/>
          <p:nvPr/>
        </p:nvSpPr>
        <p:spPr>
          <a:xfrm>
            <a:off x="4098725" y="3978750"/>
            <a:ext cx="3000000" cy="116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Output:</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21</a:t>
            </a:r>
            <a:endParaRPr b="0" i="0" sz="1400" u="none" cap="none" strike="noStrike">
              <a:solidFill>
                <a:srgbClr val="000000"/>
              </a:solidFill>
              <a:latin typeface="Arial"/>
              <a:ea typeface="Arial"/>
              <a:cs typeface="Arial"/>
              <a:sym typeface="Arial"/>
            </a:endParaRPr>
          </a:p>
        </p:txBody>
      </p:sp>
      <p:sp>
        <p:nvSpPr>
          <p:cNvPr id="495" name="Google Shape;495;g70e08bb8ca_23_2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g70e08bb8ca_23_28"/>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Exercises</a:t>
            </a:r>
            <a:endParaRPr/>
          </a:p>
        </p:txBody>
      </p:sp>
      <p:sp>
        <p:nvSpPr>
          <p:cNvPr id="501" name="Google Shape;501;g70e08bb8ca_23_28"/>
          <p:cNvSpPr txBox="1"/>
          <p:nvPr>
            <p:ph idx="1" type="body"/>
          </p:nvPr>
        </p:nvSpPr>
        <p:spPr>
          <a:xfrm>
            <a:off x="311700" y="6952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AutoNum type="arabicPeriod"/>
            </a:pPr>
            <a:r>
              <a:rPr lang="en"/>
              <a:t>Using while loop calculate the length of a string without using built-in functions.</a:t>
            </a:r>
            <a:endParaRPr/>
          </a:p>
          <a:p>
            <a:pPr indent="-342900" lvl="0" marL="457200" rtl="0" algn="l">
              <a:lnSpc>
                <a:spcPct val="115000"/>
              </a:lnSpc>
              <a:spcBef>
                <a:spcPts val="0"/>
              </a:spcBef>
              <a:spcAft>
                <a:spcPts val="0"/>
              </a:spcAft>
              <a:buSzPts val="1800"/>
              <a:buAutoNum type="arabicPeriod"/>
            </a:pPr>
            <a:r>
              <a:rPr lang="en"/>
              <a:t>Write a program that check if a given string  is a palindrome with and  without built in functions.</a:t>
            </a:r>
            <a:endParaRPr/>
          </a:p>
          <a:p>
            <a:pPr indent="-342900" lvl="0" marL="457200" rtl="0" algn="l">
              <a:lnSpc>
                <a:spcPct val="115000"/>
              </a:lnSpc>
              <a:spcBef>
                <a:spcPts val="0"/>
              </a:spcBef>
              <a:spcAft>
                <a:spcPts val="0"/>
              </a:spcAft>
              <a:buSzPts val="1800"/>
              <a:buAutoNum type="arabicPeriod"/>
            </a:pPr>
            <a:r>
              <a:rPr lang="en"/>
              <a:t>Write a program that converts the entered string to Uppercase</a:t>
            </a:r>
            <a:endParaRPr/>
          </a:p>
          <a:p>
            <a:pPr indent="-342900" lvl="0" marL="457200" rtl="0" algn="l">
              <a:lnSpc>
                <a:spcPct val="115000"/>
              </a:lnSpc>
              <a:spcBef>
                <a:spcPts val="0"/>
              </a:spcBef>
              <a:spcAft>
                <a:spcPts val="0"/>
              </a:spcAft>
              <a:buSzPts val="1800"/>
              <a:buAutoNum type="arabicPeriod"/>
            </a:pPr>
            <a:r>
              <a:rPr lang="en"/>
              <a:t>Write a program that remove all spaces in a string and print the resulting string.</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1600"/>
              </a:spcAft>
              <a:buSzPts val="1800"/>
              <a:buNone/>
            </a:pPr>
            <a:r>
              <a:t/>
            </a:r>
            <a:endParaRPr/>
          </a:p>
        </p:txBody>
      </p:sp>
      <p:sp>
        <p:nvSpPr>
          <p:cNvPr id="502" name="Google Shape;502;g70e08bb8ca_23_2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g70e08bb8ca_23_90"/>
          <p:cNvSpPr txBox="1"/>
          <p:nvPr>
            <p:ph type="title"/>
          </p:nvPr>
        </p:nvSpPr>
        <p:spPr>
          <a:xfrm>
            <a:off x="311700" y="64025"/>
            <a:ext cx="8704500" cy="407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1900"/>
              <a:t>Word Guess Game homework /10pts, Deadline   22 September 2025: Console</a:t>
            </a:r>
            <a:endParaRPr sz="1900"/>
          </a:p>
        </p:txBody>
      </p:sp>
      <p:sp>
        <p:nvSpPr>
          <p:cNvPr id="508" name="Google Shape;508;g70e08bb8ca_23_90"/>
          <p:cNvSpPr txBox="1"/>
          <p:nvPr>
            <p:ph idx="1" type="body"/>
          </p:nvPr>
        </p:nvSpPr>
        <p:spPr>
          <a:xfrm>
            <a:off x="369100" y="573150"/>
            <a:ext cx="8520600" cy="457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1500"/>
              <a:t>Specification</a:t>
            </a:r>
            <a:endParaRPr b="1" sz="1500"/>
          </a:p>
          <a:p>
            <a:pPr indent="0" lvl="0" marL="0" rtl="0" algn="l">
              <a:lnSpc>
                <a:spcPct val="115000"/>
              </a:lnSpc>
              <a:spcBef>
                <a:spcPts val="0"/>
              </a:spcBef>
              <a:spcAft>
                <a:spcPts val="0"/>
              </a:spcAft>
              <a:buSzPts val="1800"/>
              <a:buNone/>
            </a:pPr>
            <a:r>
              <a:rPr lang="en" sz="1500"/>
              <a:t>You are to develop a word guessing game. When the game starts, the user will select a category of words to guess. After choosingthe category, the game select a random word, which it will not tell the user. The user will then be prompted to choose a letter of the alphabet. If that letter occurs in the word, then the game will display the word with only the correctly guessed letters visible.</a:t>
            </a:r>
            <a:endParaRPr sz="1500"/>
          </a:p>
          <a:p>
            <a:pPr indent="0" lvl="0" marL="0" rtl="0" algn="l">
              <a:lnSpc>
                <a:spcPct val="115000"/>
              </a:lnSpc>
              <a:spcBef>
                <a:spcPts val="0"/>
              </a:spcBef>
              <a:spcAft>
                <a:spcPts val="0"/>
              </a:spcAft>
              <a:buSzPts val="1800"/>
              <a:buNone/>
            </a:pPr>
            <a:r>
              <a:rPr lang="en" sz="1500"/>
              <a:t>E.g. The game selects </a:t>
            </a:r>
            <a:r>
              <a:rPr b="1" lang="en" sz="1500"/>
              <a:t>elephant</a:t>
            </a:r>
            <a:r>
              <a:rPr lang="en" sz="1500"/>
              <a:t> as the word</a:t>
            </a:r>
            <a:endParaRPr sz="1500"/>
          </a:p>
          <a:p>
            <a:pPr indent="-323850" lvl="0" marL="914400" rtl="0" algn="l">
              <a:lnSpc>
                <a:spcPct val="115000"/>
              </a:lnSpc>
              <a:spcBef>
                <a:spcPts val="0"/>
              </a:spcBef>
              <a:spcAft>
                <a:spcPts val="0"/>
              </a:spcAft>
              <a:buSzPts val="1500"/>
              <a:buAutoNum type="arabicParenR"/>
            </a:pPr>
            <a:r>
              <a:rPr lang="en" sz="1500"/>
              <a:t>The user chooses the letter e</a:t>
            </a:r>
            <a:endParaRPr sz="1500"/>
          </a:p>
          <a:p>
            <a:pPr indent="-323850" lvl="0" marL="914400" rtl="0" algn="l">
              <a:lnSpc>
                <a:spcPct val="115000"/>
              </a:lnSpc>
              <a:spcBef>
                <a:spcPts val="0"/>
              </a:spcBef>
              <a:spcAft>
                <a:spcPts val="0"/>
              </a:spcAft>
              <a:buSzPts val="1500"/>
              <a:buAutoNum type="arabicParenR"/>
            </a:pPr>
            <a:r>
              <a:rPr lang="en" sz="1500"/>
              <a:t>The game displays e_e_____</a:t>
            </a:r>
            <a:endParaRPr sz="1500"/>
          </a:p>
          <a:p>
            <a:pPr indent="-323850" lvl="0" marL="914400" rtl="0" algn="l">
              <a:lnSpc>
                <a:spcPct val="115000"/>
              </a:lnSpc>
              <a:spcBef>
                <a:spcPts val="0"/>
              </a:spcBef>
              <a:spcAft>
                <a:spcPts val="0"/>
              </a:spcAft>
              <a:buSzPts val="1500"/>
              <a:buAutoNum type="arabicParenR"/>
            </a:pPr>
            <a:r>
              <a:rPr lang="en" sz="1500"/>
              <a:t>The user chooses the letter t</a:t>
            </a:r>
            <a:endParaRPr sz="1500"/>
          </a:p>
          <a:p>
            <a:pPr indent="-323850" lvl="0" marL="914400" rtl="0" algn="l">
              <a:lnSpc>
                <a:spcPct val="115000"/>
              </a:lnSpc>
              <a:spcBef>
                <a:spcPts val="0"/>
              </a:spcBef>
              <a:spcAft>
                <a:spcPts val="0"/>
              </a:spcAft>
              <a:buSzPts val="1500"/>
              <a:buAutoNum type="arabicParenR"/>
            </a:pPr>
            <a:r>
              <a:rPr lang="en" sz="1500"/>
              <a:t>The game displays e_e____t</a:t>
            </a:r>
            <a:endParaRPr sz="1500"/>
          </a:p>
          <a:p>
            <a:pPr indent="0" lvl="0" marL="0" rtl="0" algn="l">
              <a:lnSpc>
                <a:spcPct val="115000"/>
              </a:lnSpc>
              <a:spcBef>
                <a:spcPts val="0"/>
              </a:spcBef>
              <a:spcAft>
                <a:spcPts val="0"/>
              </a:spcAft>
              <a:buSzPts val="1800"/>
              <a:buNone/>
            </a:pPr>
            <a:r>
              <a:rPr lang="en" sz="1500"/>
              <a:t>The game will give the user a limited number of chances to guess the word. If the user completely guesses the word before running out of chances, then they win. Otherwise they lose.</a:t>
            </a:r>
            <a:endParaRPr sz="1500"/>
          </a:p>
          <a:p>
            <a:pPr indent="-323850" lvl="0" marL="457200" rtl="0" algn="l">
              <a:lnSpc>
                <a:spcPct val="115000"/>
              </a:lnSpc>
              <a:spcBef>
                <a:spcPts val="0"/>
              </a:spcBef>
              <a:spcAft>
                <a:spcPts val="0"/>
              </a:spcAft>
              <a:buSzPts val="1500"/>
              <a:buChar char="●"/>
            </a:pPr>
            <a:r>
              <a:rPr lang="en" sz="1500"/>
              <a:t>If the user types exit instead of a letter, the program should exit</a:t>
            </a:r>
            <a:endParaRPr sz="1500"/>
          </a:p>
          <a:p>
            <a:pPr indent="-323850" lvl="0" marL="457200" rtl="0" algn="l">
              <a:lnSpc>
                <a:spcPct val="115000"/>
              </a:lnSpc>
              <a:spcBef>
                <a:spcPts val="0"/>
              </a:spcBef>
              <a:spcAft>
                <a:spcPts val="0"/>
              </a:spcAft>
              <a:buSzPts val="1500"/>
              <a:buChar char="●"/>
            </a:pPr>
            <a:r>
              <a:rPr lang="en" sz="1500"/>
              <a:t>Have different categories of words, e.g.</a:t>
            </a:r>
            <a:r>
              <a:rPr b="1" lang="en" sz="1500"/>
              <a:t>names of animals, teams, districts,films, books</a:t>
            </a:r>
            <a:r>
              <a:rPr lang="en" sz="1500"/>
              <a:t>, and allow the user to select a category when the game starts.</a:t>
            </a:r>
            <a:endParaRPr sz="1500"/>
          </a:p>
          <a:p>
            <a:pPr indent="-323850" lvl="0" marL="457200" rtl="0" algn="l">
              <a:lnSpc>
                <a:spcPct val="115000"/>
              </a:lnSpc>
              <a:spcBef>
                <a:spcPts val="0"/>
              </a:spcBef>
              <a:spcAft>
                <a:spcPts val="0"/>
              </a:spcAft>
              <a:buSzPts val="1500"/>
              <a:buChar char="●"/>
            </a:pPr>
            <a:r>
              <a:rPr lang="en" sz="1500"/>
              <a:t>Ask the user if they want to play again when the game is finished</a:t>
            </a:r>
            <a:endParaRPr sz="1500"/>
          </a:p>
          <a:p>
            <a:pPr indent="0" lvl="0" marL="0" rtl="0" algn="l">
              <a:lnSpc>
                <a:spcPct val="115000"/>
              </a:lnSpc>
              <a:spcBef>
                <a:spcPts val="0"/>
              </a:spcBef>
              <a:spcAft>
                <a:spcPts val="0"/>
              </a:spcAft>
              <a:buSzPts val="1800"/>
              <a:buNone/>
            </a:pPr>
            <a:r>
              <a:t/>
            </a:r>
            <a:endParaRPr sz="1600"/>
          </a:p>
          <a:p>
            <a:pPr indent="0" lvl="0" marL="0" rtl="0" algn="l">
              <a:lnSpc>
                <a:spcPct val="115000"/>
              </a:lnSpc>
              <a:spcBef>
                <a:spcPts val="0"/>
              </a:spcBef>
              <a:spcAft>
                <a:spcPts val="0"/>
              </a:spcAft>
              <a:buSzPts val="1800"/>
              <a:buNone/>
            </a:pPr>
            <a:r>
              <a:t/>
            </a:r>
            <a:endParaRPr sz="1600"/>
          </a:p>
        </p:txBody>
      </p:sp>
      <p:sp>
        <p:nvSpPr>
          <p:cNvPr id="509" name="Google Shape;509;g70e08bb8ca_23_9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g2d4a9c8130e_1_7"/>
          <p:cNvSpPr txBox="1"/>
          <p:nvPr>
            <p:ph type="title"/>
          </p:nvPr>
        </p:nvSpPr>
        <p:spPr>
          <a:xfrm>
            <a:off x="311700" y="2056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GUI simple Calculator./10 pts</a:t>
            </a:r>
            <a:endParaRPr/>
          </a:p>
        </p:txBody>
      </p:sp>
      <p:sp>
        <p:nvSpPr>
          <p:cNvPr id="515" name="Google Shape;515;g2d4a9c8130e_1_7"/>
          <p:cNvSpPr txBox="1"/>
          <p:nvPr>
            <p:ph idx="1" type="body"/>
          </p:nvPr>
        </p:nvSpPr>
        <p:spPr>
          <a:xfrm>
            <a:off x="311700" y="1152475"/>
            <a:ext cx="40401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 Develop a GUI based calculator using </a:t>
            </a:r>
            <a:r>
              <a:rPr b="1" lang="en" sz="2700"/>
              <a:t>C++</a:t>
            </a:r>
            <a:r>
              <a:rPr lang="en"/>
              <a:t> that allows a user to do Addition(+),division(/),</a:t>
            </a:r>
            <a:endParaRPr/>
          </a:p>
          <a:p>
            <a:pPr indent="0" lvl="0" marL="0" rtl="0" algn="l">
              <a:spcBef>
                <a:spcPts val="0"/>
              </a:spcBef>
              <a:spcAft>
                <a:spcPts val="0"/>
              </a:spcAft>
              <a:buNone/>
            </a:pPr>
            <a:r>
              <a:rPr lang="en"/>
              <a:t>subtraction(-) and multiplication(*) of two numbers and show the result in a specified textbox of </a:t>
            </a:r>
            <a:r>
              <a:rPr lang="en"/>
              <a:t>your calculator.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sample calculator is displayed on the right. Ignore other functionalities which are not specified.</a:t>
            </a:r>
            <a:endParaRPr/>
          </a:p>
          <a:p>
            <a:pPr indent="0" lvl="0" marL="0" rtl="0" algn="l">
              <a:spcBef>
                <a:spcPts val="0"/>
              </a:spcBef>
              <a:spcAft>
                <a:spcPts val="0"/>
              </a:spcAft>
              <a:buNone/>
            </a:pPr>
            <a:r>
              <a:t/>
            </a:r>
            <a:endParaRPr/>
          </a:p>
        </p:txBody>
      </p:sp>
      <p:sp>
        <p:nvSpPr>
          <p:cNvPr id="516" name="Google Shape;516;g2d4a9c8130e_1_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517" name="Google Shape;517;g2d4a9c8130e_1_7"/>
          <p:cNvPicPr preferRelativeResize="0"/>
          <p:nvPr/>
        </p:nvPicPr>
        <p:blipFill>
          <a:blip r:embed="rId3">
            <a:alphaModFix/>
          </a:blip>
          <a:stretch>
            <a:fillRect/>
          </a:stretch>
        </p:blipFill>
        <p:spPr>
          <a:xfrm>
            <a:off x="5381100" y="827825"/>
            <a:ext cx="2622100" cy="34164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g283038813be_0_40"/>
          <p:cNvSpPr txBox="1"/>
          <p:nvPr>
            <p:ph type="title"/>
          </p:nvPr>
        </p:nvSpPr>
        <p:spPr>
          <a:xfrm>
            <a:off x="311700" y="-12175"/>
            <a:ext cx="8520600" cy="42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User Defined Functions</a:t>
            </a:r>
            <a:endParaRPr/>
          </a:p>
        </p:txBody>
      </p:sp>
      <p:sp>
        <p:nvSpPr>
          <p:cNvPr id="523" name="Google Shape;523;g283038813be_0_40"/>
          <p:cNvSpPr txBox="1"/>
          <p:nvPr>
            <p:ph idx="1" type="body"/>
          </p:nvPr>
        </p:nvSpPr>
        <p:spPr>
          <a:xfrm>
            <a:off x="0" y="542875"/>
            <a:ext cx="9017100" cy="459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373A3C"/>
                </a:solidFill>
                <a:highlight>
                  <a:srgbClr val="FFFFFF"/>
                </a:highlight>
                <a:latin typeface="Roboto"/>
                <a:ea typeface="Roboto"/>
                <a:cs typeface="Roboto"/>
                <a:sym typeface="Roboto"/>
              </a:rPr>
              <a:t> C++ allows programmers to define their own function(s). A user-defined function groups code to perform a specific task and that group of code is given a name(identifier). When the function is invoked from any part of program, it all executes the codes defined in the body of function.</a:t>
            </a:r>
            <a:endParaRPr>
              <a:solidFill>
                <a:srgbClr val="373A3C"/>
              </a:solidFill>
              <a:highlight>
                <a:srgbClr val="FFFFFF"/>
              </a:highlight>
              <a:latin typeface="Roboto"/>
              <a:ea typeface="Roboto"/>
              <a:cs typeface="Roboto"/>
              <a:sym typeface="Roboto"/>
            </a:endParaRPr>
          </a:p>
          <a:p>
            <a:pPr indent="0" lvl="0" marL="0" rtl="0" algn="l">
              <a:spcBef>
                <a:spcPts val="0"/>
              </a:spcBef>
              <a:spcAft>
                <a:spcPts val="0"/>
              </a:spcAft>
              <a:buNone/>
            </a:pPr>
            <a:r>
              <a:rPr lang="en">
                <a:solidFill>
                  <a:srgbClr val="373A3C"/>
                </a:solidFill>
                <a:highlight>
                  <a:srgbClr val="FFFFFF"/>
                </a:highlight>
                <a:latin typeface="Roboto"/>
                <a:ea typeface="Roboto"/>
                <a:cs typeface="Roboto"/>
                <a:sym typeface="Roboto"/>
              </a:rPr>
              <a:t> Creating user-defined functions require that you declare the function name, return type, and list of arguments. After the  declaration, you can then define the function as follows:</a:t>
            </a:r>
            <a:endParaRPr>
              <a:solidFill>
                <a:srgbClr val="373A3C"/>
              </a:solidFill>
              <a:highlight>
                <a:srgbClr val="FFFFFF"/>
              </a:highlight>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lang="en">
                <a:solidFill>
                  <a:srgbClr val="373A3C"/>
                </a:solidFill>
                <a:highlight>
                  <a:srgbClr val="FFFFFF"/>
                </a:highlight>
                <a:latin typeface="Roboto"/>
                <a:ea typeface="Roboto"/>
                <a:cs typeface="Roboto"/>
                <a:sym typeface="Roboto"/>
              </a:rPr>
              <a:t>     </a:t>
            </a:r>
            <a:r>
              <a:rPr b="1" lang="en" sz="2000">
                <a:solidFill>
                  <a:srgbClr val="373A3C"/>
                </a:solidFill>
                <a:highlight>
                  <a:srgbClr val="FFFFFF"/>
                </a:highlight>
                <a:latin typeface="Roboto"/>
                <a:ea typeface="Roboto"/>
                <a:cs typeface="Roboto"/>
                <a:sym typeface="Roboto"/>
              </a:rPr>
              <a:t>     type fun_name(arg1,arg2,...){</a:t>
            </a:r>
            <a:endParaRPr b="1" sz="2000">
              <a:solidFill>
                <a:srgbClr val="373A3C"/>
              </a:solidFill>
              <a:highlight>
                <a:srgbClr val="FFFFFF"/>
              </a:highlight>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b="1" lang="en" sz="2000">
                <a:solidFill>
                  <a:srgbClr val="373A3C"/>
                </a:solidFill>
                <a:highlight>
                  <a:srgbClr val="FFFFFF"/>
                </a:highlight>
                <a:latin typeface="Roboto"/>
                <a:ea typeface="Roboto"/>
                <a:cs typeface="Roboto"/>
                <a:sym typeface="Roboto"/>
              </a:rPr>
              <a:t>            statements</a:t>
            </a:r>
            <a:endParaRPr b="1" sz="2000">
              <a:solidFill>
                <a:srgbClr val="373A3C"/>
              </a:solidFill>
              <a:highlight>
                <a:srgbClr val="FFFFFF"/>
              </a:highlight>
              <a:latin typeface="Roboto"/>
              <a:ea typeface="Roboto"/>
              <a:cs typeface="Roboto"/>
              <a:sym typeface="Roboto"/>
            </a:endParaRPr>
          </a:p>
          <a:p>
            <a:pPr indent="0" lvl="0" marL="0" rtl="0" algn="l">
              <a:spcBef>
                <a:spcPts val="1200"/>
              </a:spcBef>
              <a:spcAft>
                <a:spcPts val="0"/>
              </a:spcAft>
              <a:buNone/>
            </a:pPr>
            <a:r>
              <a:rPr b="1" lang="en" sz="2000">
                <a:solidFill>
                  <a:srgbClr val="373A3C"/>
                </a:solidFill>
                <a:highlight>
                  <a:srgbClr val="FFFFFF"/>
                </a:highlight>
                <a:latin typeface="Roboto"/>
                <a:ea typeface="Roboto"/>
                <a:cs typeface="Roboto"/>
                <a:sym typeface="Roboto"/>
              </a:rPr>
              <a:t>                 }</a:t>
            </a:r>
            <a:endParaRPr>
              <a:solidFill>
                <a:srgbClr val="373A3C"/>
              </a:solidFill>
              <a:highlight>
                <a:srgbClr val="FFFFFF"/>
              </a:highlight>
              <a:latin typeface="Roboto"/>
              <a:ea typeface="Roboto"/>
              <a:cs typeface="Roboto"/>
              <a:sym typeface="Roboto"/>
            </a:endParaRPr>
          </a:p>
          <a:p>
            <a:pPr indent="0" lvl="0" marL="0" rtl="0" algn="l">
              <a:spcBef>
                <a:spcPts val="1200"/>
              </a:spcBef>
              <a:spcAft>
                <a:spcPts val="0"/>
              </a:spcAft>
              <a:buNone/>
            </a:pPr>
            <a:r>
              <a:rPr b="1" lang="en">
                <a:solidFill>
                  <a:srgbClr val="373A3C"/>
                </a:solidFill>
                <a:highlight>
                  <a:srgbClr val="FFFFFF"/>
                </a:highlight>
                <a:latin typeface="Roboto"/>
                <a:ea typeface="Roboto"/>
                <a:cs typeface="Roboto"/>
                <a:sym typeface="Roboto"/>
              </a:rPr>
              <a:t>              </a:t>
            </a:r>
            <a:endParaRPr b="1" u="sng">
              <a:solidFill>
                <a:srgbClr val="373A3C"/>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a:solidFill>
                <a:srgbClr val="373A3C"/>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a:p>
        </p:txBody>
      </p:sp>
      <p:sp>
        <p:nvSpPr>
          <p:cNvPr id="524" name="Google Shape;524;g283038813be_0_40"/>
          <p:cNvSpPr txBox="1"/>
          <p:nvPr/>
        </p:nvSpPr>
        <p:spPr>
          <a:xfrm>
            <a:off x="5580700" y="3078100"/>
            <a:ext cx="3000000" cy="1725900"/>
          </a:xfrm>
          <a:prstGeom prst="rect">
            <a:avLst/>
          </a:prstGeom>
          <a:solidFill>
            <a:srgbClr val="EFEFEF"/>
          </a:solid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t>int fun_add(int a, int b){</a:t>
            </a:r>
            <a:endParaRPr/>
          </a:p>
          <a:p>
            <a:pPr indent="0" lvl="0" marL="0" rtl="0" algn="l">
              <a:lnSpc>
                <a:spcPct val="150000"/>
              </a:lnSpc>
              <a:spcBef>
                <a:spcPts val="0"/>
              </a:spcBef>
              <a:spcAft>
                <a:spcPts val="0"/>
              </a:spcAft>
              <a:buNone/>
            </a:pPr>
            <a:r>
              <a:rPr lang="en"/>
              <a:t>     int sum;</a:t>
            </a:r>
            <a:endParaRPr/>
          </a:p>
          <a:p>
            <a:pPr indent="0" lvl="0" marL="0" rtl="0" algn="l">
              <a:lnSpc>
                <a:spcPct val="150000"/>
              </a:lnSpc>
              <a:spcBef>
                <a:spcPts val="0"/>
              </a:spcBef>
              <a:spcAft>
                <a:spcPts val="0"/>
              </a:spcAft>
              <a:buNone/>
            </a:pPr>
            <a:r>
              <a:rPr lang="en"/>
              <a:t>     sum =a+b;</a:t>
            </a:r>
            <a:endParaRPr/>
          </a:p>
          <a:p>
            <a:pPr indent="0" lvl="0" marL="0" rtl="0" algn="l">
              <a:lnSpc>
                <a:spcPct val="150000"/>
              </a:lnSpc>
              <a:spcBef>
                <a:spcPts val="0"/>
              </a:spcBef>
              <a:spcAft>
                <a:spcPts val="0"/>
              </a:spcAft>
              <a:buNone/>
            </a:pPr>
            <a:r>
              <a:rPr lang="en"/>
              <a:t>   return sum;</a:t>
            </a:r>
            <a:endParaRPr i="1" sz="1800">
              <a:solidFill>
                <a:srgbClr val="373A3C"/>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i="1" lang="en" sz="1800">
                <a:solidFill>
                  <a:srgbClr val="373A3C"/>
                </a:solidFill>
                <a:highlight>
                  <a:srgbClr val="FFFFFF"/>
                </a:highlight>
                <a:latin typeface="Roboto"/>
                <a:ea typeface="Roboto"/>
                <a:cs typeface="Roboto"/>
                <a:sym typeface="Roboto"/>
              </a:rPr>
              <a:t>}</a:t>
            </a:r>
            <a:endParaRPr i="1" sz="1800">
              <a:solidFill>
                <a:srgbClr val="373A3C"/>
              </a:solidFill>
              <a:highlight>
                <a:srgbClr val="FFFFFF"/>
              </a:highlight>
              <a:latin typeface="Roboto"/>
              <a:ea typeface="Roboto"/>
              <a:cs typeface="Roboto"/>
              <a:sym typeface="Roboto"/>
            </a:endParaRPr>
          </a:p>
        </p:txBody>
      </p:sp>
      <p:sp>
        <p:nvSpPr>
          <p:cNvPr id="525" name="Google Shape;525;g283038813be_0_40"/>
          <p:cNvSpPr txBox="1"/>
          <p:nvPr/>
        </p:nvSpPr>
        <p:spPr>
          <a:xfrm>
            <a:off x="5900550" y="2629000"/>
            <a:ext cx="1535400" cy="29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b="1" lang="en" sz="1800">
                <a:solidFill>
                  <a:srgbClr val="373A3C"/>
                </a:solidFill>
                <a:highlight>
                  <a:schemeClr val="lt1"/>
                </a:highlight>
                <a:latin typeface="Roboto"/>
                <a:ea typeface="Roboto"/>
                <a:cs typeface="Roboto"/>
                <a:sym typeface="Roboto"/>
              </a:rPr>
              <a:t>  </a:t>
            </a:r>
            <a:r>
              <a:rPr b="1" lang="en" sz="1800" u="sng">
                <a:solidFill>
                  <a:srgbClr val="373A3C"/>
                </a:solidFill>
                <a:highlight>
                  <a:schemeClr val="lt1"/>
                </a:highlight>
                <a:latin typeface="Roboto"/>
                <a:ea typeface="Roboto"/>
                <a:cs typeface="Roboto"/>
                <a:sym typeface="Roboto"/>
              </a:rPr>
              <a:t>Example</a:t>
            </a:r>
            <a:endParaRPr/>
          </a:p>
        </p:txBody>
      </p:sp>
      <p:sp>
        <p:nvSpPr>
          <p:cNvPr id="526" name="Google Shape;526;g283038813be_0_4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g283038813be_0_338"/>
          <p:cNvSpPr txBox="1"/>
          <p:nvPr>
            <p:ph type="title"/>
          </p:nvPr>
        </p:nvSpPr>
        <p:spPr>
          <a:xfrm>
            <a:off x="235500" y="1402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Function declaration</a:t>
            </a:r>
            <a:endParaRPr/>
          </a:p>
        </p:txBody>
      </p:sp>
      <p:sp>
        <p:nvSpPr>
          <p:cNvPr id="532" name="Google Shape;532;g283038813be_0_338"/>
          <p:cNvSpPr txBox="1"/>
          <p:nvPr>
            <p:ph idx="1" type="body"/>
          </p:nvPr>
        </p:nvSpPr>
        <p:spPr>
          <a:xfrm>
            <a:off x="295250" y="712925"/>
            <a:ext cx="9048300" cy="419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 requires that a function be defined before being called by the main () function</a:t>
            </a:r>
            <a:endParaRPr/>
          </a:p>
          <a:p>
            <a:pPr indent="0" lvl="0" marL="0" rtl="0" algn="l">
              <a:spcBef>
                <a:spcPts val="0"/>
              </a:spcBef>
              <a:spcAft>
                <a:spcPts val="0"/>
              </a:spcAft>
              <a:buNone/>
            </a:pPr>
            <a:r>
              <a:rPr lang="en"/>
              <a:t>or any other function. For example, addition function in our previous example comes before main. However, if you do not want to fully implement a function, you can first declare it and implement it later.</a:t>
            </a:r>
            <a:endParaRPr/>
          </a:p>
          <a:p>
            <a:pPr indent="0" lvl="0" marL="0" rtl="0" algn="l">
              <a:spcBef>
                <a:spcPts val="0"/>
              </a:spcBef>
              <a:spcAft>
                <a:spcPts val="0"/>
              </a:spcAft>
              <a:buNone/>
            </a:pPr>
            <a:r>
              <a:rPr lang="en"/>
              <a:t> To declare a function without implementing the body, write the function return type, name and parameter list followed by a semicolon at the end of the statement. </a:t>
            </a:r>
            <a:endParaRPr/>
          </a:p>
          <a:p>
            <a:pPr indent="0" lvl="0" marL="0" rtl="0" algn="l">
              <a:spcBef>
                <a:spcPts val="0"/>
              </a:spcBef>
              <a:spcAft>
                <a:spcPts val="0"/>
              </a:spcAft>
              <a:buNone/>
            </a:pPr>
            <a:r>
              <a:rPr lang="en"/>
              <a:t>The portion of a function that includes only the function name and list of arguments is called a </a:t>
            </a:r>
            <a:r>
              <a:rPr b="1" lang="en"/>
              <a:t>function signature or prototype.</a:t>
            </a:r>
            <a:endParaRPr b="1"/>
          </a:p>
          <a:p>
            <a:pPr indent="0" lvl="0" marL="0" rtl="0" algn="l">
              <a:spcBef>
                <a:spcPts val="0"/>
              </a:spcBef>
              <a:spcAft>
                <a:spcPts val="0"/>
              </a:spcAft>
              <a:buClr>
                <a:schemeClr val="dk1"/>
              </a:buClr>
              <a:buSzPts val="1100"/>
              <a:buFont typeface="Arial"/>
              <a:buNone/>
            </a:pPr>
            <a:r>
              <a:rPr b="1" lang="en"/>
              <a:t>Example: </a:t>
            </a:r>
            <a:endParaRPr b="1"/>
          </a:p>
          <a:p>
            <a:pPr indent="0" lvl="0" marL="0" rtl="0" algn="l">
              <a:spcBef>
                <a:spcPts val="0"/>
              </a:spcBef>
              <a:spcAft>
                <a:spcPts val="0"/>
              </a:spcAft>
              <a:buNone/>
            </a:pPr>
            <a:r>
              <a:rPr b="1" lang="en"/>
              <a:t>        double maximum(double x,double y,double z);</a:t>
            </a:r>
            <a:endParaRPr b="1"/>
          </a:p>
        </p:txBody>
      </p:sp>
      <p:sp>
        <p:nvSpPr>
          <p:cNvPr id="533" name="Google Shape;533;g283038813be_0_33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283038813be_0_52"/>
          <p:cNvSpPr txBox="1"/>
          <p:nvPr>
            <p:ph type="title"/>
          </p:nvPr>
        </p:nvSpPr>
        <p:spPr>
          <a:xfrm>
            <a:off x="456450" y="10957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2500">
                <a:highlight>
                  <a:srgbClr val="FFFFFF"/>
                </a:highlight>
                <a:latin typeface="Verdana"/>
                <a:ea typeface="Verdana"/>
                <a:cs typeface="Verdana"/>
                <a:sym typeface="Verdana"/>
              </a:rPr>
              <a:t>Functions with no type. The use of void</a:t>
            </a:r>
            <a:endParaRPr b="1" sz="2500">
              <a:highlight>
                <a:srgbClr val="FFFFFF"/>
              </a:highlight>
              <a:latin typeface="Verdana"/>
              <a:ea typeface="Verdana"/>
              <a:cs typeface="Verdana"/>
              <a:sym typeface="Verdana"/>
            </a:endParaRPr>
          </a:p>
          <a:p>
            <a:pPr indent="0" lvl="0" marL="0" rtl="0" algn="l">
              <a:spcBef>
                <a:spcPts val="0"/>
              </a:spcBef>
              <a:spcAft>
                <a:spcPts val="0"/>
              </a:spcAft>
              <a:buNone/>
            </a:pPr>
            <a:r>
              <a:t/>
            </a:r>
            <a:endParaRPr/>
          </a:p>
        </p:txBody>
      </p:sp>
      <p:sp>
        <p:nvSpPr>
          <p:cNvPr id="539" name="Google Shape;539;g283038813be_0_52"/>
          <p:cNvSpPr txBox="1"/>
          <p:nvPr>
            <p:ph idx="1" type="body"/>
          </p:nvPr>
        </p:nvSpPr>
        <p:spPr>
          <a:xfrm>
            <a:off x="111975" y="682275"/>
            <a:ext cx="8580600" cy="410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highlight>
                  <a:srgbClr val="FFFFFF"/>
                </a:highlight>
                <a:latin typeface="Verdana"/>
                <a:ea typeface="Verdana"/>
                <a:cs typeface="Verdana"/>
                <a:sym typeface="Verdana"/>
              </a:rPr>
              <a:t>Previously, we defined the  the type  for  the value returned by the function. But what if the function does not need to return a value? In this case, the type to be used is </a:t>
            </a:r>
            <a:r>
              <a:rPr b="1" lang="en" sz="1600">
                <a:solidFill>
                  <a:schemeClr val="dk1"/>
                </a:solidFill>
                <a:highlight>
                  <a:srgbClr val="FFFFFF"/>
                </a:highlight>
              </a:rPr>
              <a:t>void</a:t>
            </a:r>
            <a:r>
              <a:rPr b="1" lang="en" sz="1600">
                <a:solidFill>
                  <a:schemeClr val="dk1"/>
                </a:solidFill>
                <a:highlight>
                  <a:srgbClr val="FFFFFF"/>
                </a:highlight>
                <a:latin typeface="Verdana"/>
                <a:ea typeface="Verdana"/>
                <a:cs typeface="Verdana"/>
                <a:sym typeface="Verdana"/>
              </a:rPr>
              <a:t>, </a:t>
            </a:r>
            <a:r>
              <a:rPr lang="en" sz="1600">
                <a:solidFill>
                  <a:schemeClr val="dk1"/>
                </a:solidFill>
                <a:highlight>
                  <a:srgbClr val="FFFFFF"/>
                </a:highlight>
                <a:latin typeface="Verdana"/>
                <a:ea typeface="Verdana"/>
                <a:cs typeface="Verdana"/>
                <a:sym typeface="Verdana"/>
              </a:rPr>
              <a:t>which is a special type to represent the absence of value. For example, a function that simply prints a message may not need to return any value:</a:t>
            </a:r>
            <a:endParaRPr sz="1600">
              <a:solidFill>
                <a:schemeClr val="dk1"/>
              </a:solidFill>
              <a:highlight>
                <a:srgbClr val="FFFFFF"/>
              </a:highlight>
              <a:latin typeface="Verdana"/>
              <a:ea typeface="Verdana"/>
              <a:cs typeface="Verdana"/>
              <a:sym typeface="Verdana"/>
            </a:endParaRPr>
          </a:p>
          <a:p>
            <a:pPr indent="0" lvl="0" marL="457200" rtl="0" algn="l">
              <a:spcBef>
                <a:spcPts val="0"/>
              </a:spcBef>
              <a:spcAft>
                <a:spcPts val="0"/>
              </a:spcAft>
              <a:buClr>
                <a:schemeClr val="dk1"/>
              </a:buClr>
              <a:buSzPts val="1100"/>
              <a:buFont typeface="Arial"/>
              <a:buNone/>
            </a:pPr>
            <a:r>
              <a:rPr lang="en" sz="900">
                <a:solidFill>
                  <a:srgbClr val="1155CC"/>
                </a:solidFill>
              </a:rPr>
              <a:t>#</a:t>
            </a:r>
            <a:r>
              <a:rPr lang="en" sz="1500">
                <a:solidFill>
                  <a:srgbClr val="1155CC"/>
                </a:solidFill>
              </a:rPr>
              <a:t>include &lt;iostream&gt;</a:t>
            </a:r>
            <a:endParaRPr sz="1500">
              <a:solidFill>
                <a:srgbClr val="1155CC"/>
              </a:solidFill>
            </a:endParaRPr>
          </a:p>
          <a:p>
            <a:pPr indent="0" lvl="0" marL="457200" rtl="0" algn="l">
              <a:spcBef>
                <a:spcPts val="0"/>
              </a:spcBef>
              <a:spcAft>
                <a:spcPts val="0"/>
              </a:spcAft>
              <a:buClr>
                <a:schemeClr val="dk1"/>
              </a:buClr>
              <a:buSzPts val="1100"/>
              <a:buFont typeface="Arial"/>
              <a:buNone/>
            </a:pPr>
            <a:r>
              <a:rPr lang="en" sz="1500">
                <a:solidFill>
                  <a:srgbClr val="1155CC"/>
                </a:solidFill>
              </a:rPr>
              <a:t>using namespace std;</a:t>
            </a:r>
            <a:endParaRPr sz="1500">
              <a:solidFill>
                <a:srgbClr val="1155CC"/>
              </a:solidFill>
            </a:endParaRPr>
          </a:p>
          <a:p>
            <a:pPr indent="0" lvl="0" marL="457200" rtl="0" algn="l">
              <a:spcBef>
                <a:spcPts val="0"/>
              </a:spcBef>
              <a:spcAft>
                <a:spcPts val="0"/>
              </a:spcAft>
              <a:buClr>
                <a:schemeClr val="dk1"/>
              </a:buClr>
              <a:buSzPts val="1100"/>
              <a:buFont typeface="Arial"/>
              <a:buNone/>
            </a:pPr>
            <a:r>
              <a:rPr b="1" lang="en" sz="1500">
                <a:solidFill>
                  <a:srgbClr val="1155CC"/>
                </a:solidFill>
              </a:rPr>
              <a:t>void printMessage ()</a:t>
            </a:r>
            <a:endParaRPr b="1" sz="1500">
              <a:solidFill>
                <a:srgbClr val="1155CC"/>
              </a:solidFill>
            </a:endParaRPr>
          </a:p>
          <a:p>
            <a:pPr indent="0" lvl="0" marL="457200" rtl="0" algn="l">
              <a:spcBef>
                <a:spcPts val="0"/>
              </a:spcBef>
              <a:spcAft>
                <a:spcPts val="0"/>
              </a:spcAft>
              <a:buClr>
                <a:schemeClr val="dk1"/>
              </a:buClr>
              <a:buSzPts val="1100"/>
              <a:buFont typeface="Arial"/>
              <a:buNone/>
            </a:pPr>
            <a:r>
              <a:rPr lang="en" sz="1500">
                <a:solidFill>
                  <a:srgbClr val="1155CC"/>
                </a:solidFill>
              </a:rPr>
              <a:t>{</a:t>
            </a:r>
            <a:endParaRPr sz="1500">
              <a:solidFill>
                <a:srgbClr val="1155CC"/>
              </a:solidFill>
            </a:endParaRPr>
          </a:p>
          <a:p>
            <a:pPr indent="0" lvl="0" marL="457200" rtl="0" algn="l">
              <a:spcBef>
                <a:spcPts val="0"/>
              </a:spcBef>
              <a:spcAft>
                <a:spcPts val="0"/>
              </a:spcAft>
              <a:buClr>
                <a:schemeClr val="dk1"/>
              </a:buClr>
              <a:buSzPts val="1100"/>
              <a:buFont typeface="Arial"/>
              <a:buNone/>
            </a:pPr>
            <a:r>
              <a:rPr lang="en" sz="1500">
                <a:solidFill>
                  <a:srgbClr val="1155CC"/>
                </a:solidFill>
              </a:rPr>
              <a:t>  cout &lt;&lt; "I'm a function!";</a:t>
            </a:r>
            <a:endParaRPr sz="1500">
              <a:solidFill>
                <a:srgbClr val="1155CC"/>
              </a:solidFill>
            </a:endParaRPr>
          </a:p>
          <a:p>
            <a:pPr indent="0" lvl="0" marL="457200" rtl="0" algn="l">
              <a:spcBef>
                <a:spcPts val="0"/>
              </a:spcBef>
              <a:spcAft>
                <a:spcPts val="0"/>
              </a:spcAft>
              <a:buClr>
                <a:schemeClr val="dk1"/>
              </a:buClr>
              <a:buSzPts val="1100"/>
              <a:buFont typeface="Arial"/>
              <a:buNone/>
            </a:pPr>
            <a:r>
              <a:rPr lang="en" sz="1500">
                <a:solidFill>
                  <a:srgbClr val="1155CC"/>
                </a:solidFill>
              </a:rPr>
              <a:t>}</a:t>
            </a:r>
            <a:endParaRPr sz="1500">
              <a:solidFill>
                <a:srgbClr val="1155CC"/>
              </a:solidFill>
            </a:endParaRPr>
          </a:p>
          <a:p>
            <a:pPr indent="0" lvl="0" marL="457200" rtl="0" algn="l">
              <a:spcBef>
                <a:spcPts val="0"/>
              </a:spcBef>
              <a:spcAft>
                <a:spcPts val="0"/>
              </a:spcAft>
              <a:buClr>
                <a:schemeClr val="dk1"/>
              </a:buClr>
              <a:buSzPts val="1100"/>
              <a:buFont typeface="Arial"/>
              <a:buNone/>
            </a:pPr>
            <a:r>
              <a:rPr lang="en" sz="1500">
                <a:solidFill>
                  <a:srgbClr val="1155CC"/>
                </a:solidFill>
              </a:rPr>
              <a:t>int main ()</a:t>
            </a:r>
            <a:endParaRPr sz="1500">
              <a:solidFill>
                <a:srgbClr val="1155CC"/>
              </a:solidFill>
            </a:endParaRPr>
          </a:p>
          <a:p>
            <a:pPr indent="0" lvl="0" marL="457200" rtl="0" algn="l">
              <a:spcBef>
                <a:spcPts val="0"/>
              </a:spcBef>
              <a:spcAft>
                <a:spcPts val="0"/>
              </a:spcAft>
              <a:buClr>
                <a:schemeClr val="dk1"/>
              </a:buClr>
              <a:buSzPts val="1100"/>
              <a:buFont typeface="Arial"/>
              <a:buNone/>
            </a:pPr>
            <a:r>
              <a:rPr lang="en" sz="1500">
                <a:solidFill>
                  <a:srgbClr val="1155CC"/>
                </a:solidFill>
              </a:rPr>
              <a:t>{</a:t>
            </a:r>
            <a:endParaRPr sz="1500">
              <a:solidFill>
                <a:srgbClr val="1155CC"/>
              </a:solidFill>
            </a:endParaRPr>
          </a:p>
          <a:p>
            <a:pPr indent="0" lvl="0" marL="457200" rtl="0" algn="l">
              <a:spcBef>
                <a:spcPts val="0"/>
              </a:spcBef>
              <a:spcAft>
                <a:spcPts val="0"/>
              </a:spcAft>
              <a:buClr>
                <a:schemeClr val="dk1"/>
              </a:buClr>
              <a:buSzPts val="1100"/>
              <a:buFont typeface="Arial"/>
              <a:buNone/>
            </a:pPr>
            <a:r>
              <a:rPr lang="en" sz="1500">
                <a:solidFill>
                  <a:srgbClr val="1155CC"/>
                </a:solidFill>
              </a:rPr>
              <a:t>  printMessage ();</a:t>
            </a:r>
            <a:endParaRPr sz="1500">
              <a:solidFill>
                <a:srgbClr val="1155CC"/>
              </a:solidFill>
            </a:endParaRPr>
          </a:p>
          <a:p>
            <a:pPr indent="0" lvl="0" marL="457200" rtl="0" algn="l">
              <a:spcBef>
                <a:spcPts val="0"/>
              </a:spcBef>
              <a:spcAft>
                <a:spcPts val="0"/>
              </a:spcAft>
              <a:buClr>
                <a:schemeClr val="dk1"/>
              </a:buClr>
              <a:buSzPts val="1100"/>
              <a:buFont typeface="Arial"/>
              <a:buNone/>
            </a:pPr>
            <a:r>
              <a:rPr lang="en" sz="1500">
                <a:solidFill>
                  <a:srgbClr val="1155CC"/>
                </a:solidFill>
              </a:rPr>
              <a:t>}</a:t>
            </a:r>
            <a:endParaRPr sz="1500">
              <a:solidFill>
                <a:srgbClr val="1155CC"/>
              </a:solidFill>
            </a:endParaRPr>
          </a:p>
          <a:p>
            <a:pPr indent="0" lvl="0" marL="0" rtl="0" algn="l">
              <a:spcBef>
                <a:spcPts val="0"/>
              </a:spcBef>
              <a:spcAft>
                <a:spcPts val="0"/>
              </a:spcAft>
              <a:buClr>
                <a:schemeClr val="dk1"/>
              </a:buClr>
              <a:buSzPts val="1100"/>
              <a:buFont typeface="Arial"/>
              <a:buNone/>
            </a:pPr>
            <a:r>
              <a:t/>
            </a:r>
            <a:endParaRPr sz="900">
              <a:solidFill>
                <a:srgbClr val="666666"/>
              </a:solidFill>
            </a:endParaRPr>
          </a:p>
          <a:p>
            <a:pPr indent="0" lvl="0" marL="0" rtl="0" algn="l">
              <a:spcBef>
                <a:spcPts val="0"/>
              </a:spcBef>
              <a:spcAft>
                <a:spcPts val="0"/>
              </a:spcAft>
              <a:buNone/>
            </a:pPr>
            <a:r>
              <a:t/>
            </a:r>
            <a:endParaRPr sz="900">
              <a:solidFill>
                <a:srgbClr val="500070"/>
              </a:solidFill>
            </a:endParaRPr>
          </a:p>
        </p:txBody>
      </p:sp>
      <p:sp>
        <p:nvSpPr>
          <p:cNvPr id="540" name="Google Shape;540;g283038813be_0_52"/>
          <p:cNvSpPr txBox="1"/>
          <p:nvPr/>
        </p:nvSpPr>
        <p:spPr>
          <a:xfrm>
            <a:off x="2879400" y="1560425"/>
            <a:ext cx="6177900" cy="358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highlight>
                  <a:srgbClr val="FFFFFF"/>
                </a:highlight>
              </a:rPr>
              <a:t>void</a:t>
            </a:r>
            <a:r>
              <a:rPr lang="en" sz="1500">
                <a:solidFill>
                  <a:schemeClr val="dk1"/>
                </a:solidFill>
                <a:highlight>
                  <a:srgbClr val="FFFFFF"/>
                </a:highlight>
                <a:latin typeface="Verdana"/>
                <a:ea typeface="Verdana"/>
                <a:cs typeface="Verdana"/>
                <a:sym typeface="Verdana"/>
              </a:rPr>
              <a:t> can also be used in the function's parameter list to explicitly specify that the function takes no actual parameters when called. For example, </a:t>
            </a:r>
            <a:r>
              <a:rPr lang="en" sz="1500">
                <a:solidFill>
                  <a:schemeClr val="dk1"/>
                </a:solidFill>
                <a:highlight>
                  <a:srgbClr val="FFFFFF"/>
                </a:highlight>
              </a:rPr>
              <a:t>printmessage</a:t>
            </a:r>
            <a:r>
              <a:rPr lang="en" sz="1500">
                <a:solidFill>
                  <a:schemeClr val="dk1"/>
                </a:solidFill>
                <a:highlight>
                  <a:srgbClr val="FFFFFF"/>
                </a:highlight>
                <a:latin typeface="Verdana"/>
                <a:ea typeface="Verdana"/>
                <a:cs typeface="Verdana"/>
                <a:sym typeface="Verdana"/>
              </a:rPr>
              <a:t> could have been declared as:</a:t>
            </a:r>
            <a:endParaRPr sz="150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None/>
            </a:pPr>
            <a:r>
              <a:t/>
            </a:r>
            <a:endParaRPr sz="150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None/>
            </a:pPr>
            <a:r>
              <a:rPr i="1" lang="en" sz="1500">
                <a:solidFill>
                  <a:srgbClr val="1155CC"/>
                </a:solidFill>
                <a:highlight>
                  <a:srgbClr val="FFFFFF"/>
                </a:highlight>
                <a:latin typeface="Verdana"/>
                <a:ea typeface="Verdana"/>
                <a:cs typeface="Verdana"/>
                <a:sym typeface="Verdana"/>
              </a:rPr>
              <a:t>void printMessage(</a:t>
            </a:r>
            <a:r>
              <a:rPr b="1" i="1" lang="en" sz="1500">
                <a:solidFill>
                  <a:srgbClr val="1155CC"/>
                </a:solidFill>
                <a:highlight>
                  <a:srgbClr val="FFFFFF"/>
                </a:highlight>
                <a:latin typeface="Verdana"/>
                <a:ea typeface="Verdana"/>
                <a:cs typeface="Verdana"/>
                <a:sym typeface="Verdana"/>
              </a:rPr>
              <a:t>void</a:t>
            </a:r>
            <a:r>
              <a:rPr i="1" lang="en" sz="1500">
                <a:solidFill>
                  <a:srgbClr val="1155CC"/>
                </a:solidFill>
                <a:highlight>
                  <a:srgbClr val="FFFFFF"/>
                </a:highlight>
                <a:latin typeface="Verdana"/>
                <a:ea typeface="Verdana"/>
                <a:cs typeface="Verdana"/>
                <a:sym typeface="Verdana"/>
              </a:rPr>
              <a:t>) //  Here void is optional in C++</a:t>
            </a:r>
            <a:endParaRPr i="1" sz="1500">
              <a:solidFill>
                <a:srgbClr val="1155CC"/>
              </a:solidFill>
              <a:highlight>
                <a:srgbClr val="FFFFFF"/>
              </a:highlight>
              <a:latin typeface="Verdana"/>
              <a:ea typeface="Verdana"/>
              <a:cs typeface="Verdana"/>
              <a:sym typeface="Verdana"/>
            </a:endParaRPr>
          </a:p>
          <a:p>
            <a:pPr indent="0" lvl="0" marL="0" rtl="0" algn="l">
              <a:spcBef>
                <a:spcPts val="0"/>
              </a:spcBef>
              <a:spcAft>
                <a:spcPts val="0"/>
              </a:spcAft>
              <a:buNone/>
            </a:pPr>
            <a:r>
              <a:t/>
            </a:r>
            <a:endParaRPr sz="150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ts val="1100"/>
              <a:buFont typeface="Arial"/>
              <a:buNone/>
            </a:pPr>
            <a:r>
              <a:rPr lang="en" sz="1500">
                <a:solidFill>
                  <a:schemeClr val="dk1"/>
                </a:solidFill>
              </a:rPr>
              <a:t>In C++, an empty parameter list can be used instead of void with same meaning, but the use of void in the argument list was popularized by the C language, where this is a requirement.</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en" sz="1500">
                <a:solidFill>
                  <a:schemeClr val="dk1"/>
                </a:solidFill>
              </a:rPr>
              <a:t>It is mandatory in C++ to show parentheses  which  follow the function name, its declaration  and when calling it.  The parentheses are what differentiate functions from other kinds of declarations or statements. </a:t>
            </a:r>
            <a:endParaRPr sz="1500">
              <a:solidFill>
                <a:schemeClr val="dk1"/>
              </a:solidFill>
            </a:endParaRPr>
          </a:p>
          <a:p>
            <a:pPr indent="0" lvl="0" marL="0" rtl="0" algn="l">
              <a:lnSpc>
                <a:spcPct val="115000"/>
              </a:lnSpc>
              <a:spcBef>
                <a:spcPts val="0"/>
              </a:spcBef>
              <a:spcAft>
                <a:spcPts val="0"/>
              </a:spcAft>
              <a:buNone/>
            </a:pPr>
            <a:r>
              <a:rPr lang="en" sz="1500">
                <a:solidFill>
                  <a:schemeClr val="dk1"/>
                </a:solidFill>
                <a:highlight>
                  <a:srgbClr val="6AA84F"/>
                </a:highlight>
              </a:rPr>
              <a:t>printMessage (); </a:t>
            </a:r>
            <a:r>
              <a:rPr lang="en" sz="1500">
                <a:solidFill>
                  <a:schemeClr val="dk1"/>
                </a:solidFill>
              </a:rPr>
              <a:t>// This is a function call</a:t>
            </a:r>
            <a:endParaRPr sz="1500">
              <a:solidFill>
                <a:srgbClr val="A0A0A0"/>
              </a:solidFill>
              <a:latin typeface="Verdana"/>
              <a:ea typeface="Verdana"/>
              <a:cs typeface="Verdana"/>
              <a:sym typeface="Verdana"/>
            </a:endParaRPr>
          </a:p>
          <a:p>
            <a:pPr indent="0" lvl="0" marL="0" rtl="0" algn="l">
              <a:lnSpc>
                <a:spcPct val="115000"/>
              </a:lnSpc>
              <a:spcBef>
                <a:spcPts val="0"/>
              </a:spcBef>
              <a:spcAft>
                <a:spcPts val="0"/>
              </a:spcAft>
              <a:buNone/>
            </a:pPr>
            <a:r>
              <a:rPr lang="en" sz="1500">
                <a:highlight>
                  <a:srgbClr val="FF0000"/>
                </a:highlight>
                <a:latin typeface="Verdana"/>
                <a:ea typeface="Verdana"/>
                <a:cs typeface="Verdana"/>
                <a:sym typeface="Verdana"/>
              </a:rPr>
              <a:t>Printmessage; </a:t>
            </a:r>
            <a:r>
              <a:rPr lang="en" sz="1500">
                <a:latin typeface="Verdana"/>
                <a:ea typeface="Verdana"/>
                <a:cs typeface="Verdana"/>
                <a:sym typeface="Verdana"/>
              </a:rPr>
              <a:t> // This is not a function call</a:t>
            </a:r>
            <a:endParaRPr sz="1500">
              <a:latin typeface="Verdana"/>
              <a:ea typeface="Verdana"/>
              <a:cs typeface="Verdana"/>
              <a:sym typeface="Verdana"/>
            </a:endParaRPr>
          </a:p>
          <a:p>
            <a:pPr indent="0" lvl="0" marL="0" rtl="0" algn="l">
              <a:lnSpc>
                <a:spcPct val="115000"/>
              </a:lnSpc>
              <a:spcBef>
                <a:spcPts val="0"/>
              </a:spcBef>
              <a:spcAft>
                <a:spcPts val="0"/>
              </a:spcAft>
              <a:buNone/>
            </a:pPr>
            <a:r>
              <a:t/>
            </a:r>
            <a:endParaRPr sz="1700">
              <a:solidFill>
                <a:schemeClr val="dk1"/>
              </a:solidFill>
            </a:endParaRPr>
          </a:p>
          <a:p>
            <a:pPr indent="0" lvl="0" marL="0" rtl="0" algn="l">
              <a:spcBef>
                <a:spcPts val="0"/>
              </a:spcBef>
              <a:spcAft>
                <a:spcPts val="0"/>
              </a:spcAft>
              <a:buClr>
                <a:schemeClr val="dk1"/>
              </a:buClr>
              <a:buSzPts val="1100"/>
              <a:buFont typeface="Arial"/>
              <a:buNone/>
            </a:pPr>
            <a:r>
              <a:t/>
            </a:r>
            <a:endParaRPr sz="1500">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sz="1700">
              <a:solidFill>
                <a:schemeClr val="dk1"/>
              </a:solidFill>
              <a:highlight>
                <a:srgbClr val="FFFFFF"/>
              </a:highlight>
              <a:latin typeface="Verdana"/>
              <a:ea typeface="Verdana"/>
              <a:cs typeface="Verdana"/>
              <a:sym typeface="Verdana"/>
            </a:endParaRPr>
          </a:p>
        </p:txBody>
      </p:sp>
      <p:sp>
        <p:nvSpPr>
          <p:cNvPr id="541" name="Google Shape;541;g283038813be_0_52"/>
          <p:cNvSpPr/>
          <p:nvPr/>
        </p:nvSpPr>
        <p:spPr>
          <a:xfrm>
            <a:off x="4528675" y="2318300"/>
            <a:ext cx="1104300" cy="251700"/>
          </a:xfrm>
          <a:prstGeom prst="curvedDownArrow">
            <a:avLst>
              <a:gd fmla="val 25000" name="adj1"/>
              <a:gd fmla="val 50000" name="adj2"/>
              <a:gd fmla="val 25000" name="adj3"/>
            </a:avLst>
          </a:prstGeom>
          <a:solidFill>
            <a:schemeClr val="lt2"/>
          </a:solid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g283038813be_0_5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g283038813be_0_64"/>
          <p:cNvSpPr txBox="1"/>
          <p:nvPr>
            <p:ph idx="2" type="body"/>
          </p:nvPr>
        </p:nvSpPr>
        <p:spPr>
          <a:xfrm>
            <a:off x="4483150" y="0"/>
            <a:ext cx="3999900" cy="5030100"/>
          </a:xfrm>
          <a:prstGeom prst="rect">
            <a:avLst/>
          </a:prstGeom>
          <a:solidFill>
            <a:srgbClr val="CCCCCC"/>
          </a:solidFill>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700">
                <a:solidFill>
                  <a:srgbClr val="373A3C"/>
                </a:solidFill>
                <a:latin typeface="Roboto"/>
                <a:ea typeface="Roboto"/>
                <a:cs typeface="Roboto"/>
                <a:sym typeface="Roboto"/>
              </a:rPr>
              <a:t>*this program consists of two function:</a:t>
            </a:r>
            <a:endParaRPr sz="1700">
              <a:solidFill>
                <a:srgbClr val="373A3C"/>
              </a:solidFill>
              <a:latin typeface="Roboto"/>
              <a:ea typeface="Roboto"/>
              <a:cs typeface="Roboto"/>
              <a:sym typeface="Roboto"/>
            </a:endParaRPr>
          </a:p>
          <a:p>
            <a:pPr indent="0" lvl="0" marL="0" rtl="0" algn="l">
              <a:lnSpc>
                <a:spcPct val="115000"/>
              </a:lnSpc>
              <a:spcBef>
                <a:spcPts val="0"/>
              </a:spcBef>
              <a:spcAft>
                <a:spcPts val="0"/>
              </a:spcAft>
              <a:buNone/>
            </a:pPr>
            <a:r>
              <a:rPr lang="en" sz="1700">
                <a:solidFill>
                  <a:srgbClr val="373A3C"/>
                </a:solidFill>
                <a:latin typeface="Roboto"/>
                <a:ea typeface="Roboto"/>
                <a:cs typeface="Roboto"/>
                <a:sym typeface="Roboto"/>
              </a:rPr>
              <a:t>main and addition */</a:t>
            </a:r>
            <a:endParaRPr sz="1700">
              <a:solidFill>
                <a:srgbClr val="373A3C"/>
              </a:solidFill>
              <a:latin typeface="Roboto"/>
              <a:ea typeface="Roboto"/>
              <a:cs typeface="Roboto"/>
              <a:sym typeface="Roboto"/>
            </a:endParaRPr>
          </a:p>
          <a:p>
            <a:pPr indent="0" lvl="0" marL="0" rtl="0" algn="l">
              <a:lnSpc>
                <a:spcPct val="115000"/>
              </a:lnSpc>
              <a:spcBef>
                <a:spcPts val="0"/>
              </a:spcBef>
              <a:spcAft>
                <a:spcPts val="0"/>
              </a:spcAft>
              <a:buNone/>
            </a:pPr>
            <a:r>
              <a:rPr lang="en" sz="1700">
                <a:solidFill>
                  <a:srgbClr val="373A3C"/>
                </a:solidFill>
                <a:latin typeface="Roboto"/>
                <a:ea typeface="Roboto"/>
                <a:cs typeface="Roboto"/>
                <a:sym typeface="Roboto"/>
              </a:rPr>
              <a:t>#include &lt;iostream&gt;</a:t>
            </a:r>
            <a:endParaRPr sz="1700">
              <a:solidFill>
                <a:srgbClr val="373A3C"/>
              </a:solidFill>
              <a:latin typeface="Roboto"/>
              <a:ea typeface="Roboto"/>
              <a:cs typeface="Roboto"/>
              <a:sym typeface="Roboto"/>
            </a:endParaRPr>
          </a:p>
          <a:p>
            <a:pPr indent="0" lvl="0" marL="0" rtl="0" algn="l">
              <a:lnSpc>
                <a:spcPct val="115000"/>
              </a:lnSpc>
              <a:spcBef>
                <a:spcPts val="0"/>
              </a:spcBef>
              <a:spcAft>
                <a:spcPts val="0"/>
              </a:spcAft>
              <a:buNone/>
            </a:pPr>
            <a:r>
              <a:rPr lang="en" sz="1700">
                <a:solidFill>
                  <a:srgbClr val="373A3C"/>
                </a:solidFill>
                <a:latin typeface="Roboto"/>
                <a:ea typeface="Roboto"/>
                <a:cs typeface="Roboto"/>
                <a:sym typeface="Roboto"/>
              </a:rPr>
              <a:t>using namespace std;</a:t>
            </a:r>
            <a:endParaRPr sz="1700">
              <a:solidFill>
                <a:srgbClr val="373A3C"/>
              </a:solidFill>
              <a:latin typeface="Roboto"/>
              <a:ea typeface="Roboto"/>
              <a:cs typeface="Roboto"/>
              <a:sym typeface="Roboto"/>
            </a:endParaRPr>
          </a:p>
          <a:p>
            <a:pPr indent="0" lvl="0" marL="0" rtl="0" algn="l">
              <a:lnSpc>
                <a:spcPct val="115000"/>
              </a:lnSpc>
              <a:spcBef>
                <a:spcPts val="0"/>
              </a:spcBef>
              <a:spcAft>
                <a:spcPts val="0"/>
              </a:spcAft>
              <a:buNone/>
            </a:pPr>
            <a:r>
              <a:rPr lang="en" sz="1700">
                <a:solidFill>
                  <a:srgbClr val="373A3C"/>
                </a:solidFill>
                <a:latin typeface="Roboto"/>
                <a:ea typeface="Roboto"/>
                <a:cs typeface="Roboto"/>
                <a:sym typeface="Roboto"/>
              </a:rPr>
              <a:t>//addition function calculates sum</a:t>
            </a:r>
            <a:endParaRPr sz="1700">
              <a:solidFill>
                <a:srgbClr val="373A3C"/>
              </a:solidFill>
              <a:latin typeface="Roboto"/>
              <a:ea typeface="Roboto"/>
              <a:cs typeface="Roboto"/>
              <a:sym typeface="Roboto"/>
            </a:endParaRPr>
          </a:p>
          <a:p>
            <a:pPr indent="0" lvl="0" marL="0" rtl="0" algn="l">
              <a:lnSpc>
                <a:spcPct val="115000"/>
              </a:lnSpc>
              <a:spcBef>
                <a:spcPts val="0"/>
              </a:spcBef>
              <a:spcAft>
                <a:spcPts val="0"/>
              </a:spcAft>
              <a:buNone/>
            </a:pPr>
            <a:r>
              <a:rPr lang="en" sz="1700">
                <a:solidFill>
                  <a:srgbClr val="373A3C"/>
                </a:solidFill>
                <a:latin typeface="Roboto"/>
                <a:ea typeface="Roboto"/>
                <a:cs typeface="Roboto"/>
                <a:sym typeface="Roboto"/>
              </a:rPr>
              <a:t>int addition (int a, int b){</a:t>
            </a:r>
            <a:endParaRPr sz="1700">
              <a:solidFill>
                <a:srgbClr val="373A3C"/>
              </a:solidFill>
              <a:latin typeface="Roboto"/>
              <a:ea typeface="Roboto"/>
              <a:cs typeface="Roboto"/>
              <a:sym typeface="Roboto"/>
            </a:endParaRPr>
          </a:p>
          <a:p>
            <a:pPr indent="0" lvl="0" marL="0" rtl="0" algn="l">
              <a:lnSpc>
                <a:spcPct val="115000"/>
              </a:lnSpc>
              <a:spcBef>
                <a:spcPts val="0"/>
              </a:spcBef>
              <a:spcAft>
                <a:spcPts val="0"/>
              </a:spcAft>
              <a:buNone/>
            </a:pPr>
            <a:r>
              <a:rPr lang="en" sz="1700">
                <a:solidFill>
                  <a:srgbClr val="373A3C"/>
                </a:solidFill>
                <a:latin typeface="Roboto"/>
                <a:ea typeface="Roboto"/>
                <a:cs typeface="Roboto"/>
                <a:sym typeface="Roboto"/>
              </a:rPr>
              <a:t>int sum;</a:t>
            </a:r>
            <a:endParaRPr sz="1700">
              <a:solidFill>
                <a:srgbClr val="373A3C"/>
              </a:solidFill>
              <a:latin typeface="Roboto"/>
              <a:ea typeface="Roboto"/>
              <a:cs typeface="Roboto"/>
              <a:sym typeface="Roboto"/>
            </a:endParaRPr>
          </a:p>
          <a:p>
            <a:pPr indent="0" lvl="0" marL="0" rtl="0" algn="l">
              <a:lnSpc>
                <a:spcPct val="115000"/>
              </a:lnSpc>
              <a:spcBef>
                <a:spcPts val="0"/>
              </a:spcBef>
              <a:spcAft>
                <a:spcPts val="0"/>
              </a:spcAft>
              <a:buNone/>
            </a:pPr>
            <a:r>
              <a:rPr lang="en" sz="1700">
                <a:solidFill>
                  <a:srgbClr val="373A3C"/>
                </a:solidFill>
                <a:latin typeface="Roboto"/>
                <a:ea typeface="Roboto"/>
                <a:cs typeface="Roboto"/>
                <a:sym typeface="Roboto"/>
              </a:rPr>
              <a:t>sum=a+b;</a:t>
            </a:r>
            <a:endParaRPr sz="1700">
              <a:solidFill>
                <a:srgbClr val="373A3C"/>
              </a:solidFill>
              <a:latin typeface="Roboto"/>
              <a:ea typeface="Roboto"/>
              <a:cs typeface="Roboto"/>
              <a:sym typeface="Roboto"/>
            </a:endParaRPr>
          </a:p>
          <a:p>
            <a:pPr indent="0" lvl="0" marL="0" rtl="0" algn="l">
              <a:lnSpc>
                <a:spcPct val="115000"/>
              </a:lnSpc>
              <a:spcBef>
                <a:spcPts val="0"/>
              </a:spcBef>
              <a:spcAft>
                <a:spcPts val="0"/>
              </a:spcAft>
              <a:buNone/>
            </a:pPr>
            <a:r>
              <a:rPr lang="en" sz="1700">
                <a:solidFill>
                  <a:srgbClr val="373A3C"/>
                </a:solidFill>
                <a:latin typeface="Roboto"/>
                <a:ea typeface="Roboto"/>
                <a:cs typeface="Roboto"/>
                <a:sym typeface="Roboto"/>
              </a:rPr>
              <a:t>return sum;</a:t>
            </a:r>
            <a:endParaRPr sz="1700">
              <a:solidFill>
                <a:srgbClr val="373A3C"/>
              </a:solidFill>
              <a:latin typeface="Roboto"/>
              <a:ea typeface="Roboto"/>
              <a:cs typeface="Roboto"/>
              <a:sym typeface="Roboto"/>
            </a:endParaRPr>
          </a:p>
          <a:p>
            <a:pPr indent="0" lvl="0" marL="0" rtl="0" algn="l">
              <a:lnSpc>
                <a:spcPct val="115000"/>
              </a:lnSpc>
              <a:spcBef>
                <a:spcPts val="0"/>
              </a:spcBef>
              <a:spcAft>
                <a:spcPts val="0"/>
              </a:spcAft>
              <a:buNone/>
            </a:pPr>
            <a:r>
              <a:rPr lang="en" sz="1700">
                <a:solidFill>
                  <a:srgbClr val="373A3C"/>
                </a:solidFill>
                <a:latin typeface="Roboto"/>
                <a:ea typeface="Roboto"/>
                <a:cs typeface="Roboto"/>
                <a:sym typeface="Roboto"/>
              </a:rPr>
              <a:t>}</a:t>
            </a:r>
            <a:endParaRPr sz="1700">
              <a:solidFill>
                <a:srgbClr val="373A3C"/>
              </a:solidFill>
              <a:latin typeface="Roboto"/>
              <a:ea typeface="Roboto"/>
              <a:cs typeface="Roboto"/>
              <a:sym typeface="Roboto"/>
            </a:endParaRPr>
          </a:p>
          <a:p>
            <a:pPr indent="0" lvl="0" marL="0" rtl="0" algn="l">
              <a:lnSpc>
                <a:spcPct val="115000"/>
              </a:lnSpc>
              <a:spcBef>
                <a:spcPts val="0"/>
              </a:spcBef>
              <a:spcAft>
                <a:spcPts val="0"/>
              </a:spcAft>
              <a:buNone/>
            </a:pPr>
            <a:r>
              <a:rPr lang="en" sz="1700">
                <a:solidFill>
                  <a:srgbClr val="373A3C"/>
                </a:solidFill>
                <a:latin typeface="Roboto"/>
                <a:ea typeface="Roboto"/>
                <a:cs typeface="Roboto"/>
                <a:sym typeface="Roboto"/>
              </a:rPr>
              <a:t>//program execution starts here!</a:t>
            </a:r>
            <a:endParaRPr sz="1700">
              <a:solidFill>
                <a:srgbClr val="373A3C"/>
              </a:solidFill>
              <a:latin typeface="Roboto"/>
              <a:ea typeface="Roboto"/>
              <a:cs typeface="Roboto"/>
              <a:sym typeface="Roboto"/>
            </a:endParaRPr>
          </a:p>
          <a:p>
            <a:pPr indent="0" lvl="0" marL="0" rtl="0" algn="l">
              <a:lnSpc>
                <a:spcPct val="115000"/>
              </a:lnSpc>
              <a:spcBef>
                <a:spcPts val="0"/>
              </a:spcBef>
              <a:spcAft>
                <a:spcPts val="0"/>
              </a:spcAft>
              <a:buNone/>
            </a:pPr>
            <a:r>
              <a:rPr lang="en" sz="1700">
                <a:solidFill>
                  <a:srgbClr val="373A3C"/>
                </a:solidFill>
                <a:latin typeface="Roboto"/>
                <a:ea typeface="Roboto"/>
                <a:cs typeface="Roboto"/>
                <a:sym typeface="Roboto"/>
              </a:rPr>
              <a:t>int main (){</a:t>
            </a:r>
            <a:endParaRPr sz="1700">
              <a:solidFill>
                <a:srgbClr val="373A3C"/>
              </a:solidFill>
              <a:latin typeface="Roboto"/>
              <a:ea typeface="Roboto"/>
              <a:cs typeface="Roboto"/>
              <a:sym typeface="Roboto"/>
            </a:endParaRPr>
          </a:p>
          <a:p>
            <a:pPr indent="0" lvl="0" marL="0" rtl="0" algn="l">
              <a:lnSpc>
                <a:spcPct val="115000"/>
              </a:lnSpc>
              <a:spcBef>
                <a:spcPts val="0"/>
              </a:spcBef>
              <a:spcAft>
                <a:spcPts val="0"/>
              </a:spcAft>
              <a:buNone/>
            </a:pPr>
            <a:r>
              <a:rPr lang="en" sz="1700">
                <a:solidFill>
                  <a:srgbClr val="373A3C"/>
                </a:solidFill>
                <a:latin typeface="Roboto"/>
                <a:ea typeface="Roboto"/>
                <a:cs typeface="Roboto"/>
                <a:sym typeface="Roboto"/>
              </a:rPr>
              <a:t>int total=0,x=5, y=7;</a:t>
            </a:r>
            <a:endParaRPr sz="1700">
              <a:solidFill>
                <a:srgbClr val="373A3C"/>
              </a:solidFill>
              <a:latin typeface="Roboto"/>
              <a:ea typeface="Roboto"/>
              <a:cs typeface="Roboto"/>
              <a:sym typeface="Roboto"/>
            </a:endParaRPr>
          </a:p>
          <a:p>
            <a:pPr indent="0" lvl="0" marL="0" rtl="0" algn="l">
              <a:lnSpc>
                <a:spcPct val="115000"/>
              </a:lnSpc>
              <a:spcBef>
                <a:spcPts val="0"/>
              </a:spcBef>
              <a:spcAft>
                <a:spcPts val="0"/>
              </a:spcAft>
              <a:buNone/>
            </a:pPr>
            <a:r>
              <a:rPr lang="en" sz="1700">
                <a:solidFill>
                  <a:srgbClr val="373A3C"/>
                </a:solidFill>
                <a:latin typeface="Roboto"/>
                <a:ea typeface="Roboto"/>
                <a:cs typeface="Roboto"/>
                <a:sym typeface="Roboto"/>
              </a:rPr>
              <a:t>total = addition (x,y);</a:t>
            </a:r>
            <a:endParaRPr sz="1700">
              <a:solidFill>
                <a:srgbClr val="373A3C"/>
              </a:solidFill>
              <a:latin typeface="Roboto"/>
              <a:ea typeface="Roboto"/>
              <a:cs typeface="Roboto"/>
              <a:sym typeface="Roboto"/>
            </a:endParaRPr>
          </a:p>
          <a:p>
            <a:pPr indent="0" lvl="0" marL="0" rtl="0" algn="l">
              <a:lnSpc>
                <a:spcPct val="115000"/>
              </a:lnSpc>
              <a:spcBef>
                <a:spcPts val="0"/>
              </a:spcBef>
              <a:spcAft>
                <a:spcPts val="0"/>
              </a:spcAft>
              <a:buNone/>
            </a:pPr>
            <a:r>
              <a:rPr lang="en" sz="1700">
                <a:solidFill>
                  <a:srgbClr val="373A3C"/>
                </a:solidFill>
                <a:latin typeface="Roboto"/>
                <a:ea typeface="Roboto"/>
                <a:cs typeface="Roboto"/>
                <a:sym typeface="Roboto"/>
              </a:rPr>
              <a:t>cout&lt;&lt; “The sum is:”&lt;&lt;total&lt;&lt;endl;</a:t>
            </a:r>
            <a:endParaRPr sz="1700">
              <a:solidFill>
                <a:srgbClr val="373A3C"/>
              </a:solidFill>
              <a:latin typeface="Roboto"/>
              <a:ea typeface="Roboto"/>
              <a:cs typeface="Roboto"/>
              <a:sym typeface="Roboto"/>
            </a:endParaRPr>
          </a:p>
          <a:p>
            <a:pPr indent="0" lvl="0" marL="0" rtl="0" algn="l">
              <a:lnSpc>
                <a:spcPct val="115000"/>
              </a:lnSpc>
              <a:spcBef>
                <a:spcPts val="0"/>
              </a:spcBef>
              <a:spcAft>
                <a:spcPts val="0"/>
              </a:spcAft>
              <a:buNone/>
            </a:pPr>
            <a:r>
              <a:rPr lang="en" sz="1700">
                <a:solidFill>
                  <a:srgbClr val="373A3C"/>
                </a:solidFill>
                <a:latin typeface="Roboto"/>
                <a:ea typeface="Roboto"/>
                <a:cs typeface="Roboto"/>
                <a:sym typeface="Roboto"/>
              </a:rPr>
              <a:t>return 0;</a:t>
            </a:r>
            <a:endParaRPr sz="1700">
              <a:solidFill>
                <a:srgbClr val="373A3C"/>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700">
                <a:solidFill>
                  <a:srgbClr val="373A3C"/>
                </a:solidFill>
                <a:latin typeface="Roboto"/>
                <a:ea typeface="Roboto"/>
                <a:cs typeface="Roboto"/>
                <a:sym typeface="Roboto"/>
              </a:rPr>
              <a:t>}</a:t>
            </a:r>
            <a:endParaRPr sz="1700">
              <a:solidFill>
                <a:srgbClr val="373A3C"/>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sz="1500">
              <a:solidFill>
                <a:srgbClr val="373A3C"/>
              </a:solidFill>
              <a:latin typeface="Roboto"/>
              <a:ea typeface="Roboto"/>
              <a:cs typeface="Roboto"/>
              <a:sym typeface="Roboto"/>
            </a:endParaRPr>
          </a:p>
          <a:p>
            <a:pPr indent="0" lvl="0" marL="0" rtl="0" algn="l">
              <a:spcBef>
                <a:spcPts val="0"/>
              </a:spcBef>
              <a:spcAft>
                <a:spcPts val="0"/>
              </a:spcAft>
              <a:buNone/>
            </a:pPr>
            <a:r>
              <a:t/>
            </a:r>
            <a:endParaRPr sz="1800"/>
          </a:p>
        </p:txBody>
      </p:sp>
      <p:sp>
        <p:nvSpPr>
          <p:cNvPr id="548" name="Google Shape;548;g283038813be_0_64"/>
          <p:cNvSpPr txBox="1"/>
          <p:nvPr>
            <p:ph idx="1" type="body"/>
          </p:nvPr>
        </p:nvSpPr>
        <p:spPr>
          <a:xfrm>
            <a:off x="159300" y="72975"/>
            <a:ext cx="4111500" cy="3354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sz="1800">
                <a:solidFill>
                  <a:srgbClr val="373A3C"/>
                </a:solidFill>
                <a:highlight>
                  <a:srgbClr val="FFFFFF"/>
                </a:highlight>
                <a:latin typeface="Roboto"/>
                <a:ea typeface="Roboto"/>
                <a:cs typeface="Roboto"/>
                <a:sym typeface="Roboto"/>
              </a:rPr>
              <a:t>Call a function</a:t>
            </a:r>
            <a:endParaRPr b="1" sz="1800">
              <a:solidFill>
                <a:srgbClr val="373A3C"/>
              </a:solidFill>
              <a:highlight>
                <a:srgbClr val="FFFFFF"/>
              </a:highlight>
              <a:latin typeface="Roboto"/>
              <a:ea typeface="Roboto"/>
              <a:cs typeface="Roboto"/>
              <a:sym typeface="Roboto"/>
            </a:endParaRPr>
          </a:p>
          <a:p>
            <a:pPr indent="0" lvl="0" marL="0" rtl="0" algn="just">
              <a:spcBef>
                <a:spcPts val="0"/>
              </a:spcBef>
              <a:spcAft>
                <a:spcPts val="0"/>
              </a:spcAft>
              <a:buNone/>
            </a:pPr>
            <a:r>
              <a:rPr lang="en" sz="1800">
                <a:solidFill>
                  <a:srgbClr val="373A3C"/>
                </a:solidFill>
                <a:highlight>
                  <a:srgbClr val="FFFFFF"/>
                </a:highlight>
                <a:latin typeface="Roboto"/>
                <a:ea typeface="Roboto"/>
                <a:cs typeface="Roboto"/>
                <a:sym typeface="Roboto"/>
              </a:rPr>
              <a:t>When a function is called by another function, execution is transferred to the function until the return statement or end of function is encountered. To demonstrate how functions work, the following program calculates the sum of two numbers received from the main function:</a:t>
            </a:r>
            <a:endParaRPr sz="1800">
              <a:solidFill>
                <a:srgbClr val="373A3C"/>
              </a:solidFill>
              <a:highlight>
                <a:srgbClr val="FFFFFF"/>
              </a:highlight>
              <a:latin typeface="Roboto"/>
              <a:ea typeface="Roboto"/>
              <a:cs typeface="Roboto"/>
              <a:sym typeface="Roboto"/>
            </a:endParaRPr>
          </a:p>
          <a:p>
            <a:pPr indent="0" lvl="0" marL="0" rtl="0" algn="just">
              <a:lnSpc>
                <a:spcPct val="100000"/>
              </a:lnSpc>
              <a:spcBef>
                <a:spcPts val="0"/>
              </a:spcBef>
              <a:spcAft>
                <a:spcPts val="0"/>
              </a:spcAft>
              <a:buNone/>
            </a:pPr>
            <a:r>
              <a:t/>
            </a:r>
            <a:endParaRPr sz="1800">
              <a:solidFill>
                <a:srgbClr val="373A3C"/>
              </a:solidFill>
              <a:latin typeface="Roboto"/>
              <a:ea typeface="Roboto"/>
              <a:cs typeface="Roboto"/>
              <a:sym typeface="Roboto"/>
            </a:endParaRPr>
          </a:p>
          <a:p>
            <a:pPr indent="0" lvl="0" marL="0" rtl="0" algn="just">
              <a:lnSpc>
                <a:spcPct val="100000"/>
              </a:lnSpc>
              <a:spcBef>
                <a:spcPts val="0"/>
              </a:spcBef>
              <a:spcAft>
                <a:spcPts val="0"/>
              </a:spcAft>
              <a:buNone/>
            </a:pPr>
            <a:r>
              <a:t/>
            </a:r>
            <a:endParaRPr sz="1800">
              <a:solidFill>
                <a:srgbClr val="373A3C"/>
              </a:solidFill>
              <a:highlight>
                <a:srgbClr val="FFFFFF"/>
              </a:highlight>
              <a:latin typeface="Roboto"/>
              <a:ea typeface="Roboto"/>
              <a:cs typeface="Roboto"/>
              <a:sym typeface="Roboto"/>
            </a:endParaRPr>
          </a:p>
        </p:txBody>
      </p:sp>
      <p:sp>
        <p:nvSpPr>
          <p:cNvPr id="549" name="Google Shape;549;g283038813be_0_64"/>
          <p:cNvSpPr txBox="1"/>
          <p:nvPr/>
        </p:nvSpPr>
        <p:spPr>
          <a:xfrm>
            <a:off x="2275150" y="4014250"/>
            <a:ext cx="1785900" cy="460500"/>
          </a:xfrm>
          <a:prstGeom prst="rect">
            <a:avLst/>
          </a:prstGeom>
          <a:solidFill>
            <a:srgbClr val="66666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FFFFFF"/>
                </a:solidFill>
                <a:latin typeface="Roboto"/>
                <a:ea typeface="Roboto"/>
                <a:cs typeface="Roboto"/>
                <a:sym typeface="Roboto"/>
              </a:rPr>
              <a:t>The sum is 12</a:t>
            </a:r>
            <a:endParaRPr b="1" sz="1800">
              <a:solidFill>
                <a:srgbClr val="FFFFFF"/>
              </a:solidFill>
              <a:latin typeface="Roboto"/>
              <a:ea typeface="Roboto"/>
              <a:cs typeface="Roboto"/>
              <a:sym typeface="Roboto"/>
            </a:endParaRPr>
          </a:p>
        </p:txBody>
      </p:sp>
      <p:sp>
        <p:nvSpPr>
          <p:cNvPr id="550" name="Google Shape;550;g283038813be_0_64"/>
          <p:cNvSpPr txBox="1"/>
          <p:nvPr/>
        </p:nvSpPr>
        <p:spPr>
          <a:xfrm>
            <a:off x="2845125" y="3461800"/>
            <a:ext cx="8574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Output</a:t>
            </a:r>
            <a:endParaRPr b="1"/>
          </a:p>
        </p:txBody>
      </p:sp>
      <p:sp>
        <p:nvSpPr>
          <p:cNvPr id="551" name="Google Shape;551;g283038813be_0_64"/>
          <p:cNvSpPr/>
          <p:nvPr/>
        </p:nvSpPr>
        <p:spPr>
          <a:xfrm rot="740440">
            <a:off x="3689208" y="2049372"/>
            <a:ext cx="663941" cy="188161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g283038813be_0_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g283038813be_0_86"/>
          <p:cNvSpPr txBox="1"/>
          <p:nvPr>
            <p:ph type="title"/>
          </p:nvPr>
        </p:nvSpPr>
        <p:spPr>
          <a:xfrm>
            <a:off x="0" y="-54550"/>
            <a:ext cx="4997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Call a function multiple times</a:t>
            </a:r>
            <a:endParaRPr sz="2500"/>
          </a:p>
        </p:txBody>
      </p:sp>
      <p:sp>
        <p:nvSpPr>
          <p:cNvPr id="558" name="Google Shape;558;g283038813be_0_86"/>
          <p:cNvSpPr txBox="1"/>
          <p:nvPr>
            <p:ph idx="1" type="body"/>
          </p:nvPr>
        </p:nvSpPr>
        <p:spPr>
          <a:xfrm>
            <a:off x="2956150" y="271950"/>
            <a:ext cx="5752200" cy="50811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rPr lang="en" sz="1500">
                <a:solidFill>
                  <a:srgbClr val="500070"/>
                </a:solidFill>
              </a:rPr>
              <a:t>/ Call a function multiiple times</a:t>
            </a:r>
            <a:endParaRPr sz="1500">
              <a:solidFill>
                <a:srgbClr val="500070"/>
              </a:solidFill>
            </a:endParaRPr>
          </a:p>
          <a:p>
            <a:pPr indent="0" lvl="0" marL="457200" rtl="0" algn="l">
              <a:lnSpc>
                <a:spcPct val="115000"/>
              </a:lnSpc>
              <a:spcBef>
                <a:spcPts val="0"/>
              </a:spcBef>
              <a:spcAft>
                <a:spcPts val="0"/>
              </a:spcAft>
              <a:buNone/>
            </a:pPr>
            <a:r>
              <a:rPr lang="en" sz="1500">
                <a:solidFill>
                  <a:srgbClr val="500070"/>
                </a:solidFill>
              </a:rPr>
              <a:t>#include &lt;iostream&gt;</a:t>
            </a:r>
            <a:endParaRPr sz="1500">
              <a:solidFill>
                <a:srgbClr val="500070"/>
              </a:solidFill>
            </a:endParaRPr>
          </a:p>
          <a:p>
            <a:pPr indent="0" lvl="0" marL="457200" rtl="0" algn="l">
              <a:lnSpc>
                <a:spcPct val="115000"/>
              </a:lnSpc>
              <a:spcBef>
                <a:spcPts val="0"/>
              </a:spcBef>
              <a:spcAft>
                <a:spcPts val="0"/>
              </a:spcAft>
              <a:buNone/>
            </a:pPr>
            <a:r>
              <a:rPr lang="en" sz="1500">
                <a:solidFill>
                  <a:srgbClr val="500070"/>
                </a:solidFill>
              </a:rPr>
              <a:t>using namespace std;</a:t>
            </a:r>
            <a:endParaRPr sz="1500">
              <a:solidFill>
                <a:srgbClr val="500070"/>
              </a:solidFill>
            </a:endParaRPr>
          </a:p>
          <a:p>
            <a:pPr indent="0" lvl="0" marL="457200" rtl="0" algn="l">
              <a:lnSpc>
                <a:spcPct val="115000"/>
              </a:lnSpc>
              <a:spcBef>
                <a:spcPts val="0"/>
              </a:spcBef>
              <a:spcAft>
                <a:spcPts val="0"/>
              </a:spcAft>
              <a:buNone/>
            </a:pPr>
            <a:r>
              <a:rPr lang="en" sz="1500">
                <a:solidFill>
                  <a:srgbClr val="500070"/>
                </a:solidFill>
              </a:rPr>
              <a:t>int subtraction (int a, int b)</a:t>
            </a:r>
            <a:endParaRPr sz="1500">
              <a:solidFill>
                <a:srgbClr val="500070"/>
              </a:solidFill>
            </a:endParaRPr>
          </a:p>
          <a:p>
            <a:pPr indent="0" lvl="0" marL="457200" rtl="0" algn="l">
              <a:lnSpc>
                <a:spcPct val="115000"/>
              </a:lnSpc>
              <a:spcBef>
                <a:spcPts val="0"/>
              </a:spcBef>
              <a:spcAft>
                <a:spcPts val="0"/>
              </a:spcAft>
              <a:buNone/>
            </a:pPr>
            <a:r>
              <a:rPr lang="en" sz="1500">
                <a:solidFill>
                  <a:srgbClr val="500070"/>
                </a:solidFill>
              </a:rPr>
              <a:t>{</a:t>
            </a:r>
            <a:endParaRPr sz="1500">
              <a:solidFill>
                <a:srgbClr val="500070"/>
              </a:solidFill>
            </a:endParaRPr>
          </a:p>
          <a:p>
            <a:pPr indent="0" lvl="0" marL="457200" rtl="0" algn="l">
              <a:lnSpc>
                <a:spcPct val="115000"/>
              </a:lnSpc>
              <a:spcBef>
                <a:spcPts val="0"/>
              </a:spcBef>
              <a:spcAft>
                <a:spcPts val="0"/>
              </a:spcAft>
              <a:buNone/>
            </a:pPr>
            <a:r>
              <a:rPr lang="en" sz="1500">
                <a:solidFill>
                  <a:srgbClr val="500070"/>
                </a:solidFill>
              </a:rPr>
              <a:t>  int r;</a:t>
            </a:r>
            <a:endParaRPr sz="1500">
              <a:solidFill>
                <a:srgbClr val="500070"/>
              </a:solidFill>
            </a:endParaRPr>
          </a:p>
          <a:p>
            <a:pPr indent="0" lvl="0" marL="457200" rtl="0" algn="l">
              <a:lnSpc>
                <a:spcPct val="115000"/>
              </a:lnSpc>
              <a:spcBef>
                <a:spcPts val="0"/>
              </a:spcBef>
              <a:spcAft>
                <a:spcPts val="0"/>
              </a:spcAft>
              <a:buNone/>
            </a:pPr>
            <a:r>
              <a:rPr lang="en" sz="1500">
                <a:solidFill>
                  <a:srgbClr val="500070"/>
                </a:solidFill>
              </a:rPr>
              <a:t>  r=a-b;</a:t>
            </a:r>
            <a:endParaRPr sz="1500">
              <a:solidFill>
                <a:srgbClr val="500070"/>
              </a:solidFill>
            </a:endParaRPr>
          </a:p>
          <a:p>
            <a:pPr indent="0" lvl="0" marL="457200" rtl="0" algn="l">
              <a:lnSpc>
                <a:spcPct val="115000"/>
              </a:lnSpc>
              <a:spcBef>
                <a:spcPts val="0"/>
              </a:spcBef>
              <a:spcAft>
                <a:spcPts val="0"/>
              </a:spcAft>
              <a:buNone/>
            </a:pPr>
            <a:r>
              <a:rPr lang="en" sz="1500">
                <a:solidFill>
                  <a:srgbClr val="500070"/>
                </a:solidFill>
              </a:rPr>
              <a:t>  return r;</a:t>
            </a:r>
            <a:endParaRPr sz="1500">
              <a:solidFill>
                <a:srgbClr val="500070"/>
              </a:solidFill>
            </a:endParaRPr>
          </a:p>
          <a:p>
            <a:pPr indent="0" lvl="0" marL="457200" rtl="0" algn="l">
              <a:lnSpc>
                <a:spcPct val="115000"/>
              </a:lnSpc>
              <a:spcBef>
                <a:spcPts val="0"/>
              </a:spcBef>
              <a:spcAft>
                <a:spcPts val="0"/>
              </a:spcAft>
              <a:buNone/>
            </a:pPr>
            <a:r>
              <a:rPr lang="en" sz="1500">
                <a:solidFill>
                  <a:srgbClr val="500070"/>
                </a:solidFill>
              </a:rPr>
              <a:t>}</a:t>
            </a:r>
            <a:endParaRPr sz="1500">
              <a:solidFill>
                <a:srgbClr val="500070"/>
              </a:solidFill>
            </a:endParaRPr>
          </a:p>
          <a:p>
            <a:pPr indent="0" lvl="0" marL="457200" rtl="0" algn="l">
              <a:lnSpc>
                <a:spcPct val="115000"/>
              </a:lnSpc>
              <a:spcBef>
                <a:spcPts val="0"/>
              </a:spcBef>
              <a:spcAft>
                <a:spcPts val="0"/>
              </a:spcAft>
              <a:buNone/>
            </a:pPr>
            <a:r>
              <a:rPr lang="en" sz="1500">
                <a:solidFill>
                  <a:srgbClr val="500070"/>
                </a:solidFill>
              </a:rPr>
              <a:t>int main ()</a:t>
            </a:r>
            <a:endParaRPr sz="1500">
              <a:solidFill>
                <a:srgbClr val="500070"/>
              </a:solidFill>
            </a:endParaRPr>
          </a:p>
          <a:p>
            <a:pPr indent="0" lvl="0" marL="457200" rtl="0" algn="l">
              <a:lnSpc>
                <a:spcPct val="115000"/>
              </a:lnSpc>
              <a:spcBef>
                <a:spcPts val="0"/>
              </a:spcBef>
              <a:spcAft>
                <a:spcPts val="0"/>
              </a:spcAft>
              <a:buNone/>
            </a:pPr>
            <a:r>
              <a:rPr lang="en" sz="1500">
                <a:solidFill>
                  <a:srgbClr val="500070"/>
                </a:solidFill>
              </a:rPr>
              <a:t>{</a:t>
            </a:r>
            <a:endParaRPr sz="1500">
              <a:solidFill>
                <a:srgbClr val="500070"/>
              </a:solidFill>
            </a:endParaRPr>
          </a:p>
          <a:p>
            <a:pPr indent="0" lvl="0" marL="457200" rtl="0" algn="l">
              <a:lnSpc>
                <a:spcPct val="115000"/>
              </a:lnSpc>
              <a:spcBef>
                <a:spcPts val="0"/>
              </a:spcBef>
              <a:spcAft>
                <a:spcPts val="0"/>
              </a:spcAft>
              <a:buNone/>
            </a:pPr>
            <a:r>
              <a:rPr lang="en" sz="1500">
                <a:solidFill>
                  <a:srgbClr val="500070"/>
                </a:solidFill>
              </a:rPr>
              <a:t>  int x=5, y=3, z;</a:t>
            </a:r>
            <a:endParaRPr sz="1500">
              <a:solidFill>
                <a:srgbClr val="500070"/>
              </a:solidFill>
            </a:endParaRPr>
          </a:p>
          <a:p>
            <a:pPr indent="0" lvl="0" marL="457200" rtl="0" algn="l">
              <a:lnSpc>
                <a:spcPct val="115000"/>
              </a:lnSpc>
              <a:spcBef>
                <a:spcPts val="0"/>
              </a:spcBef>
              <a:spcAft>
                <a:spcPts val="0"/>
              </a:spcAft>
              <a:buNone/>
            </a:pPr>
            <a:r>
              <a:rPr lang="en" sz="1500">
                <a:solidFill>
                  <a:srgbClr val="500070"/>
                </a:solidFill>
              </a:rPr>
              <a:t>  z = subtraction (7,2);</a:t>
            </a:r>
            <a:endParaRPr sz="1500">
              <a:solidFill>
                <a:srgbClr val="500070"/>
              </a:solidFill>
            </a:endParaRPr>
          </a:p>
          <a:p>
            <a:pPr indent="0" lvl="0" marL="457200" rtl="0" algn="l">
              <a:lnSpc>
                <a:spcPct val="115000"/>
              </a:lnSpc>
              <a:spcBef>
                <a:spcPts val="0"/>
              </a:spcBef>
              <a:spcAft>
                <a:spcPts val="0"/>
              </a:spcAft>
              <a:buNone/>
            </a:pPr>
            <a:r>
              <a:rPr lang="en" sz="1500">
                <a:solidFill>
                  <a:srgbClr val="500070"/>
                </a:solidFill>
              </a:rPr>
              <a:t>  cout &lt;&lt; "The first result is " &lt;&lt; z &lt;&lt; '\n';</a:t>
            </a:r>
            <a:endParaRPr sz="1500">
              <a:solidFill>
                <a:srgbClr val="500070"/>
              </a:solidFill>
            </a:endParaRPr>
          </a:p>
          <a:p>
            <a:pPr indent="0" lvl="0" marL="457200" rtl="0" algn="l">
              <a:lnSpc>
                <a:spcPct val="115000"/>
              </a:lnSpc>
              <a:spcBef>
                <a:spcPts val="0"/>
              </a:spcBef>
              <a:spcAft>
                <a:spcPts val="0"/>
              </a:spcAft>
              <a:buNone/>
            </a:pPr>
            <a:r>
              <a:rPr lang="en" sz="1500">
                <a:solidFill>
                  <a:srgbClr val="500070"/>
                </a:solidFill>
              </a:rPr>
              <a:t>  cout &lt;&lt; "The second result is " &lt;&lt; subtraction (7,2) &lt;&lt; '\n';</a:t>
            </a:r>
            <a:endParaRPr sz="1500">
              <a:solidFill>
                <a:srgbClr val="500070"/>
              </a:solidFill>
            </a:endParaRPr>
          </a:p>
          <a:p>
            <a:pPr indent="0" lvl="0" marL="457200" rtl="0" algn="l">
              <a:lnSpc>
                <a:spcPct val="115000"/>
              </a:lnSpc>
              <a:spcBef>
                <a:spcPts val="0"/>
              </a:spcBef>
              <a:spcAft>
                <a:spcPts val="0"/>
              </a:spcAft>
              <a:buNone/>
            </a:pPr>
            <a:r>
              <a:rPr lang="en" sz="1500">
                <a:solidFill>
                  <a:srgbClr val="500070"/>
                </a:solidFill>
              </a:rPr>
              <a:t>  cout &lt;&lt; "The third result is " &lt;&lt; subtraction (x,y) &lt;&lt; '\n';</a:t>
            </a:r>
            <a:endParaRPr sz="1500">
              <a:solidFill>
                <a:srgbClr val="500070"/>
              </a:solidFill>
            </a:endParaRPr>
          </a:p>
          <a:p>
            <a:pPr indent="0" lvl="0" marL="457200" rtl="0" algn="l">
              <a:lnSpc>
                <a:spcPct val="115000"/>
              </a:lnSpc>
              <a:spcBef>
                <a:spcPts val="0"/>
              </a:spcBef>
              <a:spcAft>
                <a:spcPts val="0"/>
              </a:spcAft>
              <a:buNone/>
            </a:pPr>
            <a:r>
              <a:rPr lang="en" sz="1500">
                <a:solidFill>
                  <a:srgbClr val="500070"/>
                </a:solidFill>
              </a:rPr>
              <a:t>  z= 4 + subtraction (x,y);</a:t>
            </a:r>
            <a:endParaRPr sz="1500">
              <a:solidFill>
                <a:srgbClr val="500070"/>
              </a:solidFill>
            </a:endParaRPr>
          </a:p>
          <a:p>
            <a:pPr indent="0" lvl="0" marL="457200" rtl="0" algn="l">
              <a:lnSpc>
                <a:spcPct val="115000"/>
              </a:lnSpc>
              <a:spcBef>
                <a:spcPts val="0"/>
              </a:spcBef>
              <a:spcAft>
                <a:spcPts val="0"/>
              </a:spcAft>
              <a:buNone/>
            </a:pPr>
            <a:r>
              <a:rPr lang="en" sz="1500">
                <a:solidFill>
                  <a:srgbClr val="500070"/>
                </a:solidFill>
              </a:rPr>
              <a:t>  cout &lt;&lt; "The fourth result is " &lt;&lt; z &lt;&lt; '\n';</a:t>
            </a:r>
            <a:endParaRPr sz="1500">
              <a:solidFill>
                <a:srgbClr val="500070"/>
              </a:solidFill>
            </a:endParaRPr>
          </a:p>
          <a:p>
            <a:pPr indent="0" lvl="0" marL="457200" rtl="0" algn="l">
              <a:lnSpc>
                <a:spcPct val="150000"/>
              </a:lnSpc>
              <a:spcBef>
                <a:spcPts val="0"/>
              </a:spcBef>
              <a:spcAft>
                <a:spcPts val="0"/>
              </a:spcAft>
              <a:buClr>
                <a:schemeClr val="dk1"/>
              </a:buClr>
              <a:buSzPts val="1100"/>
              <a:buFont typeface="Arial"/>
              <a:buNone/>
            </a:pPr>
            <a:r>
              <a:rPr lang="en" sz="1200">
                <a:solidFill>
                  <a:srgbClr val="500070"/>
                </a:solidFill>
              </a:rPr>
              <a:t>}</a:t>
            </a:r>
            <a:endParaRPr sz="1200">
              <a:solidFill>
                <a:srgbClr val="500070"/>
              </a:solidFill>
            </a:endParaRPr>
          </a:p>
          <a:p>
            <a:pPr indent="0" lvl="0" marL="0" rtl="0" algn="l">
              <a:lnSpc>
                <a:spcPct val="100000"/>
              </a:lnSpc>
              <a:spcBef>
                <a:spcPts val="0"/>
              </a:spcBef>
              <a:spcAft>
                <a:spcPts val="0"/>
              </a:spcAft>
              <a:buNone/>
            </a:pPr>
            <a:r>
              <a:t/>
            </a:r>
            <a:endParaRPr sz="900">
              <a:solidFill>
                <a:srgbClr val="500070"/>
              </a:solidFill>
            </a:endParaRPr>
          </a:p>
        </p:txBody>
      </p:sp>
      <p:sp>
        <p:nvSpPr>
          <p:cNvPr id="559" name="Google Shape;559;g283038813be_0_86"/>
          <p:cNvSpPr txBox="1"/>
          <p:nvPr/>
        </p:nvSpPr>
        <p:spPr>
          <a:xfrm>
            <a:off x="6694950" y="1621275"/>
            <a:ext cx="2216100" cy="1102200"/>
          </a:xfrm>
          <a:prstGeom prst="rect">
            <a:avLst/>
          </a:prstGeom>
          <a:solidFill>
            <a:srgbClr val="99999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The first result is 5</a:t>
            </a:r>
            <a:endParaRPr/>
          </a:p>
          <a:p>
            <a:pPr indent="0" lvl="0" marL="0" rtl="0" algn="l">
              <a:spcBef>
                <a:spcPts val="0"/>
              </a:spcBef>
              <a:spcAft>
                <a:spcPts val="0"/>
              </a:spcAft>
              <a:buNone/>
            </a:pPr>
            <a:r>
              <a:rPr lang="en"/>
              <a:t>The second result is 5</a:t>
            </a:r>
            <a:endParaRPr/>
          </a:p>
          <a:p>
            <a:pPr indent="0" lvl="0" marL="0" rtl="0" algn="l">
              <a:spcBef>
                <a:spcPts val="0"/>
              </a:spcBef>
              <a:spcAft>
                <a:spcPts val="0"/>
              </a:spcAft>
              <a:buNone/>
            </a:pPr>
            <a:r>
              <a:rPr lang="en"/>
              <a:t>The third result is 2</a:t>
            </a:r>
            <a:endParaRPr/>
          </a:p>
          <a:p>
            <a:pPr indent="0" lvl="0" marL="0" rtl="0" algn="l">
              <a:spcBef>
                <a:spcPts val="0"/>
              </a:spcBef>
              <a:spcAft>
                <a:spcPts val="0"/>
              </a:spcAft>
              <a:buNone/>
            </a:pPr>
            <a:r>
              <a:rPr lang="en"/>
              <a:t>The fourth result is 6</a:t>
            </a:r>
            <a:endParaRPr/>
          </a:p>
        </p:txBody>
      </p:sp>
      <p:sp>
        <p:nvSpPr>
          <p:cNvPr id="560" name="Google Shape;560;g283038813be_0_86"/>
          <p:cNvSpPr txBox="1"/>
          <p:nvPr/>
        </p:nvSpPr>
        <p:spPr>
          <a:xfrm>
            <a:off x="83850" y="443775"/>
            <a:ext cx="3362100" cy="312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highlight>
                  <a:srgbClr val="FFFFFF"/>
                </a:highlight>
                <a:latin typeface="Verdana"/>
                <a:ea typeface="Verdana"/>
                <a:cs typeface="Verdana"/>
                <a:sym typeface="Verdana"/>
              </a:rPr>
              <a:t>A function can actually be called multiple times within a program.</a:t>
            </a:r>
            <a:endParaRPr sz="160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None/>
            </a:pPr>
            <a:r>
              <a:t/>
            </a:r>
            <a:endParaRPr sz="160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None/>
            </a:pPr>
            <a:r>
              <a:rPr lang="en" sz="1600">
                <a:solidFill>
                  <a:schemeClr val="dk1"/>
                </a:solidFill>
                <a:highlight>
                  <a:srgbClr val="FFFFFF"/>
                </a:highlight>
                <a:latin typeface="Verdana"/>
                <a:ea typeface="Verdana"/>
                <a:cs typeface="Verdana"/>
                <a:sym typeface="Verdana"/>
              </a:rPr>
              <a:t>This example defines a subtract function, that simply returns the difference between its two parameters. This time, main calls this function several times, demonstrating more possible ways in which a function can be called.</a:t>
            </a:r>
            <a:endParaRPr sz="1600">
              <a:solidFill>
                <a:schemeClr val="dk1"/>
              </a:solidFill>
              <a:highlight>
                <a:srgbClr val="FFFFFF"/>
              </a:highlight>
              <a:latin typeface="Verdana"/>
              <a:ea typeface="Verdana"/>
              <a:cs typeface="Verdana"/>
              <a:sym typeface="Verdana"/>
            </a:endParaRPr>
          </a:p>
        </p:txBody>
      </p:sp>
      <p:sp>
        <p:nvSpPr>
          <p:cNvPr id="561" name="Google Shape;561;g283038813be_0_8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g283038813be_0_93"/>
          <p:cNvSpPr txBox="1"/>
          <p:nvPr>
            <p:ph type="title"/>
          </p:nvPr>
        </p:nvSpPr>
        <p:spPr>
          <a:xfrm>
            <a:off x="159300" y="-12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Exercises</a:t>
            </a:r>
            <a:endParaRPr/>
          </a:p>
        </p:txBody>
      </p:sp>
      <p:sp>
        <p:nvSpPr>
          <p:cNvPr id="567" name="Google Shape;567;g283038813be_0_93"/>
          <p:cNvSpPr txBox="1"/>
          <p:nvPr>
            <p:ph idx="1" type="body"/>
          </p:nvPr>
        </p:nvSpPr>
        <p:spPr>
          <a:xfrm>
            <a:off x="616500" y="542875"/>
            <a:ext cx="8520600" cy="45735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AutoNum type="arabicPeriod"/>
            </a:pPr>
            <a:r>
              <a:rPr lang="en" sz="1500"/>
              <a:t>Study the code snippet shown below and identify the function’s list of parameters, return type and the value returned by the maximum function:</a:t>
            </a:r>
            <a:endParaRPr sz="1500"/>
          </a:p>
          <a:p>
            <a:pPr indent="0" lvl="0" marL="914400" rtl="0" algn="l">
              <a:spcBef>
                <a:spcPts val="0"/>
              </a:spcBef>
              <a:spcAft>
                <a:spcPts val="0"/>
              </a:spcAft>
              <a:buClr>
                <a:schemeClr val="dk1"/>
              </a:buClr>
              <a:buSzPts val="1100"/>
              <a:buFont typeface="Arial"/>
              <a:buNone/>
            </a:pPr>
            <a:r>
              <a:rPr i="1" lang="en" sz="1500">
                <a:solidFill>
                  <a:schemeClr val="accent3"/>
                </a:solidFill>
              </a:rPr>
              <a:t>double maximum( double x, double y, double z ){</a:t>
            </a:r>
            <a:endParaRPr i="1" sz="1500">
              <a:solidFill>
                <a:schemeClr val="accent3"/>
              </a:solidFill>
            </a:endParaRPr>
          </a:p>
          <a:p>
            <a:pPr indent="0" lvl="0" marL="914400" rtl="0" algn="l">
              <a:spcBef>
                <a:spcPts val="0"/>
              </a:spcBef>
              <a:spcAft>
                <a:spcPts val="0"/>
              </a:spcAft>
              <a:buClr>
                <a:schemeClr val="dk1"/>
              </a:buClr>
              <a:buSzPts val="1100"/>
              <a:buFont typeface="Arial"/>
              <a:buNone/>
            </a:pPr>
            <a:r>
              <a:rPr i="1" lang="en" sz="1500">
                <a:solidFill>
                  <a:schemeClr val="accent3"/>
                </a:solidFill>
              </a:rPr>
              <a:t>double maxiValue = x; //assume x is maximum</a:t>
            </a:r>
            <a:endParaRPr i="1" sz="1500">
              <a:solidFill>
                <a:schemeClr val="accent3"/>
              </a:solidFill>
            </a:endParaRPr>
          </a:p>
          <a:p>
            <a:pPr indent="0" lvl="0" marL="914400" rtl="0" algn="l">
              <a:spcBef>
                <a:spcPts val="0"/>
              </a:spcBef>
              <a:spcAft>
                <a:spcPts val="0"/>
              </a:spcAft>
              <a:buClr>
                <a:schemeClr val="dk1"/>
              </a:buClr>
              <a:buSzPts val="1100"/>
              <a:buFont typeface="Arial"/>
              <a:buNone/>
            </a:pPr>
            <a:r>
              <a:rPr i="1" lang="en" sz="1500">
                <a:solidFill>
                  <a:schemeClr val="accent3"/>
                </a:solidFill>
              </a:rPr>
              <a:t>if ( y &gt; maxiValue)</a:t>
            </a:r>
            <a:endParaRPr i="1" sz="1500">
              <a:solidFill>
                <a:schemeClr val="accent3"/>
              </a:solidFill>
            </a:endParaRPr>
          </a:p>
          <a:p>
            <a:pPr indent="0" lvl="0" marL="914400" rtl="0" algn="l">
              <a:spcBef>
                <a:spcPts val="0"/>
              </a:spcBef>
              <a:spcAft>
                <a:spcPts val="0"/>
              </a:spcAft>
              <a:buClr>
                <a:schemeClr val="dk1"/>
              </a:buClr>
              <a:buSzPts val="1100"/>
              <a:buFont typeface="Arial"/>
              <a:buNone/>
            </a:pPr>
            <a:r>
              <a:rPr i="1" lang="en" sz="1500">
                <a:solidFill>
                  <a:schemeClr val="accent3"/>
                </a:solidFill>
              </a:rPr>
              <a:t>maxiValue = y; // make y the new maximum</a:t>
            </a:r>
            <a:endParaRPr i="1" sz="1500">
              <a:solidFill>
                <a:schemeClr val="accent3"/>
              </a:solidFill>
            </a:endParaRPr>
          </a:p>
          <a:p>
            <a:pPr indent="0" lvl="0" marL="914400" rtl="0" algn="l">
              <a:spcBef>
                <a:spcPts val="0"/>
              </a:spcBef>
              <a:spcAft>
                <a:spcPts val="0"/>
              </a:spcAft>
              <a:buClr>
                <a:schemeClr val="dk1"/>
              </a:buClr>
              <a:buSzPts val="1100"/>
              <a:buFont typeface="Arial"/>
              <a:buNone/>
            </a:pPr>
            <a:r>
              <a:rPr i="1" lang="en" sz="1500">
                <a:solidFill>
                  <a:schemeClr val="accent3"/>
                </a:solidFill>
              </a:rPr>
              <a:t>if ( z &gt; maxiValue)</a:t>
            </a:r>
            <a:endParaRPr i="1" sz="1500">
              <a:solidFill>
                <a:schemeClr val="accent3"/>
              </a:solidFill>
            </a:endParaRPr>
          </a:p>
          <a:p>
            <a:pPr indent="0" lvl="0" marL="914400" rtl="0" algn="l">
              <a:spcBef>
                <a:spcPts val="0"/>
              </a:spcBef>
              <a:spcAft>
                <a:spcPts val="0"/>
              </a:spcAft>
              <a:buClr>
                <a:schemeClr val="dk1"/>
              </a:buClr>
              <a:buSzPts val="1100"/>
              <a:buFont typeface="Arial"/>
              <a:buNone/>
            </a:pPr>
            <a:r>
              <a:rPr i="1" lang="en" sz="1500">
                <a:solidFill>
                  <a:schemeClr val="accent3"/>
                </a:solidFill>
              </a:rPr>
              <a:t>maxiValue = z; // make z the newmaximum</a:t>
            </a:r>
            <a:endParaRPr i="1" sz="1500">
              <a:solidFill>
                <a:schemeClr val="accent3"/>
              </a:solidFill>
            </a:endParaRPr>
          </a:p>
          <a:p>
            <a:pPr indent="0" lvl="0" marL="914400" rtl="0" algn="l">
              <a:spcBef>
                <a:spcPts val="0"/>
              </a:spcBef>
              <a:spcAft>
                <a:spcPts val="0"/>
              </a:spcAft>
              <a:buClr>
                <a:schemeClr val="dk1"/>
              </a:buClr>
              <a:buSzPts val="1100"/>
              <a:buFont typeface="Arial"/>
              <a:buNone/>
            </a:pPr>
            <a:r>
              <a:rPr i="1" lang="en" sz="1500">
                <a:solidFill>
                  <a:schemeClr val="accent3"/>
                </a:solidFill>
              </a:rPr>
              <a:t>return maxiValue;</a:t>
            </a:r>
            <a:endParaRPr i="1" sz="1500">
              <a:solidFill>
                <a:schemeClr val="accent3"/>
              </a:solidFill>
            </a:endParaRPr>
          </a:p>
          <a:p>
            <a:pPr indent="0" lvl="0" marL="914400" rtl="0" algn="l">
              <a:spcBef>
                <a:spcPts val="0"/>
              </a:spcBef>
              <a:spcAft>
                <a:spcPts val="0"/>
              </a:spcAft>
              <a:buClr>
                <a:schemeClr val="dk1"/>
              </a:buClr>
              <a:buSzPts val="1100"/>
              <a:buFont typeface="Arial"/>
              <a:buNone/>
            </a:pPr>
            <a:r>
              <a:rPr i="1" lang="en" sz="1500">
                <a:solidFill>
                  <a:schemeClr val="accent3"/>
                </a:solidFill>
              </a:rPr>
              <a:t>} // end function</a:t>
            </a:r>
            <a:endParaRPr i="1" sz="1500">
              <a:solidFill>
                <a:schemeClr val="accent3"/>
              </a:solidFill>
            </a:endParaRPr>
          </a:p>
          <a:p>
            <a:pPr indent="0" lvl="0" marL="0" rtl="0" algn="l">
              <a:spcBef>
                <a:spcPts val="0"/>
              </a:spcBef>
              <a:spcAft>
                <a:spcPts val="0"/>
              </a:spcAft>
              <a:buClr>
                <a:schemeClr val="dk1"/>
              </a:buClr>
              <a:buSzPts val="1100"/>
              <a:buFont typeface="Arial"/>
              <a:buNone/>
            </a:pPr>
            <a:r>
              <a:rPr b="1" lang="en" sz="1500"/>
              <a:t> Question:</a:t>
            </a:r>
            <a:r>
              <a:rPr lang="en" sz="1500"/>
              <a:t> Write a complete program in which the maximum function is called from the</a:t>
            </a:r>
            <a:endParaRPr sz="1500"/>
          </a:p>
          <a:p>
            <a:pPr indent="0" lvl="0" marL="0" rtl="0" algn="l">
              <a:spcBef>
                <a:spcPts val="0"/>
              </a:spcBef>
              <a:spcAft>
                <a:spcPts val="0"/>
              </a:spcAft>
              <a:buClr>
                <a:schemeClr val="dk1"/>
              </a:buClr>
              <a:buSzPts val="1100"/>
              <a:buFont typeface="Arial"/>
              <a:buNone/>
            </a:pPr>
            <a:r>
              <a:rPr lang="en" sz="1500"/>
              <a:t>main ();</a:t>
            </a:r>
            <a:endParaRPr sz="1500"/>
          </a:p>
          <a:p>
            <a:pPr indent="-323850" lvl="0" marL="457200" rtl="0" algn="l">
              <a:spcBef>
                <a:spcPts val="0"/>
              </a:spcBef>
              <a:spcAft>
                <a:spcPts val="0"/>
              </a:spcAft>
              <a:buSzPts val="1500"/>
              <a:buAutoNum type="arabicPeriod"/>
            </a:pPr>
            <a:r>
              <a:rPr lang="en" sz="1500"/>
              <a:t>Write a program that computes area of a rectangle in a function called rect_area.</a:t>
            </a:r>
            <a:endParaRPr sz="1500"/>
          </a:p>
          <a:p>
            <a:pPr indent="0" lvl="0" marL="0" rtl="0" algn="l">
              <a:spcBef>
                <a:spcPts val="0"/>
              </a:spcBef>
              <a:spcAft>
                <a:spcPts val="0"/>
              </a:spcAft>
              <a:buClr>
                <a:schemeClr val="dk1"/>
              </a:buClr>
              <a:buSzPts val="1100"/>
              <a:buFont typeface="Arial"/>
              <a:buNone/>
            </a:pPr>
            <a:r>
              <a:rPr lang="en" sz="1500"/>
              <a:t>The rectangle then returns the calculated area to the main function.</a:t>
            </a:r>
            <a:endParaRPr sz="1500"/>
          </a:p>
          <a:p>
            <a:pPr indent="0" lvl="0" marL="0" rtl="0" algn="l">
              <a:spcBef>
                <a:spcPts val="0"/>
              </a:spcBef>
              <a:spcAft>
                <a:spcPts val="0"/>
              </a:spcAft>
              <a:buNone/>
            </a:pPr>
            <a:r>
              <a:t/>
            </a:r>
            <a:endParaRPr sz="1500"/>
          </a:p>
        </p:txBody>
      </p:sp>
      <p:sp>
        <p:nvSpPr>
          <p:cNvPr id="568" name="Google Shape;568;g283038813be_0_9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283038813be_0_179"/>
          <p:cNvSpPr txBox="1"/>
          <p:nvPr>
            <p:ph type="title"/>
          </p:nvPr>
        </p:nvSpPr>
        <p:spPr>
          <a:xfrm>
            <a:off x="470400" y="8387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2000">
                <a:highlight>
                  <a:srgbClr val="FFFFFF"/>
                </a:highlight>
                <a:latin typeface="Verdana"/>
                <a:ea typeface="Verdana"/>
                <a:cs typeface="Verdana"/>
                <a:sym typeface="Verdana"/>
              </a:rPr>
              <a:t>Overloaded functions</a:t>
            </a:r>
            <a:endParaRPr b="1" sz="2000">
              <a:highlight>
                <a:srgbClr val="FFFFFF"/>
              </a:highlight>
              <a:latin typeface="Verdana"/>
              <a:ea typeface="Verdana"/>
              <a:cs typeface="Verdana"/>
              <a:sym typeface="Verdana"/>
            </a:endParaRPr>
          </a:p>
          <a:p>
            <a:pPr indent="0" lvl="0" marL="0" rtl="0" algn="l">
              <a:spcBef>
                <a:spcPts val="0"/>
              </a:spcBef>
              <a:spcAft>
                <a:spcPts val="0"/>
              </a:spcAft>
              <a:buNone/>
            </a:pPr>
            <a:r>
              <a:t/>
            </a:r>
            <a:endParaRPr sz="2500"/>
          </a:p>
        </p:txBody>
      </p:sp>
      <p:sp>
        <p:nvSpPr>
          <p:cNvPr id="574" name="Google Shape;574;g283038813be_0_179"/>
          <p:cNvSpPr txBox="1"/>
          <p:nvPr>
            <p:ph idx="1" type="body"/>
          </p:nvPr>
        </p:nvSpPr>
        <p:spPr>
          <a:xfrm>
            <a:off x="199875" y="656575"/>
            <a:ext cx="2903100" cy="2290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500">
                <a:solidFill>
                  <a:schemeClr val="dk1"/>
                </a:solidFill>
                <a:highlight>
                  <a:srgbClr val="FFFFFF"/>
                </a:highlight>
                <a:latin typeface="Verdana"/>
                <a:ea typeface="Verdana"/>
                <a:cs typeface="Verdana"/>
                <a:sym typeface="Verdana"/>
              </a:rPr>
              <a:t>In C++, two different functions can have the same name if their parameters are different; either because they have a different number of parameters, or because any of their parameters are of a different type.</a:t>
            </a:r>
            <a:endParaRPr sz="1500">
              <a:solidFill>
                <a:schemeClr val="dk1"/>
              </a:solidFill>
              <a:highlight>
                <a:srgbClr val="FFFFFF"/>
              </a:highlight>
              <a:latin typeface="Verdana"/>
              <a:ea typeface="Verdana"/>
              <a:cs typeface="Verdana"/>
              <a:sym typeface="Verdana"/>
            </a:endParaRPr>
          </a:p>
          <a:p>
            <a:pPr indent="0" lvl="0" marL="0" rtl="0" algn="just">
              <a:spcBef>
                <a:spcPts val="0"/>
              </a:spcBef>
              <a:spcAft>
                <a:spcPts val="0"/>
              </a:spcAft>
              <a:buNone/>
            </a:pPr>
            <a:r>
              <a:rPr lang="en" sz="1500">
                <a:solidFill>
                  <a:srgbClr val="FF0000"/>
                </a:solidFill>
                <a:highlight>
                  <a:srgbClr val="FFFFFF"/>
                </a:highlight>
                <a:latin typeface="Verdana"/>
                <a:ea typeface="Verdana"/>
                <a:cs typeface="Verdana"/>
                <a:sym typeface="Verdana"/>
              </a:rPr>
              <a:t>Note that a function cannot be overloaded only by its return type. At least one of its parameters must have a different type</a:t>
            </a:r>
            <a:r>
              <a:rPr lang="en" sz="1500">
                <a:solidFill>
                  <a:schemeClr val="dk1"/>
                </a:solidFill>
                <a:highlight>
                  <a:srgbClr val="FFFFFF"/>
                </a:highlight>
                <a:latin typeface="Verdana"/>
                <a:ea typeface="Verdana"/>
                <a:cs typeface="Verdana"/>
                <a:sym typeface="Verdana"/>
              </a:rPr>
              <a:t>.</a:t>
            </a:r>
            <a:endParaRPr sz="1500">
              <a:solidFill>
                <a:schemeClr val="dk1"/>
              </a:solidFill>
              <a:highlight>
                <a:srgbClr val="FFFFFF"/>
              </a:highlight>
              <a:latin typeface="Verdana"/>
              <a:ea typeface="Verdana"/>
              <a:cs typeface="Verdana"/>
              <a:sym typeface="Verdana"/>
            </a:endParaRPr>
          </a:p>
        </p:txBody>
      </p:sp>
      <p:sp>
        <p:nvSpPr>
          <p:cNvPr id="575" name="Google Shape;575;g283038813be_0_179"/>
          <p:cNvSpPr txBox="1"/>
          <p:nvPr/>
        </p:nvSpPr>
        <p:spPr>
          <a:xfrm>
            <a:off x="3354625" y="75775"/>
            <a:ext cx="5576700" cy="4686600"/>
          </a:xfrm>
          <a:prstGeom prst="rect">
            <a:avLst/>
          </a:prstGeom>
          <a:solidFill>
            <a:srgbClr val="EFEFE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434343"/>
                </a:solidFill>
              </a:rPr>
              <a:t>// overloading functions</a:t>
            </a:r>
            <a:endParaRPr i="1">
              <a:solidFill>
                <a:srgbClr val="434343"/>
              </a:solidFill>
            </a:endParaRPr>
          </a:p>
          <a:p>
            <a:pPr indent="0" lvl="0" marL="0" rtl="0" algn="l">
              <a:spcBef>
                <a:spcPts val="0"/>
              </a:spcBef>
              <a:spcAft>
                <a:spcPts val="0"/>
              </a:spcAft>
              <a:buNone/>
            </a:pPr>
            <a:r>
              <a:rPr i="1" lang="en">
                <a:solidFill>
                  <a:srgbClr val="434343"/>
                </a:solidFill>
              </a:rPr>
              <a:t>#include &lt;iostream&gt;</a:t>
            </a:r>
            <a:endParaRPr i="1">
              <a:solidFill>
                <a:srgbClr val="434343"/>
              </a:solidFill>
            </a:endParaRPr>
          </a:p>
          <a:p>
            <a:pPr indent="0" lvl="0" marL="0" rtl="0" algn="l">
              <a:spcBef>
                <a:spcPts val="0"/>
              </a:spcBef>
              <a:spcAft>
                <a:spcPts val="0"/>
              </a:spcAft>
              <a:buNone/>
            </a:pPr>
            <a:r>
              <a:rPr i="1" lang="en">
                <a:solidFill>
                  <a:srgbClr val="434343"/>
                </a:solidFill>
              </a:rPr>
              <a:t>using namespace std;</a:t>
            </a:r>
            <a:endParaRPr i="1">
              <a:solidFill>
                <a:srgbClr val="434343"/>
              </a:solidFill>
            </a:endParaRPr>
          </a:p>
          <a:p>
            <a:pPr indent="0" lvl="0" marL="0" rtl="0" algn="l">
              <a:spcBef>
                <a:spcPts val="0"/>
              </a:spcBef>
              <a:spcAft>
                <a:spcPts val="0"/>
              </a:spcAft>
              <a:buNone/>
            </a:pPr>
            <a:r>
              <a:t/>
            </a:r>
            <a:endParaRPr i="1">
              <a:solidFill>
                <a:srgbClr val="434343"/>
              </a:solidFill>
            </a:endParaRPr>
          </a:p>
          <a:p>
            <a:pPr indent="0" lvl="0" marL="0" rtl="0" algn="l">
              <a:spcBef>
                <a:spcPts val="0"/>
              </a:spcBef>
              <a:spcAft>
                <a:spcPts val="0"/>
              </a:spcAft>
              <a:buNone/>
            </a:pPr>
            <a:r>
              <a:rPr i="1" lang="en">
                <a:solidFill>
                  <a:srgbClr val="434343"/>
                </a:solidFill>
              </a:rPr>
              <a:t>int operate (int a, int b)</a:t>
            </a:r>
            <a:endParaRPr i="1">
              <a:solidFill>
                <a:srgbClr val="434343"/>
              </a:solidFill>
            </a:endParaRPr>
          </a:p>
          <a:p>
            <a:pPr indent="0" lvl="0" marL="0" rtl="0" algn="l">
              <a:spcBef>
                <a:spcPts val="0"/>
              </a:spcBef>
              <a:spcAft>
                <a:spcPts val="0"/>
              </a:spcAft>
              <a:buNone/>
            </a:pPr>
            <a:r>
              <a:rPr i="1" lang="en">
                <a:solidFill>
                  <a:srgbClr val="434343"/>
                </a:solidFill>
              </a:rPr>
              <a:t>{</a:t>
            </a:r>
            <a:endParaRPr i="1">
              <a:solidFill>
                <a:srgbClr val="434343"/>
              </a:solidFill>
            </a:endParaRPr>
          </a:p>
          <a:p>
            <a:pPr indent="0" lvl="0" marL="0" rtl="0" algn="l">
              <a:spcBef>
                <a:spcPts val="0"/>
              </a:spcBef>
              <a:spcAft>
                <a:spcPts val="0"/>
              </a:spcAft>
              <a:buNone/>
            </a:pPr>
            <a:r>
              <a:rPr i="1" lang="en">
                <a:solidFill>
                  <a:srgbClr val="434343"/>
                </a:solidFill>
              </a:rPr>
              <a:t>  return (a*b);</a:t>
            </a:r>
            <a:endParaRPr i="1">
              <a:solidFill>
                <a:srgbClr val="434343"/>
              </a:solidFill>
            </a:endParaRPr>
          </a:p>
          <a:p>
            <a:pPr indent="0" lvl="0" marL="0" rtl="0" algn="l">
              <a:spcBef>
                <a:spcPts val="0"/>
              </a:spcBef>
              <a:spcAft>
                <a:spcPts val="0"/>
              </a:spcAft>
              <a:buNone/>
            </a:pPr>
            <a:r>
              <a:rPr i="1" lang="en">
                <a:solidFill>
                  <a:srgbClr val="434343"/>
                </a:solidFill>
              </a:rPr>
              <a:t>}</a:t>
            </a:r>
            <a:endParaRPr i="1">
              <a:solidFill>
                <a:srgbClr val="434343"/>
              </a:solidFill>
            </a:endParaRPr>
          </a:p>
          <a:p>
            <a:pPr indent="0" lvl="0" marL="0" rtl="0" algn="l">
              <a:spcBef>
                <a:spcPts val="0"/>
              </a:spcBef>
              <a:spcAft>
                <a:spcPts val="0"/>
              </a:spcAft>
              <a:buNone/>
            </a:pPr>
            <a:r>
              <a:rPr i="1" lang="en">
                <a:solidFill>
                  <a:srgbClr val="434343"/>
                </a:solidFill>
              </a:rPr>
              <a:t>double operate (double a, double b)</a:t>
            </a:r>
            <a:endParaRPr i="1">
              <a:solidFill>
                <a:srgbClr val="434343"/>
              </a:solidFill>
            </a:endParaRPr>
          </a:p>
          <a:p>
            <a:pPr indent="0" lvl="0" marL="0" rtl="0" algn="l">
              <a:spcBef>
                <a:spcPts val="0"/>
              </a:spcBef>
              <a:spcAft>
                <a:spcPts val="0"/>
              </a:spcAft>
              <a:buNone/>
            </a:pPr>
            <a:r>
              <a:rPr i="1" lang="en">
                <a:solidFill>
                  <a:srgbClr val="434343"/>
                </a:solidFill>
              </a:rPr>
              <a:t>{</a:t>
            </a:r>
            <a:endParaRPr i="1">
              <a:solidFill>
                <a:srgbClr val="434343"/>
              </a:solidFill>
            </a:endParaRPr>
          </a:p>
          <a:p>
            <a:pPr indent="0" lvl="0" marL="0" rtl="0" algn="l">
              <a:spcBef>
                <a:spcPts val="0"/>
              </a:spcBef>
              <a:spcAft>
                <a:spcPts val="0"/>
              </a:spcAft>
              <a:buNone/>
            </a:pPr>
            <a:r>
              <a:rPr i="1" lang="en">
                <a:solidFill>
                  <a:srgbClr val="434343"/>
                </a:solidFill>
              </a:rPr>
              <a:t>  return (a/b);</a:t>
            </a:r>
            <a:endParaRPr i="1">
              <a:solidFill>
                <a:srgbClr val="434343"/>
              </a:solidFill>
            </a:endParaRPr>
          </a:p>
          <a:p>
            <a:pPr indent="0" lvl="0" marL="0" rtl="0" algn="l">
              <a:spcBef>
                <a:spcPts val="0"/>
              </a:spcBef>
              <a:spcAft>
                <a:spcPts val="0"/>
              </a:spcAft>
              <a:buNone/>
            </a:pPr>
            <a:r>
              <a:rPr i="1" lang="en">
                <a:solidFill>
                  <a:srgbClr val="434343"/>
                </a:solidFill>
              </a:rPr>
              <a:t>}</a:t>
            </a:r>
            <a:endParaRPr i="1">
              <a:solidFill>
                <a:srgbClr val="434343"/>
              </a:solidFill>
            </a:endParaRPr>
          </a:p>
          <a:p>
            <a:pPr indent="0" lvl="0" marL="0" rtl="0" algn="l">
              <a:spcBef>
                <a:spcPts val="0"/>
              </a:spcBef>
              <a:spcAft>
                <a:spcPts val="0"/>
              </a:spcAft>
              <a:buNone/>
            </a:pPr>
            <a:r>
              <a:rPr i="1" lang="en">
                <a:solidFill>
                  <a:srgbClr val="434343"/>
                </a:solidFill>
              </a:rPr>
              <a:t>int main ()</a:t>
            </a:r>
            <a:endParaRPr i="1">
              <a:solidFill>
                <a:srgbClr val="434343"/>
              </a:solidFill>
            </a:endParaRPr>
          </a:p>
          <a:p>
            <a:pPr indent="0" lvl="0" marL="0" rtl="0" algn="l">
              <a:spcBef>
                <a:spcPts val="0"/>
              </a:spcBef>
              <a:spcAft>
                <a:spcPts val="0"/>
              </a:spcAft>
              <a:buNone/>
            </a:pPr>
            <a:r>
              <a:rPr i="1" lang="en">
                <a:solidFill>
                  <a:srgbClr val="434343"/>
                </a:solidFill>
              </a:rPr>
              <a:t>{</a:t>
            </a:r>
            <a:endParaRPr i="1">
              <a:solidFill>
                <a:srgbClr val="434343"/>
              </a:solidFill>
            </a:endParaRPr>
          </a:p>
          <a:p>
            <a:pPr indent="0" lvl="0" marL="0" rtl="0" algn="l">
              <a:spcBef>
                <a:spcPts val="0"/>
              </a:spcBef>
              <a:spcAft>
                <a:spcPts val="0"/>
              </a:spcAft>
              <a:buNone/>
            </a:pPr>
            <a:r>
              <a:rPr i="1" lang="en">
                <a:solidFill>
                  <a:srgbClr val="434343"/>
                </a:solidFill>
              </a:rPr>
              <a:t>  int x=5,y=2;</a:t>
            </a:r>
            <a:endParaRPr i="1">
              <a:solidFill>
                <a:srgbClr val="434343"/>
              </a:solidFill>
            </a:endParaRPr>
          </a:p>
          <a:p>
            <a:pPr indent="0" lvl="0" marL="0" rtl="0" algn="l">
              <a:spcBef>
                <a:spcPts val="0"/>
              </a:spcBef>
              <a:spcAft>
                <a:spcPts val="0"/>
              </a:spcAft>
              <a:buNone/>
            </a:pPr>
            <a:r>
              <a:rPr i="1" lang="en">
                <a:solidFill>
                  <a:srgbClr val="434343"/>
                </a:solidFill>
              </a:rPr>
              <a:t>  double n=5.0,m=2.0;</a:t>
            </a:r>
            <a:endParaRPr i="1">
              <a:solidFill>
                <a:srgbClr val="434343"/>
              </a:solidFill>
            </a:endParaRPr>
          </a:p>
          <a:p>
            <a:pPr indent="0" lvl="0" marL="0" rtl="0" algn="l">
              <a:spcBef>
                <a:spcPts val="0"/>
              </a:spcBef>
              <a:spcAft>
                <a:spcPts val="0"/>
              </a:spcAft>
              <a:buNone/>
            </a:pPr>
            <a:r>
              <a:rPr i="1" lang="en">
                <a:solidFill>
                  <a:srgbClr val="434343"/>
                </a:solidFill>
              </a:rPr>
              <a:t>  cout &lt;&lt; operate (x,y) &lt;&lt; '\n'; //call operate with integer arguments</a:t>
            </a:r>
            <a:endParaRPr i="1">
              <a:solidFill>
                <a:srgbClr val="434343"/>
              </a:solidFill>
            </a:endParaRPr>
          </a:p>
          <a:p>
            <a:pPr indent="0" lvl="0" marL="0" rtl="0" algn="l">
              <a:spcBef>
                <a:spcPts val="0"/>
              </a:spcBef>
              <a:spcAft>
                <a:spcPts val="0"/>
              </a:spcAft>
              <a:buNone/>
            </a:pPr>
            <a:r>
              <a:rPr i="1" lang="en">
                <a:solidFill>
                  <a:srgbClr val="434343"/>
                </a:solidFill>
              </a:rPr>
              <a:t>  cout &lt;&lt; operate (n,m) &lt;&lt; '\n'; //call operate with double arguments</a:t>
            </a:r>
            <a:endParaRPr i="1">
              <a:solidFill>
                <a:srgbClr val="434343"/>
              </a:solidFill>
            </a:endParaRPr>
          </a:p>
          <a:p>
            <a:pPr indent="0" lvl="0" marL="0" rtl="0" algn="l">
              <a:spcBef>
                <a:spcPts val="0"/>
              </a:spcBef>
              <a:spcAft>
                <a:spcPts val="0"/>
              </a:spcAft>
              <a:buNone/>
            </a:pPr>
            <a:r>
              <a:rPr i="1" lang="en">
                <a:solidFill>
                  <a:srgbClr val="434343"/>
                </a:solidFill>
              </a:rPr>
              <a:t>  return 0;</a:t>
            </a:r>
            <a:endParaRPr i="1">
              <a:solidFill>
                <a:srgbClr val="434343"/>
              </a:solidFill>
            </a:endParaRPr>
          </a:p>
          <a:p>
            <a:pPr indent="0" lvl="0" marL="0" rtl="0" algn="l">
              <a:spcBef>
                <a:spcPts val="0"/>
              </a:spcBef>
              <a:spcAft>
                <a:spcPts val="0"/>
              </a:spcAft>
              <a:buNone/>
            </a:pPr>
            <a:r>
              <a:rPr i="1" lang="en">
                <a:solidFill>
                  <a:srgbClr val="434343"/>
                </a:solidFill>
              </a:rPr>
              <a:t>}</a:t>
            </a:r>
            <a:endParaRPr i="1">
              <a:solidFill>
                <a:srgbClr val="434343"/>
              </a:solidFill>
            </a:endParaRPr>
          </a:p>
        </p:txBody>
      </p:sp>
      <p:sp>
        <p:nvSpPr>
          <p:cNvPr id="576" name="Google Shape;576;g283038813be_0_17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g283038813be_0_185"/>
          <p:cNvSpPr txBox="1"/>
          <p:nvPr>
            <p:ph type="title"/>
          </p:nvPr>
        </p:nvSpPr>
        <p:spPr>
          <a:xfrm>
            <a:off x="540300" y="-12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Overloaded functions(next)</a:t>
            </a:r>
            <a:endParaRPr/>
          </a:p>
        </p:txBody>
      </p:sp>
      <p:sp>
        <p:nvSpPr>
          <p:cNvPr id="582" name="Google Shape;582;g283038813be_0_185"/>
          <p:cNvSpPr txBox="1"/>
          <p:nvPr>
            <p:ph idx="1" type="body"/>
          </p:nvPr>
        </p:nvSpPr>
        <p:spPr>
          <a:xfrm>
            <a:off x="912600" y="1114650"/>
            <a:ext cx="3768600" cy="3967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500"/>
              <a:t>// overloaded functions</a:t>
            </a:r>
            <a:endParaRPr sz="1500"/>
          </a:p>
          <a:p>
            <a:pPr indent="0" lvl="0" marL="0" rtl="0" algn="l">
              <a:lnSpc>
                <a:spcPct val="100000"/>
              </a:lnSpc>
              <a:spcBef>
                <a:spcPts val="0"/>
              </a:spcBef>
              <a:spcAft>
                <a:spcPts val="0"/>
              </a:spcAft>
              <a:buClr>
                <a:schemeClr val="dk1"/>
              </a:buClr>
              <a:buSzPts val="1100"/>
              <a:buFont typeface="Arial"/>
              <a:buNone/>
            </a:pPr>
            <a:r>
              <a:rPr lang="en" sz="1500"/>
              <a:t>#include &lt;iostream&gt;</a:t>
            </a:r>
            <a:endParaRPr sz="1500"/>
          </a:p>
          <a:p>
            <a:pPr indent="0" lvl="0" marL="0" rtl="0" algn="l">
              <a:lnSpc>
                <a:spcPct val="100000"/>
              </a:lnSpc>
              <a:spcBef>
                <a:spcPts val="0"/>
              </a:spcBef>
              <a:spcAft>
                <a:spcPts val="0"/>
              </a:spcAft>
              <a:buClr>
                <a:schemeClr val="dk1"/>
              </a:buClr>
              <a:buSzPts val="1100"/>
              <a:buFont typeface="Arial"/>
              <a:buNone/>
            </a:pPr>
            <a:r>
              <a:rPr lang="en" sz="1500"/>
              <a:t>using namespace std;</a:t>
            </a:r>
            <a:endParaRPr sz="1500"/>
          </a:p>
          <a:p>
            <a:pPr indent="0" lvl="0" marL="0" rtl="0" algn="l">
              <a:lnSpc>
                <a:spcPct val="100000"/>
              </a:lnSpc>
              <a:spcBef>
                <a:spcPts val="0"/>
              </a:spcBef>
              <a:spcAft>
                <a:spcPts val="0"/>
              </a:spcAft>
              <a:buClr>
                <a:schemeClr val="dk1"/>
              </a:buClr>
              <a:buSzPts val="1100"/>
              <a:buFont typeface="Arial"/>
              <a:buNone/>
            </a:pPr>
            <a:r>
              <a:rPr lang="en" sz="1500"/>
              <a:t>int sum (int a, int b)</a:t>
            </a:r>
            <a:endParaRPr sz="1500"/>
          </a:p>
          <a:p>
            <a:pPr indent="0" lvl="0" marL="0" rtl="0" algn="l">
              <a:lnSpc>
                <a:spcPct val="100000"/>
              </a:lnSpc>
              <a:spcBef>
                <a:spcPts val="0"/>
              </a:spcBef>
              <a:spcAft>
                <a:spcPts val="0"/>
              </a:spcAft>
              <a:buClr>
                <a:schemeClr val="dk1"/>
              </a:buClr>
              <a:buSzPts val="1100"/>
              <a:buFont typeface="Arial"/>
              <a:buNone/>
            </a:pPr>
            <a:r>
              <a:rPr lang="en" sz="1500"/>
              <a:t>{</a:t>
            </a:r>
            <a:endParaRPr sz="1500"/>
          </a:p>
          <a:p>
            <a:pPr indent="0" lvl="0" marL="0" rtl="0" algn="l">
              <a:lnSpc>
                <a:spcPct val="100000"/>
              </a:lnSpc>
              <a:spcBef>
                <a:spcPts val="0"/>
              </a:spcBef>
              <a:spcAft>
                <a:spcPts val="0"/>
              </a:spcAft>
              <a:buClr>
                <a:schemeClr val="dk1"/>
              </a:buClr>
              <a:buSzPts val="1100"/>
              <a:buFont typeface="Arial"/>
              <a:buNone/>
            </a:pPr>
            <a:r>
              <a:rPr lang="en" sz="1500"/>
              <a:t>  return a+b;</a:t>
            </a:r>
            <a:endParaRPr sz="1500"/>
          </a:p>
          <a:p>
            <a:pPr indent="0" lvl="0" marL="0" rtl="0" algn="l">
              <a:lnSpc>
                <a:spcPct val="100000"/>
              </a:lnSpc>
              <a:spcBef>
                <a:spcPts val="0"/>
              </a:spcBef>
              <a:spcAft>
                <a:spcPts val="0"/>
              </a:spcAft>
              <a:buClr>
                <a:schemeClr val="dk1"/>
              </a:buClr>
              <a:buSzPts val="1100"/>
              <a:buFont typeface="Arial"/>
              <a:buNone/>
            </a:pPr>
            <a:r>
              <a:rPr lang="en" sz="1500"/>
              <a:t>}</a:t>
            </a:r>
            <a:endParaRPr sz="1500"/>
          </a:p>
          <a:p>
            <a:pPr indent="0" lvl="0" marL="0" rtl="0" algn="l">
              <a:lnSpc>
                <a:spcPct val="100000"/>
              </a:lnSpc>
              <a:spcBef>
                <a:spcPts val="0"/>
              </a:spcBef>
              <a:spcAft>
                <a:spcPts val="0"/>
              </a:spcAft>
              <a:buClr>
                <a:schemeClr val="dk1"/>
              </a:buClr>
              <a:buSzPts val="1100"/>
              <a:buFont typeface="Arial"/>
              <a:buNone/>
            </a:pPr>
            <a:r>
              <a:rPr lang="en" sz="1500"/>
              <a:t>double sum (double a, double b)</a:t>
            </a:r>
            <a:endParaRPr sz="1500"/>
          </a:p>
          <a:p>
            <a:pPr indent="0" lvl="0" marL="0" rtl="0" algn="l">
              <a:lnSpc>
                <a:spcPct val="100000"/>
              </a:lnSpc>
              <a:spcBef>
                <a:spcPts val="0"/>
              </a:spcBef>
              <a:spcAft>
                <a:spcPts val="0"/>
              </a:spcAft>
              <a:buClr>
                <a:schemeClr val="dk1"/>
              </a:buClr>
              <a:buSzPts val="1100"/>
              <a:buFont typeface="Arial"/>
              <a:buNone/>
            </a:pPr>
            <a:r>
              <a:rPr lang="en" sz="1500"/>
              <a:t>{</a:t>
            </a:r>
            <a:endParaRPr sz="1500"/>
          </a:p>
          <a:p>
            <a:pPr indent="0" lvl="0" marL="0" rtl="0" algn="l">
              <a:lnSpc>
                <a:spcPct val="100000"/>
              </a:lnSpc>
              <a:spcBef>
                <a:spcPts val="0"/>
              </a:spcBef>
              <a:spcAft>
                <a:spcPts val="0"/>
              </a:spcAft>
              <a:buClr>
                <a:schemeClr val="dk1"/>
              </a:buClr>
              <a:buSzPts val="1100"/>
              <a:buFont typeface="Arial"/>
              <a:buNone/>
            </a:pPr>
            <a:r>
              <a:rPr lang="en" sz="1500"/>
              <a:t>  return a+b;</a:t>
            </a:r>
            <a:endParaRPr sz="1500"/>
          </a:p>
          <a:p>
            <a:pPr indent="0" lvl="0" marL="0" rtl="0" algn="l">
              <a:lnSpc>
                <a:spcPct val="100000"/>
              </a:lnSpc>
              <a:spcBef>
                <a:spcPts val="0"/>
              </a:spcBef>
              <a:spcAft>
                <a:spcPts val="0"/>
              </a:spcAft>
              <a:buClr>
                <a:schemeClr val="dk1"/>
              </a:buClr>
              <a:buSzPts val="1100"/>
              <a:buFont typeface="Arial"/>
              <a:buNone/>
            </a:pPr>
            <a:r>
              <a:rPr lang="en" sz="1500"/>
              <a:t>}</a:t>
            </a:r>
            <a:endParaRPr sz="1500"/>
          </a:p>
          <a:p>
            <a:pPr indent="0" lvl="0" marL="0" rtl="0" algn="l">
              <a:lnSpc>
                <a:spcPct val="100000"/>
              </a:lnSpc>
              <a:spcBef>
                <a:spcPts val="0"/>
              </a:spcBef>
              <a:spcAft>
                <a:spcPts val="0"/>
              </a:spcAft>
              <a:buClr>
                <a:schemeClr val="dk1"/>
              </a:buClr>
              <a:buSzPts val="1100"/>
              <a:buFont typeface="Arial"/>
              <a:buNone/>
            </a:pPr>
            <a:r>
              <a:rPr lang="en" sz="1500"/>
              <a:t>int main ()</a:t>
            </a:r>
            <a:endParaRPr sz="1500"/>
          </a:p>
          <a:p>
            <a:pPr indent="0" lvl="0" marL="0" rtl="0" algn="l">
              <a:lnSpc>
                <a:spcPct val="100000"/>
              </a:lnSpc>
              <a:spcBef>
                <a:spcPts val="0"/>
              </a:spcBef>
              <a:spcAft>
                <a:spcPts val="0"/>
              </a:spcAft>
              <a:buClr>
                <a:schemeClr val="dk1"/>
              </a:buClr>
              <a:buSzPts val="1100"/>
              <a:buFont typeface="Arial"/>
              <a:buNone/>
            </a:pPr>
            <a:r>
              <a:rPr lang="en" sz="1500"/>
              <a:t>{</a:t>
            </a:r>
            <a:endParaRPr sz="1500"/>
          </a:p>
          <a:p>
            <a:pPr indent="0" lvl="0" marL="0" rtl="0" algn="l">
              <a:lnSpc>
                <a:spcPct val="100000"/>
              </a:lnSpc>
              <a:spcBef>
                <a:spcPts val="0"/>
              </a:spcBef>
              <a:spcAft>
                <a:spcPts val="0"/>
              </a:spcAft>
              <a:buClr>
                <a:schemeClr val="dk1"/>
              </a:buClr>
              <a:buSzPts val="1100"/>
              <a:buFont typeface="Arial"/>
              <a:buNone/>
            </a:pPr>
            <a:r>
              <a:rPr lang="en" sz="1500"/>
              <a:t>  cout &lt;&lt; sum (10,20) &lt;&lt; '\n';</a:t>
            </a:r>
            <a:endParaRPr sz="1500"/>
          </a:p>
          <a:p>
            <a:pPr indent="0" lvl="0" marL="0" rtl="0" algn="l">
              <a:lnSpc>
                <a:spcPct val="100000"/>
              </a:lnSpc>
              <a:spcBef>
                <a:spcPts val="0"/>
              </a:spcBef>
              <a:spcAft>
                <a:spcPts val="0"/>
              </a:spcAft>
              <a:buClr>
                <a:schemeClr val="dk1"/>
              </a:buClr>
              <a:buSzPts val="1100"/>
              <a:buFont typeface="Arial"/>
              <a:buNone/>
            </a:pPr>
            <a:r>
              <a:rPr lang="en" sz="1500"/>
              <a:t>  cout &lt;&lt; sum (1.0,1.5) &lt;&lt; '\n';</a:t>
            </a:r>
            <a:endParaRPr sz="1500"/>
          </a:p>
          <a:p>
            <a:pPr indent="0" lvl="0" marL="0" rtl="0" algn="l">
              <a:lnSpc>
                <a:spcPct val="100000"/>
              </a:lnSpc>
              <a:spcBef>
                <a:spcPts val="0"/>
              </a:spcBef>
              <a:spcAft>
                <a:spcPts val="0"/>
              </a:spcAft>
              <a:buClr>
                <a:schemeClr val="dk1"/>
              </a:buClr>
              <a:buSzPts val="1100"/>
              <a:buFont typeface="Arial"/>
              <a:buNone/>
            </a:pPr>
            <a:r>
              <a:rPr lang="en" sz="1500"/>
              <a:t>  return 0;</a:t>
            </a:r>
            <a:endParaRPr sz="1500"/>
          </a:p>
          <a:p>
            <a:pPr indent="0" lvl="0" marL="0" rtl="0" algn="l">
              <a:lnSpc>
                <a:spcPct val="100000"/>
              </a:lnSpc>
              <a:spcBef>
                <a:spcPts val="0"/>
              </a:spcBef>
              <a:spcAft>
                <a:spcPts val="0"/>
              </a:spcAft>
              <a:buClr>
                <a:schemeClr val="dk1"/>
              </a:buClr>
              <a:buSzPts val="1100"/>
              <a:buFont typeface="Arial"/>
              <a:buNone/>
            </a:pPr>
            <a:r>
              <a:rPr lang="en" sz="1500"/>
              <a:t>}</a:t>
            </a:r>
            <a:endParaRPr sz="1500"/>
          </a:p>
          <a:p>
            <a:pPr indent="0" lvl="0" marL="0" rtl="0" algn="l">
              <a:lnSpc>
                <a:spcPct val="100000"/>
              </a:lnSpc>
              <a:spcBef>
                <a:spcPts val="0"/>
              </a:spcBef>
              <a:spcAft>
                <a:spcPts val="0"/>
              </a:spcAft>
              <a:buNone/>
            </a:pPr>
            <a:r>
              <a:t/>
            </a:r>
            <a:endParaRPr sz="1500"/>
          </a:p>
        </p:txBody>
      </p:sp>
      <p:sp>
        <p:nvSpPr>
          <p:cNvPr id="583" name="Google Shape;583;g283038813be_0_185"/>
          <p:cNvSpPr txBox="1"/>
          <p:nvPr/>
        </p:nvSpPr>
        <p:spPr>
          <a:xfrm>
            <a:off x="570600" y="554200"/>
            <a:ext cx="8460000" cy="7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highlight>
                  <a:srgbClr val="FFFFFF"/>
                </a:highlight>
                <a:latin typeface="Verdana"/>
                <a:ea typeface="Verdana"/>
                <a:cs typeface="Verdana"/>
                <a:sym typeface="Verdana"/>
              </a:rPr>
              <a:t>Overloaded functions may have the same definition.Here, </a:t>
            </a:r>
            <a:r>
              <a:rPr lang="en" sz="1700">
                <a:solidFill>
                  <a:schemeClr val="dk1"/>
                </a:solidFill>
                <a:highlight>
                  <a:srgbClr val="FFFFFF"/>
                </a:highlight>
              </a:rPr>
              <a:t>sum</a:t>
            </a:r>
            <a:r>
              <a:rPr lang="en" sz="1700">
                <a:solidFill>
                  <a:schemeClr val="dk1"/>
                </a:solidFill>
                <a:highlight>
                  <a:srgbClr val="FFFFFF"/>
                </a:highlight>
                <a:latin typeface="Verdana"/>
                <a:ea typeface="Verdana"/>
                <a:cs typeface="Verdana"/>
                <a:sym typeface="Verdana"/>
              </a:rPr>
              <a:t> is overloaded with different parameter types, but with the exact same body.</a:t>
            </a:r>
            <a:endParaRPr sz="1700"/>
          </a:p>
        </p:txBody>
      </p:sp>
      <p:sp>
        <p:nvSpPr>
          <p:cNvPr id="584" name="Google Shape;584;g283038813be_0_18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g283038813be_0_191"/>
          <p:cNvSpPr txBox="1"/>
          <p:nvPr>
            <p:ph type="title"/>
          </p:nvPr>
        </p:nvSpPr>
        <p:spPr>
          <a:xfrm>
            <a:off x="208475" y="1024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Functions template</a:t>
            </a:r>
            <a:endParaRPr/>
          </a:p>
        </p:txBody>
      </p:sp>
      <p:sp>
        <p:nvSpPr>
          <p:cNvPr id="590" name="Google Shape;590;g283038813be_0_191"/>
          <p:cNvSpPr txBox="1"/>
          <p:nvPr>
            <p:ph idx="1" type="body"/>
          </p:nvPr>
        </p:nvSpPr>
        <p:spPr>
          <a:xfrm>
            <a:off x="208475" y="606075"/>
            <a:ext cx="8776200" cy="453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chemeClr val="dk1"/>
                </a:solidFill>
                <a:highlight>
                  <a:srgbClr val="FFFFFF"/>
                </a:highlight>
                <a:latin typeface="Verdana"/>
                <a:ea typeface="Verdana"/>
                <a:cs typeface="Verdana"/>
                <a:sym typeface="Verdana"/>
              </a:rPr>
              <a:t>The function </a:t>
            </a:r>
            <a:r>
              <a:rPr lang="en" sz="1500">
                <a:solidFill>
                  <a:schemeClr val="dk1"/>
                </a:solidFill>
                <a:highlight>
                  <a:srgbClr val="FFFFFF"/>
                </a:highlight>
              </a:rPr>
              <a:t>sum() in the previous example</a:t>
            </a:r>
            <a:r>
              <a:rPr lang="en" sz="1500">
                <a:solidFill>
                  <a:schemeClr val="dk1"/>
                </a:solidFill>
                <a:highlight>
                  <a:srgbClr val="FFFFFF"/>
                </a:highlight>
                <a:latin typeface="Verdana"/>
                <a:ea typeface="Verdana"/>
                <a:cs typeface="Verdana"/>
                <a:sym typeface="Verdana"/>
              </a:rPr>
              <a:t> could be overloaded for a lot of types, and it could make sense for all of them to have the same body. For cases such as this, C++ has the ability to define functions with generic types, known as </a:t>
            </a:r>
            <a:r>
              <a:rPr i="1" lang="en" sz="1500">
                <a:solidFill>
                  <a:schemeClr val="dk1"/>
                </a:solidFill>
                <a:highlight>
                  <a:srgbClr val="FFFFFF"/>
                </a:highlight>
                <a:latin typeface="Verdana"/>
                <a:ea typeface="Verdana"/>
                <a:cs typeface="Verdana"/>
                <a:sym typeface="Verdana"/>
              </a:rPr>
              <a:t>function templates</a:t>
            </a:r>
            <a:r>
              <a:rPr lang="en" sz="1500">
                <a:solidFill>
                  <a:schemeClr val="dk1"/>
                </a:solidFill>
                <a:highlight>
                  <a:srgbClr val="FFFFFF"/>
                </a:highlight>
                <a:latin typeface="Verdana"/>
                <a:ea typeface="Verdana"/>
                <a:cs typeface="Verdana"/>
                <a:sym typeface="Verdana"/>
              </a:rPr>
              <a:t>. Defining a function template follows the same syntax as a regular function, except that it is preceded by the </a:t>
            </a:r>
            <a:r>
              <a:rPr lang="en" sz="1500">
                <a:solidFill>
                  <a:schemeClr val="dk1"/>
                </a:solidFill>
                <a:highlight>
                  <a:srgbClr val="FFFFFF"/>
                </a:highlight>
              </a:rPr>
              <a:t>template</a:t>
            </a:r>
            <a:r>
              <a:rPr lang="en" sz="1500">
                <a:solidFill>
                  <a:schemeClr val="dk1"/>
                </a:solidFill>
                <a:highlight>
                  <a:srgbClr val="FFFFFF"/>
                </a:highlight>
                <a:latin typeface="Verdana"/>
                <a:ea typeface="Verdana"/>
                <a:cs typeface="Verdana"/>
                <a:sym typeface="Verdana"/>
              </a:rPr>
              <a:t> keyword and a series of template parameters enclosed in angle-brackets &lt;&gt;:</a:t>
            </a:r>
            <a:endParaRPr sz="1500">
              <a:solidFill>
                <a:schemeClr val="dk1"/>
              </a:solidFill>
            </a:endParaRPr>
          </a:p>
          <a:p>
            <a:pPr indent="0" lvl="0" marL="0" rtl="0" algn="l">
              <a:spcBef>
                <a:spcPts val="0"/>
              </a:spcBef>
              <a:spcAft>
                <a:spcPts val="0"/>
              </a:spcAft>
              <a:buClr>
                <a:schemeClr val="dk1"/>
              </a:buClr>
              <a:buSzPts val="1100"/>
              <a:buFont typeface="Arial"/>
              <a:buNone/>
            </a:pPr>
            <a:r>
              <a:rPr b="1" i="1" lang="en" sz="1500">
                <a:solidFill>
                  <a:schemeClr val="dk1"/>
                </a:solidFill>
                <a:highlight>
                  <a:srgbClr val="FFFFFF"/>
                </a:highlight>
              </a:rPr>
              <a:t>template &lt;template-parameters&gt; function-declaration</a:t>
            </a:r>
            <a:r>
              <a:rPr b="1" i="1" lang="en" sz="1500">
                <a:solidFill>
                  <a:schemeClr val="dk1"/>
                </a:solidFill>
                <a:highlight>
                  <a:srgbClr val="FFFFFF"/>
                </a:highlight>
                <a:latin typeface="Verdana"/>
                <a:ea typeface="Verdana"/>
                <a:cs typeface="Verdana"/>
                <a:sym typeface="Verdana"/>
              </a:rPr>
              <a:t> </a:t>
            </a:r>
            <a:endParaRPr b="1" i="1" sz="150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None/>
            </a:pPr>
            <a:r>
              <a:rPr lang="en" sz="1500">
                <a:solidFill>
                  <a:schemeClr val="dk1"/>
                </a:solidFill>
                <a:highlight>
                  <a:srgbClr val="FFFFFF"/>
                </a:highlight>
                <a:latin typeface="Verdana"/>
                <a:ea typeface="Verdana"/>
                <a:cs typeface="Verdana"/>
                <a:sym typeface="Verdana"/>
              </a:rPr>
              <a:t>The template parameters are a series of parameters separated by commas. These parameters can be generic template types by specifying either the </a:t>
            </a:r>
            <a:r>
              <a:rPr b="1" lang="en" sz="1500">
                <a:solidFill>
                  <a:schemeClr val="dk1"/>
                </a:solidFill>
                <a:highlight>
                  <a:srgbClr val="FFFFFF"/>
                </a:highlight>
              </a:rPr>
              <a:t>class</a:t>
            </a:r>
            <a:r>
              <a:rPr b="1" lang="en" sz="1500">
                <a:solidFill>
                  <a:schemeClr val="dk1"/>
                </a:solidFill>
                <a:highlight>
                  <a:srgbClr val="FFFFFF"/>
                </a:highlight>
                <a:latin typeface="Verdana"/>
                <a:ea typeface="Verdana"/>
                <a:cs typeface="Verdana"/>
                <a:sym typeface="Verdana"/>
              </a:rPr>
              <a:t> or </a:t>
            </a:r>
            <a:r>
              <a:rPr b="1" lang="en" sz="1500">
                <a:solidFill>
                  <a:schemeClr val="dk1"/>
                </a:solidFill>
                <a:highlight>
                  <a:srgbClr val="FFFFFF"/>
                </a:highlight>
              </a:rPr>
              <a:t>typename</a:t>
            </a:r>
            <a:r>
              <a:rPr lang="en" sz="1500">
                <a:solidFill>
                  <a:schemeClr val="dk1"/>
                </a:solidFill>
                <a:highlight>
                  <a:srgbClr val="FFFFFF"/>
                </a:highlight>
                <a:latin typeface="Verdana"/>
                <a:ea typeface="Verdana"/>
                <a:cs typeface="Verdana"/>
                <a:sym typeface="Verdana"/>
              </a:rPr>
              <a:t> keyword followed by an identifier. This identifier can then be used in the function declaration as if it was a regular type. For example, a generic </a:t>
            </a:r>
            <a:r>
              <a:rPr lang="en" sz="1500">
                <a:solidFill>
                  <a:schemeClr val="dk1"/>
                </a:solidFill>
                <a:highlight>
                  <a:srgbClr val="FFFFFF"/>
                </a:highlight>
              </a:rPr>
              <a:t>sum</a:t>
            </a:r>
            <a:r>
              <a:rPr lang="en" sz="1500">
                <a:solidFill>
                  <a:schemeClr val="dk1"/>
                </a:solidFill>
                <a:highlight>
                  <a:srgbClr val="FFFFFF"/>
                </a:highlight>
                <a:latin typeface="Verdana"/>
                <a:ea typeface="Verdana"/>
                <a:cs typeface="Verdana"/>
                <a:sym typeface="Verdana"/>
              </a:rPr>
              <a:t> function could be defined as:</a:t>
            </a:r>
            <a:endParaRPr sz="1500">
              <a:solidFill>
                <a:schemeClr val="dk1"/>
              </a:solidFill>
              <a:highlight>
                <a:srgbClr val="FFFFFF"/>
              </a:highlight>
              <a:latin typeface="Verdana"/>
              <a:ea typeface="Verdana"/>
              <a:cs typeface="Verdana"/>
              <a:sym typeface="Verdana"/>
            </a:endParaRPr>
          </a:p>
          <a:p>
            <a:pPr indent="0" lvl="0" marL="1828800" rtl="0" algn="l">
              <a:spcBef>
                <a:spcPts val="0"/>
              </a:spcBef>
              <a:spcAft>
                <a:spcPts val="0"/>
              </a:spcAft>
              <a:buNone/>
            </a:pPr>
            <a:r>
              <a:t/>
            </a:r>
            <a:endParaRPr sz="1700">
              <a:solidFill>
                <a:srgbClr val="6AA84F"/>
              </a:solidFill>
            </a:endParaRPr>
          </a:p>
          <a:p>
            <a:pPr indent="0" lvl="0" marL="0" rtl="0" algn="l">
              <a:spcBef>
                <a:spcPts val="0"/>
              </a:spcBef>
              <a:spcAft>
                <a:spcPts val="0"/>
              </a:spcAft>
              <a:buNone/>
            </a:pPr>
            <a:r>
              <a:t/>
            </a:r>
            <a:endParaRPr sz="150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None/>
            </a:pPr>
            <a:r>
              <a:t/>
            </a:r>
            <a:endParaRPr sz="150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None/>
            </a:pPr>
            <a:r>
              <a:t/>
            </a:r>
            <a:endParaRPr sz="1500">
              <a:solidFill>
                <a:schemeClr val="dk1"/>
              </a:solidFill>
              <a:highlight>
                <a:srgbClr val="FFFFFF"/>
              </a:highlight>
              <a:latin typeface="Verdana"/>
              <a:ea typeface="Verdana"/>
              <a:cs typeface="Verdana"/>
              <a:sym typeface="Verdana"/>
            </a:endParaRPr>
          </a:p>
        </p:txBody>
      </p:sp>
      <p:sp>
        <p:nvSpPr>
          <p:cNvPr id="591" name="Google Shape;591;g283038813be_0_191"/>
          <p:cNvSpPr txBox="1"/>
          <p:nvPr/>
        </p:nvSpPr>
        <p:spPr>
          <a:xfrm>
            <a:off x="442475" y="3337950"/>
            <a:ext cx="4001700" cy="147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500">
                <a:solidFill>
                  <a:srgbClr val="6AA84F"/>
                </a:solidFill>
              </a:rPr>
              <a:t>template &lt;class SomeType&gt;</a:t>
            </a:r>
            <a:endParaRPr sz="1500">
              <a:solidFill>
                <a:srgbClr val="6AA84F"/>
              </a:solidFill>
            </a:endParaRPr>
          </a:p>
          <a:p>
            <a:pPr indent="0" lvl="0" marL="0" rtl="0" algn="l">
              <a:lnSpc>
                <a:spcPct val="115000"/>
              </a:lnSpc>
              <a:spcBef>
                <a:spcPts val="0"/>
              </a:spcBef>
              <a:spcAft>
                <a:spcPts val="0"/>
              </a:spcAft>
              <a:buNone/>
            </a:pPr>
            <a:r>
              <a:rPr lang="en" sz="1500">
                <a:solidFill>
                  <a:srgbClr val="6AA84F"/>
                </a:solidFill>
              </a:rPr>
              <a:t>SomeType sum (SomeType a, SomeType b)</a:t>
            </a:r>
            <a:endParaRPr sz="1500">
              <a:solidFill>
                <a:srgbClr val="6AA84F"/>
              </a:solidFill>
            </a:endParaRPr>
          </a:p>
          <a:p>
            <a:pPr indent="0" lvl="0" marL="0" rtl="0" algn="l">
              <a:lnSpc>
                <a:spcPct val="115000"/>
              </a:lnSpc>
              <a:spcBef>
                <a:spcPts val="0"/>
              </a:spcBef>
              <a:spcAft>
                <a:spcPts val="0"/>
              </a:spcAft>
              <a:buNone/>
            </a:pPr>
            <a:r>
              <a:rPr lang="en" sz="1500">
                <a:solidFill>
                  <a:srgbClr val="6AA84F"/>
                </a:solidFill>
              </a:rPr>
              <a:t>{</a:t>
            </a:r>
            <a:endParaRPr sz="1500">
              <a:solidFill>
                <a:srgbClr val="6AA84F"/>
              </a:solidFill>
            </a:endParaRPr>
          </a:p>
          <a:p>
            <a:pPr indent="0" lvl="0" marL="0" rtl="0" algn="l">
              <a:lnSpc>
                <a:spcPct val="115000"/>
              </a:lnSpc>
              <a:spcBef>
                <a:spcPts val="0"/>
              </a:spcBef>
              <a:spcAft>
                <a:spcPts val="0"/>
              </a:spcAft>
              <a:buNone/>
            </a:pPr>
            <a:r>
              <a:rPr lang="en" sz="1500">
                <a:solidFill>
                  <a:srgbClr val="6AA84F"/>
                </a:solidFill>
              </a:rPr>
              <a:t> return a+b;</a:t>
            </a:r>
            <a:endParaRPr sz="1500">
              <a:solidFill>
                <a:srgbClr val="6AA84F"/>
              </a:solidFill>
            </a:endParaRPr>
          </a:p>
          <a:p>
            <a:pPr indent="0" lvl="0" marL="0" rtl="0" algn="l">
              <a:lnSpc>
                <a:spcPct val="115000"/>
              </a:lnSpc>
              <a:spcBef>
                <a:spcPts val="0"/>
              </a:spcBef>
              <a:spcAft>
                <a:spcPts val="0"/>
              </a:spcAft>
              <a:buNone/>
            </a:pPr>
            <a:r>
              <a:rPr lang="en" sz="1500">
                <a:solidFill>
                  <a:srgbClr val="6AA84F"/>
                </a:solidFill>
              </a:rPr>
              <a:t>}</a:t>
            </a:r>
            <a:endParaRPr sz="1500">
              <a:solidFill>
                <a:srgbClr val="6AA84F"/>
              </a:solidFill>
            </a:endParaRPr>
          </a:p>
        </p:txBody>
      </p:sp>
      <p:sp>
        <p:nvSpPr>
          <p:cNvPr id="592" name="Google Shape;592;g283038813be_0_191"/>
          <p:cNvSpPr txBox="1"/>
          <p:nvPr/>
        </p:nvSpPr>
        <p:spPr>
          <a:xfrm>
            <a:off x="4798250" y="3373800"/>
            <a:ext cx="4001700" cy="147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500">
                <a:solidFill>
                  <a:srgbClr val="6AA84F"/>
                </a:solidFill>
              </a:rPr>
              <a:t>template &lt;typename T&gt;</a:t>
            </a:r>
            <a:endParaRPr sz="1500">
              <a:solidFill>
                <a:srgbClr val="6AA84F"/>
              </a:solidFill>
            </a:endParaRPr>
          </a:p>
          <a:p>
            <a:pPr indent="0" lvl="0" marL="0" rtl="0" algn="l">
              <a:lnSpc>
                <a:spcPct val="115000"/>
              </a:lnSpc>
              <a:spcBef>
                <a:spcPts val="0"/>
              </a:spcBef>
              <a:spcAft>
                <a:spcPts val="0"/>
              </a:spcAft>
              <a:buNone/>
            </a:pPr>
            <a:r>
              <a:rPr lang="en" sz="1500">
                <a:solidFill>
                  <a:srgbClr val="6AA84F"/>
                </a:solidFill>
              </a:rPr>
              <a:t>T sum (T a, T b)</a:t>
            </a:r>
            <a:endParaRPr sz="1500">
              <a:solidFill>
                <a:srgbClr val="6AA84F"/>
              </a:solidFill>
            </a:endParaRPr>
          </a:p>
          <a:p>
            <a:pPr indent="0" lvl="0" marL="0" rtl="0" algn="l">
              <a:lnSpc>
                <a:spcPct val="115000"/>
              </a:lnSpc>
              <a:spcBef>
                <a:spcPts val="0"/>
              </a:spcBef>
              <a:spcAft>
                <a:spcPts val="0"/>
              </a:spcAft>
              <a:buNone/>
            </a:pPr>
            <a:r>
              <a:rPr lang="en" sz="1500">
                <a:solidFill>
                  <a:srgbClr val="6AA84F"/>
                </a:solidFill>
              </a:rPr>
              <a:t>{</a:t>
            </a:r>
            <a:endParaRPr sz="1500">
              <a:solidFill>
                <a:srgbClr val="6AA84F"/>
              </a:solidFill>
            </a:endParaRPr>
          </a:p>
          <a:p>
            <a:pPr indent="0" lvl="0" marL="0" rtl="0" algn="l">
              <a:lnSpc>
                <a:spcPct val="115000"/>
              </a:lnSpc>
              <a:spcBef>
                <a:spcPts val="0"/>
              </a:spcBef>
              <a:spcAft>
                <a:spcPts val="0"/>
              </a:spcAft>
              <a:buNone/>
            </a:pPr>
            <a:r>
              <a:rPr lang="en" sz="1500">
                <a:solidFill>
                  <a:srgbClr val="6AA84F"/>
                </a:solidFill>
              </a:rPr>
              <a:t> return a+b;</a:t>
            </a:r>
            <a:endParaRPr sz="1500">
              <a:solidFill>
                <a:srgbClr val="6AA84F"/>
              </a:solidFill>
            </a:endParaRPr>
          </a:p>
          <a:p>
            <a:pPr indent="0" lvl="0" marL="0" rtl="0" algn="l">
              <a:lnSpc>
                <a:spcPct val="115000"/>
              </a:lnSpc>
              <a:spcBef>
                <a:spcPts val="0"/>
              </a:spcBef>
              <a:spcAft>
                <a:spcPts val="0"/>
              </a:spcAft>
              <a:buNone/>
            </a:pPr>
            <a:r>
              <a:rPr lang="en" sz="1500">
                <a:solidFill>
                  <a:srgbClr val="6AA84F"/>
                </a:solidFill>
              </a:rPr>
              <a:t>}</a:t>
            </a:r>
            <a:endParaRPr sz="1500">
              <a:solidFill>
                <a:srgbClr val="6AA84F"/>
              </a:solidFill>
            </a:endParaRPr>
          </a:p>
        </p:txBody>
      </p:sp>
      <p:sp>
        <p:nvSpPr>
          <p:cNvPr id="593" name="Google Shape;593;g283038813be_0_19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g283038813be_0_196"/>
          <p:cNvSpPr txBox="1"/>
          <p:nvPr>
            <p:ph idx="1" type="body"/>
          </p:nvPr>
        </p:nvSpPr>
        <p:spPr>
          <a:xfrm>
            <a:off x="-64225" y="202275"/>
            <a:ext cx="5594100" cy="4941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n" sz="1600">
                <a:solidFill>
                  <a:schemeClr val="dk1"/>
                </a:solidFill>
                <a:highlight>
                  <a:srgbClr val="FFFFFF"/>
                </a:highlight>
                <a:latin typeface="Verdana"/>
                <a:ea typeface="Verdana"/>
                <a:cs typeface="Verdana"/>
                <a:sym typeface="Verdana"/>
              </a:rPr>
              <a:t>In the code above, declaring SomeType of </a:t>
            </a:r>
            <a:r>
              <a:rPr lang="en" sz="1600">
                <a:solidFill>
                  <a:schemeClr val="dk1"/>
                </a:solidFill>
                <a:highlight>
                  <a:srgbClr val="FFFFFF"/>
                </a:highlight>
              </a:rPr>
              <a:t>T</a:t>
            </a:r>
            <a:r>
              <a:rPr lang="en" sz="1600">
                <a:solidFill>
                  <a:schemeClr val="dk1"/>
                </a:solidFill>
                <a:highlight>
                  <a:srgbClr val="FFFFFF"/>
                </a:highlight>
                <a:latin typeface="Verdana"/>
                <a:ea typeface="Verdana"/>
                <a:cs typeface="Verdana"/>
                <a:sym typeface="Verdana"/>
              </a:rPr>
              <a:t> (a generic type within the template parameters enclosed in angle-brackets) allows </a:t>
            </a:r>
            <a:r>
              <a:rPr lang="en" sz="1600">
                <a:solidFill>
                  <a:schemeClr val="dk1"/>
                </a:solidFill>
                <a:highlight>
                  <a:srgbClr val="FFFFFF"/>
                </a:highlight>
              </a:rPr>
              <a:t>T</a:t>
            </a:r>
            <a:r>
              <a:rPr lang="en" sz="1600">
                <a:solidFill>
                  <a:schemeClr val="dk1"/>
                </a:solidFill>
                <a:highlight>
                  <a:srgbClr val="FFFFFF"/>
                </a:highlight>
                <a:latin typeface="Verdana"/>
                <a:ea typeface="Verdana"/>
                <a:cs typeface="Verdana"/>
                <a:sym typeface="Verdana"/>
              </a:rPr>
              <a:t> to be used anywhere in the function definition, just as any other type; it can be used as the type for parameters, as return type, or to declare new variables of this type. In all cases, it represents a generic type that will be determined on the moment the template is instantiated.</a:t>
            </a:r>
            <a:endParaRPr sz="1600">
              <a:solidFill>
                <a:schemeClr val="dk1"/>
              </a:solidFill>
            </a:endParaRPr>
          </a:p>
          <a:p>
            <a:pPr indent="0" lvl="0" marL="0" rtl="0" algn="just">
              <a:spcBef>
                <a:spcPts val="0"/>
              </a:spcBef>
              <a:spcAft>
                <a:spcPts val="0"/>
              </a:spcAft>
              <a:buNone/>
            </a:pPr>
            <a:r>
              <a:rPr lang="en" sz="1600">
                <a:solidFill>
                  <a:schemeClr val="dk1"/>
                </a:solidFill>
                <a:highlight>
                  <a:srgbClr val="FFFFFF"/>
                </a:highlight>
                <a:latin typeface="Verdana"/>
                <a:ea typeface="Verdana"/>
                <a:cs typeface="Verdana"/>
                <a:sym typeface="Verdana"/>
              </a:rPr>
              <a:t>Instantiating a template is applying the template to create a function using particular types or values for its template parameters. This is done by calling the </a:t>
            </a:r>
            <a:r>
              <a:rPr i="1" lang="en" sz="1600">
                <a:solidFill>
                  <a:schemeClr val="dk1"/>
                </a:solidFill>
                <a:highlight>
                  <a:srgbClr val="FFFFFF"/>
                </a:highlight>
                <a:latin typeface="Verdana"/>
                <a:ea typeface="Verdana"/>
                <a:cs typeface="Verdana"/>
                <a:sym typeface="Verdana"/>
              </a:rPr>
              <a:t>function template</a:t>
            </a:r>
            <a:r>
              <a:rPr lang="en" sz="1600">
                <a:solidFill>
                  <a:schemeClr val="dk1"/>
                </a:solidFill>
                <a:highlight>
                  <a:srgbClr val="FFFFFF"/>
                </a:highlight>
                <a:latin typeface="Verdana"/>
                <a:ea typeface="Verdana"/>
                <a:cs typeface="Verdana"/>
                <a:sym typeface="Verdana"/>
              </a:rPr>
              <a:t>, with the same syntax as calling a regular function, but specifying the template arguments enclosed in angle brackets:</a:t>
            </a:r>
            <a:endParaRPr sz="1600">
              <a:solidFill>
                <a:schemeClr val="dk1"/>
              </a:solidFill>
              <a:highlight>
                <a:srgbClr val="FFFFFF"/>
              </a:highlight>
              <a:latin typeface="Verdana"/>
              <a:ea typeface="Verdana"/>
              <a:cs typeface="Verdana"/>
              <a:sym typeface="Verdana"/>
            </a:endParaRPr>
          </a:p>
          <a:p>
            <a:pPr indent="0" lvl="0" marL="457200" rtl="0" algn="just">
              <a:lnSpc>
                <a:spcPct val="100000"/>
              </a:lnSpc>
              <a:spcBef>
                <a:spcPts val="0"/>
              </a:spcBef>
              <a:spcAft>
                <a:spcPts val="0"/>
              </a:spcAft>
              <a:buClr>
                <a:schemeClr val="dk1"/>
              </a:buClr>
              <a:buSzPts val="1100"/>
              <a:buFont typeface="Arial"/>
              <a:buNone/>
            </a:pPr>
            <a:r>
              <a:rPr b="1" i="1" lang="en" sz="1600">
                <a:solidFill>
                  <a:schemeClr val="dk1"/>
                </a:solidFill>
                <a:highlight>
                  <a:srgbClr val="FFFFFF"/>
                </a:highlight>
              </a:rPr>
              <a:t>name &lt;template-arguments&gt; (function-arguments)</a:t>
            </a:r>
            <a:r>
              <a:rPr b="1" i="1" lang="en" sz="1600">
                <a:solidFill>
                  <a:schemeClr val="dk1"/>
                </a:solidFill>
                <a:highlight>
                  <a:srgbClr val="FFFFFF"/>
                </a:highlight>
                <a:latin typeface="Verdana"/>
                <a:ea typeface="Verdana"/>
                <a:cs typeface="Verdana"/>
                <a:sym typeface="Verdana"/>
              </a:rPr>
              <a:t> </a:t>
            </a:r>
            <a:endParaRPr b="1" i="1" sz="1600">
              <a:solidFill>
                <a:schemeClr val="dk1"/>
              </a:solidFill>
              <a:highlight>
                <a:srgbClr val="FFFFFF"/>
              </a:highlight>
              <a:latin typeface="Verdana"/>
              <a:ea typeface="Verdana"/>
              <a:cs typeface="Verdana"/>
              <a:sym typeface="Verdana"/>
            </a:endParaRPr>
          </a:p>
          <a:p>
            <a:pPr indent="0" lvl="0" marL="0" rtl="0" algn="just">
              <a:lnSpc>
                <a:spcPct val="100000"/>
              </a:lnSpc>
              <a:spcBef>
                <a:spcPts val="0"/>
              </a:spcBef>
              <a:spcAft>
                <a:spcPts val="0"/>
              </a:spcAft>
              <a:buNone/>
            </a:pPr>
            <a:r>
              <a:rPr lang="en" sz="1600">
                <a:solidFill>
                  <a:schemeClr val="dk1"/>
                </a:solidFill>
                <a:highlight>
                  <a:srgbClr val="FFFFFF"/>
                </a:highlight>
                <a:latin typeface="Verdana"/>
                <a:ea typeface="Verdana"/>
                <a:cs typeface="Verdana"/>
                <a:sym typeface="Verdana"/>
              </a:rPr>
              <a:t>For example, the </a:t>
            </a:r>
            <a:r>
              <a:rPr lang="en" sz="1600">
                <a:solidFill>
                  <a:schemeClr val="dk1"/>
                </a:solidFill>
                <a:highlight>
                  <a:srgbClr val="FFFFFF"/>
                </a:highlight>
              </a:rPr>
              <a:t>sum</a:t>
            </a:r>
            <a:r>
              <a:rPr lang="en" sz="1600">
                <a:solidFill>
                  <a:schemeClr val="dk1"/>
                </a:solidFill>
                <a:highlight>
                  <a:srgbClr val="FFFFFF"/>
                </a:highlight>
                <a:latin typeface="Verdana"/>
                <a:ea typeface="Verdana"/>
                <a:cs typeface="Verdana"/>
                <a:sym typeface="Verdana"/>
              </a:rPr>
              <a:t> function template defined above can be called with:</a:t>
            </a:r>
            <a:endParaRPr sz="1600">
              <a:solidFill>
                <a:schemeClr val="dk1"/>
              </a:solidFill>
              <a:highlight>
                <a:srgbClr val="FFFFFF"/>
              </a:highlight>
              <a:latin typeface="Verdana"/>
              <a:ea typeface="Verdana"/>
              <a:cs typeface="Verdana"/>
              <a:sym typeface="Verdana"/>
            </a:endParaRPr>
          </a:p>
          <a:p>
            <a:pPr indent="457200" lvl="0" marL="0" rtl="0" algn="just">
              <a:lnSpc>
                <a:spcPct val="100000"/>
              </a:lnSpc>
              <a:spcBef>
                <a:spcPts val="0"/>
              </a:spcBef>
              <a:spcAft>
                <a:spcPts val="0"/>
              </a:spcAft>
              <a:buClr>
                <a:schemeClr val="dk1"/>
              </a:buClr>
              <a:buSzPts val="1100"/>
              <a:buFont typeface="Arial"/>
              <a:buNone/>
            </a:pPr>
            <a:r>
              <a:rPr b="1" i="1" lang="en" sz="1600">
                <a:solidFill>
                  <a:schemeClr val="dk1"/>
                </a:solidFill>
                <a:highlight>
                  <a:srgbClr val="FFFFFF"/>
                </a:highlight>
                <a:latin typeface="Verdana"/>
                <a:ea typeface="Verdana"/>
                <a:cs typeface="Verdana"/>
                <a:sym typeface="Verdana"/>
              </a:rPr>
              <a:t>x=sum&lt;int&gt;(10,20)</a:t>
            </a:r>
            <a:endParaRPr b="1" i="1" sz="1600">
              <a:solidFill>
                <a:schemeClr val="dk1"/>
              </a:solidFill>
              <a:highlight>
                <a:srgbClr val="FFFFFF"/>
              </a:highlight>
              <a:latin typeface="Verdana"/>
              <a:ea typeface="Verdana"/>
              <a:cs typeface="Verdana"/>
              <a:sym typeface="Verdana"/>
            </a:endParaRPr>
          </a:p>
          <a:p>
            <a:pPr indent="0" lvl="0" marL="0" rtl="0" algn="just">
              <a:spcBef>
                <a:spcPts val="0"/>
              </a:spcBef>
              <a:spcAft>
                <a:spcPts val="0"/>
              </a:spcAft>
              <a:buNone/>
            </a:pPr>
            <a:r>
              <a:t/>
            </a:r>
            <a:endParaRPr sz="1600">
              <a:solidFill>
                <a:schemeClr val="dk1"/>
              </a:solidFill>
              <a:highlight>
                <a:srgbClr val="FFFFFF"/>
              </a:highlight>
              <a:latin typeface="Verdana"/>
              <a:ea typeface="Verdana"/>
              <a:cs typeface="Verdana"/>
              <a:sym typeface="Verdana"/>
            </a:endParaRPr>
          </a:p>
        </p:txBody>
      </p:sp>
      <p:sp>
        <p:nvSpPr>
          <p:cNvPr id="599" name="Google Shape;599;g283038813be_0_196"/>
          <p:cNvSpPr txBox="1"/>
          <p:nvPr/>
        </p:nvSpPr>
        <p:spPr>
          <a:xfrm>
            <a:off x="5529875" y="627175"/>
            <a:ext cx="3682500" cy="4109400"/>
          </a:xfrm>
          <a:prstGeom prst="rect">
            <a:avLst/>
          </a:prstGeom>
          <a:solidFill>
            <a:srgbClr val="F3F3F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#include &lt;iostream&gt;</a:t>
            </a:r>
            <a:endParaRPr/>
          </a:p>
          <a:p>
            <a:pPr indent="0" lvl="0" marL="0" rtl="0" algn="l">
              <a:spcBef>
                <a:spcPts val="0"/>
              </a:spcBef>
              <a:spcAft>
                <a:spcPts val="0"/>
              </a:spcAft>
              <a:buNone/>
            </a:pPr>
            <a:r>
              <a:rPr lang="en"/>
              <a:t>using namespace std;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rgbClr val="1155CC"/>
                </a:solidFill>
              </a:rPr>
              <a:t>template &lt;typename T&gt;</a:t>
            </a:r>
            <a:endParaRPr>
              <a:solidFill>
                <a:srgbClr val="1155CC"/>
              </a:solidFill>
            </a:endParaRPr>
          </a:p>
          <a:p>
            <a:pPr indent="0" lvl="0" marL="0" rtl="0" algn="l">
              <a:spcBef>
                <a:spcPts val="0"/>
              </a:spcBef>
              <a:spcAft>
                <a:spcPts val="0"/>
              </a:spcAft>
              <a:buNone/>
            </a:pPr>
            <a:r>
              <a:rPr lang="en">
                <a:solidFill>
                  <a:srgbClr val="1155CC"/>
                </a:solidFill>
              </a:rPr>
              <a:t>T sum (T a, T b)</a:t>
            </a:r>
            <a:endParaRPr>
              <a:solidFill>
                <a:srgbClr val="1155CC"/>
              </a:solidFill>
            </a:endParaRPr>
          </a:p>
          <a:p>
            <a:pPr indent="0" lvl="0" marL="0" rtl="0" algn="l">
              <a:spcBef>
                <a:spcPts val="0"/>
              </a:spcBef>
              <a:spcAft>
                <a:spcPts val="0"/>
              </a:spcAft>
              <a:buNone/>
            </a:pPr>
            <a:r>
              <a:rPr lang="en">
                <a:solidFill>
                  <a:srgbClr val="1155CC"/>
                </a:solidFill>
              </a:rPr>
              <a:t>{</a:t>
            </a:r>
            <a:endParaRPr>
              <a:solidFill>
                <a:srgbClr val="1155CC"/>
              </a:solidFill>
            </a:endParaRPr>
          </a:p>
          <a:p>
            <a:pPr indent="0" lvl="0" marL="0" rtl="0" algn="l">
              <a:spcBef>
                <a:spcPts val="0"/>
              </a:spcBef>
              <a:spcAft>
                <a:spcPts val="0"/>
              </a:spcAft>
              <a:buNone/>
            </a:pPr>
            <a:r>
              <a:rPr lang="en">
                <a:solidFill>
                  <a:srgbClr val="1155CC"/>
                </a:solidFill>
              </a:rPr>
              <a:t>  return a+b;</a:t>
            </a:r>
            <a:endParaRPr>
              <a:solidFill>
                <a:srgbClr val="1155CC"/>
              </a:solidFill>
            </a:endParaRPr>
          </a:p>
          <a:p>
            <a:pPr indent="0" lvl="0" marL="0" rtl="0" algn="l">
              <a:spcBef>
                <a:spcPts val="0"/>
              </a:spcBef>
              <a:spcAft>
                <a:spcPts val="0"/>
              </a:spcAft>
              <a:buNone/>
            </a:pPr>
            <a:r>
              <a:rPr lang="en">
                <a:solidFill>
                  <a:srgbClr val="1155CC"/>
                </a:solidFill>
              </a:rPr>
              <a:t>}</a:t>
            </a:r>
            <a:endParaRPr>
              <a:solidFill>
                <a:srgbClr val="1155CC"/>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int main ()</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rPr lang="en"/>
              <a:t>  int x=5,y=2;</a:t>
            </a:r>
            <a:endParaRPr/>
          </a:p>
          <a:p>
            <a:pPr indent="0" lvl="0" marL="0" rtl="0" algn="l">
              <a:spcBef>
                <a:spcPts val="0"/>
              </a:spcBef>
              <a:spcAft>
                <a:spcPts val="0"/>
              </a:spcAft>
              <a:buNone/>
            </a:pPr>
            <a:r>
              <a:rPr lang="en"/>
              <a:t>  double n=5.0,m=2.5;</a:t>
            </a:r>
            <a:endParaRPr/>
          </a:p>
          <a:p>
            <a:pPr indent="0" lvl="0" marL="0" rtl="0" algn="l">
              <a:spcBef>
                <a:spcPts val="0"/>
              </a:spcBef>
              <a:spcAft>
                <a:spcPts val="0"/>
              </a:spcAft>
              <a:buNone/>
            </a:pPr>
            <a:r>
              <a:rPr lang="en"/>
              <a:t>  </a:t>
            </a:r>
            <a:r>
              <a:rPr lang="en">
                <a:solidFill>
                  <a:srgbClr val="1155CC"/>
                </a:solidFill>
              </a:rPr>
              <a:t>cout &lt;&lt; sum&lt;int&gt;(x,y) &lt;&lt; '\n';</a:t>
            </a:r>
            <a:endParaRPr>
              <a:solidFill>
                <a:srgbClr val="1155CC"/>
              </a:solidFill>
            </a:endParaRPr>
          </a:p>
          <a:p>
            <a:pPr indent="0" lvl="0" marL="0" rtl="0" algn="l">
              <a:spcBef>
                <a:spcPts val="0"/>
              </a:spcBef>
              <a:spcAft>
                <a:spcPts val="0"/>
              </a:spcAft>
              <a:buNone/>
            </a:pPr>
            <a:r>
              <a:rPr lang="en"/>
              <a:t> </a:t>
            </a:r>
            <a:r>
              <a:rPr lang="en">
                <a:solidFill>
                  <a:srgbClr val="1155CC"/>
                </a:solidFill>
              </a:rPr>
              <a:t> cout &lt;&lt; sum&lt;double&gt;(n,m) &lt;&lt; '\n';</a:t>
            </a:r>
            <a:endParaRPr>
              <a:solidFill>
                <a:srgbClr val="1155CC"/>
              </a:solidFill>
            </a:endParaRPr>
          </a:p>
          <a:p>
            <a:pPr indent="0" lvl="0" marL="0" rtl="0" algn="l">
              <a:spcBef>
                <a:spcPts val="0"/>
              </a:spcBef>
              <a:spcAft>
                <a:spcPts val="0"/>
              </a:spcAft>
              <a:buNone/>
            </a:pPr>
            <a:r>
              <a:rPr lang="en"/>
              <a:t>  return 0;</a:t>
            </a:r>
            <a:endParaRPr/>
          </a:p>
          <a:p>
            <a:pPr indent="0" lvl="0" marL="0" rtl="0" algn="l">
              <a:spcBef>
                <a:spcPts val="0"/>
              </a:spcBef>
              <a:spcAft>
                <a:spcPts val="0"/>
              </a:spcAft>
              <a:buNone/>
            </a:pPr>
            <a:r>
              <a:rPr lang="en"/>
              <a:t>}</a:t>
            </a:r>
            <a:endParaRPr/>
          </a:p>
        </p:txBody>
      </p:sp>
      <p:sp>
        <p:nvSpPr>
          <p:cNvPr id="600" name="Google Shape;600;g283038813be_0_196"/>
          <p:cNvSpPr txBox="1"/>
          <p:nvPr/>
        </p:nvSpPr>
        <p:spPr>
          <a:xfrm>
            <a:off x="6881675" y="4608600"/>
            <a:ext cx="1515600" cy="567300"/>
          </a:xfrm>
          <a:prstGeom prst="rect">
            <a:avLst/>
          </a:prstGeom>
          <a:solidFill>
            <a:srgbClr val="66666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7</a:t>
            </a:r>
            <a:endParaRPr>
              <a:solidFill>
                <a:srgbClr val="FFFFFF"/>
              </a:solidFill>
            </a:endParaRPr>
          </a:p>
          <a:p>
            <a:pPr indent="0" lvl="0" marL="0" rtl="0" algn="l">
              <a:spcBef>
                <a:spcPts val="0"/>
              </a:spcBef>
              <a:spcAft>
                <a:spcPts val="0"/>
              </a:spcAft>
              <a:buNone/>
            </a:pPr>
            <a:r>
              <a:rPr lang="en">
                <a:solidFill>
                  <a:srgbClr val="FFFFFF"/>
                </a:solidFill>
              </a:rPr>
              <a:t>7.5</a:t>
            </a:r>
            <a:endParaRPr>
              <a:solidFill>
                <a:srgbClr val="FFFFFF"/>
              </a:solidFill>
            </a:endParaRPr>
          </a:p>
        </p:txBody>
      </p:sp>
      <p:sp>
        <p:nvSpPr>
          <p:cNvPr id="601" name="Google Shape;601;g283038813be_0_196"/>
          <p:cNvSpPr/>
          <p:nvPr/>
        </p:nvSpPr>
        <p:spPr>
          <a:xfrm>
            <a:off x="7379975" y="4114975"/>
            <a:ext cx="182100" cy="4935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g283038813be_0_196"/>
          <p:cNvSpPr txBox="1"/>
          <p:nvPr/>
        </p:nvSpPr>
        <p:spPr>
          <a:xfrm>
            <a:off x="5948850" y="202275"/>
            <a:ext cx="1515600" cy="4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t>Example</a:t>
            </a:r>
            <a:endParaRPr b="1" sz="1500"/>
          </a:p>
        </p:txBody>
      </p:sp>
      <p:sp>
        <p:nvSpPr>
          <p:cNvPr id="603" name="Google Shape;603;g283038813be_0_19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g283038813be_0_343"/>
          <p:cNvSpPr txBox="1"/>
          <p:nvPr>
            <p:ph type="title"/>
          </p:nvPr>
        </p:nvSpPr>
        <p:spPr>
          <a:xfrm>
            <a:off x="234000" y="1653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50">
                <a:solidFill>
                  <a:srgbClr val="2D3140"/>
                </a:solidFill>
                <a:highlight>
                  <a:srgbClr val="FFFFFF"/>
                </a:highlight>
              </a:rPr>
              <a:t>Function templates with multiple template type parameters</a:t>
            </a:r>
            <a:endParaRPr/>
          </a:p>
        </p:txBody>
      </p:sp>
      <p:sp>
        <p:nvSpPr>
          <p:cNvPr id="609" name="Google Shape;609;g283038813be_0_343"/>
          <p:cNvSpPr txBox="1"/>
          <p:nvPr>
            <p:ph idx="1" type="body"/>
          </p:nvPr>
        </p:nvSpPr>
        <p:spPr>
          <a:xfrm>
            <a:off x="311700" y="644875"/>
            <a:ext cx="8520600" cy="133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50">
                <a:solidFill>
                  <a:srgbClr val="2D3140"/>
                </a:solidFill>
              </a:rPr>
              <a:t>We’ve only defined the single template type </a:t>
            </a:r>
            <a:r>
              <a:rPr b="1" lang="en" sz="1450">
                <a:solidFill>
                  <a:srgbClr val="2D3140"/>
                </a:solidFill>
              </a:rPr>
              <a:t>(</a:t>
            </a:r>
            <a:r>
              <a:rPr b="1" lang="en" sz="1450">
                <a:solidFill>
                  <a:srgbClr val="2D3140"/>
                </a:solidFill>
                <a:latin typeface="Consolas"/>
                <a:ea typeface="Consolas"/>
                <a:cs typeface="Consolas"/>
                <a:sym typeface="Consolas"/>
              </a:rPr>
              <a:t>T</a:t>
            </a:r>
            <a:r>
              <a:rPr b="1" lang="en" sz="1450">
                <a:solidFill>
                  <a:srgbClr val="2D3140"/>
                </a:solidFill>
              </a:rPr>
              <a:t>)</a:t>
            </a:r>
            <a:r>
              <a:rPr lang="en" sz="1450">
                <a:solidFill>
                  <a:srgbClr val="2D3140"/>
                </a:solidFill>
              </a:rPr>
              <a:t> for our function template, and then specified that both parameters must be of this same type. Now, if  we wants to pass different </a:t>
            </a:r>
            <a:r>
              <a:rPr lang="en" sz="1450">
                <a:solidFill>
                  <a:srgbClr val="2D3140"/>
                </a:solidFill>
              </a:rPr>
              <a:t>types</a:t>
            </a:r>
            <a:r>
              <a:rPr lang="en" sz="1450">
                <a:solidFill>
                  <a:srgbClr val="2D3140"/>
                </a:solidFill>
              </a:rPr>
              <a:t> of parameters, we can rewrite our function template in such a way that our parameters can resolve to different types. Rather than using one template type parameter  </a:t>
            </a:r>
            <a:r>
              <a:rPr b="1" lang="en" sz="1450">
                <a:solidFill>
                  <a:srgbClr val="2D3140"/>
                </a:solidFill>
              </a:rPr>
              <a:t>T</a:t>
            </a:r>
            <a:r>
              <a:rPr lang="en" sz="1450">
                <a:solidFill>
                  <a:srgbClr val="2D3140"/>
                </a:solidFill>
              </a:rPr>
              <a:t>, we’ll now use two </a:t>
            </a:r>
            <a:r>
              <a:rPr b="1" lang="en" sz="1450">
                <a:solidFill>
                  <a:srgbClr val="2D3140"/>
                </a:solidFill>
              </a:rPr>
              <a:t>(</a:t>
            </a:r>
            <a:r>
              <a:rPr b="1" lang="en" sz="1450">
                <a:solidFill>
                  <a:srgbClr val="2D3140"/>
                </a:solidFill>
                <a:latin typeface="Consolas"/>
                <a:ea typeface="Consolas"/>
                <a:cs typeface="Consolas"/>
                <a:sym typeface="Consolas"/>
              </a:rPr>
              <a:t>T</a:t>
            </a:r>
            <a:r>
              <a:rPr b="1" lang="en" sz="1450">
                <a:solidFill>
                  <a:srgbClr val="2D3140"/>
                </a:solidFill>
              </a:rPr>
              <a:t> and </a:t>
            </a:r>
            <a:r>
              <a:rPr b="1" lang="en" sz="1450">
                <a:solidFill>
                  <a:srgbClr val="2D3140"/>
                </a:solidFill>
                <a:latin typeface="Consolas"/>
                <a:ea typeface="Consolas"/>
                <a:cs typeface="Consolas"/>
                <a:sym typeface="Consolas"/>
              </a:rPr>
              <a:t>U</a:t>
            </a:r>
            <a:r>
              <a:rPr b="1" lang="en" sz="1450">
                <a:solidFill>
                  <a:srgbClr val="2D3140"/>
                </a:solidFill>
              </a:rPr>
              <a:t>):</a:t>
            </a:r>
            <a:endParaRPr sz="1450">
              <a:solidFill>
                <a:srgbClr val="2D3140"/>
              </a:solidFill>
            </a:endParaRPr>
          </a:p>
          <a:p>
            <a:pPr indent="0" lvl="0" marL="0" rtl="0" algn="l">
              <a:spcBef>
                <a:spcPts val="1100"/>
              </a:spcBef>
              <a:spcAft>
                <a:spcPts val="0"/>
              </a:spcAft>
              <a:buNone/>
            </a:pPr>
            <a:r>
              <a:t/>
            </a:r>
            <a:endParaRPr/>
          </a:p>
        </p:txBody>
      </p:sp>
      <p:sp>
        <p:nvSpPr>
          <p:cNvPr id="610" name="Google Shape;610;g283038813be_0_343"/>
          <p:cNvSpPr txBox="1"/>
          <p:nvPr/>
        </p:nvSpPr>
        <p:spPr>
          <a:xfrm>
            <a:off x="5244500" y="2732200"/>
            <a:ext cx="3644100" cy="2339700"/>
          </a:xfrm>
          <a:prstGeom prst="rect">
            <a:avLst/>
          </a:prstGeom>
          <a:solidFill>
            <a:srgbClr val="D9EAD3"/>
          </a:solidFill>
          <a:ln>
            <a:noFill/>
          </a:ln>
        </p:spPr>
        <p:txBody>
          <a:bodyPr anchorCtr="0" anchor="t" bIns="91425" lIns="91425" spcFirstLastPara="1" rIns="91425" wrap="square" tIns="91425">
            <a:spAutoFit/>
          </a:bodyPr>
          <a:lstStyle/>
          <a:p>
            <a:pPr indent="0" lvl="0" marL="152400" marR="152400" rtl="0" algn="l">
              <a:lnSpc>
                <a:spcPct val="133333"/>
              </a:lnSpc>
              <a:spcBef>
                <a:spcPts val="0"/>
              </a:spcBef>
              <a:spcAft>
                <a:spcPts val="0"/>
              </a:spcAft>
              <a:buNone/>
            </a:pPr>
            <a:r>
              <a:rPr lang="en" sz="1200">
                <a:solidFill>
                  <a:srgbClr val="80807F"/>
                </a:solidFill>
                <a:latin typeface="Consolas"/>
                <a:ea typeface="Consolas"/>
                <a:cs typeface="Consolas"/>
                <a:sym typeface="Consolas"/>
              </a:rPr>
              <a:t>#include </a:t>
            </a:r>
            <a:r>
              <a:rPr lang="en" sz="1200">
                <a:solidFill>
                  <a:srgbClr val="E21F1F"/>
                </a:solidFill>
                <a:latin typeface="Consolas"/>
                <a:ea typeface="Consolas"/>
                <a:cs typeface="Consolas"/>
                <a:sym typeface="Consolas"/>
              </a:rPr>
              <a:t>&lt;iostream&gt;</a:t>
            </a:r>
            <a:r>
              <a:rPr lang="en"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152400" marR="152400" rtl="0" algn="l">
              <a:lnSpc>
                <a:spcPct val="133333"/>
              </a:lnSpc>
              <a:spcBef>
                <a:spcPts val="0"/>
              </a:spcBef>
              <a:spcAft>
                <a:spcPts val="0"/>
              </a:spcAft>
              <a:buNone/>
            </a:pPr>
            <a:r>
              <a:rPr lang="en" sz="1200">
                <a:solidFill>
                  <a:srgbClr val="004ED0"/>
                </a:solidFill>
                <a:latin typeface="Consolas"/>
                <a:ea typeface="Consolas"/>
                <a:cs typeface="Consolas"/>
                <a:sym typeface="Consolas"/>
              </a:rPr>
              <a:t>template</a:t>
            </a:r>
            <a:r>
              <a:rPr lang="en" sz="1200">
                <a:solidFill>
                  <a:schemeClr val="dk1"/>
                </a:solidFill>
                <a:latin typeface="Consolas"/>
                <a:ea typeface="Consolas"/>
                <a:cs typeface="Consolas"/>
                <a:sym typeface="Consolas"/>
              </a:rPr>
              <a:t> &lt;</a:t>
            </a:r>
            <a:r>
              <a:rPr lang="en" sz="1200">
                <a:solidFill>
                  <a:srgbClr val="004ED0"/>
                </a:solidFill>
                <a:latin typeface="Consolas"/>
                <a:ea typeface="Consolas"/>
                <a:cs typeface="Consolas"/>
                <a:sym typeface="Consolas"/>
              </a:rPr>
              <a:t>typename</a:t>
            </a:r>
            <a:r>
              <a:rPr lang="en" sz="1200">
                <a:solidFill>
                  <a:schemeClr val="dk1"/>
                </a:solidFill>
                <a:latin typeface="Consolas"/>
                <a:ea typeface="Consolas"/>
                <a:cs typeface="Consolas"/>
                <a:sym typeface="Consolas"/>
              </a:rPr>
              <a:t> </a:t>
            </a:r>
            <a:r>
              <a:rPr lang="en" sz="1200">
                <a:solidFill>
                  <a:srgbClr val="0491C1"/>
                </a:solidFill>
                <a:latin typeface="Consolas"/>
                <a:ea typeface="Consolas"/>
                <a:cs typeface="Consolas"/>
                <a:sym typeface="Consolas"/>
              </a:rPr>
              <a:t>T</a:t>
            </a:r>
            <a:r>
              <a:rPr lang="en" sz="1200">
                <a:solidFill>
                  <a:schemeClr val="dk1"/>
                </a:solidFill>
                <a:latin typeface="Consolas"/>
                <a:ea typeface="Consolas"/>
                <a:cs typeface="Consolas"/>
                <a:sym typeface="Consolas"/>
              </a:rPr>
              <a:t>, </a:t>
            </a:r>
            <a:r>
              <a:rPr lang="en" sz="1200">
                <a:solidFill>
                  <a:srgbClr val="004ED0"/>
                </a:solidFill>
                <a:latin typeface="Consolas"/>
                <a:ea typeface="Consolas"/>
                <a:cs typeface="Consolas"/>
                <a:sym typeface="Consolas"/>
              </a:rPr>
              <a:t>typename</a:t>
            </a:r>
            <a:r>
              <a:rPr lang="en" sz="1200">
                <a:solidFill>
                  <a:schemeClr val="dk1"/>
                </a:solidFill>
                <a:latin typeface="Consolas"/>
                <a:ea typeface="Consolas"/>
                <a:cs typeface="Consolas"/>
                <a:sym typeface="Consolas"/>
              </a:rPr>
              <a:t> </a:t>
            </a:r>
            <a:r>
              <a:rPr lang="en" sz="1200">
                <a:solidFill>
                  <a:srgbClr val="0491C1"/>
                </a:solidFill>
                <a:latin typeface="Consolas"/>
                <a:ea typeface="Consolas"/>
                <a:cs typeface="Consolas"/>
                <a:sym typeface="Consolas"/>
              </a:rPr>
              <a:t>U</a:t>
            </a:r>
            <a:r>
              <a:rPr lang="en" sz="1200">
                <a:solidFill>
                  <a:schemeClr val="dk1"/>
                </a:solidFill>
                <a:latin typeface="Consolas"/>
                <a:ea typeface="Consolas"/>
                <a:cs typeface="Consolas"/>
                <a:sym typeface="Consolas"/>
              </a:rPr>
              <a:t>&gt; </a:t>
            </a:r>
            <a:endParaRPr sz="1200">
              <a:solidFill>
                <a:schemeClr val="dk1"/>
              </a:solidFill>
              <a:latin typeface="Consolas"/>
              <a:ea typeface="Consolas"/>
              <a:cs typeface="Consolas"/>
              <a:sym typeface="Consolas"/>
            </a:endParaRPr>
          </a:p>
          <a:p>
            <a:pPr indent="0" lvl="0" marL="152400" marR="152400" rtl="0" algn="l">
              <a:lnSpc>
                <a:spcPct val="133333"/>
              </a:lnSpc>
              <a:spcBef>
                <a:spcPts val="0"/>
              </a:spcBef>
              <a:spcAft>
                <a:spcPts val="0"/>
              </a:spcAft>
              <a:buNone/>
            </a:pPr>
            <a:r>
              <a:rPr lang="en" sz="1200">
                <a:solidFill>
                  <a:srgbClr val="004ED0"/>
                </a:solidFill>
                <a:latin typeface="Consolas"/>
                <a:ea typeface="Consolas"/>
                <a:cs typeface="Consolas"/>
                <a:sym typeface="Consolas"/>
              </a:rPr>
              <a:t>auto</a:t>
            </a:r>
            <a:r>
              <a:rPr lang="en" sz="1200">
                <a:solidFill>
                  <a:schemeClr val="dk1"/>
                </a:solidFill>
                <a:latin typeface="Consolas"/>
                <a:ea typeface="Consolas"/>
                <a:cs typeface="Consolas"/>
                <a:sym typeface="Consolas"/>
              </a:rPr>
              <a:t> </a:t>
            </a:r>
            <a:r>
              <a:rPr lang="en" sz="1200">
                <a:solidFill>
                  <a:srgbClr val="74531F"/>
                </a:solidFill>
                <a:latin typeface="Consolas"/>
                <a:ea typeface="Consolas"/>
                <a:cs typeface="Consolas"/>
                <a:sym typeface="Consolas"/>
              </a:rPr>
              <a:t>max</a:t>
            </a:r>
            <a:r>
              <a:rPr lang="en" sz="1200">
                <a:solidFill>
                  <a:schemeClr val="dk1"/>
                </a:solidFill>
                <a:latin typeface="Consolas"/>
                <a:ea typeface="Consolas"/>
                <a:cs typeface="Consolas"/>
                <a:sym typeface="Consolas"/>
              </a:rPr>
              <a:t>(T x, U y) {</a:t>
            </a:r>
            <a:endParaRPr sz="1200">
              <a:solidFill>
                <a:schemeClr val="dk1"/>
              </a:solidFill>
              <a:latin typeface="Consolas"/>
              <a:ea typeface="Consolas"/>
              <a:cs typeface="Consolas"/>
              <a:sym typeface="Consolas"/>
            </a:endParaRPr>
          </a:p>
          <a:p>
            <a:pPr indent="0" lvl="0" marL="152400" marR="152400" rtl="0" algn="l">
              <a:lnSpc>
                <a:spcPct val="133333"/>
              </a:lnSpc>
              <a:spcBef>
                <a:spcPts val="0"/>
              </a:spcBef>
              <a:spcAft>
                <a:spcPts val="0"/>
              </a:spcAft>
              <a:buNone/>
            </a:pPr>
            <a:r>
              <a:rPr lang="en" sz="1200">
                <a:solidFill>
                  <a:schemeClr val="dk1"/>
                </a:solidFill>
                <a:latin typeface="Consolas"/>
                <a:ea typeface="Consolas"/>
                <a:cs typeface="Consolas"/>
                <a:sym typeface="Consolas"/>
              </a:rPr>
              <a:t> </a:t>
            </a:r>
            <a:r>
              <a:rPr lang="en" sz="1200">
                <a:solidFill>
                  <a:srgbClr val="8F08C4"/>
                </a:solidFill>
                <a:latin typeface="Consolas"/>
                <a:ea typeface="Consolas"/>
                <a:cs typeface="Consolas"/>
                <a:sym typeface="Consolas"/>
              </a:rPr>
              <a:t>return</a:t>
            </a:r>
            <a:r>
              <a:rPr lang="en" sz="1200">
                <a:solidFill>
                  <a:schemeClr val="dk1"/>
                </a:solidFill>
                <a:latin typeface="Consolas"/>
                <a:ea typeface="Consolas"/>
                <a:cs typeface="Consolas"/>
                <a:sym typeface="Consolas"/>
              </a:rPr>
              <a:t> (x &lt; y) ? y : x; </a:t>
            </a:r>
            <a:endParaRPr sz="1200">
              <a:solidFill>
                <a:schemeClr val="dk1"/>
              </a:solidFill>
              <a:latin typeface="Consolas"/>
              <a:ea typeface="Consolas"/>
              <a:cs typeface="Consolas"/>
              <a:sym typeface="Consolas"/>
            </a:endParaRPr>
          </a:p>
          <a:p>
            <a:pPr indent="0" lvl="0" marL="152400" marR="152400" rtl="0" algn="l">
              <a:lnSpc>
                <a:spcPct val="133333"/>
              </a:lnSpc>
              <a:spcBef>
                <a:spcPts val="0"/>
              </a:spcBef>
              <a:spcAft>
                <a:spcPts val="0"/>
              </a:spcAft>
              <a:buNone/>
            </a:pPr>
            <a:r>
              <a:rPr lang="en"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152400" marR="152400" rtl="0" algn="l">
              <a:lnSpc>
                <a:spcPct val="133333"/>
              </a:lnSpc>
              <a:spcBef>
                <a:spcPts val="0"/>
              </a:spcBef>
              <a:spcAft>
                <a:spcPts val="0"/>
              </a:spcAft>
              <a:buNone/>
            </a:pPr>
            <a:r>
              <a:rPr lang="en" sz="1200">
                <a:solidFill>
                  <a:srgbClr val="004ED0"/>
                </a:solidFill>
                <a:latin typeface="Consolas"/>
                <a:ea typeface="Consolas"/>
                <a:cs typeface="Consolas"/>
                <a:sym typeface="Consolas"/>
              </a:rPr>
              <a:t>int</a:t>
            </a:r>
            <a:r>
              <a:rPr lang="en" sz="1200">
                <a:solidFill>
                  <a:schemeClr val="dk1"/>
                </a:solidFill>
                <a:latin typeface="Consolas"/>
                <a:ea typeface="Consolas"/>
                <a:cs typeface="Consolas"/>
                <a:sym typeface="Consolas"/>
              </a:rPr>
              <a:t> </a:t>
            </a:r>
            <a:r>
              <a:rPr lang="en" sz="1200">
                <a:solidFill>
                  <a:srgbClr val="74531F"/>
                </a:solidFill>
                <a:latin typeface="Consolas"/>
                <a:ea typeface="Consolas"/>
                <a:cs typeface="Consolas"/>
                <a:sym typeface="Consolas"/>
              </a:rPr>
              <a:t>main</a:t>
            </a:r>
            <a:r>
              <a:rPr lang="en" sz="1200">
                <a:solidFill>
                  <a:schemeClr val="dk1"/>
                </a:solidFill>
                <a:latin typeface="Consolas"/>
                <a:ea typeface="Consolas"/>
                <a:cs typeface="Consolas"/>
                <a:sym typeface="Consolas"/>
              </a:rPr>
              <a:t>() { </a:t>
            </a:r>
            <a:endParaRPr sz="1200">
              <a:solidFill>
                <a:schemeClr val="dk1"/>
              </a:solidFill>
              <a:latin typeface="Consolas"/>
              <a:ea typeface="Consolas"/>
              <a:cs typeface="Consolas"/>
              <a:sym typeface="Consolas"/>
            </a:endParaRPr>
          </a:p>
          <a:p>
            <a:pPr indent="0" lvl="0" marL="152400" marR="152400" rtl="0" algn="l">
              <a:lnSpc>
                <a:spcPct val="133333"/>
              </a:lnSpc>
              <a:spcBef>
                <a:spcPts val="0"/>
              </a:spcBef>
              <a:spcAft>
                <a:spcPts val="0"/>
              </a:spcAft>
              <a:buNone/>
            </a:pPr>
            <a:r>
              <a:rPr lang="en" sz="1200">
                <a:solidFill>
                  <a:schemeClr val="dk1"/>
                </a:solidFill>
                <a:latin typeface="Consolas"/>
                <a:ea typeface="Consolas"/>
                <a:cs typeface="Consolas"/>
                <a:sym typeface="Consolas"/>
              </a:rPr>
              <a:t>std::cout &lt;&lt; </a:t>
            </a:r>
            <a:r>
              <a:rPr lang="en" sz="1200">
                <a:solidFill>
                  <a:srgbClr val="74531F"/>
                </a:solidFill>
                <a:latin typeface="Consolas"/>
                <a:ea typeface="Consolas"/>
                <a:cs typeface="Consolas"/>
                <a:sym typeface="Consolas"/>
              </a:rPr>
              <a:t>max</a:t>
            </a:r>
            <a:r>
              <a:rPr lang="en" sz="1200">
                <a:solidFill>
                  <a:schemeClr val="dk1"/>
                </a:solidFill>
                <a:latin typeface="Consolas"/>
                <a:ea typeface="Consolas"/>
                <a:cs typeface="Consolas"/>
                <a:sym typeface="Consolas"/>
              </a:rPr>
              <a:t>(2, 3.5) &lt;&lt; </a:t>
            </a:r>
            <a:r>
              <a:rPr lang="en" sz="1200">
                <a:solidFill>
                  <a:srgbClr val="E21F1F"/>
                </a:solidFill>
                <a:latin typeface="Consolas"/>
                <a:ea typeface="Consolas"/>
                <a:cs typeface="Consolas"/>
                <a:sym typeface="Consolas"/>
              </a:rPr>
              <a:t>'\n'</a:t>
            </a:r>
            <a:r>
              <a:rPr lang="en" sz="1200">
                <a:solidFill>
                  <a:schemeClr val="dk1"/>
                </a:solidFill>
                <a:latin typeface="Consolas"/>
                <a:ea typeface="Consolas"/>
                <a:cs typeface="Consolas"/>
                <a:sym typeface="Consolas"/>
              </a:rPr>
              <a:t>; </a:t>
            </a:r>
            <a:r>
              <a:rPr lang="en" sz="1200">
                <a:solidFill>
                  <a:srgbClr val="8F08C4"/>
                </a:solidFill>
                <a:latin typeface="Consolas"/>
                <a:ea typeface="Consolas"/>
                <a:cs typeface="Consolas"/>
                <a:sym typeface="Consolas"/>
              </a:rPr>
              <a:t>return</a:t>
            </a:r>
            <a:r>
              <a:rPr lang="en" sz="1200">
                <a:solidFill>
                  <a:schemeClr val="dk1"/>
                </a:solidFill>
                <a:latin typeface="Consolas"/>
                <a:ea typeface="Consolas"/>
                <a:cs typeface="Consolas"/>
                <a:sym typeface="Consolas"/>
              </a:rPr>
              <a:t> 0; </a:t>
            </a:r>
            <a:endParaRPr sz="1200">
              <a:solidFill>
                <a:schemeClr val="dk1"/>
              </a:solidFill>
              <a:latin typeface="Consolas"/>
              <a:ea typeface="Consolas"/>
              <a:cs typeface="Consolas"/>
              <a:sym typeface="Consolas"/>
            </a:endParaRPr>
          </a:p>
          <a:p>
            <a:pPr indent="0" lvl="0" marL="152400" marR="152400" rtl="0" algn="l">
              <a:lnSpc>
                <a:spcPct val="133333"/>
              </a:lnSpc>
              <a:spcBef>
                <a:spcPts val="0"/>
              </a:spcBef>
              <a:spcAft>
                <a:spcPts val="0"/>
              </a:spcAft>
              <a:buNone/>
            </a:pPr>
            <a:r>
              <a:rPr lang="en"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p:txBody>
      </p:sp>
      <p:sp>
        <p:nvSpPr>
          <p:cNvPr id="611" name="Google Shape;611;g283038813be_0_343"/>
          <p:cNvSpPr txBox="1"/>
          <p:nvPr/>
        </p:nvSpPr>
        <p:spPr>
          <a:xfrm>
            <a:off x="275250" y="2063825"/>
            <a:ext cx="4876200" cy="29160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300">
                <a:solidFill>
                  <a:schemeClr val="dk2"/>
                </a:solidFill>
              </a:rPr>
              <a:t>#include &lt;iostream&gt;</a:t>
            </a:r>
            <a:endParaRPr sz="1300">
              <a:solidFill>
                <a:schemeClr val="dk2"/>
              </a:solidFill>
            </a:endParaRPr>
          </a:p>
          <a:p>
            <a:pPr indent="0" lvl="0" marL="0" rtl="0" algn="l">
              <a:lnSpc>
                <a:spcPct val="115000"/>
              </a:lnSpc>
              <a:spcBef>
                <a:spcPts val="0"/>
              </a:spcBef>
              <a:spcAft>
                <a:spcPts val="0"/>
              </a:spcAft>
              <a:buNone/>
            </a:pPr>
            <a:r>
              <a:rPr lang="en" sz="1300">
                <a:solidFill>
                  <a:schemeClr val="dk2"/>
                </a:solidFill>
              </a:rPr>
              <a:t>// We're using two template type parameters named T and U</a:t>
            </a:r>
            <a:endParaRPr sz="1300">
              <a:solidFill>
                <a:schemeClr val="dk2"/>
              </a:solidFill>
            </a:endParaRPr>
          </a:p>
          <a:p>
            <a:pPr indent="0" lvl="0" marL="0" rtl="0" algn="l">
              <a:lnSpc>
                <a:spcPct val="115000"/>
              </a:lnSpc>
              <a:spcBef>
                <a:spcPts val="0"/>
              </a:spcBef>
              <a:spcAft>
                <a:spcPts val="0"/>
              </a:spcAft>
              <a:buNone/>
            </a:pPr>
            <a:r>
              <a:rPr b="1" lang="en" sz="1300">
                <a:solidFill>
                  <a:schemeClr val="dk2"/>
                </a:solidFill>
              </a:rPr>
              <a:t>template &lt;typename T, typename U&gt; </a:t>
            </a:r>
            <a:r>
              <a:rPr b="1" lang="en" sz="1300">
                <a:solidFill>
                  <a:schemeClr val="dk2"/>
                </a:solidFill>
              </a:rPr>
              <a:t> </a:t>
            </a:r>
            <a:endParaRPr b="1" sz="1300">
              <a:solidFill>
                <a:schemeClr val="dk2"/>
              </a:solidFill>
            </a:endParaRPr>
          </a:p>
          <a:p>
            <a:pPr indent="0" lvl="0" marL="0" rtl="0" algn="l">
              <a:lnSpc>
                <a:spcPct val="115000"/>
              </a:lnSpc>
              <a:spcBef>
                <a:spcPts val="0"/>
              </a:spcBef>
              <a:spcAft>
                <a:spcPts val="0"/>
              </a:spcAft>
              <a:buNone/>
            </a:pPr>
            <a:r>
              <a:rPr lang="en" sz="1300">
                <a:solidFill>
                  <a:schemeClr val="dk2"/>
                </a:solidFill>
              </a:rPr>
              <a:t>// x can resolve to type T, and y can resolve to type U</a:t>
            </a:r>
            <a:endParaRPr sz="1300">
              <a:solidFill>
                <a:schemeClr val="dk2"/>
              </a:solidFill>
            </a:endParaRPr>
          </a:p>
          <a:p>
            <a:pPr indent="0" lvl="0" marL="0" rtl="0" algn="l">
              <a:lnSpc>
                <a:spcPct val="115000"/>
              </a:lnSpc>
              <a:spcBef>
                <a:spcPts val="0"/>
              </a:spcBef>
              <a:spcAft>
                <a:spcPts val="0"/>
              </a:spcAft>
              <a:buNone/>
            </a:pPr>
            <a:r>
              <a:rPr b="1" lang="en" sz="1300">
                <a:solidFill>
                  <a:schemeClr val="dk2"/>
                </a:solidFill>
              </a:rPr>
              <a:t>T max(T x, U y)</a:t>
            </a:r>
            <a:r>
              <a:rPr lang="en" sz="1300">
                <a:solidFill>
                  <a:schemeClr val="dk2"/>
                </a:solidFill>
              </a:rPr>
              <a:t>{</a:t>
            </a:r>
            <a:endParaRPr sz="1300">
              <a:solidFill>
                <a:schemeClr val="dk2"/>
              </a:solidFill>
            </a:endParaRPr>
          </a:p>
          <a:p>
            <a:pPr indent="0" lvl="0" marL="0" rtl="0" algn="l">
              <a:lnSpc>
                <a:spcPct val="115000"/>
              </a:lnSpc>
              <a:spcBef>
                <a:spcPts val="0"/>
              </a:spcBef>
              <a:spcAft>
                <a:spcPts val="0"/>
              </a:spcAft>
              <a:buNone/>
            </a:pPr>
            <a:r>
              <a:rPr lang="en" sz="1300">
                <a:solidFill>
                  <a:schemeClr val="dk2"/>
                </a:solidFill>
              </a:rPr>
              <a:t>// uh oh, we have a narrowing conversion problem here</a:t>
            </a:r>
            <a:endParaRPr sz="1300">
              <a:solidFill>
                <a:schemeClr val="dk2"/>
              </a:solidFill>
            </a:endParaRPr>
          </a:p>
          <a:p>
            <a:pPr indent="0" lvl="0" marL="0" rtl="0" algn="l">
              <a:lnSpc>
                <a:spcPct val="115000"/>
              </a:lnSpc>
              <a:spcBef>
                <a:spcPts val="0"/>
              </a:spcBef>
              <a:spcAft>
                <a:spcPts val="0"/>
              </a:spcAft>
              <a:buNone/>
            </a:pPr>
            <a:r>
              <a:rPr lang="en" sz="1300">
                <a:solidFill>
                  <a:schemeClr val="dk2"/>
                </a:solidFill>
              </a:rPr>
              <a:t>    return (x &lt; y) ? y : x; }</a:t>
            </a:r>
            <a:endParaRPr sz="1300">
              <a:solidFill>
                <a:schemeClr val="dk2"/>
              </a:solidFill>
            </a:endParaRPr>
          </a:p>
          <a:p>
            <a:pPr indent="0" lvl="0" marL="0" rtl="0" algn="l">
              <a:lnSpc>
                <a:spcPct val="115000"/>
              </a:lnSpc>
              <a:spcBef>
                <a:spcPts val="0"/>
              </a:spcBef>
              <a:spcAft>
                <a:spcPts val="0"/>
              </a:spcAft>
              <a:buNone/>
            </a:pPr>
            <a:r>
              <a:rPr lang="en" sz="1300">
                <a:solidFill>
                  <a:schemeClr val="dk2"/>
                </a:solidFill>
              </a:rPr>
              <a:t>int main()</a:t>
            </a:r>
            <a:endParaRPr sz="1300">
              <a:solidFill>
                <a:schemeClr val="dk2"/>
              </a:solidFill>
            </a:endParaRPr>
          </a:p>
          <a:p>
            <a:pPr indent="0" lvl="0" marL="0" rtl="0" algn="l">
              <a:lnSpc>
                <a:spcPct val="115000"/>
              </a:lnSpc>
              <a:spcBef>
                <a:spcPts val="0"/>
              </a:spcBef>
              <a:spcAft>
                <a:spcPts val="0"/>
              </a:spcAft>
              <a:buNone/>
            </a:pPr>
            <a:r>
              <a:rPr lang="en" sz="1300">
                <a:solidFill>
                  <a:schemeClr val="dk2"/>
                </a:solidFill>
              </a:rPr>
              <a:t>{</a:t>
            </a:r>
            <a:endParaRPr sz="1300">
              <a:solidFill>
                <a:schemeClr val="dk2"/>
              </a:solidFill>
            </a:endParaRPr>
          </a:p>
          <a:p>
            <a:pPr indent="0" lvl="0" marL="0" rtl="0" algn="l">
              <a:lnSpc>
                <a:spcPct val="115000"/>
              </a:lnSpc>
              <a:spcBef>
                <a:spcPts val="0"/>
              </a:spcBef>
              <a:spcAft>
                <a:spcPts val="0"/>
              </a:spcAft>
              <a:buNone/>
            </a:pPr>
            <a:r>
              <a:rPr lang="en" sz="1300">
                <a:solidFill>
                  <a:schemeClr val="dk2"/>
                </a:solidFill>
              </a:rPr>
              <a:t>    std::cout &lt;&lt; max(2, 3.5) &lt;&lt; '\n';</a:t>
            </a:r>
            <a:endParaRPr sz="1300">
              <a:solidFill>
                <a:schemeClr val="dk2"/>
              </a:solidFill>
            </a:endParaRPr>
          </a:p>
          <a:p>
            <a:pPr indent="0" lvl="0" marL="0" rtl="0" algn="l">
              <a:lnSpc>
                <a:spcPct val="115000"/>
              </a:lnSpc>
              <a:spcBef>
                <a:spcPts val="0"/>
              </a:spcBef>
              <a:spcAft>
                <a:spcPts val="0"/>
              </a:spcAft>
              <a:buNone/>
            </a:pPr>
            <a:r>
              <a:rPr lang="en" sz="1300">
                <a:solidFill>
                  <a:schemeClr val="dk2"/>
                </a:solidFill>
              </a:rPr>
              <a:t>    return 0;</a:t>
            </a:r>
            <a:endParaRPr sz="1300">
              <a:solidFill>
                <a:schemeClr val="dk2"/>
              </a:solidFill>
            </a:endParaRPr>
          </a:p>
          <a:p>
            <a:pPr indent="0" lvl="0" marL="0" rtl="0" algn="l">
              <a:lnSpc>
                <a:spcPct val="115000"/>
              </a:lnSpc>
              <a:spcBef>
                <a:spcPts val="0"/>
              </a:spcBef>
              <a:spcAft>
                <a:spcPts val="0"/>
              </a:spcAft>
              <a:buNone/>
            </a:pPr>
            <a:r>
              <a:rPr lang="en" sz="1300">
                <a:solidFill>
                  <a:schemeClr val="dk2"/>
                </a:solidFill>
              </a:rPr>
              <a:t>}</a:t>
            </a:r>
            <a:endParaRPr sz="1300">
              <a:solidFill>
                <a:schemeClr val="dk2"/>
              </a:solidFill>
            </a:endParaRPr>
          </a:p>
        </p:txBody>
      </p:sp>
      <p:sp>
        <p:nvSpPr>
          <p:cNvPr id="612" name="Google Shape;612;g283038813be_0_343"/>
          <p:cNvSpPr txBox="1"/>
          <p:nvPr/>
        </p:nvSpPr>
        <p:spPr>
          <a:xfrm>
            <a:off x="5368800" y="1772975"/>
            <a:ext cx="33177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50">
                <a:solidFill>
                  <a:srgbClr val="2D3140"/>
                </a:solidFill>
              </a:rPr>
              <a:t>To avoid loss of data if 3.5 is to be returned as int while it is double;  we can u</a:t>
            </a:r>
            <a:r>
              <a:rPr lang="en" sz="1150">
                <a:solidFill>
                  <a:srgbClr val="2D3140"/>
                </a:solidFill>
              </a:rPr>
              <a:t>se an </a:t>
            </a:r>
            <a:r>
              <a:rPr lang="en" sz="1150">
                <a:solidFill>
                  <a:srgbClr val="2D3140"/>
                </a:solidFill>
                <a:latin typeface="Consolas"/>
                <a:ea typeface="Consolas"/>
                <a:cs typeface="Consolas"/>
                <a:sym typeface="Consolas"/>
              </a:rPr>
              <a:t>auto</a:t>
            </a:r>
            <a:r>
              <a:rPr lang="en" sz="1150">
                <a:solidFill>
                  <a:srgbClr val="2D3140"/>
                </a:solidFill>
              </a:rPr>
              <a:t> return type -- we’ll let the compiler deduce what the return type should be from the return statement:</a:t>
            </a:r>
            <a:endParaRPr sz="1500"/>
          </a:p>
        </p:txBody>
      </p:sp>
      <p:sp>
        <p:nvSpPr>
          <p:cNvPr id="613" name="Google Shape;613;g283038813be_0_34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g283038813be_0_211"/>
          <p:cNvSpPr txBox="1"/>
          <p:nvPr>
            <p:ph type="title"/>
          </p:nvPr>
        </p:nvSpPr>
        <p:spPr>
          <a:xfrm>
            <a:off x="134975" y="956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Regular data type and template</a:t>
            </a:r>
            <a:endParaRPr/>
          </a:p>
        </p:txBody>
      </p:sp>
      <p:sp>
        <p:nvSpPr>
          <p:cNvPr id="619" name="Google Shape;619;g283038813be_0_211"/>
          <p:cNvSpPr txBox="1"/>
          <p:nvPr>
            <p:ph idx="1" type="body"/>
          </p:nvPr>
        </p:nvSpPr>
        <p:spPr>
          <a:xfrm>
            <a:off x="199900" y="668300"/>
            <a:ext cx="8871300" cy="447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highlight>
                  <a:srgbClr val="FFFFFF"/>
                </a:highlight>
                <a:latin typeface="Verdana"/>
                <a:ea typeface="Verdana"/>
                <a:cs typeface="Verdana"/>
                <a:sym typeface="Verdana"/>
              </a:rPr>
              <a:t>Templates are a powerful and versatile feature. They can have multiple template parameters, and the function can still use regular non-templated types. </a:t>
            </a:r>
            <a:r>
              <a:rPr lang="en" sz="1500">
                <a:solidFill>
                  <a:srgbClr val="000000"/>
                </a:solidFill>
                <a:highlight>
                  <a:srgbClr val="FFFFFF"/>
                </a:highlight>
                <a:latin typeface="Verdana"/>
                <a:ea typeface="Verdana"/>
                <a:cs typeface="Verdana"/>
                <a:sym typeface="Verdana"/>
              </a:rPr>
              <a:t>Here below </a:t>
            </a:r>
            <a:r>
              <a:rPr lang="en" sz="1500">
                <a:solidFill>
                  <a:srgbClr val="1155CC"/>
                </a:solidFill>
                <a:highlight>
                  <a:srgbClr val="FFFFFF"/>
                </a:highlight>
                <a:latin typeface="Verdana"/>
                <a:ea typeface="Verdana"/>
                <a:cs typeface="Verdana"/>
                <a:sym typeface="Verdana"/>
              </a:rPr>
              <a:t> </a:t>
            </a:r>
            <a:r>
              <a:rPr b="1" lang="en" sz="1100">
                <a:solidFill>
                  <a:srgbClr val="1155CC"/>
                </a:solidFill>
              </a:rPr>
              <a:t>are_equal&lt;int,double&gt;(10,10.0) </a:t>
            </a:r>
            <a:r>
              <a:rPr b="1" lang="en" sz="1100">
                <a:solidFill>
                  <a:srgbClr val="000000"/>
                </a:solidFill>
              </a:rPr>
              <a:t>is the same as</a:t>
            </a:r>
            <a:r>
              <a:rPr b="1" lang="en" sz="1100">
                <a:solidFill>
                  <a:srgbClr val="1155CC"/>
                </a:solidFill>
              </a:rPr>
              <a:t> are_equal(10,10.0)</a:t>
            </a:r>
            <a:endParaRPr b="1" sz="1100">
              <a:solidFill>
                <a:srgbClr val="1155CC"/>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500">
              <a:solidFill>
                <a:schemeClr val="dk1"/>
              </a:solidFill>
              <a:highlight>
                <a:srgbClr val="FFFFFF"/>
              </a:highlight>
              <a:latin typeface="Verdana"/>
              <a:ea typeface="Verdana"/>
              <a:cs typeface="Verdana"/>
              <a:sym typeface="Verdana"/>
            </a:endParaRPr>
          </a:p>
        </p:txBody>
      </p:sp>
      <p:sp>
        <p:nvSpPr>
          <p:cNvPr id="620" name="Google Shape;620;g283038813be_0_211"/>
          <p:cNvSpPr txBox="1"/>
          <p:nvPr/>
        </p:nvSpPr>
        <p:spPr>
          <a:xfrm>
            <a:off x="33325" y="1343100"/>
            <a:ext cx="3321300" cy="3528000"/>
          </a:xfrm>
          <a:prstGeom prst="rect">
            <a:avLst/>
          </a:prstGeom>
          <a:solidFill>
            <a:srgbClr val="F3F3F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434343"/>
                </a:solidFill>
              </a:rPr>
              <a:t>#include &lt;iostream&gt;</a:t>
            </a:r>
            <a:endParaRPr sz="1500">
              <a:solidFill>
                <a:srgbClr val="434343"/>
              </a:solidFill>
            </a:endParaRPr>
          </a:p>
          <a:p>
            <a:pPr indent="0" lvl="0" marL="0" rtl="0" algn="l">
              <a:spcBef>
                <a:spcPts val="0"/>
              </a:spcBef>
              <a:spcAft>
                <a:spcPts val="0"/>
              </a:spcAft>
              <a:buNone/>
            </a:pPr>
            <a:r>
              <a:rPr lang="en" sz="1500">
                <a:solidFill>
                  <a:srgbClr val="434343"/>
                </a:solidFill>
              </a:rPr>
              <a:t>using namespace std;</a:t>
            </a:r>
            <a:endParaRPr sz="1500">
              <a:solidFill>
                <a:srgbClr val="434343"/>
              </a:solidFill>
            </a:endParaRPr>
          </a:p>
          <a:p>
            <a:pPr indent="0" lvl="0" marL="0" rtl="0" algn="l">
              <a:spcBef>
                <a:spcPts val="0"/>
              </a:spcBef>
              <a:spcAft>
                <a:spcPts val="0"/>
              </a:spcAft>
              <a:buNone/>
            </a:pPr>
            <a:r>
              <a:rPr lang="en" sz="1500">
                <a:solidFill>
                  <a:srgbClr val="434343"/>
                </a:solidFill>
              </a:rPr>
              <a:t>template &lt;class T, class U&gt;</a:t>
            </a:r>
            <a:endParaRPr sz="1500">
              <a:solidFill>
                <a:srgbClr val="434343"/>
              </a:solidFill>
            </a:endParaRPr>
          </a:p>
          <a:p>
            <a:pPr indent="0" lvl="0" marL="0" rtl="0" algn="l">
              <a:spcBef>
                <a:spcPts val="0"/>
              </a:spcBef>
              <a:spcAft>
                <a:spcPts val="0"/>
              </a:spcAft>
              <a:buNone/>
            </a:pPr>
            <a:r>
              <a:rPr lang="en" sz="1500">
                <a:solidFill>
                  <a:srgbClr val="434343"/>
                </a:solidFill>
              </a:rPr>
              <a:t>bool are_equal (T a, U b)</a:t>
            </a:r>
            <a:endParaRPr sz="1500">
              <a:solidFill>
                <a:srgbClr val="434343"/>
              </a:solidFill>
            </a:endParaRPr>
          </a:p>
          <a:p>
            <a:pPr indent="0" lvl="0" marL="0" rtl="0" algn="l">
              <a:spcBef>
                <a:spcPts val="0"/>
              </a:spcBef>
              <a:spcAft>
                <a:spcPts val="0"/>
              </a:spcAft>
              <a:buNone/>
            </a:pPr>
            <a:r>
              <a:rPr lang="en" sz="1500">
                <a:solidFill>
                  <a:srgbClr val="434343"/>
                </a:solidFill>
              </a:rPr>
              <a:t>{</a:t>
            </a:r>
            <a:endParaRPr sz="1500">
              <a:solidFill>
                <a:srgbClr val="434343"/>
              </a:solidFill>
            </a:endParaRPr>
          </a:p>
          <a:p>
            <a:pPr indent="0" lvl="0" marL="0" rtl="0" algn="l">
              <a:spcBef>
                <a:spcPts val="0"/>
              </a:spcBef>
              <a:spcAft>
                <a:spcPts val="0"/>
              </a:spcAft>
              <a:buNone/>
            </a:pPr>
            <a:r>
              <a:rPr lang="en" sz="1500">
                <a:solidFill>
                  <a:srgbClr val="434343"/>
                </a:solidFill>
              </a:rPr>
              <a:t>  return (a==b);</a:t>
            </a:r>
            <a:endParaRPr sz="1500">
              <a:solidFill>
                <a:srgbClr val="434343"/>
              </a:solidFill>
            </a:endParaRPr>
          </a:p>
          <a:p>
            <a:pPr indent="0" lvl="0" marL="0" rtl="0" algn="l">
              <a:spcBef>
                <a:spcPts val="0"/>
              </a:spcBef>
              <a:spcAft>
                <a:spcPts val="0"/>
              </a:spcAft>
              <a:buNone/>
            </a:pPr>
            <a:r>
              <a:rPr lang="en" sz="1500">
                <a:solidFill>
                  <a:srgbClr val="434343"/>
                </a:solidFill>
              </a:rPr>
              <a:t>}</a:t>
            </a:r>
            <a:endParaRPr sz="1500">
              <a:solidFill>
                <a:srgbClr val="434343"/>
              </a:solidFill>
            </a:endParaRPr>
          </a:p>
          <a:p>
            <a:pPr indent="0" lvl="0" marL="0" rtl="0" algn="l">
              <a:spcBef>
                <a:spcPts val="0"/>
              </a:spcBef>
              <a:spcAft>
                <a:spcPts val="0"/>
              </a:spcAft>
              <a:buNone/>
            </a:pPr>
            <a:r>
              <a:rPr lang="en" sz="1500">
                <a:solidFill>
                  <a:srgbClr val="434343"/>
                </a:solidFill>
              </a:rPr>
              <a:t>int main ()</a:t>
            </a:r>
            <a:endParaRPr sz="1500">
              <a:solidFill>
                <a:srgbClr val="434343"/>
              </a:solidFill>
            </a:endParaRPr>
          </a:p>
          <a:p>
            <a:pPr indent="0" lvl="0" marL="0" rtl="0" algn="l">
              <a:spcBef>
                <a:spcPts val="0"/>
              </a:spcBef>
              <a:spcAft>
                <a:spcPts val="0"/>
              </a:spcAft>
              <a:buNone/>
            </a:pPr>
            <a:r>
              <a:rPr lang="en" sz="1500">
                <a:solidFill>
                  <a:srgbClr val="434343"/>
                </a:solidFill>
              </a:rPr>
              <a:t>{</a:t>
            </a:r>
            <a:endParaRPr sz="1500">
              <a:solidFill>
                <a:srgbClr val="434343"/>
              </a:solidFill>
            </a:endParaRPr>
          </a:p>
          <a:p>
            <a:pPr indent="0" lvl="0" marL="0" rtl="0" algn="l">
              <a:spcBef>
                <a:spcPts val="0"/>
              </a:spcBef>
              <a:spcAft>
                <a:spcPts val="0"/>
              </a:spcAft>
              <a:buNone/>
            </a:pPr>
            <a:r>
              <a:rPr lang="en" sz="1500">
                <a:solidFill>
                  <a:srgbClr val="434343"/>
                </a:solidFill>
              </a:rPr>
              <a:t>  if (are_equal(10,10.0))</a:t>
            </a:r>
            <a:endParaRPr sz="1500">
              <a:solidFill>
                <a:srgbClr val="434343"/>
              </a:solidFill>
            </a:endParaRPr>
          </a:p>
          <a:p>
            <a:pPr indent="0" lvl="0" marL="0" rtl="0" algn="l">
              <a:spcBef>
                <a:spcPts val="0"/>
              </a:spcBef>
              <a:spcAft>
                <a:spcPts val="0"/>
              </a:spcAft>
              <a:buNone/>
            </a:pPr>
            <a:r>
              <a:rPr lang="en" sz="1500">
                <a:solidFill>
                  <a:srgbClr val="434343"/>
                </a:solidFill>
              </a:rPr>
              <a:t>    cout &lt;&lt; "x and y are equal\n";</a:t>
            </a:r>
            <a:endParaRPr sz="1500">
              <a:solidFill>
                <a:srgbClr val="434343"/>
              </a:solidFill>
            </a:endParaRPr>
          </a:p>
          <a:p>
            <a:pPr indent="0" lvl="0" marL="0" rtl="0" algn="l">
              <a:spcBef>
                <a:spcPts val="0"/>
              </a:spcBef>
              <a:spcAft>
                <a:spcPts val="0"/>
              </a:spcAft>
              <a:buNone/>
            </a:pPr>
            <a:r>
              <a:rPr lang="en" sz="1500">
                <a:solidFill>
                  <a:srgbClr val="434343"/>
                </a:solidFill>
              </a:rPr>
              <a:t>  else</a:t>
            </a:r>
            <a:endParaRPr sz="1500">
              <a:solidFill>
                <a:srgbClr val="434343"/>
              </a:solidFill>
            </a:endParaRPr>
          </a:p>
          <a:p>
            <a:pPr indent="0" lvl="0" marL="0" rtl="0" algn="l">
              <a:spcBef>
                <a:spcPts val="0"/>
              </a:spcBef>
              <a:spcAft>
                <a:spcPts val="0"/>
              </a:spcAft>
              <a:buNone/>
            </a:pPr>
            <a:r>
              <a:rPr lang="en" sz="1500">
                <a:solidFill>
                  <a:srgbClr val="434343"/>
                </a:solidFill>
              </a:rPr>
              <a:t>    cout &lt;&lt; "x and y are not equal\n";</a:t>
            </a:r>
            <a:endParaRPr sz="1500">
              <a:solidFill>
                <a:srgbClr val="434343"/>
              </a:solidFill>
            </a:endParaRPr>
          </a:p>
          <a:p>
            <a:pPr indent="0" lvl="0" marL="0" rtl="0" algn="l">
              <a:spcBef>
                <a:spcPts val="0"/>
              </a:spcBef>
              <a:spcAft>
                <a:spcPts val="0"/>
              </a:spcAft>
              <a:buNone/>
            </a:pPr>
            <a:r>
              <a:rPr lang="en" sz="1500">
                <a:solidFill>
                  <a:srgbClr val="434343"/>
                </a:solidFill>
              </a:rPr>
              <a:t>  return 0;</a:t>
            </a:r>
            <a:endParaRPr sz="1500">
              <a:solidFill>
                <a:srgbClr val="434343"/>
              </a:solidFill>
            </a:endParaRPr>
          </a:p>
          <a:p>
            <a:pPr indent="0" lvl="0" marL="0" rtl="0" algn="l">
              <a:lnSpc>
                <a:spcPct val="115000"/>
              </a:lnSpc>
              <a:spcBef>
                <a:spcPts val="0"/>
              </a:spcBef>
              <a:spcAft>
                <a:spcPts val="0"/>
              </a:spcAft>
              <a:buNone/>
            </a:pPr>
            <a:r>
              <a:rPr lang="en" sz="1500">
                <a:solidFill>
                  <a:srgbClr val="434343"/>
                </a:solidFill>
              </a:rPr>
              <a:t>}</a:t>
            </a:r>
            <a:endParaRPr sz="1500">
              <a:solidFill>
                <a:srgbClr val="434343"/>
              </a:solidFill>
            </a:endParaRPr>
          </a:p>
        </p:txBody>
      </p:sp>
      <p:sp>
        <p:nvSpPr>
          <p:cNvPr id="621" name="Google Shape;621;g283038813be_0_211"/>
          <p:cNvSpPr txBox="1"/>
          <p:nvPr/>
        </p:nvSpPr>
        <p:spPr>
          <a:xfrm>
            <a:off x="3691450" y="2262300"/>
            <a:ext cx="3814200" cy="2881200"/>
          </a:xfrm>
          <a:prstGeom prst="rect">
            <a:avLst/>
          </a:prstGeom>
          <a:solidFill>
            <a:srgbClr val="F3F3F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434343"/>
                </a:solidFill>
              </a:rPr>
              <a:t>// template arguments</a:t>
            </a:r>
            <a:endParaRPr>
              <a:solidFill>
                <a:srgbClr val="434343"/>
              </a:solidFill>
            </a:endParaRPr>
          </a:p>
          <a:p>
            <a:pPr indent="0" lvl="0" marL="0" rtl="0" algn="l">
              <a:spcBef>
                <a:spcPts val="0"/>
              </a:spcBef>
              <a:spcAft>
                <a:spcPts val="0"/>
              </a:spcAft>
              <a:buNone/>
            </a:pPr>
            <a:r>
              <a:rPr lang="en">
                <a:solidFill>
                  <a:srgbClr val="434343"/>
                </a:solidFill>
              </a:rPr>
              <a:t>#include &lt;iostream&gt;</a:t>
            </a:r>
            <a:endParaRPr>
              <a:solidFill>
                <a:srgbClr val="434343"/>
              </a:solidFill>
            </a:endParaRPr>
          </a:p>
          <a:p>
            <a:pPr indent="0" lvl="0" marL="0" rtl="0" algn="l">
              <a:spcBef>
                <a:spcPts val="0"/>
              </a:spcBef>
              <a:spcAft>
                <a:spcPts val="0"/>
              </a:spcAft>
              <a:buNone/>
            </a:pPr>
            <a:r>
              <a:rPr lang="en">
                <a:solidFill>
                  <a:srgbClr val="434343"/>
                </a:solidFill>
              </a:rPr>
              <a:t>using namespace std;</a:t>
            </a:r>
            <a:endParaRPr>
              <a:solidFill>
                <a:srgbClr val="434343"/>
              </a:solidFill>
            </a:endParaRPr>
          </a:p>
          <a:p>
            <a:pPr indent="0" lvl="0" marL="0" rtl="0" algn="l">
              <a:spcBef>
                <a:spcPts val="0"/>
              </a:spcBef>
              <a:spcAft>
                <a:spcPts val="0"/>
              </a:spcAft>
              <a:buNone/>
            </a:pPr>
            <a:r>
              <a:rPr lang="en">
                <a:solidFill>
                  <a:srgbClr val="434343"/>
                </a:solidFill>
              </a:rPr>
              <a:t>template &lt;class T, int N&gt;</a:t>
            </a:r>
            <a:endParaRPr>
              <a:solidFill>
                <a:srgbClr val="434343"/>
              </a:solidFill>
            </a:endParaRPr>
          </a:p>
          <a:p>
            <a:pPr indent="0" lvl="0" marL="0" rtl="0" algn="l">
              <a:spcBef>
                <a:spcPts val="0"/>
              </a:spcBef>
              <a:spcAft>
                <a:spcPts val="0"/>
              </a:spcAft>
              <a:buNone/>
            </a:pPr>
            <a:r>
              <a:rPr lang="en">
                <a:solidFill>
                  <a:srgbClr val="434343"/>
                </a:solidFill>
              </a:rPr>
              <a:t>T fixed_multiply (T val)</a:t>
            </a:r>
            <a:endParaRPr>
              <a:solidFill>
                <a:srgbClr val="434343"/>
              </a:solidFill>
            </a:endParaRPr>
          </a:p>
          <a:p>
            <a:pPr indent="0" lvl="0" marL="0" rtl="0" algn="l">
              <a:spcBef>
                <a:spcPts val="0"/>
              </a:spcBef>
              <a:spcAft>
                <a:spcPts val="0"/>
              </a:spcAft>
              <a:buNone/>
            </a:pPr>
            <a:r>
              <a:rPr lang="en">
                <a:solidFill>
                  <a:srgbClr val="434343"/>
                </a:solidFill>
              </a:rPr>
              <a:t>{</a:t>
            </a:r>
            <a:endParaRPr>
              <a:solidFill>
                <a:srgbClr val="434343"/>
              </a:solidFill>
            </a:endParaRPr>
          </a:p>
          <a:p>
            <a:pPr indent="0" lvl="0" marL="0" rtl="0" algn="l">
              <a:spcBef>
                <a:spcPts val="0"/>
              </a:spcBef>
              <a:spcAft>
                <a:spcPts val="0"/>
              </a:spcAft>
              <a:buNone/>
            </a:pPr>
            <a:r>
              <a:rPr lang="en">
                <a:solidFill>
                  <a:srgbClr val="434343"/>
                </a:solidFill>
              </a:rPr>
              <a:t>  return val * N;</a:t>
            </a:r>
            <a:endParaRPr>
              <a:solidFill>
                <a:srgbClr val="434343"/>
              </a:solidFill>
            </a:endParaRPr>
          </a:p>
          <a:p>
            <a:pPr indent="0" lvl="0" marL="0" rtl="0" algn="l">
              <a:spcBef>
                <a:spcPts val="0"/>
              </a:spcBef>
              <a:spcAft>
                <a:spcPts val="0"/>
              </a:spcAft>
              <a:buNone/>
            </a:pPr>
            <a:r>
              <a:rPr lang="en">
                <a:solidFill>
                  <a:srgbClr val="434343"/>
                </a:solidFill>
              </a:rPr>
              <a:t>}</a:t>
            </a:r>
            <a:endParaRPr>
              <a:solidFill>
                <a:srgbClr val="434343"/>
              </a:solidFill>
            </a:endParaRPr>
          </a:p>
          <a:p>
            <a:pPr indent="0" lvl="0" marL="0" rtl="0" algn="l">
              <a:spcBef>
                <a:spcPts val="0"/>
              </a:spcBef>
              <a:spcAft>
                <a:spcPts val="0"/>
              </a:spcAft>
              <a:buNone/>
            </a:pPr>
            <a:r>
              <a:rPr lang="en">
                <a:solidFill>
                  <a:srgbClr val="434343"/>
                </a:solidFill>
              </a:rPr>
              <a:t>int main() {</a:t>
            </a:r>
            <a:endParaRPr>
              <a:solidFill>
                <a:srgbClr val="434343"/>
              </a:solidFill>
            </a:endParaRPr>
          </a:p>
          <a:p>
            <a:pPr indent="0" lvl="0" marL="0" rtl="0" algn="l">
              <a:spcBef>
                <a:spcPts val="0"/>
              </a:spcBef>
              <a:spcAft>
                <a:spcPts val="0"/>
              </a:spcAft>
              <a:buNone/>
            </a:pPr>
            <a:r>
              <a:rPr lang="en">
                <a:solidFill>
                  <a:srgbClr val="434343"/>
                </a:solidFill>
              </a:rPr>
              <a:t>  std::cout &lt;&lt; fixed_multiply&lt;int,2&gt;(10) &lt;&lt; '\n';</a:t>
            </a:r>
            <a:endParaRPr>
              <a:solidFill>
                <a:srgbClr val="434343"/>
              </a:solidFill>
            </a:endParaRPr>
          </a:p>
          <a:p>
            <a:pPr indent="0" lvl="0" marL="0" rtl="0" algn="l">
              <a:spcBef>
                <a:spcPts val="0"/>
              </a:spcBef>
              <a:spcAft>
                <a:spcPts val="0"/>
              </a:spcAft>
              <a:buNone/>
            </a:pPr>
            <a:r>
              <a:rPr lang="en">
                <a:solidFill>
                  <a:srgbClr val="434343"/>
                </a:solidFill>
              </a:rPr>
              <a:t>  std::cout &lt;&lt; fixed_multiply&lt;int,3&gt;(10) &lt;&lt; '\n';</a:t>
            </a:r>
            <a:endParaRPr>
              <a:solidFill>
                <a:srgbClr val="434343"/>
              </a:solidFill>
            </a:endParaRPr>
          </a:p>
          <a:p>
            <a:pPr indent="0" lvl="0" marL="0" rtl="0" algn="l">
              <a:lnSpc>
                <a:spcPct val="115000"/>
              </a:lnSpc>
              <a:spcBef>
                <a:spcPts val="0"/>
              </a:spcBef>
              <a:spcAft>
                <a:spcPts val="0"/>
              </a:spcAft>
              <a:buNone/>
            </a:pPr>
            <a:r>
              <a:rPr lang="en">
                <a:solidFill>
                  <a:srgbClr val="434343"/>
                </a:solidFill>
              </a:rPr>
              <a:t>return 0;</a:t>
            </a:r>
            <a:endParaRPr>
              <a:solidFill>
                <a:srgbClr val="434343"/>
              </a:solidFill>
            </a:endParaRPr>
          </a:p>
          <a:p>
            <a:pPr indent="0" lvl="0" marL="0" rtl="0" algn="l">
              <a:lnSpc>
                <a:spcPct val="115000"/>
              </a:lnSpc>
              <a:spcBef>
                <a:spcPts val="0"/>
              </a:spcBef>
              <a:spcAft>
                <a:spcPts val="0"/>
              </a:spcAft>
              <a:buNone/>
            </a:pPr>
            <a:r>
              <a:rPr lang="en">
                <a:solidFill>
                  <a:srgbClr val="434343"/>
                </a:solidFill>
              </a:rPr>
              <a:t>}</a:t>
            </a:r>
            <a:endParaRPr>
              <a:solidFill>
                <a:srgbClr val="434343"/>
              </a:solidFill>
            </a:endParaRPr>
          </a:p>
          <a:p>
            <a:pPr indent="0" lvl="0" marL="0" rtl="0" algn="l">
              <a:lnSpc>
                <a:spcPct val="115000"/>
              </a:lnSpc>
              <a:spcBef>
                <a:spcPts val="0"/>
              </a:spcBef>
              <a:spcAft>
                <a:spcPts val="0"/>
              </a:spcAft>
              <a:buNone/>
            </a:pPr>
            <a:r>
              <a:t/>
            </a:r>
            <a:endParaRPr>
              <a:solidFill>
                <a:srgbClr val="434343"/>
              </a:solidFill>
            </a:endParaRPr>
          </a:p>
        </p:txBody>
      </p:sp>
      <p:sp>
        <p:nvSpPr>
          <p:cNvPr id="622" name="Google Shape;622;g283038813be_0_211"/>
          <p:cNvSpPr txBox="1"/>
          <p:nvPr/>
        </p:nvSpPr>
        <p:spPr>
          <a:xfrm>
            <a:off x="3494225" y="1405850"/>
            <a:ext cx="5649900" cy="75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highlight>
                  <a:srgbClr val="FFFFFF"/>
                </a:highlight>
                <a:latin typeface="Verdana"/>
                <a:ea typeface="Verdana"/>
                <a:cs typeface="Verdana"/>
                <a:sym typeface="Verdana"/>
              </a:rPr>
              <a:t>The template parameters can not only include types introduced by </a:t>
            </a:r>
            <a:r>
              <a:rPr lang="en">
                <a:solidFill>
                  <a:schemeClr val="dk1"/>
                </a:solidFill>
                <a:highlight>
                  <a:srgbClr val="FFFFFF"/>
                </a:highlight>
              </a:rPr>
              <a:t>class</a:t>
            </a:r>
            <a:r>
              <a:rPr lang="en">
                <a:solidFill>
                  <a:schemeClr val="dk1"/>
                </a:solidFill>
                <a:highlight>
                  <a:srgbClr val="FFFFFF"/>
                </a:highlight>
                <a:latin typeface="Verdana"/>
                <a:ea typeface="Verdana"/>
                <a:cs typeface="Verdana"/>
                <a:sym typeface="Verdana"/>
              </a:rPr>
              <a:t> or </a:t>
            </a:r>
            <a:r>
              <a:rPr lang="en">
                <a:solidFill>
                  <a:schemeClr val="dk1"/>
                </a:solidFill>
                <a:highlight>
                  <a:srgbClr val="FFFFFF"/>
                </a:highlight>
              </a:rPr>
              <a:t>typename</a:t>
            </a:r>
            <a:r>
              <a:rPr lang="en">
                <a:solidFill>
                  <a:schemeClr val="dk1"/>
                </a:solidFill>
                <a:highlight>
                  <a:srgbClr val="FFFFFF"/>
                </a:highlight>
                <a:latin typeface="Verdana"/>
                <a:ea typeface="Verdana"/>
                <a:cs typeface="Verdana"/>
                <a:sym typeface="Verdana"/>
              </a:rPr>
              <a:t>, but can also include expressions of a particular type:The second argument of the </a:t>
            </a:r>
            <a:r>
              <a:rPr lang="en">
                <a:solidFill>
                  <a:schemeClr val="dk1"/>
                </a:solidFill>
                <a:highlight>
                  <a:srgbClr val="FFFFFF"/>
                </a:highlight>
              </a:rPr>
              <a:t>fixed_multiply</a:t>
            </a:r>
            <a:r>
              <a:rPr lang="en">
                <a:solidFill>
                  <a:schemeClr val="dk1"/>
                </a:solidFill>
                <a:highlight>
                  <a:srgbClr val="FFFFFF"/>
                </a:highlight>
                <a:latin typeface="Verdana"/>
                <a:ea typeface="Verdana"/>
                <a:cs typeface="Verdana"/>
                <a:sym typeface="Verdana"/>
              </a:rPr>
              <a:t> function template is of type </a:t>
            </a:r>
            <a:r>
              <a:rPr lang="en">
                <a:solidFill>
                  <a:schemeClr val="dk1"/>
                </a:solidFill>
                <a:highlight>
                  <a:srgbClr val="FFFFFF"/>
                </a:highlight>
              </a:rPr>
              <a:t>int</a:t>
            </a:r>
            <a:r>
              <a:rPr lang="en">
                <a:solidFill>
                  <a:schemeClr val="dk1"/>
                </a:solidFill>
                <a:highlight>
                  <a:srgbClr val="FFFFFF"/>
                </a:highlight>
                <a:latin typeface="Verdana"/>
                <a:ea typeface="Verdana"/>
                <a:cs typeface="Verdana"/>
                <a:sym typeface="Verdana"/>
              </a:rPr>
              <a:t>. </a:t>
            </a:r>
            <a:endParaRPr/>
          </a:p>
        </p:txBody>
      </p:sp>
      <p:sp>
        <p:nvSpPr>
          <p:cNvPr id="623" name="Google Shape;623;g283038813be_0_211"/>
          <p:cNvSpPr txBox="1"/>
          <p:nvPr/>
        </p:nvSpPr>
        <p:spPr>
          <a:xfrm>
            <a:off x="852600" y="4794900"/>
            <a:ext cx="1984800" cy="336000"/>
          </a:xfrm>
          <a:prstGeom prst="rect">
            <a:avLst/>
          </a:prstGeom>
          <a:solidFill>
            <a:srgbClr val="666666"/>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00">
                <a:solidFill>
                  <a:srgbClr val="FFFFFF"/>
                </a:solidFill>
              </a:rPr>
              <a:t>x and y are equa</a:t>
            </a:r>
            <a:r>
              <a:rPr lang="en" sz="1500">
                <a:solidFill>
                  <a:srgbClr val="FFFFFF"/>
                </a:solidFill>
              </a:rPr>
              <a:t>l</a:t>
            </a:r>
            <a:endParaRPr sz="1500">
              <a:solidFill>
                <a:srgbClr val="FFFFFF"/>
              </a:solidFill>
            </a:endParaRPr>
          </a:p>
        </p:txBody>
      </p:sp>
      <p:sp>
        <p:nvSpPr>
          <p:cNvPr id="624" name="Google Shape;624;g283038813be_0_211"/>
          <p:cNvSpPr/>
          <p:nvPr/>
        </p:nvSpPr>
        <p:spPr>
          <a:xfrm>
            <a:off x="1286050" y="4375500"/>
            <a:ext cx="209700" cy="4194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g283038813be_0_211"/>
          <p:cNvSpPr/>
          <p:nvPr/>
        </p:nvSpPr>
        <p:spPr>
          <a:xfrm>
            <a:off x="7151375" y="3696925"/>
            <a:ext cx="545100" cy="265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g283038813be_0_211"/>
          <p:cNvSpPr txBox="1"/>
          <p:nvPr/>
        </p:nvSpPr>
        <p:spPr>
          <a:xfrm>
            <a:off x="7937675" y="3586825"/>
            <a:ext cx="717900" cy="491100"/>
          </a:xfrm>
          <a:prstGeom prst="rect">
            <a:avLst/>
          </a:prstGeom>
          <a:solidFill>
            <a:srgbClr val="666666"/>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20</a:t>
            </a:r>
            <a:endParaRPr>
              <a:solidFill>
                <a:srgbClr val="FFFFFF"/>
              </a:solidFill>
            </a:endParaRPr>
          </a:p>
          <a:p>
            <a:pPr indent="0" lvl="0" marL="0" rtl="0" algn="l">
              <a:lnSpc>
                <a:spcPct val="115000"/>
              </a:lnSpc>
              <a:spcBef>
                <a:spcPts val="0"/>
              </a:spcBef>
              <a:spcAft>
                <a:spcPts val="0"/>
              </a:spcAft>
              <a:buNone/>
            </a:pPr>
            <a:r>
              <a:rPr lang="en">
                <a:solidFill>
                  <a:srgbClr val="FFFFFF"/>
                </a:solidFill>
              </a:rPr>
              <a:t>30</a:t>
            </a:r>
            <a:endParaRPr>
              <a:solidFill>
                <a:srgbClr val="FFFFFF"/>
              </a:solidFill>
            </a:endParaRPr>
          </a:p>
        </p:txBody>
      </p:sp>
      <p:sp>
        <p:nvSpPr>
          <p:cNvPr id="627" name="Google Shape;627;g283038813be_0_21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g283038813be_0_367"/>
          <p:cNvSpPr txBox="1"/>
          <p:nvPr>
            <p:ph type="title"/>
          </p:nvPr>
        </p:nvSpPr>
        <p:spPr>
          <a:xfrm>
            <a:off x="2355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9900"/>
                </a:solidFill>
              </a:rPr>
              <a:t>Recursive function</a:t>
            </a:r>
            <a:endParaRPr b="1">
              <a:solidFill>
                <a:srgbClr val="FF9900"/>
              </a:solidFill>
            </a:endParaRPr>
          </a:p>
        </p:txBody>
      </p:sp>
      <p:sp>
        <p:nvSpPr>
          <p:cNvPr id="633" name="Google Shape;633;g283038813be_0_367"/>
          <p:cNvSpPr txBox="1"/>
          <p:nvPr>
            <p:ph idx="1" type="body"/>
          </p:nvPr>
        </p:nvSpPr>
        <p:spPr>
          <a:xfrm>
            <a:off x="311700" y="636725"/>
            <a:ext cx="8520600" cy="430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Recursion  in computer science means a function is calling itself. We will use recursion whenever the solution of a  problems  depends on the solution of the small problem of the same nature.</a:t>
            </a:r>
            <a:endParaRPr sz="2200"/>
          </a:p>
          <a:p>
            <a:pPr indent="0" lvl="0" marL="0" rtl="0" algn="l">
              <a:spcBef>
                <a:spcPts val="0"/>
              </a:spcBef>
              <a:spcAft>
                <a:spcPts val="0"/>
              </a:spcAft>
              <a:buNone/>
            </a:pPr>
            <a:r>
              <a:rPr lang="en" sz="2200"/>
              <a:t>Example: Factorial of n</a:t>
            </a:r>
            <a:endParaRPr sz="2200"/>
          </a:p>
          <a:p>
            <a:pPr indent="0" lvl="0" marL="0" rtl="0" algn="l">
              <a:spcBef>
                <a:spcPts val="0"/>
              </a:spcBef>
              <a:spcAft>
                <a:spcPts val="0"/>
              </a:spcAft>
              <a:buNone/>
            </a:pPr>
            <a:r>
              <a:rPr lang="en" sz="2200"/>
              <a:t>n!=n*n-1*n-2*n-3*n-4*n-5……..*1</a:t>
            </a:r>
            <a:endParaRPr sz="2200"/>
          </a:p>
          <a:p>
            <a:pPr indent="0" lvl="0" marL="0" rtl="0" algn="l">
              <a:spcBef>
                <a:spcPts val="0"/>
              </a:spcBef>
              <a:spcAft>
                <a:spcPts val="0"/>
              </a:spcAft>
              <a:buNone/>
            </a:pPr>
            <a:r>
              <a:rPr lang="en" sz="2200"/>
              <a:t>n!=n*(n-1)!</a:t>
            </a:r>
            <a:endParaRPr sz="2200"/>
          </a:p>
          <a:p>
            <a:pPr indent="0" lvl="0" marL="0" rtl="0" algn="l">
              <a:spcBef>
                <a:spcPts val="0"/>
              </a:spcBef>
              <a:spcAft>
                <a:spcPts val="0"/>
              </a:spcAft>
              <a:buNone/>
            </a:pPr>
            <a:r>
              <a:rPr lang="en" sz="2200"/>
              <a:t>fact(n)=n*fact(n-1);</a:t>
            </a:r>
            <a:endParaRPr sz="2200"/>
          </a:p>
          <a:p>
            <a:pPr indent="0" lvl="0" marL="0" rtl="0" algn="l">
              <a:spcBef>
                <a:spcPts val="0"/>
              </a:spcBef>
              <a:spcAft>
                <a:spcPts val="0"/>
              </a:spcAft>
              <a:buNone/>
            </a:pPr>
            <a:r>
              <a:rPr lang="en" sz="2200"/>
              <a:t>Big=small-&gt;smaller-&gt;smallest</a:t>
            </a:r>
            <a:endParaRPr sz="2200"/>
          </a:p>
        </p:txBody>
      </p:sp>
      <p:sp>
        <p:nvSpPr>
          <p:cNvPr id="634" name="Google Shape;634;g283038813be_0_36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g283038813be_0_37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solidFill>
                  <a:srgbClr val="FF9900"/>
                </a:solidFill>
              </a:rPr>
              <a:t>Recursion and Principle of Mathematics </a:t>
            </a:r>
            <a:r>
              <a:rPr lang="en" sz="2600">
                <a:solidFill>
                  <a:srgbClr val="FF9900"/>
                </a:solidFill>
              </a:rPr>
              <a:t>I</a:t>
            </a:r>
            <a:r>
              <a:rPr lang="en" sz="2600">
                <a:solidFill>
                  <a:srgbClr val="FF9900"/>
                </a:solidFill>
              </a:rPr>
              <a:t>nduction(PMI)</a:t>
            </a:r>
            <a:endParaRPr sz="2600">
              <a:solidFill>
                <a:srgbClr val="FF9900"/>
              </a:solidFill>
            </a:endParaRPr>
          </a:p>
        </p:txBody>
      </p:sp>
      <p:sp>
        <p:nvSpPr>
          <p:cNvPr id="640" name="Google Shape;640;g283038813be_0_372"/>
          <p:cNvSpPr txBox="1"/>
          <p:nvPr>
            <p:ph idx="1" type="body"/>
          </p:nvPr>
        </p:nvSpPr>
        <p:spPr>
          <a:xfrm>
            <a:off x="311700" y="636725"/>
            <a:ext cx="8520600" cy="436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The Principle of Mathematical Induction (PMI) is a theorem that gives a method for establishing the truth of statements quantified over all integers greater than or equal to some given integer. </a:t>
            </a:r>
            <a:endParaRPr sz="1500"/>
          </a:p>
          <a:p>
            <a:pPr indent="0" lvl="0" marL="0" rtl="0" algn="l">
              <a:spcBef>
                <a:spcPts val="0"/>
              </a:spcBef>
              <a:spcAft>
                <a:spcPts val="0"/>
              </a:spcAft>
              <a:buNone/>
            </a:pPr>
            <a:r>
              <a:rPr lang="en" sz="1500"/>
              <a:t>The Principle of Mathematical Induction (PMI) is just the following observation. Let P(n) be a statement for each positive integer n. If P(1) is true and if P(k) is true the prove that  P(k +1)  is true for all positive integers k, then P(n) is true for all positive integers n. In other words, if P(1) and P(k) ⇒ P(k + 1) then P(1) ⇒ P(2) ⇒ P(3) ⇒ P(4) ⇒ · · · . </a:t>
            </a:r>
            <a:endParaRPr sz="1500"/>
          </a:p>
          <a:p>
            <a:pPr indent="0" lvl="0" marL="0" rtl="0" algn="l">
              <a:spcBef>
                <a:spcPts val="0"/>
              </a:spcBef>
              <a:spcAft>
                <a:spcPts val="0"/>
              </a:spcAft>
              <a:buNone/>
            </a:pPr>
            <a:r>
              <a:rPr lang="en" sz="1500"/>
              <a:t>It uses three main steps: </a:t>
            </a:r>
            <a:endParaRPr sz="1500"/>
          </a:p>
          <a:p>
            <a:pPr indent="-304800" lvl="0" marL="457200" rtl="0" algn="l">
              <a:spcBef>
                <a:spcPts val="0"/>
              </a:spcBef>
              <a:spcAft>
                <a:spcPts val="0"/>
              </a:spcAft>
              <a:buClr>
                <a:schemeClr val="dk1"/>
              </a:buClr>
              <a:buSzPts val="1200"/>
              <a:buAutoNum type="arabicPeriod"/>
            </a:pPr>
            <a:r>
              <a:rPr b="1" lang="en" sz="1200">
                <a:solidFill>
                  <a:schemeClr val="dk1"/>
                </a:solidFill>
              </a:rPr>
              <a:t>A Basis or Base case: </a:t>
            </a:r>
            <a:r>
              <a:rPr lang="en" sz="1200">
                <a:solidFill>
                  <a:srgbClr val="333333"/>
                </a:solidFill>
                <a:highlight>
                  <a:srgbClr val="FFFFFF"/>
                </a:highlight>
              </a:rPr>
              <a:t>To prove P(1) is true.</a:t>
            </a:r>
            <a:endParaRPr b="1" sz="1200">
              <a:solidFill>
                <a:schemeClr val="dk1"/>
              </a:solidFill>
            </a:endParaRPr>
          </a:p>
          <a:p>
            <a:pPr indent="-304800" lvl="0" marL="457200" rtl="0" algn="l">
              <a:spcBef>
                <a:spcPts val="0"/>
              </a:spcBef>
              <a:spcAft>
                <a:spcPts val="0"/>
              </a:spcAft>
              <a:buClr>
                <a:schemeClr val="dk1"/>
              </a:buClr>
              <a:buSzPts val="1200"/>
              <a:buAutoNum type="arabicPeriod"/>
            </a:pPr>
            <a:r>
              <a:rPr b="1" lang="en" sz="1200">
                <a:solidFill>
                  <a:schemeClr val="dk1"/>
                </a:solidFill>
              </a:rPr>
              <a:t>Induction Hypothesis which is an assumption: </a:t>
            </a:r>
            <a:r>
              <a:rPr lang="en" sz="1200">
                <a:solidFill>
                  <a:srgbClr val="333333"/>
                </a:solidFill>
                <a:highlight>
                  <a:srgbClr val="FFFFFF"/>
                </a:highlight>
              </a:rPr>
              <a:t>Assume that P(k) is true for some k in N.</a:t>
            </a:r>
            <a:endParaRPr b="1" sz="1200">
              <a:solidFill>
                <a:schemeClr val="dk1"/>
              </a:solidFill>
            </a:endParaRPr>
          </a:p>
          <a:p>
            <a:pPr indent="-304800" lvl="0" marL="457200" rtl="0" algn="l">
              <a:spcBef>
                <a:spcPts val="0"/>
              </a:spcBef>
              <a:spcAft>
                <a:spcPts val="0"/>
              </a:spcAft>
              <a:buClr>
                <a:schemeClr val="dk1"/>
              </a:buClr>
              <a:buSzPts val="1200"/>
              <a:buAutoNum type="arabicPeriod"/>
            </a:pPr>
            <a:r>
              <a:rPr b="1" lang="en" sz="1200">
                <a:solidFill>
                  <a:schemeClr val="dk1"/>
                </a:solidFill>
              </a:rPr>
              <a:t>Induction Step which use the induction hypothesis to argue for all value of n</a:t>
            </a:r>
            <a:endParaRPr b="1" sz="1200">
              <a:solidFill>
                <a:schemeClr val="dk1"/>
              </a:solidFill>
            </a:endParaRPr>
          </a:p>
          <a:p>
            <a:pPr indent="0" lvl="0" marL="457200" rtl="0" algn="l">
              <a:lnSpc>
                <a:spcPct val="175000"/>
              </a:lnSpc>
              <a:spcBef>
                <a:spcPts val="0"/>
              </a:spcBef>
              <a:spcAft>
                <a:spcPts val="0"/>
              </a:spcAft>
              <a:buNone/>
            </a:pPr>
            <a:r>
              <a:rPr b="1" lang="en" sz="1200">
                <a:solidFill>
                  <a:srgbClr val="333333"/>
                </a:solidFill>
                <a:highlight>
                  <a:srgbClr val="FFFFFF"/>
                </a:highlight>
              </a:rPr>
              <a:t>:</a:t>
            </a:r>
            <a:r>
              <a:rPr lang="en" sz="1200">
                <a:solidFill>
                  <a:srgbClr val="333333"/>
                </a:solidFill>
                <a:highlight>
                  <a:srgbClr val="FFFFFF"/>
                </a:highlight>
              </a:rPr>
              <a:t>Prove that P(k+1) is true.</a:t>
            </a:r>
            <a:endParaRPr b="1" sz="1200">
              <a:solidFill>
                <a:schemeClr val="dk1"/>
              </a:solidFill>
            </a:endParaRPr>
          </a:p>
          <a:p>
            <a:pPr indent="0" lvl="0" marL="0" rtl="0" algn="l">
              <a:spcBef>
                <a:spcPts val="0"/>
              </a:spcBef>
              <a:spcAft>
                <a:spcPts val="0"/>
              </a:spcAft>
              <a:buNone/>
            </a:pPr>
            <a:r>
              <a:rPr lang="en" sz="1332">
                <a:solidFill>
                  <a:srgbClr val="202124"/>
                </a:solidFill>
                <a:highlight>
                  <a:srgbClr val="FFFFFF"/>
                </a:highlight>
              </a:rPr>
              <a:t> In computer science, PMI helps  in the analysis of algorithms. But not only that,proofs by induction also tend to imply recursive algorithms for solving the problem at hand. </a:t>
            </a:r>
            <a:r>
              <a:rPr b="1" lang="en" sz="1332">
                <a:solidFill>
                  <a:srgbClr val="202124"/>
                </a:solidFill>
                <a:highlight>
                  <a:srgbClr val="FFFFFF"/>
                </a:highlight>
              </a:rPr>
              <a:t>PMI is a main tool in proving the correctness of recursive algorithms. </a:t>
            </a:r>
            <a:r>
              <a:rPr lang="en" sz="1500"/>
              <a:t>The recursion works on the Principle of Mathematics Induction which is used to prove facts.</a:t>
            </a:r>
            <a:endParaRPr sz="1500"/>
          </a:p>
          <a:p>
            <a:pPr indent="0" lvl="0" marL="0" rtl="0" algn="l">
              <a:spcBef>
                <a:spcPts val="0"/>
              </a:spcBef>
              <a:spcAft>
                <a:spcPts val="0"/>
              </a:spcAft>
              <a:buNone/>
            </a:pPr>
            <a:r>
              <a:t/>
            </a:r>
            <a:endParaRPr sz="1500"/>
          </a:p>
        </p:txBody>
      </p:sp>
      <p:sp>
        <p:nvSpPr>
          <p:cNvPr id="641" name="Google Shape;641;g283038813be_0_37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g283038813be_0_37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solidFill>
                  <a:srgbClr val="FF9900"/>
                </a:solidFill>
              </a:rPr>
              <a:t>Recursion Principle of Mathematics Induction in 2 steps</a:t>
            </a:r>
            <a:endParaRPr sz="2600">
              <a:solidFill>
                <a:srgbClr val="FF9900"/>
              </a:solidFill>
            </a:endParaRPr>
          </a:p>
        </p:txBody>
      </p:sp>
      <p:sp>
        <p:nvSpPr>
          <p:cNvPr id="647" name="Google Shape;647;g283038813be_0_377"/>
          <p:cNvSpPr txBox="1"/>
          <p:nvPr>
            <p:ph idx="1" type="body"/>
          </p:nvPr>
        </p:nvSpPr>
        <p:spPr>
          <a:xfrm>
            <a:off x="311700" y="636725"/>
            <a:ext cx="8520600" cy="431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recursion works on the Principle of Mathematics Induction which is used to prove facts. If it has only 2 steps, the Assumption and induction step are combined: </a:t>
            </a:r>
            <a:endParaRPr/>
          </a:p>
          <a:p>
            <a:pPr indent="-342900" lvl="0" marL="457200" rtl="0" algn="l">
              <a:spcBef>
                <a:spcPts val="1100"/>
              </a:spcBef>
              <a:spcAft>
                <a:spcPts val="0"/>
              </a:spcAft>
              <a:buClr>
                <a:srgbClr val="333333"/>
              </a:buClr>
              <a:buSzPts val="1800"/>
              <a:buFont typeface="Verdana"/>
              <a:buChar char="●"/>
            </a:pPr>
            <a:r>
              <a:rPr b="1" i="1" lang="en"/>
              <a:t>Step 1. Show it is true for the first one</a:t>
            </a:r>
            <a:endParaRPr b="1" i="1"/>
          </a:p>
          <a:p>
            <a:pPr indent="-342900" lvl="0" marL="457200" rtl="0" algn="l">
              <a:spcBef>
                <a:spcPts val="1100"/>
              </a:spcBef>
              <a:spcAft>
                <a:spcPts val="0"/>
              </a:spcAft>
              <a:buClr>
                <a:srgbClr val="333333"/>
              </a:buClr>
              <a:buSzPts val="1800"/>
              <a:buFont typeface="Verdana"/>
              <a:buChar char="●"/>
            </a:pPr>
            <a:r>
              <a:rPr b="1" i="1" lang="en"/>
              <a:t>Step 2. Show that if any one is true then the next one is true. </a:t>
            </a:r>
            <a:endParaRPr sz="900">
              <a:solidFill>
                <a:srgbClr val="040C28"/>
              </a:solidFill>
              <a:highlight>
                <a:srgbClr val="D3E3FD"/>
              </a:highlight>
            </a:endParaRPr>
          </a:p>
          <a:p>
            <a:pPr indent="0" lvl="0" marL="0" rtl="0" algn="l">
              <a:spcBef>
                <a:spcPts val="1100"/>
              </a:spcBef>
              <a:spcAft>
                <a:spcPts val="0"/>
              </a:spcAft>
              <a:buNone/>
            </a:pPr>
            <a:r>
              <a:rPr lang="en"/>
              <a:t>Then all are true</a:t>
            </a:r>
            <a:endParaRPr/>
          </a:p>
          <a:p>
            <a:pPr indent="0" lvl="0" marL="0" rtl="0" algn="l">
              <a:spcBef>
                <a:spcPts val="1100"/>
              </a:spcBef>
              <a:spcAft>
                <a:spcPts val="0"/>
              </a:spcAft>
              <a:buClr>
                <a:schemeClr val="dk1"/>
              </a:buClr>
              <a:buSzPts val="1100"/>
              <a:buFont typeface="Arial"/>
              <a:buNone/>
            </a:pPr>
            <a:r>
              <a:rPr lang="en">
                <a:solidFill>
                  <a:srgbClr val="333333"/>
                </a:solidFill>
                <a:latin typeface="Verdana"/>
                <a:ea typeface="Verdana"/>
                <a:cs typeface="Verdana"/>
                <a:sym typeface="Verdana"/>
              </a:rPr>
              <a:t>In the world of numbers we say:</a:t>
            </a:r>
            <a:endParaRPr>
              <a:solidFill>
                <a:srgbClr val="333333"/>
              </a:solidFill>
              <a:latin typeface="Verdana"/>
              <a:ea typeface="Verdana"/>
              <a:cs typeface="Verdana"/>
              <a:sym typeface="Verdana"/>
            </a:endParaRPr>
          </a:p>
          <a:p>
            <a:pPr indent="-342900" lvl="0" marL="457200" rtl="0" algn="l">
              <a:spcBef>
                <a:spcPts val="1100"/>
              </a:spcBef>
              <a:spcAft>
                <a:spcPts val="0"/>
              </a:spcAft>
              <a:buClr>
                <a:srgbClr val="333333"/>
              </a:buClr>
              <a:buSzPts val="1800"/>
              <a:buFont typeface="Verdana"/>
              <a:buChar char="●"/>
            </a:pPr>
            <a:r>
              <a:rPr lang="en">
                <a:solidFill>
                  <a:srgbClr val="333333"/>
                </a:solidFill>
                <a:latin typeface="Verdana"/>
                <a:ea typeface="Verdana"/>
                <a:cs typeface="Verdana"/>
                <a:sym typeface="Verdana"/>
              </a:rPr>
              <a:t>Step 1. Show it is true for first case, usually </a:t>
            </a:r>
            <a:r>
              <a:rPr b="1" lang="en">
                <a:solidFill>
                  <a:srgbClr val="333333"/>
                </a:solidFill>
                <a:latin typeface="Verdana"/>
                <a:ea typeface="Verdana"/>
                <a:cs typeface="Verdana"/>
                <a:sym typeface="Verdana"/>
              </a:rPr>
              <a:t>n=1</a:t>
            </a:r>
            <a:endParaRPr b="1">
              <a:solidFill>
                <a:srgbClr val="333333"/>
              </a:solidFill>
              <a:latin typeface="Verdana"/>
              <a:ea typeface="Verdana"/>
              <a:cs typeface="Verdana"/>
              <a:sym typeface="Verdana"/>
            </a:endParaRPr>
          </a:p>
          <a:p>
            <a:pPr indent="-349250" lvl="0" marL="457200" rtl="0" algn="l">
              <a:spcBef>
                <a:spcPts val="1100"/>
              </a:spcBef>
              <a:spcAft>
                <a:spcPts val="0"/>
              </a:spcAft>
              <a:buClr>
                <a:srgbClr val="333333"/>
              </a:buClr>
              <a:buSzPts val="1900"/>
              <a:buFont typeface="Verdana"/>
              <a:buChar char="●"/>
            </a:pPr>
            <a:r>
              <a:rPr lang="en">
                <a:solidFill>
                  <a:srgbClr val="333333"/>
                </a:solidFill>
                <a:latin typeface="Verdana"/>
                <a:ea typeface="Verdana"/>
                <a:cs typeface="Verdana"/>
                <a:sym typeface="Verdana"/>
              </a:rPr>
              <a:t>Step 2. Show that if </a:t>
            </a:r>
            <a:r>
              <a:rPr b="1" lang="en">
                <a:solidFill>
                  <a:srgbClr val="333333"/>
                </a:solidFill>
                <a:latin typeface="Verdana"/>
                <a:ea typeface="Verdana"/>
                <a:cs typeface="Verdana"/>
                <a:sym typeface="Verdana"/>
              </a:rPr>
              <a:t>n=k</a:t>
            </a:r>
            <a:r>
              <a:rPr lang="en">
                <a:solidFill>
                  <a:srgbClr val="333333"/>
                </a:solidFill>
                <a:latin typeface="Verdana"/>
                <a:ea typeface="Verdana"/>
                <a:cs typeface="Verdana"/>
                <a:sym typeface="Verdana"/>
              </a:rPr>
              <a:t> is true then </a:t>
            </a:r>
            <a:r>
              <a:rPr b="1" lang="en">
                <a:solidFill>
                  <a:srgbClr val="333333"/>
                </a:solidFill>
                <a:latin typeface="Verdana"/>
                <a:ea typeface="Verdana"/>
                <a:cs typeface="Verdana"/>
                <a:sym typeface="Verdana"/>
              </a:rPr>
              <a:t>n=k+1</a:t>
            </a:r>
            <a:r>
              <a:rPr lang="en">
                <a:solidFill>
                  <a:srgbClr val="333333"/>
                </a:solidFill>
                <a:latin typeface="Verdana"/>
                <a:ea typeface="Verdana"/>
                <a:cs typeface="Verdana"/>
                <a:sym typeface="Verdana"/>
              </a:rPr>
              <a:t> is also t</a:t>
            </a:r>
            <a:r>
              <a:rPr lang="en">
                <a:solidFill>
                  <a:srgbClr val="333333"/>
                </a:solidFill>
                <a:latin typeface="Verdana"/>
                <a:ea typeface="Verdana"/>
                <a:cs typeface="Verdana"/>
                <a:sym typeface="Verdana"/>
              </a:rPr>
              <a:t>rue.  Assume that P(k) is true for some integer k ≥ a, and use this to prove that P(k + 1) is true</a:t>
            </a:r>
            <a:endParaRPr sz="1200">
              <a:solidFill>
                <a:srgbClr val="333333"/>
              </a:solidFill>
              <a:latin typeface="Verdana"/>
              <a:ea typeface="Verdana"/>
              <a:cs typeface="Verdana"/>
              <a:sym typeface="Verdana"/>
            </a:endParaRPr>
          </a:p>
          <a:p>
            <a:pPr indent="0" lvl="0" marL="0" rtl="0" algn="l">
              <a:spcBef>
                <a:spcPts val="1100"/>
              </a:spcBef>
              <a:spcAft>
                <a:spcPts val="0"/>
              </a:spcAft>
              <a:buNone/>
            </a:pPr>
            <a:r>
              <a:t/>
            </a:r>
            <a:endParaRPr sz="1500"/>
          </a:p>
        </p:txBody>
      </p:sp>
      <p:sp>
        <p:nvSpPr>
          <p:cNvPr id="648" name="Google Shape;648;g283038813be_0_37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283038813be_0_382"/>
          <p:cNvSpPr txBox="1"/>
          <p:nvPr>
            <p:ph type="title"/>
          </p:nvPr>
        </p:nvSpPr>
        <p:spPr>
          <a:xfrm>
            <a:off x="205275" y="54850"/>
            <a:ext cx="4984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920">
                <a:solidFill>
                  <a:srgbClr val="FF9900"/>
                </a:solidFill>
              </a:rPr>
              <a:t>PMI Example:Sum of Numbers from 1 to n</a:t>
            </a:r>
            <a:endParaRPr sz="1920">
              <a:solidFill>
                <a:srgbClr val="FF9900"/>
              </a:solidFill>
            </a:endParaRPr>
          </a:p>
        </p:txBody>
      </p:sp>
      <p:sp>
        <p:nvSpPr>
          <p:cNvPr id="654" name="Google Shape;654;g283038813be_0_382"/>
          <p:cNvSpPr txBox="1"/>
          <p:nvPr>
            <p:ph idx="1" type="body"/>
          </p:nvPr>
        </p:nvSpPr>
        <p:spPr>
          <a:xfrm>
            <a:off x="370825" y="521075"/>
            <a:ext cx="4578300" cy="444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Prove that </a:t>
            </a:r>
            <a:r>
              <a:rPr lang="en" sz="1500"/>
              <a:t>∑n=n(n+1)/2</a:t>
            </a:r>
            <a:endParaRPr sz="1500"/>
          </a:p>
          <a:p>
            <a:pPr indent="-323850" lvl="0" marL="457200" rtl="0" algn="l">
              <a:spcBef>
                <a:spcPts val="0"/>
              </a:spcBef>
              <a:spcAft>
                <a:spcPts val="0"/>
              </a:spcAft>
              <a:buSzPts val="1500"/>
              <a:buAutoNum type="arabicPeriod"/>
            </a:pPr>
            <a:r>
              <a:rPr b="1" lang="en" sz="1500"/>
              <a:t>Base Case</a:t>
            </a:r>
            <a:endParaRPr b="1" sz="1500"/>
          </a:p>
          <a:p>
            <a:pPr indent="0" lvl="0" marL="0" rtl="0" algn="l">
              <a:spcBef>
                <a:spcPts val="0"/>
              </a:spcBef>
              <a:spcAft>
                <a:spcPts val="0"/>
              </a:spcAft>
              <a:buNone/>
            </a:pPr>
            <a:r>
              <a:rPr lang="en" sz="1500"/>
              <a:t>Let us think n=0, </a:t>
            </a:r>
            <a:endParaRPr sz="1500"/>
          </a:p>
          <a:p>
            <a:pPr indent="0" lvl="0" marL="0" rtl="0" algn="l">
              <a:spcBef>
                <a:spcPts val="0"/>
              </a:spcBef>
              <a:spcAft>
                <a:spcPts val="0"/>
              </a:spcAft>
              <a:buNone/>
            </a:pPr>
            <a:r>
              <a:rPr b="1" lang="en" sz="1500"/>
              <a:t>Left hand side</a:t>
            </a:r>
            <a:r>
              <a:rPr lang="en" sz="1500"/>
              <a:t> is ∑0=0</a:t>
            </a:r>
            <a:endParaRPr sz="1500"/>
          </a:p>
          <a:p>
            <a:pPr indent="0" lvl="0" marL="0" rtl="0" algn="l">
              <a:spcBef>
                <a:spcPts val="0"/>
              </a:spcBef>
              <a:spcAft>
                <a:spcPts val="0"/>
              </a:spcAft>
              <a:buNone/>
            </a:pPr>
            <a:r>
              <a:rPr b="1" lang="en" sz="1500"/>
              <a:t>Right Hand Side</a:t>
            </a:r>
            <a:r>
              <a:rPr lang="en" sz="1500"/>
              <a:t> is n(n+1)/2=0(0+1)/2=0</a:t>
            </a:r>
            <a:endParaRPr sz="1500"/>
          </a:p>
          <a:p>
            <a:pPr indent="0" lvl="0" marL="0" rtl="0" algn="l">
              <a:spcBef>
                <a:spcPts val="0"/>
              </a:spcBef>
              <a:spcAft>
                <a:spcPts val="0"/>
              </a:spcAft>
              <a:buNone/>
            </a:pPr>
            <a:r>
              <a:rPr lang="en" sz="1500"/>
              <a:t>When n=1, LHS   is ∑1=1 , the RHS is 1(1+1)/2=2/2=1</a:t>
            </a:r>
            <a:endParaRPr sz="1500"/>
          </a:p>
          <a:p>
            <a:pPr indent="-323850" lvl="0" marL="457200" rtl="0" algn="l">
              <a:spcBef>
                <a:spcPts val="0"/>
              </a:spcBef>
              <a:spcAft>
                <a:spcPts val="0"/>
              </a:spcAft>
              <a:buSzPts val="1500"/>
              <a:buAutoNum type="arabicPeriod"/>
            </a:pPr>
            <a:r>
              <a:rPr b="1" lang="en" sz="1500"/>
              <a:t>Induction Hypothesis( Assumption)</a:t>
            </a:r>
            <a:r>
              <a:rPr lang="en" sz="1500"/>
              <a:t> that ∑k=k(k+1) /2 is true</a:t>
            </a:r>
            <a:endParaRPr sz="1500"/>
          </a:p>
          <a:p>
            <a:pPr indent="-323850" lvl="0" marL="457200" rtl="0" algn="l">
              <a:spcBef>
                <a:spcPts val="0"/>
              </a:spcBef>
              <a:spcAft>
                <a:spcPts val="0"/>
              </a:spcAft>
              <a:buSzPts val="1500"/>
              <a:buAutoNum type="arabicPeriod"/>
            </a:pPr>
            <a:r>
              <a:rPr b="1" lang="en" sz="1500"/>
              <a:t>Induction step </a:t>
            </a:r>
            <a:endParaRPr b="1" sz="1500"/>
          </a:p>
          <a:p>
            <a:pPr indent="0" lvl="0" marL="457200" rtl="0" algn="l">
              <a:spcBef>
                <a:spcPts val="0"/>
              </a:spcBef>
              <a:spcAft>
                <a:spcPts val="0"/>
              </a:spcAft>
              <a:buNone/>
            </a:pPr>
            <a:r>
              <a:rPr lang="en" sz="1500"/>
              <a:t>∑(k+1)=(k+1)(k+2)/2</a:t>
            </a:r>
            <a:endParaRPr sz="1500"/>
          </a:p>
          <a:p>
            <a:pPr indent="0" lvl="0" marL="457200" rtl="0" algn="l">
              <a:spcBef>
                <a:spcPts val="0"/>
              </a:spcBef>
              <a:spcAft>
                <a:spcPts val="0"/>
              </a:spcAft>
              <a:buNone/>
            </a:pPr>
            <a:r>
              <a:rPr lang="en" sz="1500"/>
              <a:t>LHS =∑(k+1)</a:t>
            </a:r>
            <a:endParaRPr sz="1500"/>
          </a:p>
          <a:p>
            <a:pPr indent="0" lvl="0" marL="457200" rtl="0" algn="l">
              <a:spcBef>
                <a:spcPts val="0"/>
              </a:spcBef>
              <a:spcAft>
                <a:spcPts val="0"/>
              </a:spcAft>
              <a:buNone/>
            </a:pPr>
            <a:r>
              <a:rPr lang="en" sz="1500"/>
              <a:t>(k+1)+∑k then replace  with the value of ∑k</a:t>
            </a:r>
            <a:endParaRPr sz="1500"/>
          </a:p>
          <a:p>
            <a:pPr indent="0" lvl="0" marL="457200" rtl="0" algn="l">
              <a:spcBef>
                <a:spcPts val="0"/>
              </a:spcBef>
              <a:spcAft>
                <a:spcPts val="0"/>
              </a:spcAft>
              <a:buNone/>
            </a:pPr>
            <a:r>
              <a:rPr lang="en" sz="1500"/>
              <a:t>(k+1)+k(k+1)/2=(k+1)*2/2+k(k+1)/2</a:t>
            </a:r>
            <a:endParaRPr sz="1500"/>
          </a:p>
          <a:p>
            <a:pPr indent="0" lvl="0" marL="457200" rtl="0" algn="l">
              <a:spcBef>
                <a:spcPts val="0"/>
              </a:spcBef>
              <a:spcAft>
                <a:spcPts val="0"/>
              </a:spcAft>
              <a:buNone/>
            </a:pPr>
            <a:r>
              <a:rPr lang="en" sz="1500"/>
              <a:t>                        =(k+1)(k+2)/2</a:t>
            </a:r>
            <a:endParaRPr sz="1500"/>
          </a:p>
          <a:p>
            <a:pPr indent="0" lvl="0" marL="457200" rtl="0" algn="l">
              <a:spcBef>
                <a:spcPts val="0"/>
              </a:spcBef>
              <a:spcAft>
                <a:spcPts val="0"/>
              </a:spcAft>
              <a:buNone/>
            </a:pPr>
            <a:r>
              <a:rPr lang="en" sz="1500"/>
              <a:t>LHS=RHS Hence proved</a:t>
            </a:r>
            <a:endParaRPr sz="1500"/>
          </a:p>
        </p:txBody>
      </p:sp>
      <p:pic>
        <p:nvPicPr>
          <p:cNvPr id="655" name="Google Shape;655;g283038813be_0_382"/>
          <p:cNvPicPr preferRelativeResize="0"/>
          <p:nvPr/>
        </p:nvPicPr>
        <p:blipFill>
          <a:blip r:embed="rId3">
            <a:alphaModFix/>
          </a:blip>
          <a:stretch>
            <a:fillRect/>
          </a:stretch>
        </p:blipFill>
        <p:spPr>
          <a:xfrm>
            <a:off x="5061025" y="54850"/>
            <a:ext cx="4013250" cy="4782050"/>
          </a:xfrm>
          <a:prstGeom prst="rect">
            <a:avLst/>
          </a:prstGeom>
          <a:noFill/>
          <a:ln>
            <a:noFill/>
          </a:ln>
        </p:spPr>
      </p:pic>
      <p:sp>
        <p:nvSpPr>
          <p:cNvPr id="656" name="Google Shape;656;g283038813be_0_38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g283038813be_0_38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FF9900"/>
                </a:solidFill>
              </a:rPr>
              <a:t>PMI Example 2: Prove that </a:t>
            </a:r>
            <a:r>
              <a:rPr b="1" lang="en" sz="2000">
                <a:solidFill>
                  <a:srgbClr val="FF9900"/>
                </a:solidFill>
                <a:latin typeface="Verdana"/>
                <a:ea typeface="Verdana"/>
                <a:cs typeface="Verdana"/>
                <a:sym typeface="Verdana"/>
              </a:rPr>
              <a:t> 3</a:t>
            </a:r>
            <a:r>
              <a:rPr b="1" baseline="30000" lang="en" sz="2000">
                <a:solidFill>
                  <a:srgbClr val="FF9900"/>
                </a:solidFill>
                <a:latin typeface="Verdana"/>
                <a:ea typeface="Verdana"/>
                <a:cs typeface="Verdana"/>
                <a:sym typeface="Verdana"/>
              </a:rPr>
              <a:t>n</a:t>
            </a:r>
            <a:r>
              <a:rPr b="1" lang="en" sz="2000">
                <a:solidFill>
                  <a:srgbClr val="FF9900"/>
                </a:solidFill>
                <a:latin typeface="Verdana"/>
                <a:ea typeface="Verdana"/>
                <a:cs typeface="Verdana"/>
                <a:sym typeface="Verdana"/>
              </a:rPr>
              <a:t>−1 is  a multiple of 2?</a:t>
            </a:r>
            <a:endParaRPr sz="2000">
              <a:solidFill>
                <a:srgbClr val="FF9900"/>
              </a:solidFill>
            </a:endParaRPr>
          </a:p>
        </p:txBody>
      </p:sp>
      <p:sp>
        <p:nvSpPr>
          <p:cNvPr id="662" name="Google Shape;662;g283038813be_0_388"/>
          <p:cNvSpPr txBox="1"/>
          <p:nvPr>
            <p:ph idx="1" type="body"/>
          </p:nvPr>
        </p:nvSpPr>
        <p:spPr>
          <a:xfrm>
            <a:off x="311700" y="636725"/>
            <a:ext cx="6747600" cy="4506600"/>
          </a:xfrm>
          <a:prstGeom prst="rect">
            <a:avLst/>
          </a:prstGeom>
        </p:spPr>
        <p:txBody>
          <a:bodyPr anchorCtr="0" anchor="t" bIns="91425" lIns="91425" spcFirstLastPara="1" rIns="91425" wrap="square" tIns="91425">
            <a:noAutofit/>
          </a:bodyPr>
          <a:lstStyle/>
          <a:p>
            <a:pPr indent="0" lvl="0" marL="63500" marR="63500" rtl="0" algn="l">
              <a:spcBef>
                <a:spcPts val="200"/>
              </a:spcBef>
              <a:spcAft>
                <a:spcPts val="0"/>
              </a:spcAft>
              <a:buClr>
                <a:schemeClr val="dk1"/>
              </a:buClr>
              <a:buSzPts val="1100"/>
              <a:buFont typeface="Arial"/>
              <a:buNone/>
            </a:pPr>
            <a:r>
              <a:rPr b="1" lang="en" sz="1350">
                <a:solidFill>
                  <a:srgbClr val="333333"/>
                </a:solidFill>
                <a:latin typeface="Verdana"/>
                <a:ea typeface="Verdana"/>
                <a:cs typeface="Verdana"/>
                <a:sym typeface="Verdana"/>
              </a:rPr>
              <a:t>Example: is 3</a:t>
            </a:r>
            <a:r>
              <a:rPr b="1" baseline="30000" lang="en" sz="1350">
                <a:solidFill>
                  <a:srgbClr val="333333"/>
                </a:solidFill>
                <a:latin typeface="Verdana"/>
                <a:ea typeface="Verdana"/>
                <a:cs typeface="Verdana"/>
                <a:sym typeface="Verdana"/>
              </a:rPr>
              <a:t>n</a:t>
            </a:r>
            <a:r>
              <a:rPr b="1" lang="en" sz="1350">
                <a:solidFill>
                  <a:srgbClr val="333333"/>
                </a:solidFill>
                <a:latin typeface="Verdana"/>
                <a:ea typeface="Verdana"/>
                <a:cs typeface="Verdana"/>
                <a:sym typeface="Verdana"/>
              </a:rPr>
              <a:t>−1 a multiple of 2?</a:t>
            </a:r>
            <a:endParaRPr b="1" sz="1350">
              <a:solidFill>
                <a:srgbClr val="333333"/>
              </a:solidFill>
              <a:latin typeface="Verdana"/>
              <a:ea typeface="Verdana"/>
              <a:cs typeface="Verdana"/>
              <a:sym typeface="Verdana"/>
            </a:endParaRPr>
          </a:p>
          <a:p>
            <a:pPr indent="0" lvl="0" marL="0" rtl="0" algn="l">
              <a:spcBef>
                <a:spcPts val="1100"/>
              </a:spcBef>
              <a:spcAft>
                <a:spcPts val="0"/>
              </a:spcAft>
              <a:buClr>
                <a:schemeClr val="dk1"/>
              </a:buClr>
              <a:buSzPts val="1100"/>
              <a:buFont typeface="Arial"/>
              <a:buNone/>
            </a:pPr>
            <a:r>
              <a:rPr b="1" lang="en" sz="1150">
                <a:solidFill>
                  <a:srgbClr val="333333"/>
                </a:solidFill>
                <a:latin typeface="Verdana"/>
                <a:ea typeface="Verdana"/>
                <a:cs typeface="Verdana"/>
                <a:sym typeface="Verdana"/>
              </a:rPr>
              <a:t>Is that true? Let us find out.</a:t>
            </a:r>
            <a:endParaRPr sz="1150">
              <a:solidFill>
                <a:srgbClr val="333333"/>
              </a:solidFill>
              <a:latin typeface="Verdana"/>
              <a:ea typeface="Verdana"/>
              <a:cs typeface="Verdana"/>
              <a:sym typeface="Verdana"/>
            </a:endParaRPr>
          </a:p>
          <a:p>
            <a:pPr indent="0" lvl="0" marL="0" rtl="0" algn="l">
              <a:spcBef>
                <a:spcPts val="1300"/>
              </a:spcBef>
              <a:spcAft>
                <a:spcPts val="0"/>
              </a:spcAft>
              <a:buClr>
                <a:schemeClr val="dk1"/>
              </a:buClr>
              <a:buSzPts val="1100"/>
              <a:buFont typeface="Arial"/>
              <a:buNone/>
            </a:pPr>
            <a:r>
              <a:rPr b="1" lang="en" sz="1300">
                <a:solidFill>
                  <a:schemeClr val="dk1"/>
                </a:solidFill>
                <a:latin typeface="Verdana"/>
                <a:ea typeface="Verdana"/>
                <a:cs typeface="Verdana"/>
                <a:sym typeface="Verdana"/>
              </a:rPr>
              <a:t>1.</a:t>
            </a:r>
            <a:r>
              <a:rPr lang="en" sz="1300">
                <a:solidFill>
                  <a:schemeClr val="dk1"/>
                </a:solidFill>
                <a:latin typeface="Verdana"/>
                <a:ea typeface="Verdana"/>
                <a:cs typeface="Verdana"/>
                <a:sym typeface="Verdana"/>
              </a:rPr>
              <a:t> Show it is true for </a:t>
            </a:r>
            <a:r>
              <a:rPr b="1" lang="en" sz="1300">
                <a:solidFill>
                  <a:schemeClr val="dk1"/>
                </a:solidFill>
                <a:latin typeface="Verdana"/>
                <a:ea typeface="Verdana"/>
                <a:cs typeface="Verdana"/>
                <a:sym typeface="Verdana"/>
              </a:rPr>
              <a:t>n=1</a:t>
            </a:r>
            <a:endParaRPr b="1" sz="1300">
              <a:solidFill>
                <a:schemeClr val="dk1"/>
              </a:solidFill>
              <a:latin typeface="Verdana"/>
              <a:ea typeface="Verdana"/>
              <a:cs typeface="Verdana"/>
              <a:sym typeface="Verdana"/>
            </a:endParaRPr>
          </a:p>
          <a:p>
            <a:pPr indent="0" lvl="0" marL="0" rtl="0" algn="ctr">
              <a:spcBef>
                <a:spcPts val="1300"/>
              </a:spcBef>
              <a:spcAft>
                <a:spcPts val="0"/>
              </a:spcAft>
              <a:buClr>
                <a:schemeClr val="dk1"/>
              </a:buClr>
              <a:buSzPts val="1100"/>
              <a:buFont typeface="Arial"/>
              <a:buNone/>
            </a:pPr>
            <a:r>
              <a:rPr b="1" lang="en" sz="1150">
                <a:solidFill>
                  <a:srgbClr val="333333"/>
                </a:solidFill>
                <a:latin typeface="Verdana"/>
                <a:ea typeface="Verdana"/>
                <a:cs typeface="Verdana"/>
                <a:sym typeface="Verdana"/>
              </a:rPr>
              <a:t>3</a:t>
            </a:r>
            <a:r>
              <a:rPr b="1" baseline="30000" lang="en" sz="1150">
                <a:solidFill>
                  <a:srgbClr val="333333"/>
                </a:solidFill>
                <a:latin typeface="Verdana"/>
                <a:ea typeface="Verdana"/>
                <a:cs typeface="Verdana"/>
                <a:sym typeface="Verdana"/>
              </a:rPr>
              <a:t>1</a:t>
            </a:r>
            <a:r>
              <a:rPr b="1" lang="en" sz="1150">
                <a:solidFill>
                  <a:srgbClr val="333333"/>
                </a:solidFill>
                <a:latin typeface="Verdana"/>
                <a:ea typeface="Verdana"/>
                <a:cs typeface="Verdana"/>
                <a:sym typeface="Verdana"/>
              </a:rPr>
              <a:t>−1 = 3−1 = 2</a:t>
            </a:r>
            <a:endParaRPr b="1" sz="1150">
              <a:solidFill>
                <a:srgbClr val="333333"/>
              </a:solidFill>
              <a:latin typeface="Verdana"/>
              <a:ea typeface="Verdana"/>
              <a:cs typeface="Verdana"/>
              <a:sym typeface="Verdana"/>
            </a:endParaRPr>
          </a:p>
          <a:p>
            <a:pPr indent="0" lvl="0" marL="0" rtl="0" algn="l">
              <a:spcBef>
                <a:spcPts val="1100"/>
              </a:spcBef>
              <a:spcAft>
                <a:spcPts val="0"/>
              </a:spcAft>
              <a:buClr>
                <a:schemeClr val="dk1"/>
              </a:buClr>
              <a:buSzPts val="1100"/>
              <a:buFont typeface="Arial"/>
              <a:buNone/>
            </a:pPr>
            <a:r>
              <a:rPr lang="en" sz="1150">
                <a:solidFill>
                  <a:srgbClr val="333333"/>
                </a:solidFill>
                <a:latin typeface="Verdana"/>
                <a:ea typeface="Verdana"/>
                <a:cs typeface="Verdana"/>
                <a:sym typeface="Verdana"/>
              </a:rPr>
              <a:t>Yes 2 is a multiple of 2. That was easy.</a:t>
            </a:r>
            <a:endParaRPr sz="1150">
              <a:solidFill>
                <a:srgbClr val="333333"/>
              </a:solidFill>
              <a:latin typeface="Verdana"/>
              <a:ea typeface="Verdana"/>
              <a:cs typeface="Verdana"/>
              <a:sym typeface="Verdana"/>
            </a:endParaRPr>
          </a:p>
          <a:p>
            <a:pPr indent="0" lvl="0" marL="0" rtl="0" algn="ctr">
              <a:spcBef>
                <a:spcPts val="1400"/>
              </a:spcBef>
              <a:spcAft>
                <a:spcPts val="0"/>
              </a:spcAft>
              <a:buClr>
                <a:schemeClr val="dk1"/>
              </a:buClr>
              <a:buSzPts val="1100"/>
              <a:buFont typeface="Arial"/>
              <a:buNone/>
            </a:pPr>
            <a:r>
              <a:rPr lang="en" sz="1450">
                <a:solidFill>
                  <a:schemeClr val="dk1"/>
                </a:solidFill>
                <a:latin typeface="Verdana"/>
                <a:ea typeface="Verdana"/>
                <a:cs typeface="Verdana"/>
                <a:sym typeface="Verdana"/>
              </a:rPr>
              <a:t>3</a:t>
            </a:r>
            <a:r>
              <a:rPr baseline="30000" lang="en" sz="1450">
                <a:solidFill>
                  <a:schemeClr val="dk1"/>
                </a:solidFill>
                <a:latin typeface="Verdana"/>
                <a:ea typeface="Verdana"/>
                <a:cs typeface="Verdana"/>
                <a:sym typeface="Verdana"/>
              </a:rPr>
              <a:t>1</a:t>
            </a:r>
            <a:r>
              <a:rPr lang="en" sz="1450">
                <a:solidFill>
                  <a:schemeClr val="dk1"/>
                </a:solidFill>
                <a:latin typeface="Verdana"/>
                <a:ea typeface="Verdana"/>
                <a:cs typeface="Verdana"/>
                <a:sym typeface="Verdana"/>
              </a:rPr>
              <a:t>−1 is true</a:t>
            </a:r>
            <a:endParaRPr sz="1300">
              <a:solidFill>
                <a:schemeClr val="dk1"/>
              </a:solidFill>
              <a:latin typeface="Verdana"/>
              <a:ea typeface="Verdana"/>
              <a:cs typeface="Verdana"/>
              <a:sym typeface="Verdana"/>
            </a:endParaRPr>
          </a:p>
          <a:p>
            <a:pPr indent="0" lvl="0" marL="0" rtl="0" algn="l">
              <a:spcBef>
                <a:spcPts val="1400"/>
              </a:spcBef>
              <a:spcAft>
                <a:spcPts val="0"/>
              </a:spcAft>
              <a:buClr>
                <a:schemeClr val="dk1"/>
              </a:buClr>
              <a:buSzPts val="1100"/>
              <a:buFont typeface="Arial"/>
              <a:buNone/>
            </a:pPr>
            <a:r>
              <a:rPr b="1" lang="en" sz="1300">
                <a:solidFill>
                  <a:schemeClr val="dk1"/>
                </a:solidFill>
                <a:latin typeface="Verdana"/>
                <a:ea typeface="Verdana"/>
                <a:cs typeface="Verdana"/>
                <a:sym typeface="Verdana"/>
              </a:rPr>
              <a:t>2.</a:t>
            </a:r>
            <a:r>
              <a:rPr lang="en" sz="1300">
                <a:solidFill>
                  <a:schemeClr val="dk1"/>
                </a:solidFill>
                <a:latin typeface="Verdana"/>
                <a:ea typeface="Verdana"/>
                <a:cs typeface="Verdana"/>
                <a:sym typeface="Verdana"/>
              </a:rPr>
              <a:t> Assume it is true for </a:t>
            </a:r>
            <a:r>
              <a:rPr b="1" lang="en" sz="1300">
                <a:solidFill>
                  <a:schemeClr val="dk1"/>
                </a:solidFill>
                <a:latin typeface="Verdana"/>
                <a:ea typeface="Verdana"/>
                <a:cs typeface="Verdana"/>
                <a:sym typeface="Verdana"/>
              </a:rPr>
              <a:t>n=k</a:t>
            </a:r>
            <a:endParaRPr b="1" sz="1300">
              <a:solidFill>
                <a:schemeClr val="dk1"/>
              </a:solidFill>
              <a:latin typeface="Verdana"/>
              <a:ea typeface="Verdana"/>
              <a:cs typeface="Verdana"/>
              <a:sym typeface="Verdana"/>
            </a:endParaRPr>
          </a:p>
          <a:p>
            <a:pPr indent="0" lvl="0" marL="0" rtl="0" algn="ctr">
              <a:spcBef>
                <a:spcPts val="1400"/>
              </a:spcBef>
              <a:spcAft>
                <a:spcPts val="0"/>
              </a:spcAft>
              <a:buClr>
                <a:schemeClr val="dk1"/>
              </a:buClr>
              <a:buSzPts val="1100"/>
              <a:buFont typeface="Arial"/>
              <a:buNone/>
            </a:pPr>
            <a:r>
              <a:rPr lang="en" sz="1450">
                <a:solidFill>
                  <a:schemeClr val="dk1"/>
                </a:solidFill>
                <a:latin typeface="Verdana"/>
                <a:ea typeface="Verdana"/>
                <a:cs typeface="Verdana"/>
                <a:sym typeface="Verdana"/>
              </a:rPr>
              <a:t>3</a:t>
            </a:r>
            <a:r>
              <a:rPr baseline="30000" lang="en" sz="1450">
                <a:solidFill>
                  <a:schemeClr val="dk1"/>
                </a:solidFill>
                <a:latin typeface="Verdana"/>
                <a:ea typeface="Verdana"/>
                <a:cs typeface="Verdana"/>
                <a:sym typeface="Verdana"/>
              </a:rPr>
              <a:t>k</a:t>
            </a:r>
            <a:r>
              <a:rPr lang="en" sz="1450">
                <a:solidFill>
                  <a:schemeClr val="dk1"/>
                </a:solidFill>
                <a:latin typeface="Verdana"/>
                <a:ea typeface="Verdana"/>
                <a:cs typeface="Verdana"/>
                <a:sym typeface="Verdana"/>
              </a:rPr>
              <a:t>−1 is true</a:t>
            </a:r>
            <a:endParaRPr sz="1450">
              <a:solidFill>
                <a:schemeClr val="dk1"/>
              </a:solidFill>
              <a:latin typeface="Verdana"/>
              <a:ea typeface="Verdana"/>
              <a:cs typeface="Verdana"/>
              <a:sym typeface="Verdana"/>
            </a:endParaRPr>
          </a:p>
          <a:p>
            <a:pPr indent="0" lvl="0" marL="0" rtl="0" algn="ctr">
              <a:spcBef>
                <a:spcPts val="1400"/>
              </a:spcBef>
              <a:spcAft>
                <a:spcPts val="0"/>
              </a:spcAft>
              <a:buClr>
                <a:schemeClr val="dk1"/>
              </a:buClr>
              <a:buSzPts val="1100"/>
              <a:buFont typeface="Arial"/>
              <a:buNone/>
            </a:pPr>
            <a:r>
              <a:rPr lang="en" sz="1150">
                <a:solidFill>
                  <a:srgbClr val="333333"/>
                </a:solidFill>
                <a:latin typeface="Verdana"/>
                <a:ea typeface="Verdana"/>
                <a:cs typeface="Verdana"/>
                <a:sym typeface="Verdana"/>
              </a:rPr>
              <a:t>(Hang on! How do we know that? We don't!</a:t>
            </a:r>
            <a:endParaRPr sz="1150">
              <a:solidFill>
                <a:srgbClr val="333333"/>
              </a:solidFill>
              <a:latin typeface="Verdana"/>
              <a:ea typeface="Verdana"/>
              <a:cs typeface="Verdana"/>
              <a:sym typeface="Verdana"/>
            </a:endParaRPr>
          </a:p>
          <a:p>
            <a:pPr indent="0" lvl="0" marL="0" rtl="0" algn="ctr">
              <a:spcBef>
                <a:spcPts val="1100"/>
              </a:spcBef>
              <a:spcAft>
                <a:spcPts val="0"/>
              </a:spcAft>
              <a:buClr>
                <a:schemeClr val="dk1"/>
              </a:buClr>
              <a:buSzPts val="1100"/>
              <a:buFont typeface="Arial"/>
              <a:buNone/>
            </a:pPr>
            <a:r>
              <a:rPr lang="en" sz="1150">
                <a:solidFill>
                  <a:srgbClr val="333333"/>
                </a:solidFill>
                <a:latin typeface="Verdana"/>
                <a:ea typeface="Verdana"/>
                <a:cs typeface="Verdana"/>
                <a:sym typeface="Verdana"/>
              </a:rPr>
              <a:t>It is an </a:t>
            </a:r>
            <a:r>
              <a:rPr b="1" lang="en" sz="1150">
                <a:solidFill>
                  <a:srgbClr val="333333"/>
                </a:solidFill>
                <a:latin typeface="Verdana"/>
                <a:ea typeface="Verdana"/>
                <a:cs typeface="Verdana"/>
                <a:sym typeface="Verdana"/>
              </a:rPr>
              <a:t>assumption</a:t>
            </a:r>
            <a:r>
              <a:rPr lang="en" sz="1150">
                <a:solidFill>
                  <a:srgbClr val="333333"/>
                </a:solidFill>
                <a:latin typeface="Verdana"/>
                <a:ea typeface="Verdana"/>
                <a:cs typeface="Verdana"/>
                <a:sym typeface="Verdana"/>
              </a:rPr>
              <a:t> ... that we treat</a:t>
            </a:r>
            <a:endParaRPr sz="1150">
              <a:solidFill>
                <a:srgbClr val="333333"/>
              </a:solidFill>
              <a:latin typeface="Verdana"/>
              <a:ea typeface="Verdana"/>
              <a:cs typeface="Verdana"/>
              <a:sym typeface="Verdana"/>
            </a:endParaRPr>
          </a:p>
          <a:p>
            <a:pPr indent="0" lvl="0" marL="0" rtl="0" algn="ctr">
              <a:spcBef>
                <a:spcPts val="1100"/>
              </a:spcBef>
              <a:spcAft>
                <a:spcPts val="0"/>
              </a:spcAft>
              <a:buClr>
                <a:schemeClr val="dk1"/>
              </a:buClr>
              <a:buSzPts val="1100"/>
              <a:buFont typeface="Arial"/>
              <a:buNone/>
            </a:pPr>
            <a:r>
              <a:rPr b="1" lang="en" sz="1150">
                <a:solidFill>
                  <a:srgbClr val="333333"/>
                </a:solidFill>
                <a:latin typeface="Verdana"/>
                <a:ea typeface="Verdana"/>
                <a:cs typeface="Verdana"/>
                <a:sym typeface="Verdana"/>
              </a:rPr>
              <a:t>as a fact</a:t>
            </a:r>
            <a:r>
              <a:rPr lang="en" sz="1150">
                <a:solidFill>
                  <a:srgbClr val="333333"/>
                </a:solidFill>
                <a:latin typeface="Verdana"/>
                <a:ea typeface="Verdana"/>
                <a:cs typeface="Verdana"/>
                <a:sym typeface="Verdana"/>
              </a:rPr>
              <a:t> for the rest of this example</a:t>
            </a:r>
            <a:endParaRPr sz="1150">
              <a:solidFill>
                <a:srgbClr val="333333"/>
              </a:solidFill>
              <a:latin typeface="Verdana"/>
              <a:ea typeface="Verdana"/>
              <a:cs typeface="Verdana"/>
              <a:sym typeface="Verdana"/>
            </a:endParaRPr>
          </a:p>
          <a:p>
            <a:pPr indent="0" lvl="0" marL="0" rtl="0" algn="l">
              <a:spcBef>
                <a:spcPts val="1100"/>
              </a:spcBef>
              <a:spcAft>
                <a:spcPts val="0"/>
              </a:spcAft>
              <a:buNone/>
            </a:pPr>
            <a:r>
              <a:t/>
            </a:r>
            <a:endParaRPr/>
          </a:p>
        </p:txBody>
      </p:sp>
      <p:pic>
        <p:nvPicPr>
          <p:cNvPr id="663" name="Google Shape;663;g283038813be_0_388"/>
          <p:cNvPicPr preferRelativeResize="0"/>
          <p:nvPr/>
        </p:nvPicPr>
        <p:blipFill>
          <a:blip r:embed="rId3">
            <a:alphaModFix/>
          </a:blip>
          <a:stretch>
            <a:fillRect/>
          </a:stretch>
        </p:blipFill>
        <p:spPr>
          <a:xfrm>
            <a:off x="6491750" y="1152475"/>
            <a:ext cx="2340550" cy="3255250"/>
          </a:xfrm>
          <a:prstGeom prst="rect">
            <a:avLst/>
          </a:prstGeom>
          <a:noFill/>
          <a:ln>
            <a:noFill/>
          </a:ln>
        </p:spPr>
      </p:pic>
      <p:sp>
        <p:nvSpPr>
          <p:cNvPr id="664" name="Google Shape;664;g283038813be_0_38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g283038813be_0_394"/>
          <p:cNvSpPr txBox="1"/>
          <p:nvPr>
            <p:ph type="title"/>
          </p:nvPr>
        </p:nvSpPr>
        <p:spPr>
          <a:xfrm>
            <a:off x="311700" y="1402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9900"/>
                </a:solidFill>
              </a:rPr>
              <a:t>Recursion example: Factorial of a number</a:t>
            </a:r>
            <a:endParaRPr>
              <a:solidFill>
                <a:srgbClr val="FF9900"/>
              </a:solidFill>
            </a:endParaRPr>
          </a:p>
        </p:txBody>
      </p:sp>
      <p:sp>
        <p:nvSpPr>
          <p:cNvPr id="670" name="Google Shape;670;g283038813be_0_394"/>
          <p:cNvSpPr txBox="1"/>
          <p:nvPr>
            <p:ph idx="1" type="body"/>
          </p:nvPr>
        </p:nvSpPr>
        <p:spPr>
          <a:xfrm>
            <a:off x="311700" y="712925"/>
            <a:ext cx="3685200" cy="43605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770"/>
              <a:buFont typeface="Arial"/>
              <a:buNone/>
            </a:pPr>
            <a:r>
              <a:rPr lang="en" sz="1460"/>
              <a:t>#include&lt;iostream&gt;</a:t>
            </a:r>
            <a:endParaRPr sz="1460"/>
          </a:p>
          <a:p>
            <a:pPr indent="0" lvl="0" marL="0" rtl="0" algn="l">
              <a:lnSpc>
                <a:spcPct val="95000"/>
              </a:lnSpc>
              <a:spcBef>
                <a:spcPts val="0"/>
              </a:spcBef>
              <a:spcAft>
                <a:spcPts val="0"/>
              </a:spcAft>
              <a:buClr>
                <a:schemeClr val="dk1"/>
              </a:buClr>
              <a:buSzPts val="770"/>
              <a:buFont typeface="Arial"/>
              <a:buNone/>
            </a:pPr>
            <a:r>
              <a:rPr lang="en" sz="1460"/>
              <a:t>using namespace std;</a:t>
            </a:r>
            <a:endParaRPr sz="1460"/>
          </a:p>
          <a:p>
            <a:pPr indent="0" lvl="0" marL="0" rtl="0" algn="l">
              <a:lnSpc>
                <a:spcPct val="95000"/>
              </a:lnSpc>
              <a:spcBef>
                <a:spcPts val="0"/>
              </a:spcBef>
              <a:spcAft>
                <a:spcPts val="0"/>
              </a:spcAft>
              <a:buClr>
                <a:schemeClr val="dk1"/>
              </a:buClr>
              <a:buSzPts val="770"/>
              <a:buFont typeface="Arial"/>
              <a:buNone/>
            </a:pPr>
            <a:r>
              <a:t/>
            </a:r>
            <a:endParaRPr sz="1460"/>
          </a:p>
          <a:p>
            <a:pPr indent="0" lvl="0" marL="0" rtl="0" algn="l">
              <a:lnSpc>
                <a:spcPct val="95000"/>
              </a:lnSpc>
              <a:spcBef>
                <a:spcPts val="0"/>
              </a:spcBef>
              <a:spcAft>
                <a:spcPts val="0"/>
              </a:spcAft>
              <a:buClr>
                <a:schemeClr val="dk1"/>
              </a:buClr>
              <a:buSzPts val="770"/>
              <a:buFont typeface="Arial"/>
              <a:buNone/>
            </a:pPr>
            <a:r>
              <a:rPr lang="en" sz="1460"/>
              <a:t>int fact(int n){</a:t>
            </a:r>
            <a:endParaRPr sz="1460"/>
          </a:p>
          <a:p>
            <a:pPr indent="0" lvl="0" marL="0" rtl="0" algn="l">
              <a:lnSpc>
                <a:spcPct val="95000"/>
              </a:lnSpc>
              <a:spcBef>
                <a:spcPts val="0"/>
              </a:spcBef>
              <a:spcAft>
                <a:spcPts val="0"/>
              </a:spcAft>
              <a:buClr>
                <a:schemeClr val="dk1"/>
              </a:buClr>
              <a:buSzPts val="770"/>
              <a:buFont typeface="Arial"/>
              <a:buNone/>
            </a:pPr>
            <a:r>
              <a:rPr lang="en" sz="1460"/>
              <a:t>    ///cout&lt;&lt;n&lt;&lt;endl;</a:t>
            </a:r>
            <a:endParaRPr sz="1460"/>
          </a:p>
          <a:p>
            <a:pPr indent="0" lvl="0" marL="0" rtl="0" algn="l">
              <a:lnSpc>
                <a:spcPct val="95000"/>
              </a:lnSpc>
              <a:spcBef>
                <a:spcPts val="0"/>
              </a:spcBef>
              <a:spcAft>
                <a:spcPts val="0"/>
              </a:spcAft>
              <a:buClr>
                <a:schemeClr val="dk1"/>
              </a:buClr>
              <a:buSzPts val="770"/>
              <a:buFont typeface="Arial"/>
              <a:buNone/>
            </a:pPr>
            <a:r>
              <a:rPr lang="en" sz="1460"/>
              <a:t>    // Step1: Best Case</a:t>
            </a:r>
            <a:endParaRPr sz="1460"/>
          </a:p>
          <a:p>
            <a:pPr indent="0" lvl="0" marL="0" rtl="0" algn="l">
              <a:lnSpc>
                <a:spcPct val="95000"/>
              </a:lnSpc>
              <a:spcBef>
                <a:spcPts val="0"/>
              </a:spcBef>
              <a:spcAft>
                <a:spcPts val="0"/>
              </a:spcAft>
              <a:buClr>
                <a:schemeClr val="dk1"/>
              </a:buClr>
              <a:buSzPts val="770"/>
              <a:buFont typeface="Arial"/>
              <a:buNone/>
            </a:pPr>
            <a:r>
              <a:rPr lang="en" sz="1460"/>
              <a:t>   </a:t>
            </a:r>
            <a:r>
              <a:rPr b="1" lang="en" sz="1460"/>
              <a:t> if(n &lt; 0) return -1;</a:t>
            </a:r>
            <a:endParaRPr b="1" sz="1460"/>
          </a:p>
          <a:p>
            <a:pPr indent="0" lvl="0" marL="0" rtl="0" algn="l">
              <a:lnSpc>
                <a:spcPct val="95000"/>
              </a:lnSpc>
              <a:spcBef>
                <a:spcPts val="0"/>
              </a:spcBef>
              <a:spcAft>
                <a:spcPts val="0"/>
              </a:spcAft>
              <a:buClr>
                <a:schemeClr val="dk1"/>
              </a:buClr>
              <a:buSzPts val="770"/>
              <a:buFont typeface="Arial"/>
              <a:buNone/>
            </a:pPr>
            <a:r>
              <a:rPr b="1" lang="en" sz="1460"/>
              <a:t>    if(n==0) return 1;</a:t>
            </a:r>
            <a:endParaRPr b="1" sz="1460"/>
          </a:p>
          <a:p>
            <a:pPr indent="0" lvl="0" marL="0" rtl="0" algn="l">
              <a:lnSpc>
                <a:spcPct val="95000"/>
              </a:lnSpc>
              <a:spcBef>
                <a:spcPts val="0"/>
              </a:spcBef>
              <a:spcAft>
                <a:spcPts val="0"/>
              </a:spcAft>
              <a:buClr>
                <a:schemeClr val="dk1"/>
              </a:buClr>
              <a:buSzPts val="770"/>
              <a:buFont typeface="Arial"/>
              <a:buNone/>
            </a:pPr>
            <a:r>
              <a:rPr lang="en" sz="1460"/>
              <a:t>// Step 2: Assumption </a:t>
            </a:r>
            <a:endParaRPr sz="1460"/>
          </a:p>
          <a:p>
            <a:pPr indent="0" lvl="0" marL="0" rtl="0" algn="l">
              <a:lnSpc>
                <a:spcPct val="95000"/>
              </a:lnSpc>
              <a:spcBef>
                <a:spcPts val="0"/>
              </a:spcBef>
              <a:spcAft>
                <a:spcPts val="0"/>
              </a:spcAft>
              <a:buSzPts val="770"/>
              <a:buNone/>
            </a:pPr>
            <a:r>
              <a:rPr lang="en" sz="1460"/>
              <a:t>     int smallerAnswer = fact(n-1);</a:t>
            </a:r>
            <a:endParaRPr sz="1460"/>
          </a:p>
          <a:p>
            <a:pPr indent="0" lvl="0" marL="0" rtl="0" algn="l">
              <a:lnSpc>
                <a:spcPct val="95000"/>
              </a:lnSpc>
              <a:spcBef>
                <a:spcPts val="0"/>
              </a:spcBef>
              <a:spcAft>
                <a:spcPts val="0"/>
              </a:spcAft>
              <a:buClr>
                <a:schemeClr val="dk1"/>
              </a:buClr>
              <a:buSzPts val="770"/>
              <a:buFont typeface="Arial"/>
              <a:buNone/>
            </a:pPr>
            <a:r>
              <a:rPr lang="en" sz="1460"/>
              <a:t>       // Step 3: Calculation</a:t>
            </a:r>
            <a:endParaRPr sz="1460"/>
          </a:p>
          <a:p>
            <a:pPr indent="0" lvl="0" marL="0" rtl="0" algn="l">
              <a:lnSpc>
                <a:spcPct val="95000"/>
              </a:lnSpc>
              <a:spcBef>
                <a:spcPts val="0"/>
              </a:spcBef>
              <a:spcAft>
                <a:spcPts val="0"/>
              </a:spcAft>
              <a:buClr>
                <a:schemeClr val="dk1"/>
              </a:buClr>
              <a:buSzPts val="770"/>
              <a:buFont typeface="Arial"/>
              <a:buNone/>
            </a:pPr>
            <a:r>
              <a:rPr lang="en" sz="1460"/>
              <a:t>     return n*smallerAnswer ;</a:t>
            </a:r>
            <a:endParaRPr sz="1460"/>
          </a:p>
          <a:p>
            <a:pPr indent="0" lvl="0" marL="0" rtl="0" algn="l">
              <a:lnSpc>
                <a:spcPct val="95000"/>
              </a:lnSpc>
              <a:spcBef>
                <a:spcPts val="0"/>
              </a:spcBef>
              <a:spcAft>
                <a:spcPts val="0"/>
              </a:spcAft>
              <a:buClr>
                <a:schemeClr val="dk1"/>
              </a:buClr>
              <a:buSzPts val="770"/>
              <a:buFont typeface="Arial"/>
              <a:buNone/>
            </a:pPr>
            <a:r>
              <a:rPr lang="en" sz="1460"/>
              <a:t>}</a:t>
            </a:r>
            <a:endParaRPr sz="1460"/>
          </a:p>
          <a:p>
            <a:pPr indent="0" lvl="0" marL="0" rtl="0" algn="l">
              <a:lnSpc>
                <a:spcPct val="95000"/>
              </a:lnSpc>
              <a:spcBef>
                <a:spcPts val="0"/>
              </a:spcBef>
              <a:spcAft>
                <a:spcPts val="0"/>
              </a:spcAft>
              <a:buClr>
                <a:schemeClr val="dk1"/>
              </a:buClr>
              <a:buSzPts val="770"/>
              <a:buFont typeface="Arial"/>
              <a:buNone/>
            </a:pPr>
            <a:r>
              <a:t/>
            </a:r>
            <a:endParaRPr sz="1460"/>
          </a:p>
          <a:p>
            <a:pPr indent="0" lvl="0" marL="0" rtl="0" algn="l">
              <a:lnSpc>
                <a:spcPct val="95000"/>
              </a:lnSpc>
              <a:spcBef>
                <a:spcPts val="0"/>
              </a:spcBef>
              <a:spcAft>
                <a:spcPts val="0"/>
              </a:spcAft>
              <a:buClr>
                <a:schemeClr val="dk1"/>
              </a:buClr>
              <a:buSzPts val="770"/>
              <a:buFont typeface="Arial"/>
              <a:buNone/>
            </a:pPr>
            <a:r>
              <a:rPr lang="en" sz="1460"/>
              <a:t>int main(){</a:t>
            </a:r>
            <a:endParaRPr sz="1460"/>
          </a:p>
          <a:p>
            <a:pPr indent="0" lvl="0" marL="0" rtl="0" algn="l">
              <a:lnSpc>
                <a:spcPct val="95000"/>
              </a:lnSpc>
              <a:spcBef>
                <a:spcPts val="0"/>
              </a:spcBef>
              <a:spcAft>
                <a:spcPts val="0"/>
              </a:spcAft>
              <a:buClr>
                <a:schemeClr val="dk1"/>
              </a:buClr>
              <a:buSzPts val="770"/>
              <a:buFont typeface="Arial"/>
              <a:buNone/>
            </a:pPr>
            <a:r>
              <a:rPr lang="en" sz="1460"/>
              <a:t>   int n=5;</a:t>
            </a:r>
            <a:endParaRPr sz="1460"/>
          </a:p>
          <a:p>
            <a:pPr indent="0" lvl="0" marL="0" rtl="0" algn="l">
              <a:lnSpc>
                <a:spcPct val="95000"/>
              </a:lnSpc>
              <a:spcBef>
                <a:spcPts val="0"/>
              </a:spcBef>
              <a:spcAft>
                <a:spcPts val="0"/>
              </a:spcAft>
              <a:buClr>
                <a:schemeClr val="dk1"/>
              </a:buClr>
              <a:buSzPts val="770"/>
              <a:buFont typeface="Arial"/>
              <a:buNone/>
            </a:pPr>
            <a:r>
              <a:t/>
            </a:r>
            <a:endParaRPr sz="1460"/>
          </a:p>
          <a:p>
            <a:pPr indent="0" lvl="0" marL="0" rtl="0" algn="l">
              <a:lnSpc>
                <a:spcPct val="95000"/>
              </a:lnSpc>
              <a:spcBef>
                <a:spcPts val="0"/>
              </a:spcBef>
              <a:spcAft>
                <a:spcPts val="0"/>
              </a:spcAft>
              <a:buClr>
                <a:schemeClr val="dk1"/>
              </a:buClr>
              <a:buSzPts val="770"/>
              <a:buFont typeface="Arial"/>
              <a:buNone/>
            </a:pPr>
            <a:r>
              <a:rPr lang="en" sz="1460"/>
              <a:t>     int answer = fact(n);</a:t>
            </a:r>
            <a:endParaRPr sz="1460"/>
          </a:p>
          <a:p>
            <a:pPr indent="0" lvl="0" marL="0" rtl="0" algn="l">
              <a:lnSpc>
                <a:spcPct val="95000"/>
              </a:lnSpc>
              <a:spcBef>
                <a:spcPts val="0"/>
              </a:spcBef>
              <a:spcAft>
                <a:spcPts val="0"/>
              </a:spcAft>
              <a:buClr>
                <a:schemeClr val="dk1"/>
              </a:buClr>
              <a:buSzPts val="770"/>
              <a:buFont typeface="Arial"/>
              <a:buNone/>
            </a:pPr>
            <a:r>
              <a:rPr lang="en" sz="1460"/>
              <a:t>     cout&lt;&lt;answer &lt;&lt;endl;</a:t>
            </a:r>
            <a:endParaRPr sz="1460"/>
          </a:p>
          <a:p>
            <a:pPr indent="0" lvl="0" marL="0" rtl="0" algn="l">
              <a:lnSpc>
                <a:spcPct val="95000"/>
              </a:lnSpc>
              <a:spcBef>
                <a:spcPts val="0"/>
              </a:spcBef>
              <a:spcAft>
                <a:spcPts val="0"/>
              </a:spcAft>
              <a:buClr>
                <a:schemeClr val="dk1"/>
              </a:buClr>
              <a:buSzPts val="770"/>
              <a:buFont typeface="Arial"/>
              <a:buNone/>
            </a:pPr>
            <a:r>
              <a:rPr lang="en" sz="1460"/>
              <a:t>    return 0;</a:t>
            </a:r>
            <a:endParaRPr sz="1460"/>
          </a:p>
          <a:p>
            <a:pPr indent="0" lvl="0" marL="0" rtl="0" algn="l">
              <a:lnSpc>
                <a:spcPct val="95000"/>
              </a:lnSpc>
              <a:spcBef>
                <a:spcPts val="0"/>
              </a:spcBef>
              <a:spcAft>
                <a:spcPts val="0"/>
              </a:spcAft>
              <a:buClr>
                <a:schemeClr val="dk1"/>
              </a:buClr>
              <a:buSzPts val="770"/>
              <a:buFont typeface="Arial"/>
              <a:buNone/>
            </a:pPr>
            <a:r>
              <a:rPr lang="en" sz="1460"/>
              <a:t>}</a:t>
            </a:r>
            <a:endParaRPr sz="1460"/>
          </a:p>
          <a:p>
            <a:pPr indent="0" lvl="0" marL="0" rtl="0" algn="l">
              <a:lnSpc>
                <a:spcPct val="95000"/>
              </a:lnSpc>
              <a:spcBef>
                <a:spcPts val="0"/>
              </a:spcBef>
              <a:spcAft>
                <a:spcPts val="0"/>
              </a:spcAft>
              <a:buSzPts val="770"/>
              <a:buNone/>
            </a:pPr>
            <a:r>
              <a:t/>
            </a:r>
            <a:endParaRPr sz="1460"/>
          </a:p>
        </p:txBody>
      </p:sp>
      <p:sp>
        <p:nvSpPr>
          <p:cNvPr id="671" name="Google Shape;671;g283038813be_0_394"/>
          <p:cNvSpPr txBox="1"/>
          <p:nvPr/>
        </p:nvSpPr>
        <p:spPr>
          <a:xfrm>
            <a:off x="4491900" y="885525"/>
            <a:ext cx="3998100" cy="338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300">
                <a:solidFill>
                  <a:schemeClr val="dk2"/>
                </a:solidFill>
                <a:highlight>
                  <a:srgbClr val="C9DAF8"/>
                </a:highlight>
              </a:rPr>
              <a:t>Note: </a:t>
            </a:r>
            <a:r>
              <a:rPr lang="en" sz="2300">
                <a:solidFill>
                  <a:schemeClr val="dk2"/>
                </a:solidFill>
                <a:highlight>
                  <a:srgbClr val="C9DAF8"/>
                </a:highlight>
              </a:rPr>
              <a:t>The two lines in bold are added to avoid the segmentation fault which occurs when memory is exhausted(Lack of memory) due to infinite calls:</a:t>
            </a:r>
            <a:endParaRPr sz="2300">
              <a:solidFill>
                <a:schemeClr val="dk2"/>
              </a:solidFill>
              <a:highlight>
                <a:srgbClr val="C9DAF8"/>
              </a:highlight>
            </a:endParaRPr>
          </a:p>
          <a:p>
            <a:pPr indent="0" lvl="0" marL="0" rtl="0" algn="l">
              <a:lnSpc>
                <a:spcPct val="115000"/>
              </a:lnSpc>
              <a:spcBef>
                <a:spcPts val="0"/>
              </a:spcBef>
              <a:spcAft>
                <a:spcPts val="0"/>
              </a:spcAft>
              <a:buNone/>
            </a:pPr>
            <a:r>
              <a:rPr lang="en" sz="2300">
                <a:solidFill>
                  <a:schemeClr val="dk2"/>
                </a:solidFill>
                <a:highlight>
                  <a:srgbClr val="C9DAF8"/>
                </a:highlight>
              </a:rPr>
              <a:t>    if(n &lt; 0) return -1;</a:t>
            </a:r>
            <a:endParaRPr sz="2300">
              <a:solidFill>
                <a:schemeClr val="dk2"/>
              </a:solidFill>
              <a:highlight>
                <a:srgbClr val="C9DAF8"/>
              </a:highlight>
            </a:endParaRPr>
          </a:p>
          <a:p>
            <a:pPr indent="0" lvl="0" marL="0" rtl="0" algn="l">
              <a:lnSpc>
                <a:spcPct val="115000"/>
              </a:lnSpc>
              <a:spcBef>
                <a:spcPts val="0"/>
              </a:spcBef>
              <a:spcAft>
                <a:spcPts val="0"/>
              </a:spcAft>
              <a:buNone/>
            </a:pPr>
            <a:r>
              <a:rPr lang="en" sz="2300">
                <a:solidFill>
                  <a:schemeClr val="dk2"/>
                </a:solidFill>
                <a:highlight>
                  <a:srgbClr val="C9DAF8"/>
                </a:highlight>
              </a:rPr>
              <a:t>    if(n==0) return 1;</a:t>
            </a:r>
            <a:endParaRPr sz="1900">
              <a:highlight>
                <a:srgbClr val="C9DAF8"/>
              </a:highlight>
            </a:endParaRPr>
          </a:p>
        </p:txBody>
      </p:sp>
      <p:sp>
        <p:nvSpPr>
          <p:cNvPr id="672" name="Google Shape;672;g283038813be_0_39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g283038813be_0_400"/>
          <p:cNvSpPr txBox="1"/>
          <p:nvPr>
            <p:ph type="title"/>
          </p:nvPr>
        </p:nvSpPr>
        <p:spPr>
          <a:xfrm>
            <a:off x="311700" y="64025"/>
            <a:ext cx="3673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820">
                <a:solidFill>
                  <a:srgbClr val="FF9900"/>
                </a:solidFill>
              </a:rPr>
              <a:t>Fibonacci number at n position</a:t>
            </a:r>
            <a:endParaRPr b="1" sz="1820">
              <a:solidFill>
                <a:srgbClr val="FF9900"/>
              </a:solidFill>
            </a:endParaRPr>
          </a:p>
        </p:txBody>
      </p:sp>
      <p:sp>
        <p:nvSpPr>
          <p:cNvPr id="678" name="Google Shape;678;g283038813be_0_400"/>
          <p:cNvSpPr txBox="1"/>
          <p:nvPr>
            <p:ph idx="1" type="body"/>
          </p:nvPr>
        </p:nvSpPr>
        <p:spPr>
          <a:xfrm>
            <a:off x="508750" y="618750"/>
            <a:ext cx="3803100" cy="432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202124"/>
                </a:solidFill>
                <a:highlight>
                  <a:srgbClr val="FFFFFF"/>
                </a:highlight>
              </a:rPr>
              <a:t>Each number is equal to the sum of the preceding two numbers</a:t>
            </a:r>
            <a:r>
              <a:rPr lang="en" sz="2000">
                <a:solidFill>
                  <a:srgbClr val="202124"/>
                </a:solidFill>
                <a:highlight>
                  <a:srgbClr val="FFFFFF"/>
                </a:highlight>
              </a:rPr>
              <a:t>. The Fibonacci sequence begins with the following 14 integers: 0, 1, 1, 2, 3, 5, 8, 13, 21, 34, </a:t>
            </a:r>
            <a:r>
              <a:rPr b="1" lang="en" sz="2000">
                <a:solidFill>
                  <a:srgbClr val="202124"/>
                </a:solidFill>
                <a:highlight>
                  <a:srgbClr val="FFFFFF"/>
                </a:highlight>
              </a:rPr>
              <a:t>55,</a:t>
            </a:r>
            <a:r>
              <a:rPr lang="en" sz="2000">
                <a:solidFill>
                  <a:srgbClr val="202124"/>
                </a:solidFill>
                <a:highlight>
                  <a:srgbClr val="FFFFFF"/>
                </a:highlight>
              </a:rPr>
              <a:t> 89, 144, 233.</a:t>
            </a:r>
            <a:endParaRPr sz="2000">
              <a:solidFill>
                <a:srgbClr val="202124"/>
              </a:solidFill>
              <a:highlight>
                <a:srgbClr val="FFFFFF"/>
              </a:highlight>
            </a:endParaRPr>
          </a:p>
          <a:p>
            <a:pPr indent="0" lvl="0" marL="0" rtl="0" algn="l">
              <a:spcBef>
                <a:spcPts val="0"/>
              </a:spcBef>
              <a:spcAft>
                <a:spcPts val="0"/>
              </a:spcAft>
              <a:buNone/>
            </a:pPr>
            <a:r>
              <a:rPr lang="en" sz="2000">
                <a:solidFill>
                  <a:srgbClr val="202124"/>
                </a:solidFill>
                <a:highlight>
                  <a:srgbClr val="FFFFFF"/>
                </a:highlight>
              </a:rPr>
              <a:t>Ex: f(10)=f(9)+f(8)=55</a:t>
            </a:r>
            <a:endParaRPr sz="2000">
              <a:solidFill>
                <a:srgbClr val="202124"/>
              </a:solidFill>
              <a:highlight>
                <a:srgbClr val="FFFFFF"/>
              </a:highlight>
            </a:endParaRPr>
          </a:p>
          <a:p>
            <a:pPr indent="0" lvl="0" marL="0" rtl="0" algn="l">
              <a:spcBef>
                <a:spcPts val="0"/>
              </a:spcBef>
              <a:spcAft>
                <a:spcPts val="0"/>
              </a:spcAft>
              <a:buNone/>
            </a:pPr>
            <a:r>
              <a:rPr lang="en" sz="2000">
                <a:solidFill>
                  <a:srgbClr val="202124"/>
                </a:solidFill>
                <a:highlight>
                  <a:srgbClr val="FFFFFF"/>
                </a:highlight>
              </a:rPr>
              <a:t>f(n)=f(n-1)+f(n-2) which is a recursion as the big problem is solved with solution of the small problems.</a:t>
            </a:r>
            <a:endParaRPr sz="2000">
              <a:solidFill>
                <a:srgbClr val="202124"/>
              </a:solidFill>
              <a:highlight>
                <a:srgbClr val="FFFFFF"/>
              </a:highlight>
            </a:endParaRPr>
          </a:p>
        </p:txBody>
      </p:sp>
      <p:sp>
        <p:nvSpPr>
          <p:cNvPr id="679" name="Google Shape;679;g283038813be_0_400"/>
          <p:cNvSpPr txBox="1"/>
          <p:nvPr/>
        </p:nvSpPr>
        <p:spPr>
          <a:xfrm>
            <a:off x="4469825" y="64025"/>
            <a:ext cx="4504800" cy="51411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rPr>
              <a:t>#</a:t>
            </a:r>
            <a:r>
              <a:rPr lang="en">
                <a:solidFill>
                  <a:schemeClr val="dk1"/>
                </a:solidFill>
              </a:rPr>
              <a:t>include&lt;bits/stdc++.h&gt;</a:t>
            </a:r>
            <a:endParaRPr>
              <a:solidFill>
                <a:schemeClr val="dk1"/>
              </a:solidFill>
            </a:endParaRPr>
          </a:p>
          <a:p>
            <a:pPr indent="0" lvl="0" marL="0" rtl="0" algn="l">
              <a:spcBef>
                <a:spcPts val="0"/>
              </a:spcBef>
              <a:spcAft>
                <a:spcPts val="0"/>
              </a:spcAft>
              <a:buNone/>
            </a:pPr>
            <a:r>
              <a:rPr lang="en">
                <a:solidFill>
                  <a:schemeClr val="dk1"/>
                </a:solidFill>
              </a:rPr>
              <a:t>using namespace std;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int fib(int n){</a:t>
            </a:r>
            <a:endParaRPr>
              <a:solidFill>
                <a:schemeClr val="dk1"/>
              </a:solidFill>
            </a:endParaRPr>
          </a:p>
          <a:p>
            <a:pPr indent="0" lvl="0" marL="0" rtl="0" algn="l">
              <a:spcBef>
                <a:spcPts val="0"/>
              </a:spcBef>
              <a:spcAft>
                <a:spcPts val="0"/>
              </a:spcAft>
              <a:buNone/>
            </a:pPr>
            <a:r>
              <a:rPr lang="en">
                <a:solidFill>
                  <a:schemeClr val="dk1"/>
                </a:solidFill>
              </a:rPr>
              <a:t>   /// Base case</a:t>
            </a:r>
            <a:endParaRPr>
              <a:solidFill>
                <a:schemeClr val="dk1"/>
              </a:solidFill>
            </a:endParaRPr>
          </a:p>
          <a:p>
            <a:pPr indent="0" lvl="0" marL="0" rtl="0" algn="l">
              <a:spcBef>
                <a:spcPts val="0"/>
              </a:spcBef>
              <a:spcAft>
                <a:spcPts val="0"/>
              </a:spcAft>
              <a:buNone/>
            </a:pPr>
            <a:r>
              <a:rPr lang="en">
                <a:solidFill>
                  <a:schemeClr val="dk1"/>
                </a:solidFill>
              </a:rPr>
              <a:t>   if(n==0){</a:t>
            </a:r>
            <a:endParaRPr>
              <a:solidFill>
                <a:schemeClr val="dk1"/>
              </a:solidFill>
            </a:endParaRPr>
          </a:p>
          <a:p>
            <a:pPr indent="0" lvl="0" marL="0" rtl="0" algn="l">
              <a:spcBef>
                <a:spcPts val="0"/>
              </a:spcBef>
              <a:spcAft>
                <a:spcPts val="0"/>
              </a:spcAft>
              <a:buNone/>
            </a:pPr>
            <a:r>
              <a:rPr lang="en">
                <a:solidFill>
                  <a:schemeClr val="dk1"/>
                </a:solidFill>
              </a:rPr>
              <a:t>    return 0;</a:t>
            </a:r>
            <a:endParaRPr>
              <a:solidFill>
                <a:schemeClr val="dk1"/>
              </a:solidFill>
            </a:endParaRPr>
          </a:p>
          <a:p>
            <a:pPr indent="0" lvl="0" marL="0" rtl="0" algn="l">
              <a:spcBef>
                <a:spcPts val="0"/>
              </a:spcBef>
              <a:spcAft>
                <a:spcPts val="0"/>
              </a:spcAft>
              <a:buNone/>
            </a:pP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   if(n==1){</a:t>
            </a:r>
            <a:endParaRPr>
              <a:solidFill>
                <a:schemeClr val="dk1"/>
              </a:solidFill>
            </a:endParaRPr>
          </a:p>
          <a:p>
            <a:pPr indent="0" lvl="0" marL="0" rtl="0" algn="l">
              <a:spcBef>
                <a:spcPts val="0"/>
              </a:spcBef>
              <a:spcAft>
                <a:spcPts val="0"/>
              </a:spcAft>
              <a:buNone/>
            </a:pPr>
            <a:r>
              <a:rPr lang="en">
                <a:solidFill>
                  <a:schemeClr val="dk1"/>
                </a:solidFill>
              </a:rPr>
              <a:t>    return 1;</a:t>
            </a:r>
            <a:endParaRPr>
              <a:solidFill>
                <a:schemeClr val="dk1"/>
              </a:solidFill>
            </a:endParaRPr>
          </a:p>
          <a:p>
            <a:pPr indent="0" lvl="0" marL="0" rtl="0" algn="l">
              <a:spcBef>
                <a:spcPts val="0"/>
              </a:spcBef>
              <a:spcAft>
                <a:spcPts val="0"/>
              </a:spcAft>
              <a:buNone/>
            </a:pP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  </a:t>
            </a:r>
            <a:r>
              <a:rPr b="1" lang="en">
                <a:solidFill>
                  <a:schemeClr val="dk1"/>
                </a:solidFill>
              </a:rPr>
              <a:t> // Recursive case</a:t>
            </a:r>
            <a:endParaRPr b="1">
              <a:solidFill>
                <a:schemeClr val="dk1"/>
              </a:solidFill>
            </a:endParaRPr>
          </a:p>
          <a:p>
            <a:pPr indent="0" lvl="0" marL="0" rtl="0" algn="l">
              <a:spcBef>
                <a:spcPts val="0"/>
              </a:spcBef>
              <a:spcAft>
                <a:spcPts val="0"/>
              </a:spcAft>
              <a:buNone/>
            </a:pPr>
            <a:r>
              <a:rPr lang="en">
                <a:solidFill>
                  <a:schemeClr val="dk1"/>
                </a:solidFill>
              </a:rPr>
              <a:t>   int smallOutput1 = fib(n-1);</a:t>
            </a:r>
            <a:endParaRPr>
              <a:solidFill>
                <a:schemeClr val="dk1"/>
              </a:solidFill>
            </a:endParaRPr>
          </a:p>
          <a:p>
            <a:pPr indent="0" lvl="0" marL="0" rtl="0" algn="l">
              <a:spcBef>
                <a:spcPts val="0"/>
              </a:spcBef>
              <a:spcAft>
                <a:spcPts val="0"/>
              </a:spcAft>
              <a:buNone/>
            </a:pPr>
            <a:r>
              <a:rPr lang="en">
                <a:solidFill>
                  <a:schemeClr val="dk1"/>
                </a:solidFill>
              </a:rPr>
              <a:t>   int smallOutput2 = fib(n-2);</a:t>
            </a:r>
            <a:endParaRPr>
              <a:solidFill>
                <a:schemeClr val="dk1"/>
              </a:solidFill>
            </a:endParaRPr>
          </a:p>
          <a:p>
            <a:pPr indent="0" lvl="0" marL="0" rtl="0" algn="l">
              <a:spcBef>
                <a:spcPts val="0"/>
              </a:spcBef>
              <a:spcAft>
                <a:spcPts val="0"/>
              </a:spcAft>
              <a:buNone/>
            </a:pPr>
            <a:r>
              <a:rPr lang="en">
                <a:solidFill>
                  <a:schemeClr val="dk1"/>
                </a:solidFill>
              </a:rPr>
              <a:t>  </a:t>
            </a:r>
            <a:r>
              <a:rPr b="1" lang="en">
                <a:solidFill>
                  <a:schemeClr val="dk1"/>
                </a:solidFill>
              </a:rPr>
              <a:t> /// calculation</a:t>
            </a:r>
            <a:endParaRPr b="1">
              <a:solidFill>
                <a:schemeClr val="dk1"/>
              </a:solidFill>
            </a:endParaRPr>
          </a:p>
          <a:p>
            <a:pPr indent="0" lvl="0" marL="0" rtl="0" algn="l">
              <a:spcBef>
                <a:spcPts val="0"/>
              </a:spcBef>
              <a:spcAft>
                <a:spcPts val="0"/>
              </a:spcAft>
              <a:buNone/>
            </a:pPr>
            <a:r>
              <a:rPr lang="en">
                <a:solidFill>
                  <a:schemeClr val="dk1"/>
                </a:solidFill>
              </a:rPr>
              <a:t>   return smallOutput1 + smallOutput2;</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int main(){</a:t>
            </a:r>
            <a:endParaRPr>
              <a:solidFill>
                <a:schemeClr val="dk1"/>
              </a:solidFill>
            </a:endParaRPr>
          </a:p>
          <a:p>
            <a:pPr indent="0" lvl="0" marL="0" rtl="0" algn="l">
              <a:spcBef>
                <a:spcPts val="0"/>
              </a:spcBef>
              <a:spcAft>
                <a:spcPts val="0"/>
              </a:spcAft>
              <a:buNone/>
            </a:pPr>
            <a:r>
              <a:rPr lang="en">
                <a:solidFill>
                  <a:schemeClr val="dk1"/>
                </a:solidFill>
              </a:rPr>
              <a:t>    cout&lt;&lt;fib(3);</a:t>
            </a:r>
            <a:endParaRPr>
              <a:solidFill>
                <a:schemeClr val="dk1"/>
              </a:solidFill>
            </a:endParaRPr>
          </a:p>
          <a:p>
            <a:pPr indent="0" lvl="0" marL="0" rtl="0" algn="l">
              <a:spcBef>
                <a:spcPts val="0"/>
              </a:spcBef>
              <a:spcAft>
                <a:spcPts val="0"/>
              </a:spcAft>
              <a:buNone/>
            </a:pPr>
            <a:r>
              <a:rPr lang="en">
                <a:solidFill>
                  <a:schemeClr val="dk1"/>
                </a:solidFill>
              </a:rPr>
              <a:t>    return 0;</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680" name="Google Shape;680;g283038813be_0_40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g283038813be_0_406"/>
          <p:cNvSpPr txBox="1"/>
          <p:nvPr>
            <p:ph type="title"/>
          </p:nvPr>
        </p:nvSpPr>
        <p:spPr>
          <a:xfrm>
            <a:off x="75225" y="140225"/>
            <a:ext cx="4381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9900"/>
                </a:solidFill>
              </a:rPr>
              <a:t>Power of a number</a:t>
            </a:r>
            <a:endParaRPr>
              <a:solidFill>
                <a:srgbClr val="FF9900"/>
              </a:solidFill>
            </a:endParaRPr>
          </a:p>
        </p:txBody>
      </p:sp>
      <p:sp>
        <p:nvSpPr>
          <p:cNvPr id="686" name="Google Shape;686;g283038813be_0_406"/>
          <p:cNvSpPr txBox="1"/>
          <p:nvPr>
            <p:ph idx="1" type="body"/>
          </p:nvPr>
        </p:nvSpPr>
        <p:spPr>
          <a:xfrm>
            <a:off x="311700" y="712925"/>
            <a:ext cx="3909900" cy="385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To calculate the x to the power of n; we can use the recursive case, x</a:t>
            </a:r>
            <a:r>
              <a:rPr baseline="30000" lang="en"/>
              <a:t>n</a:t>
            </a:r>
            <a:r>
              <a:rPr lang="en"/>
              <a:t>=x*x</a:t>
            </a:r>
            <a:r>
              <a:rPr baseline="30000" lang="en"/>
              <a:t>n-1</a:t>
            </a:r>
            <a:endParaRPr baseline="30000"/>
          </a:p>
          <a:p>
            <a:pPr indent="0" lvl="0" marL="0" rtl="0" algn="l">
              <a:spcBef>
                <a:spcPts val="0"/>
              </a:spcBef>
              <a:spcAft>
                <a:spcPts val="0"/>
              </a:spcAft>
              <a:buNone/>
            </a:pPr>
            <a:r>
              <a:rPr lang="en"/>
              <a:t>Base case</a:t>
            </a:r>
            <a:endParaRPr/>
          </a:p>
          <a:p>
            <a:pPr indent="0" lvl="0" marL="0" rtl="0" algn="l">
              <a:spcBef>
                <a:spcPts val="0"/>
              </a:spcBef>
              <a:spcAft>
                <a:spcPts val="0"/>
              </a:spcAft>
              <a:buNone/>
            </a:pPr>
            <a:r>
              <a:rPr lang="en"/>
              <a:t>If n=0,  x</a:t>
            </a:r>
            <a:r>
              <a:rPr baseline="30000" lang="en"/>
              <a:t>0</a:t>
            </a:r>
            <a:r>
              <a:rPr lang="en"/>
              <a:t>=1 </a:t>
            </a:r>
            <a:endParaRPr/>
          </a:p>
        </p:txBody>
      </p:sp>
      <p:sp>
        <p:nvSpPr>
          <p:cNvPr id="687" name="Google Shape;687;g283038813be_0_406"/>
          <p:cNvSpPr txBox="1"/>
          <p:nvPr/>
        </p:nvSpPr>
        <p:spPr>
          <a:xfrm>
            <a:off x="5482450" y="368825"/>
            <a:ext cx="3000000" cy="44946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#include&lt;bits/stdc++.h&gt;</a:t>
            </a:r>
            <a:endParaRPr/>
          </a:p>
          <a:p>
            <a:pPr indent="0" lvl="0" marL="0" rtl="0" algn="l">
              <a:spcBef>
                <a:spcPts val="0"/>
              </a:spcBef>
              <a:spcAft>
                <a:spcPts val="0"/>
              </a:spcAft>
              <a:buNone/>
            </a:pPr>
            <a:r>
              <a:rPr lang="en"/>
              <a:t>using namespace std;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 power(int x,int n){</a:t>
            </a:r>
            <a:endParaRPr/>
          </a:p>
          <a:p>
            <a:pPr indent="0" lvl="0" marL="0" rtl="0" algn="l">
              <a:spcBef>
                <a:spcPts val="0"/>
              </a:spcBef>
              <a:spcAft>
                <a:spcPts val="0"/>
              </a:spcAft>
              <a:buNone/>
            </a:pPr>
            <a:r>
              <a:rPr lang="en"/>
              <a:t>  ///Base Case</a:t>
            </a:r>
            <a:endParaRPr/>
          </a:p>
          <a:p>
            <a:pPr indent="0" lvl="0" marL="0" rtl="0" algn="l">
              <a:spcBef>
                <a:spcPts val="0"/>
              </a:spcBef>
              <a:spcAft>
                <a:spcPts val="0"/>
              </a:spcAft>
              <a:buNone/>
            </a:pPr>
            <a:r>
              <a:rPr lang="en"/>
              <a:t>  if(n==0){</a:t>
            </a:r>
            <a:endParaRPr/>
          </a:p>
          <a:p>
            <a:pPr indent="0" lvl="0" marL="0" rtl="0" algn="l">
              <a:spcBef>
                <a:spcPts val="0"/>
              </a:spcBef>
              <a:spcAft>
                <a:spcPts val="0"/>
              </a:spcAft>
              <a:buNone/>
            </a:pPr>
            <a:r>
              <a:rPr lang="en"/>
              <a:t>    return 1;</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///Recursive</a:t>
            </a:r>
            <a:endParaRPr/>
          </a:p>
          <a:p>
            <a:pPr indent="0" lvl="0" marL="0" rtl="0" algn="l">
              <a:spcBef>
                <a:spcPts val="0"/>
              </a:spcBef>
              <a:spcAft>
                <a:spcPts val="0"/>
              </a:spcAft>
              <a:buNone/>
            </a:pPr>
            <a:r>
              <a:rPr lang="en"/>
              <a:t>  int smallOutput = power(x,n-1);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 Calculation</a:t>
            </a:r>
            <a:endParaRPr/>
          </a:p>
          <a:p>
            <a:pPr indent="0" lvl="0" marL="0" rtl="0" algn="l">
              <a:spcBef>
                <a:spcPts val="0"/>
              </a:spcBef>
              <a:spcAft>
                <a:spcPts val="0"/>
              </a:spcAft>
              <a:buNone/>
            </a:pPr>
            <a:r>
              <a:rPr lang="en"/>
              <a:t>  return x*smallOutput;</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 main(){</a:t>
            </a:r>
            <a:endParaRPr/>
          </a:p>
          <a:p>
            <a:pPr indent="0" lvl="0" marL="0" rtl="0" algn="l">
              <a:spcBef>
                <a:spcPts val="0"/>
              </a:spcBef>
              <a:spcAft>
                <a:spcPts val="0"/>
              </a:spcAft>
              <a:buNone/>
            </a:pPr>
            <a:r>
              <a:rPr lang="en"/>
              <a:t>     cout&lt;&lt;power(5,3);</a:t>
            </a:r>
            <a:endParaRPr/>
          </a:p>
          <a:p>
            <a:pPr indent="0" lvl="0" marL="0" rtl="0" algn="l">
              <a:spcBef>
                <a:spcPts val="0"/>
              </a:spcBef>
              <a:spcAft>
                <a:spcPts val="0"/>
              </a:spcAft>
              <a:buNone/>
            </a:pPr>
            <a:r>
              <a:rPr lang="en"/>
              <a:t>    return 0;</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p:txBody>
      </p:sp>
      <p:graphicFrame>
        <p:nvGraphicFramePr>
          <p:cNvPr id="688" name="Google Shape;688;g283038813be_0_406"/>
          <p:cNvGraphicFramePr/>
          <p:nvPr/>
        </p:nvGraphicFramePr>
        <p:xfrm>
          <a:off x="172100" y="3428350"/>
          <a:ext cx="3000000" cy="3000000"/>
        </p:xfrm>
        <a:graphic>
          <a:graphicData uri="http://schemas.openxmlformats.org/drawingml/2006/table">
            <a:tbl>
              <a:tblPr>
                <a:noFill/>
                <a:tableStyleId>{BF383963-E0AA-4E9D-A898-146F2279B2C8}</a:tableStyleId>
              </a:tblPr>
              <a:tblGrid>
                <a:gridCol w="916950"/>
                <a:gridCol w="916950"/>
                <a:gridCol w="916950"/>
                <a:gridCol w="916950"/>
                <a:gridCol w="916950"/>
              </a:tblGrid>
              <a:tr h="381000">
                <a:tc>
                  <a:txBody>
                    <a:bodyPr/>
                    <a:lstStyle/>
                    <a:p>
                      <a:pPr indent="0" lvl="0" marL="0" rtl="0" algn="l">
                        <a:spcBef>
                          <a:spcPts val="0"/>
                        </a:spcBef>
                        <a:spcAft>
                          <a:spcPts val="0"/>
                        </a:spcAft>
                        <a:buNone/>
                      </a:pPr>
                      <a:r>
                        <a:rPr b="1" lang="en"/>
                        <a:t>Calls</a:t>
                      </a:r>
                      <a:endParaRPr b="1"/>
                    </a:p>
                  </a:txBody>
                  <a:tcPr marT="91425" marB="91425" marR="91425" marL="91425"/>
                </a:tc>
                <a:tc>
                  <a:txBody>
                    <a:bodyPr/>
                    <a:lstStyle/>
                    <a:p>
                      <a:pPr indent="0" lvl="0" marL="0" rtl="0" algn="l">
                        <a:spcBef>
                          <a:spcPts val="0"/>
                        </a:spcBef>
                        <a:spcAft>
                          <a:spcPts val="0"/>
                        </a:spcAft>
                        <a:buNone/>
                      </a:pPr>
                      <a:r>
                        <a:rPr lang="en"/>
                        <a:t>(5,0)</a:t>
                      </a:r>
                      <a:endParaRPr/>
                    </a:p>
                  </a:txBody>
                  <a:tcPr marT="91425" marB="91425" marR="91425" marL="91425"/>
                </a:tc>
                <a:tc>
                  <a:txBody>
                    <a:bodyPr/>
                    <a:lstStyle/>
                    <a:p>
                      <a:pPr indent="0" lvl="0" marL="0" rtl="0" algn="l">
                        <a:spcBef>
                          <a:spcPts val="0"/>
                        </a:spcBef>
                        <a:spcAft>
                          <a:spcPts val="0"/>
                        </a:spcAft>
                        <a:buNone/>
                      </a:pPr>
                      <a:r>
                        <a:rPr lang="en"/>
                        <a:t>(5,1)</a:t>
                      </a:r>
                      <a:endParaRPr/>
                    </a:p>
                  </a:txBody>
                  <a:tcPr marT="91425" marB="91425" marR="91425" marL="91425"/>
                </a:tc>
                <a:tc>
                  <a:txBody>
                    <a:bodyPr/>
                    <a:lstStyle/>
                    <a:p>
                      <a:pPr indent="0" lvl="0" marL="0" rtl="0" algn="l">
                        <a:spcBef>
                          <a:spcPts val="0"/>
                        </a:spcBef>
                        <a:spcAft>
                          <a:spcPts val="0"/>
                        </a:spcAft>
                        <a:buNone/>
                      </a:pPr>
                      <a:r>
                        <a:rPr lang="en"/>
                        <a:t>(5,2)</a:t>
                      </a:r>
                      <a:endParaRPr/>
                    </a:p>
                  </a:txBody>
                  <a:tcPr marT="91425" marB="91425" marR="91425" marL="91425"/>
                </a:tc>
                <a:tc>
                  <a:txBody>
                    <a:bodyPr/>
                    <a:lstStyle/>
                    <a:p>
                      <a:pPr indent="0" lvl="0" marL="0" rtl="0" algn="l">
                        <a:spcBef>
                          <a:spcPts val="0"/>
                        </a:spcBef>
                        <a:spcAft>
                          <a:spcPts val="0"/>
                        </a:spcAft>
                        <a:buNone/>
                      </a:pPr>
                      <a:r>
                        <a:rPr lang="en"/>
                        <a:t>(5,3)</a:t>
                      </a:r>
                      <a:endParaRPr/>
                    </a:p>
                  </a:txBody>
                  <a:tcPr marT="91425" marB="91425" marR="91425" marL="91425"/>
                </a:tc>
              </a:tr>
              <a:tr h="381000">
                <a:tc>
                  <a:txBody>
                    <a:bodyPr/>
                    <a:lstStyle/>
                    <a:p>
                      <a:pPr indent="0" lvl="0" marL="0" rtl="0" algn="l">
                        <a:spcBef>
                          <a:spcPts val="0"/>
                        </a:spcBef>
                        <a:spcAft>
                          <a:spcPts val="0"/>
                        </a:spcAft>
                        <a:buNone/>
                      </a:pPr>
                      <a:r>
                        <a:rPr b="1" lang="en"/>
                        <a:t>Output</a:t>
                      </a:r>
                      <a:endParaRPr b="1"/>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5</a:t>
                      </a:r>
                      <a:endParaRPr/>
                    </a:p>
                  </a:txBody>
                  <a:tcPr marT="91425" marB="91425" marR="91425" marL="91425"/>
                </a:tc>
                <a:tc>
                  <a:txBody>
                    <a:bodyPr/>
                    <a:lstStyle/>
                    <a:p>
                      <a:pPr indent="0" lvl="0" marL="0" rtl="0" algn="l">
                        <a:spcBef>
                          <a:spcPts val="0"/>
                        </a:spcBef>
                        <a:spcAft>
                          <a:spcPts val="0"/>
                        </a:spcAft>
                        <a:buNone/>
                      </a:pPr>
                      <a:r>
                        <a:rPr lang="en"/>
                        <a:t>25</a:t>
                      </a:r>
                      <a:endParaRPr/>
                    </a:p>
                  </a:txBody>
                  <a:tcPr marT="91425" marB="91425" marR="91425" marL="91425"/>
                </a:tc>
                <a:tc>
                  <a:txBody>
                    <a:bodyPr/>
                    <a:lstStyle/>
                    <a:p>
                      <a:pPr indent="0" lvl="0" marL="0" rtl="0" algn="l">
                        <a:spcBef>
                          <a:spcPts val="0"/>
                        </a:spcBef>
                        <a:spcAft>
                          <a:spcPts val="0"/>
                        </a:spcAft>
                        <a:buNone/>
                      </a:pPr>
                      <a:r>
                        <a:rPr lang="en"/>
                        <a:t>125</a:t>
                      </a:r>
                      <a:endParaRPr/>
                    </a:p>
                  </a:txBody>
                  <a:tcPr marT="91425" marB="91425" marR="91425" marL="91425"/>
                </a:tc>
              </a:tr>
            </a:tbl>
          </a:graphicData>
        </a:graphic>
      </p:graphicFrame>
      <p:sp>
        <p:nvSpPr>
          <p:cNvPr id="689" name="Google Shape;689;g283038813be_0_40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g283038813be_0_413"/>
          <p:cNvSpPr txBox="1"/>
          <p:nvPr>
            <p:ph type="title"/>
          </p:nvPr>
        </p:nvSpPr>
        <p:spPr>
          <a:xfrm>
            <a:off x="311700" y="153500"/>
            <a:ext cx="4803900" cy="63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9900"/>
                </a:solidFill>
              </a:rPr>
              <a:t>Sum of digits of n  number</a:t>
            </a:r>
            <a:endParaRPr b="1">
              <a:solidFill>
                <a:srgbClr val="FF9900"/>
              </a:solidFill>
            </a:endParaRPr>
          </a:p>
        </p:txBody>
      </p:sp>
      <p:sp>
        <p:nvSpPr>
          <p:cNvPr id="695" name="Google Shape;695;g283038813be_0_413"/>
          <p:cNvSpPr txBox="1"/>
          <p:nvPr>
            <p:ph idx="1" type="body"/>
          </p:nvPr>
        </p:nvSpPr>
        <p:spPr>
          <a:xfrm>
            <a:off x="311700" y="1152475"/>
            <a:ext cx="4146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to calculate the sum of n numbers using recursion.</a:t>
            </a:r>
            <a:endParaRPr/>
          </a:p>
          <a:p>
            <a:pPr indent="0" lvl="0" marL="0" rtl="0" algn="l">
              <a:spcBef>
                <a:spcPts val="0"/>
              </a:spcBef>
              <a:spcAft>
                <a:spcPts val="0"/>
              </a:spcAft>
              <a:buNone/>
            </a:pPr>
            <a:r>
              <a:rPr lang="en"/>
              <a:t>Let say 12345</a:t>
            </a:r>
            <a:endParaRPr/>
          </a:p>
          <a:p>
            <a:pPr indent="0" lvl="0" marL="0" rtl="0" algn="l">
              <a:spcBef>
                <a:spcPts val="0"/>
              </a:spcBef>
              <a:spcAft>
                <a:spcPts val="0"/>
              </a:spcAft>
              <a:buNone/>
            </a:pPr>
            <a:r>
              <a:rPr lang="en"/>
              <a:t>sum(n)=sum(n/10)+last number</a:t>
            </a:r>
            <a:endParaRPr/>
          </a:p>
        </p:txBody>
      </p:sp>
      <p:sp>
        <p:nvSpPr>
          <p:cNvPr id="696" name="Google Shape;696;g283038813be_0_413"/>
          <p:cNvSpPr txBox="1"/>
          <p:nvPr/>
        </p:nvSpPr>
        <p:spPr>
          <a:xfrm>
            <a:off x="4762250" y="599100"/>
            <a:ext cx="4146300" cy="42792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#include&lt;bits/stdc++.h&gt;</a:t>
            </a:r>
            <a:endParaRPr/>
          </a:p>
          <a:p>
            <a:pPr indent="0" lvl="0" marL="0" rtl="0" algn="l">
              <a:spcBef>
                <a:spcPts val="0"/>
              </a:spcBef>
              <a:spcAft>
                <a:spcPts val="0"/>
              </a:spcAft>
              <a:buNone/>
            </a:pPr>
            <a:r>
              <a:rPr lang="en"/>
              <a:t>using namespace std;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 sum(int n){</a:t>
            </a:r>
            <a:endParaRPr/>
          </a:p>
          <a:p>
            <a:pPr indent="0" lvl="0" marL="0" rtl="0" algn="l">
              <a:spcBef>
                <a:spcPts val="0"/>
              </a:spcBef>
              <a:spcAft>
                <a:spcPts val="0"/>
              </a:spcAft>
              <a:buNone/>
            </a:pPr>
            <a:r>
              <a:rPr lang="en"/>
              <a:t>    /// base case</a:t>
            </a:r>
            <a:endParaRPr/>
          </a:p>
          <a:p>
            <a:pPr indent="0" lvl="0" marL="0" rtl="0" algn="l">
              <a:spcBef>
                <a:spcPts val="0"/>
              </a:spcBef>
              <a:spcAft>
                <a:spcPts val="0"/>
              </a:spcAft>
              <a:buNone/>
            </a:pPr>
            <a:r>
              <a:rPr lang="en"/>
              <a:t>    if(n==0){</a:t>
            </a:r>
            <a:endParaRPr/>
          </a:p>
          <a:p>
            <a:pPr indent="0" lvl="0" marL="0" rtl="0" algn="l">
              <a:spcBef>
                <a:spcPts val="0"/>
              </a:spcBef>
              <a:spcAft>
                <a:spcPts val="0"/>
              </a:spcAft>
              <a:buNone/>
            </a:pPr>
            <a:r>
              <a:rPr lang="en"/>
              <a:t>        return 0;</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 recursive</a:t>
            </a:r>
            <a:endParaRPr/>
          </a:p>
          <a:p>
            <a:pPr indent="0" lvl="0" marL="0" rtl="0" algn="l">
              <a:spcBef>
                <a:spcPts val="0"/>
              </a:spcBef>
              <a:spcAft>
                <a:spcPts val="0"/>
              </a:spcAft>
              <a:buNone/>
            </a:pPr>
            <a:r>
              <a:rPr lang="en"/>
              <a:t>    int smallAns = sum(n/10);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 calculation</a:t>
            </a:r>
            <a:endParaRPr/>
          </a:p>
          <a:p>
            <a:pPr indent="0" lvl="0" marL="0" rtl="0" algn="l">
              <a:spcBef>
                <a:spcPts val="0"/>
              </a:spcBef>
              <a:spcAft>
                <a:spcPts val="0"/>
              </a:spcAft>
              <a:buNone/>
            </a:pPr>
            <a:r>
              <a:rPr lang="en"/>
              <a:t>    int last_digit = n%10;</a:t>
            </a:r>
            <a:endParaRPr/>
          </a:p>
          <a:p>
            <a:pPr indent="0" lvl="0" marL="0" rtl="0" algn="l">
              <a:spcBef>
                <a:spcPts val="0"/>
              </a:spcBef>
              <a:spcAft>
                <a:spcPts val="0"/>
              </a:spcAft>
              <a:buNone/>
            </a:pPr>
            <a:r>
              <a:rPr lang="en"/>
              <a:t>    return smallAns + last_digit;</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rPr lang="en"/>
              <a:t>int main(){</a:t>
            </a:r>
            <a:endParaRPr/>
          </a:p>
          <a:p>
            <a:pPr indent="0" lvl="0" marL="0" rtl="0" algn="l">
              <a:spcBef>
                <a:spcPts val="0"/>
              </a:spcBef>
              <a:spcAft>
                <a:spcPts val="0"/>
              </a:spcAft>
              <a:buNone/>
            </a:pPr>
            <a:r>
              <a:rPr lang="en"/>
              <a:t>    cout&lt;&lt;sum(12345);</a:t>
            </a:r>
            <a:endParaRPr/>
          </a:p>
          <a:p>
            <a:pPr indent="0" lvl="0" marL="0" rtl="0" algn="l">
              <a:spcBef>
                <a:spcPts val="0"/>
              </a:spcBef>
              <a:spcAft>
                <a:spcPts val="0"/>
              </a:spcAft>
              <a:buNone/>
            </a:pPr>
            <a:r>
              <a:rPr lang="en"/>
              <a:t>    return 0;</a:t>
            </a:r>
            <a:endParaRPr/>
          </a:p>
          <a:p>
            <a:pPr indent="0" lvl="0" marL="0" rtl="0" algn="l">
              <a:spcBef>
                <a:spcPts val="0"/>
              </a:spcBef>
              <a:spcAft>
                <a:spcPts val="0"/>
              </a:spcAft>
              <a:buNone/>
            </a:pPr>
            <a:r>
              <a:rPr lang="en"/>
              <a:t>}</a:t>
            </a:r>
            <a:endParaRPr/>
          </a:p>
        </p:txBody>
      </p:sp>
      <p:sp>
        <p:nvSpPr>
          <p:cNvPr id="697" name="Google Shape;697;g283038813be_0_41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g283038813be_0_419"/>
          <p:cNvSpPr txBox="1"/>
          <p:nvPr>
            <p:ph type="title"/>
          </p:nvPr>
        </p:nvSpPr>
        <p:spPr>
          <a:xfrm>
            <a:off x="311700" y="64025"/>
            <a:ext cx="4018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solidFill>
                  <a:srgbClr val="FF9900"/>
                </a:solidFill>
              </a:rPr>
              <a:t>Print numbers from 1 to n</a:t>
            </a:r>
            <a:endParaRPr sz="2320">
              <a:solidFill>
                <a:srgbClr val="FF9900"/>
              </a:solidFill>
            </a:endParaRPr>
          </a:p>
        </p:txBody>
      </p:sp>
      <p:sp>
        <p:nvSpPr>
          <p:cNvPr id="703" name="Google Shape;703;g283038813be_0_419"/>
          <p:cNvSpPr txBox="1"/>
          <p:nvPr>
            <p:ph idx="1" type="body"/>
          </p:nvPr>
        </p:nvSpPr>
        <p:spPr>
          <a:xfrm>
            <a:off x="311700" y="695275"/>
            <a:ext cx="3526200" cy="432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recursive algorithms,  write a function to print numbers from 1 to n.</a:t>
            </a:r>
            <a:endParaRPr/>
          </a:p>
          <a:p>
            <a:pPr indent="0" lvl="0" marL="0" rtl="0" algn="l">
              <a:spcBef>
                <a:spcPts val="0"/>
              </a:spcBef>
              <a:spcAft>
                <a:spcPts val="0"/>
              </a:spcAft>
              <a:buNone/>
            </a:pPr>
            <a:r>
              <a:rPr lang="en"/>
              <a:t>If n is 3 the function will print</a:t>
            </a:r>
            <a:endParaRPr/>
          </a:p>
          <a:p>
            <a:pPr indent="0" lvl="0" marL="0" rtl="0" algn="l">
              <a:spcBef>
                <a:spcPts val="0"/>
              </a:spcBef>
              <a:spcAft>
                <a:spcPts val="0"/>
              </a:spcAft>
              <a:buNone/>
            </a:pPr>
            <a:r>
              <a:rPr lang="en"/>
              <a:t>1 2 3</a:t>
            </a:r>
            <a:endParaRPr/>
          </a:p>
          <a:p>
            <a:pPr indent="0" lvl="0" marL="0" rtl="0" algn="l">
              <a:spcBef>
                <a:spcPts val="0"/>
              </a:spcBef>
              <a:spcAft>
                <a:spcPts val="0"/>
              </a:spcAft>
              <a:buNone/>
            </a:pPr>
            <a:r>
              <a:rPr lang="en"/>
              <a:t>If n is 5 the function will print </a:t>
            </a:r>
            <a:endParaRPr/>
          </a:p>
          <a:p>
            <a:pPr indent="0" lvl="0" marL="0" rtl="0" algn="l">
              <a:spcBef>
                <a:spcPts val="0"/>
              </a:spcBef>
              <a:spcAft>
                <a:spcPts val="0"/>
              </a:spcAft>
              <a:buNone/>
            </a:pPr>
            <a:r>
              <a:rPr lang="en"/>
              <a:t>1 2 3 4 5</a:t>
            </a:r>
            <a:endParaRPr/>
          </a:p>
          <a:p>
            <a:pPr indent="0" lvl="0" marL="0" rtl="0" algn="l">
              <a:spcBef>
                <a:spcPts val="0"/>
              </a:spcBef>
              <a:spcAft>
                <a:spcPts val="0"/>
              </a:spcAft>
              <a:buNone/>
            </a:pPr>
            <a:r>
              <a:rPr lang="en"/>
              <a:t>If n is 10 the function will print </a:t>
            </a:r>
            <a:endParaRPr/>
          </a:p>
          <a:p>
            <a:pPr indent="0" lvl="0" marL="0" rtl="0" algn="l">
              <a:spcBef>
                <a:spcPts val="0"/>
              </a:spcBef>
              <a:spcAft>
                <a:spcPts val="0"/>
              </a:spcAft>
              <a:buNone/>
            </a:pPr>
            <a:r>
              <a:rPr lang="en"/>
              <a:t>1 2 3 4 5 6 7 8 9 10</a:t>
            </a:r>
            <a:endParaRPr/>
          </a:p>
          <a:p>
            <a:pPr indent="0" lvl="0" marL="0" rtl="0" algn="l">
              <a:spcBef>
                <a:spcPts val="0"/>
              </a:spcBef>
              <a:spcAft>
                <a:spcPts val="0"/>
              </a:spcAft>
              <a:buNone/>
            </a:pPr>
            <a:r>
              <a:rPr lang="en"/>
              <a:t>print(n)=print(n-1)+n;</a:t>
            </a:r>
            <a:endParaRPr/>
          </a:p>
          <a:p>
            <a:pPr indent="0" lvl="0" marL="0" rtl="0" algn="l">
              <a:spcBef>
                <a:spcPts val="0"/>
              </a:spcBef>
              <a:spcAft>
                <a:spcPts val="0"/>
              </a:spcAft>
              <a:buNone/>
            </a:pPr>
            <a:r>
              <a:rPr lang="en"/>
              <a:t>If the value of n is zero we will not print</a:t>
            </a:r>
            <a:endParaRPr/>
          </a:p>
          <a:p>
            <a:pPr indent="0" lvl="0" marL="0" rtl="0" algn="l">
              <a:spcBef>
                <a:spcPts val="0"/>
              </a:spcBef>
              <a:spcAft>
                <a:spcPts val="0"/>
              </a:spcAft>
              <a:buNone/>
            </a:pPr>
            <a:r>
              <a:rPr lang="en"/>
              <a:t>If the value of n is 1 we will print 1</a:t>
            </a:r>
            <a:endParaRPr/>
          </a:p>
          <a:p>
            <a:pPr indent="0" lvl="0" marL="0" rtl="0" algn="l">
              <a:spcBef>
                <a:spcPts val="0"/>
              </a:spcBef>
              <a:spcAft>
                <a:spcPts val="0"/>
              </a:spcAft>
              <a:buNone/>
            </a:pPr>
            <a:r>
              <a:rPr lang="en"/>
              <a:t>When printing in reverse order, the program will print</a:t>
            </a:r>
            <a:endParaRPr/>
          </a:p>
          <a:p>
            <a:pPr indent="0" lvl="0" marL="0" rtl="0" algn="l">
              <a:spcBef>
                <a:spcPts val="0"/>
              </a:spcBef>
              <a:spcAft>
                <a:spcPts val="0"/>
              </a:spcAft>
              <a:buNone/>
            </a:pPr>
            <a:r>
              <a:rPr lang="en"/>
              <a:t>5 4 3 2 1</a:t>
            </a:r>
            <a:endParaRPr/>
          </a:p>
        </p:txBody>
      </p:sp>
      <p:sp>
        <p:nvSpPr>
          <p:cNvPr id="704" name="Google Shape;704;g283038813be_0_419"/>
          <p:cNvSpPr txBox="1"/>
          <p:nvPr/>
        </p:nvSpPr>
        <p:spPr>
          <a:xfrm>
            <a:off x="3975050" y="6475"/>
            <a:ext cx="5121000" cy="51717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#include&lt;bits/stdc++.h&gt;</a:t>
            </a:r>
            <a:endParaRPr sz="1200"/>
          </a:p>
          <a:p>
            <a:pPr indent="0" lvl="0" marL="0" rtl="0" algn="l">
              <a:spcBef>
                <a:spcPts val="0"/>
              </a:spcBef>
              <a:spcAft>
                <a:spcPts val="0"/>
              </a:spcAft>
              <a:buNone/>
            </a:pPr>
            <a:r>
              <a:rPr lang="en" sz="1200"/>
              <a:t>using namespace std;</a:t>
            </a:r>
            <a:endParaRPr sz="1200"/>
          </a:p>
          <a:p>
            <a:pPr indent="0" lvl="0" marL="0" rtl="0" algn="l">
              <a:spcBef>
                <a:spcPts val="0"/>
              </a:spcBef>
              <a:spcAft>
                <a:spcPts val="0"/>
              </a:spcAft>
              <a:buNone/>
            </a:pPr>
            <a:r>
              <a:rPr lang="en" sz="1200"/>
              <a:t>void print(int n){</a:t>
            </a:r>
            <a:endParaRPr sz="1200"/>
          </a:p>
          <a:p>
            <a:pPr indent="0" lvl="0" marL="0" rtl="0" algn="l">
              <a:spcBef>
                <a:spcPts val="0"/>
              </a:spcBef>
              <a:spcAft>
                <a:spcPts val="0"/>
              </a:spcAft>
              <a:buNone/>
            </a:pPr>
            <a:r>
              <a:rPr lang="en" sz="1200"/>
              <a:t>   /// Base case</a:t>
            </a:r>
            <a:endParaRPr sz="1200"/>
          </a:p>
          <a:p>
            <a:pPr indent="0" lvl="0" marL="0" rtl="0" algn="l">
              <a:spcBef>
                <a:spcPts val="0"/>
              </a:spcBef>
              <a:spcAft>
                <a:spcPts val="0"/>
              </a:spcAft>
              <a:buNone/>
            </a:pPr>
            <a:r>
              <a:rPr lang="en" sz="1200"/>
              <a:t>   if(n==0){</a:t>
            </a:r>
            <a:endParaRPr sz="1200"/>
          </a:p>
          <a:p>
            <a:pPr indent="0" lvl="0" marL="0" rtl="0" algn="l">
              <a:spcBef>
                <a:spcPts val="0"/>
              </a:spcBef>
              <a:spcAft>
                <a:spcPts val="0"/>
              </a:spcAft>
              <a:buNone/>
            </a:pPr>
            <a:r>
              <a:rPr lang="en" sz="1200"/>
              <a:t>      return;    /// </a:t>
            </a:r>
            <a:r>
              <a:rPr lang="en" sz="1200">
                <a:solidFill>
                  <a:schemeClr val="dk1"/>
                </a:solidFill>
              </a:rPr>
              <a:t> mandatory printing nothing to avoid infinite loop</a:t>
            </a:r>
            <a:endParaRPr sz="1200"/>
          </a:p>
          <a:p>
            <a:pPr indent="0" lvl="0" marL="0" rtl="0" algn="l">
              <a:spcBef>
                <a:spcPts val="0"/>
              </a:spcBef>
              <a:spcAft>
                <a:spcPts val="0"/>
              </a:spcAft>
              <a:buNone/>
            </a:pPr>
            <a:r>
              <a:rPr lang="en" sz="1200"/>
              <a:t>   }</a:t>
            </a:r>
            <a:endParaRPr sz="1200"/>
          </a:p>
          <a:p>
            <a:pPr indent="0" lvl="0" marL="0" rtl="0" algn="l">
              <a:spcBef>
                <a:spcPts val="0"/>
              </a:spcBef>
              <a:spcAft>
                <a:spcPts val="0"/>
              </a:spcAft>
              <a:buNone/>
            </a:pPr>
            <a:r>
              <a:rPr lang="en" sz="1200"/>
              <a:t>   /// Recursive case</a:t>
            </a:r>
            <a:endParaRPr sz="1200"/>
          </a:p>
          <a:p>
            <a:pPr indent="0" lvl="0" marL="0" rtl="0" algn="l">
              <a:spcBef>
                <a:spcPts val="0"/>
              </a:spcBef>
              <a:spcAft>
                <a:spcPts val="0"/>
              </a:spcAft>
              <a:buNone/>
            </a:pPr>
            <a:r>
              <a:rPr lang="en" sz="1200"/>
              <a:t>   print(n-1);     ///  1 2 3 4 ......n-1</a:t>
            </a:r>
            <a:endParaRPr sz="1200"/>
          </a:p>
          <a:p>
            <a:pPr indent="0" lvl="0" marL="0" rtl="0" algn="l">
              <a:spcBef>
                <a:spcPts val="0"/>
              </a:spcBef>
              <a:spcAft>
                <a:spcPts val="0"/>
              </a:spcAft>
              <a:buNone/>
            </a:pPr>
            <a:r>
              <a:rPr lang="en" sz="1200"/>
              <a:t>   cout&lt;&lt;n&lt;&lt;endl;</a:t>
            </a:r>
            <a:endParaRPr sz="1200"/>
          </a:p>
          <a:p>
            <a:pPr indent="0" lvl="0" marL="0" rtl="0" algn="l">
              <a:spcBef>
                <a:spcPts val="0"/>
              </a:spcBef>
              <a:spcAft>
                <a:spcPts val="0"/>
              </a:spcAft>
              <a:buNone/>
            </a:pPr>
            <a:r>
              <a:rPr lang="en" sz="1200"/>
              <a:t>    return;    /// optional</a:t>
            </a:r>
            <a:endParaRPr sz="1200"/>
          </a:p>
          <a:p>
            <a:pPr indent="0" lvl="0" marL="0" rtl="0" algn="l">
              <a:spcBef>
                <a:spcPts val="0"/>
              </a:spcBef>
              <a:spcAft>
                <a:spcPts val="0"/>
              </a:spcAft>
              <a:buNone/>
            </a:pPr>
            <a:r>
              <a:rPr lang="en" sz="1200"/>
              <a:t>}</a:t>
            </a:r>
            <a:endParaRPr sz="1200"/>
          </a:p>
          <a:p>
            <a:pPr indent="0" lvl="0" marL="0" rtl="0" algn="l">
              <a:spcBef>
                <a:spcPts val="0"/>
              </a:spcBef>
              <a:spcAft>
                <a:spcPts val="0"/>
              </a:spcAft>
              <a:buNone/>
            </a:pPr>
            <a:r>
              <a:rPr lang="en" sz="1200"/>
              <a:t>//printing in reverse order like 54321</a:t>
            </a:r>
            <a:endParaRPr sz="1200"/>
          </a:p>
          <a:p>
            <a:pPr indent="0" lvl="0" marL="0" rtl="0" algn="l">
              <a:spcBef>
                <a:spcPts val="0"/>
              </a:spcBef>
              <a:spcAft>
                <a:spcPts val="0"/>
              </a:spcAft>
              <a:buNone/>
            </a:pPr>
            <a:r>
              <a:rPr lang="en" sz="1200"/>
              <a:t>void print2(int n){</a:t>
            </a:r>
            <a:endParaRPr sz="1200"/>
          </a:p>
          <a:p>
            <a:pPr indent="0" lvl="0" marL="0" rtl="0" algn="l">
              <a:spcBef>
                <a:spcPts val="0"/>
              </a:spcBef>
              <a:spcAft>
                <a:spcPts val="0"/>
              </a:spcAft>
              <a:buNone/>
            </a:pPr>
            <a:r>
              <a:rPr lang="en" sz="1200"/>
              <a:t>   /// Base case</a:t>
            </a:r>
            <a:endParaRPr sz="1200"/>
          </a:p>
          <a:p>
            <a:pPr indent="0" lvl="0" marL="0" rtl="0" algn="l">
              <a:spcBef>
                <a:spcPts val="0"/>
              </a:spcBef>
              <a:spcAft>
                <a:spcPts val="0"/>
              </a:spcAft>
              <a:buNone/>
            </a:pPr>
            <a:r>
              <a:rPr lang="en" sz="1200"/>
              <a:t>   if(n==0){</a:t>
            </a:r>
            <a:endParaRPr sz="1200"/>
          </a:p>
          <a:p>
            <a:pPr indent="0" lvl="0" marL="0" rtl="0" algn="l">
              <a:spcBef>
                <a:spcPts val="0"/>
              </a:spcBef>
              <a:spcAft>
                <a:spcPts val="0"/>
              </a:spcAft>
              <a:buNone/>
            </a:pPr>
            <a:r>
              <a:rPr lang="en" sz="1200"/>
              <a:t>      return;    /// mandatory printing nothing to avoid infinite loop</a:t>
            </a:r>
            <a:endParaRPr sz="1200"/>
          </a:p>
          <a:p>
            <a:pPr indent="0" lvl="0" marL="0" rtl="0" algn="l">
              <a:spcBef>
                <a:spcPts val="0"/>
              </a:spcBef>
              <a:spcAft>
                <a:spcPts val="0"/>
              </a:spcAft>
              <a:buNone/>
            </a:pPr>
            <a:r>
              <a:rPr lang="en" sz="1200"/>
              <a:t>   }</a:t>
            </a:r>
            <a:endParaRPr sz="1200"/>
          </a:p>
          <a:p>
            <a:pPr indent="0" lvl="0" marL="0" rtl="0" algn="l">
              <a:spcBef>
                <a:spcPts val="0"/>
              </a:spcBef>
              <a:spcAft>
                <a:spcPts val="0"/>
              </a:spcAft>
              <a:buNone/>
            </a:pPr>
            <a:r>
              <a:rPr lang="en" sz="1200"/>
              <a:t>   cout&lt;&lt;n&lt;&lt;endl;</a:t>
            </a:r>
            <a:endParaRPr sz="1200"/>
          </a:p>
          <a:p>
            <a:pPr indent="0" lvl="0" marL="0" rtl="0" algn="l">
              <a:spcBef>
                <a:spcPts val="0"/>
              </a:spcBef>
              <a:spcAft>
                <a:spcPts val="0"/>
              </a:spcAft>
              <a:buNone/>
            </a:pPr>
            <a:r>
              <a:rPr lang="en" sz="1200"/>
              <a:t>   /// Recursive case</a:t>
            </a:r>
            <a:endParaRPr sz="1200"/>
          </a:p>
          <a:p>
            <a:pPr indent="0" lvl="0" marL="0" rtl="0" algn="l">
              <a:spcBef>
                <a:spcPts val="0"/>
              </a:spcBef>
              <a:spcAft>
                <a:spcPts val="0"/>
              </a:spcAft>
              <a:buNone/>
            </a:pPr>
            <a:r>
              <a:rPr lang="en" sz="1200"/>
              <a:t>   print2(n-1);     ///n-1.....2 1</a:t>
            </a:r>
            <a:endParaRPr sz="1200"/>
          </a:p>
          <a:p>
            <a:pPr indent="0" lvl="0" marL="0" rtl="0" algn="l">
              <a:spcBef>
                <a:spcPts val="0"/>
              </a:spcBef>
              <a:spcAft>
                <a:spcPts val="0"/>
              </a:spcAft>
              <a:buNone/>
            </a:pPr>
            <a:r>
              <a:rPr lang="en" sz="1200"/>
              <a:t>    /// return;    optional</a:t>
            </a:r>
            <a:endParaRPr sz="1200"/>
          </a:p>
          <a:p>
            <a:pPr indent="0" lvl="0" marL="0" rtl="0" algn="l">
              <a:spcBef>
                <a:spcPts val="0"/>
              </a:spcBef>
              <a:spcAft>
                <a:spcPts val="0"/>
              </a:spcAft>
              <a:buNone/>
            </a:pPr>
            <a:r>
              <a:rPr lang="en" sz="1200"/>
              <a:t>}</a:t>
            </a:r>
            <a:endParaRPr sz="1200"/>
          </a:p>
          <a:p>
            <a:pPr indent="0" lvl="0" marL="0" rtl="0" algn="l">
              <a:spcBef>
                <a:spcPts val="0"/>
              </a:spcBef>
              <a:spcAft>
                <a:spcPts val="0"/>
              </a:spcAft>
              <a:buNone/>
            </a:pPr>
            <a:r>
              <a:rPr lang="en" sz="1200"/>
              <a:t>int main(){</a:t>
            </a:r>
            <a:endParaRPr sz="1200"/>
          </a:p>
          <a:p>
            <a:pPr indent="0" lvl="0" marL="0" rtl="0" algn="l">
              <a:spcBef>
                <a:spcPts val="0"/>
              </a:spcBef>
              <a:spcAft>
                <a:spcPts val="0"/>
              </a:spcAft>
              <a:buNone/>
            </a:pPr>
            <a:r>
              <a:rPr lang="en" sz="1200"/>
              <a:t>     print2(5);</a:t>
            </a:r>
            <a:endParaRPr sz="1200"/>
          </a:p>
          <a:p>
            <a:pPr indent="0" lvl="0" marL="0" rtl="0" algn="l">
              <a:spcBef>
                <a:spcPts val="0"/>
              </a:spcBef>
              <a:spcAft>
                <a:spcPts val="0"/>
              </a:spcAft>
              <a:buNone/>
            </a:pPr>
            <a:r>
              <a:rPr lang="en" sz="1200"/>
              <a:t>    return 0;</a:t>
            </a:r>
            <a:endParaRPr sz="1200"/>
          </a:p>
          <a:p>
            <a:pPr indent="0" lvl="0" marL="0" rtl="0" algn="l">
              <a:spcBef>
                <a:spcPts val="0"/>
              </a:spcBef>
              <a:spcAft>
                <a:spcPts val="0"/>
              </a:spcAft>
              <a:buNone/>
            </a:pPr>
            <a:r>
              <a:rPr lang="en" sz="1200"/>
              <a:t>}</a:t>
            </a:r>
            <a:endParaRPr sz="1200"/>
          </a:p>
        </p:txBody>
      </p:sp>
      <p:sp>
        <p:nvSpPr>
          <p:cNvPr id="705" name="Google Shape;705;g283038813be_0_41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g283038813be_0_425"/>
          <p:cNvSpPr txBox="1"/>
          <p:nvPr>
            <p:ph type="title"/>
          </p:nvPr>
        </p:nvSpPr>
        <p:spPr>
          <a:xfrm>
            <a:off x="311700" y="64025"/>
            <a:ext cx="4260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F9900"/>
                </a:solidFill>
              </a:rPr>
              <a:t>Count Digits of a number</a:t>
            </a:r>
            <a:endParaRPr b="1" sz="2600">
              <a:solidFill>
                <a:srgbClr val="FF9900"/>
              </a:solidFill>
            </a:endParaRPr>
          </a:p>
        </p:txBody>
      </p:sp>
      <p:sp>
        <p:nvSpPr>
          <p:cNvPr id="711" name="Google Shape;711;g283038813be_0_425"/>
          <p:cNvSpPr txBox="1"/>
          <p:nvPr>
            <p:ph idx="1" type="body"/>
          </p:nvPr>
        </p:nvSpPr>
        <p:spPr>
          <a:xfrm>
            <a:off x="311700" y="688125"/>
            <a:ext cx="4260300" cy="427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Build a function which counts number of a given digit which greater than or equal to 1.</a:t>
            </a:r>
            <a:endParaRPr sz="1600"/>
          </a:p>
          <a:p>
            <a:pPr indent="0" lvl="0" marL="0" rtl="0" algn="l">
              <a:spcBef>
                <a:spcPts val="0"/>
              </a:spcBef>
              <a:spcAft>
                <a:spcPts val="0"/>
              </a:spcAft>
              <a:buNone/>
            </a:pPr>
            <a:r>
              <a:rPr lang="en" sz="1600"/>
              <a:t>If the number is 45756, the function returns 5</a:t>
            </a:r>
            <a:endParaRPr sz="1600"/>
          </a:p>
          <a:p>
            <a:pPr indent="0" lvl="0" marL="0" rtl="0" algn="l">
              <a:spcBef>
                <a:spcPts val="0"/>
              </a:spcBef>
              <a:spcAft>
                <a:spcPts val="0"/>
              </a:spcAft>
              <a:buNone/>
            </a:pPr>
            <a:r>
              <a:rPr lang="en" sz="1600"/>
              <a:t>If the number is 900, the function returns 3</a:t>
            </a:r>
            <a:endParaRPr sz="1600"/>
          </a:p>
          <a:p>
            <a:pPr indent="0" lvl="0" marL="0" rtl="0" algn="l">
              <a:spcBef>
                <a:spcPts val="0"/>
              </a:spcBef>
              <a:spcAft>
                <a:spcPts val="0"/>
              </a:spcAft>
              <a:buNone/>
            </a:pPr>
            <a:r>
              <a:rPr lang="en" sz="1600"/>
              <a:t>If the number is 15, the function returns 2</a:t>
            </a:r>
            <a:endParaRPr sz="1600"/>
          </a:p>
          <a:p>
            <a:pPr indent="0" lvl="0" marL="0" rtl="0" algn="l">
              <a:spcBef>
                <a:spcPts val="0"/>
              </a:spcBef>
              <a:spcAft>
                <a:spcPts val="0"/>
              </a:spcAft>
              <a:buNone/>
            </a:pPr>
            <a:r>
              <a:rPr lang="en" sz="1600"/>
              <a:t>4125 will be broken into 412 and 5</a:t>
            </a:r>
            <a:endParaRPr sz="1600"/>
          </a:p>
          <a:p>
            <a:pPr indent="0" lvl="0" marL="0" rtl="0" algn="l">
              <a:spcBef>
                <a:spcPts val="0"/>
              </a:spcBef>
              <a:spcAft>
                <a:spcPts val="0"/>
              </a:spcAft>
              <a:buNone/>
            </a:pPr>
            <a:r>
              <a:rPr lang="en" sz="1600"/>
              <a:t>Then 412 will be broken into 41 and 2</a:t>
            </a:r>
            <a:endParaRPr sz="1600"/>
          </a:p>
          <a:p>
            <a:pPr indent="0" lvl="0" marL="0" rtl="0" algn="l">
              <a:spcBef>
                <a:spcPts val="0"/>
              </a:spcBef>
              <a:spcAft>
                <a:spcPts val="0"/>
              </a:spcAft>
              <a:buNone/>
            </a:pPr>
            <a:r>
              <a:rPr lang="en" sz="1600"/>
              <a:t>Then 41 will be broken into 4 and 1</a:t>
            </a:r>
            <a:endParaRPr sz="1600"/>
          </a:p>
          <a:p>
            <a:pPr indent="0" lvl="0" marL="0" rtl="0" algn="l">
              <a:spcBef>
                <a:spcPts val="0"/>
              </a:spcBef>
              <a:spcAft>
                <a:spcPts val="0"/>
              </a:spcAft>
              <a:buNone/>
            </a:pPr>
            <a:r>
              <a:rPr lang="en" sz="1600"/>
              <a:t>Then 4  will be broken into 0 and 4, where 4 is our base case.</a:t>
            </a:r>
            <a:endParaRPr sz="1600"/>
          </a:p>
          <a:p>
            <a:pPr indent="0" lvl="0" marL="0" rtl="0" algn="l">
              <a:spcBef>
                <a:spcPts val="0"/>
              </a:spcBef>
              <a:spcAft>
                <a:spcPts val="0"/>
              </a:spcAft>
              <a:buNone/>
            </a:pPr>
            <a:r>
              <a:rPr lang="en" sz="1600"/>
              <a:t>count(n)=count(n/10)+1, This would be our recursive case</a:t>
            </a:r>
            <a:endParaRPr sz="1600"/>
          </a:p>
        </p:txBody>
      </p:sp>
      <p:sp>
        <p:nvSpPr>
          <p:cNvPr id="712" name="Google Shape;712;g283038813be_0_425"/>
          <p:cNvSpPr txBox="1"/>
          <p:nvPr/>
        </p:nvSpPr>
        <p:spPr>
          <a:xfrm>
            <a:off x="4742575" y="216750"/>
            <a:ext cx="3906600" cy="47100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#include&lt;bits/stdc++.h&gt;</a:t>
            </a:r>
            <a:endParaRPr/>
          </a:p>
          <a:p>
            <a:pPr indent="0" lvl="0" marL="0" rtl="0" algn="l">
              <a:spcBef>
                <a:spcPts val="0"/>
              </a:spcBef>
              <a:spcAft>
                <a:spcPts val="0"/>
              </a:spcAft>
              <a:buNone/>
            </a:pPr>
            <a:r>
              <a:rPr lang="en"/>
              <a:t>using namespace std;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 count(int n){</a:t>
            </a:r>
            <a:endParaRPr/>
          </a:p>
          <a:p>
            <a:pPr indent="0" lvl="0" marL="0" rtl="0" algn="l">
              <a:spcBef>
                <a:spcPts val="0"/>
              </a:spcBef>
              <a:spcAft>
                <a:spcPts val="0"/>
              </a:spcAft>
              <a:buNone/>
            </a:pPr>
            <a:r>
              <a:rPr lang="en"/>
              <a:t>   /// base</a:t>
            </a:r>
            <a:endParaRPr/>
          </a:p>
          <a:p>
            <a:pPr indent="0" lvl="0" marL="0" rtl="0" algn="l">
              <a:spcBef>
                <a:spcPts val="0"/>
              </a:spcBef>
              <a:spcAft>
                <a:spcPts val="0"/>
              </a:spcAft>
              <a:buNone/>
            </a:pPr>
            <a:r>
              <a:rPr lang="en"/>
              <a:t>   if(n==0){</a:t>
            </a:r>
            <a:endParaRPr/>
          </a:p>
          <a:p>
            <a:pPr indent="0" lvl="0" marL="0" rtl="0" algn="l">
              <a:spcBef>
                <a:spcPts val="0"/>
              </a:spcBef>
              <a:spcAft>
                <a:spcPts val="0"/>
              </a:spcAft>
              <a:buNone/>
            </a:pPr>
            <a:r>
              <a:rPr lang="en"/>
              <a:t>    return 0;</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 recursive</a:t>
            </a:r>
            <a:endParaRPr/>
          </a:p>
          <a:p>
            <a:pPr indent="0" lvl="0" marL="0" rtl="0" algn="l">
              <a:spcBef>
                <a:spcPts val="0"/>
              </a:spcBef>
              <a:spcAft>
                <a:spcPts val="0"/>
              </a:spcAft>
              <a:buNone/>
            </a:pPr>
            <a:r>
              <a:rPr lang="en"/>
              <a:t>   int smallAns = count(n/10);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 calculation</a:t>
            </a:r>
            <a:endParaRPr/>
          </a:p>
          <a:p>
            <a:pPr indent="0" lvl="0" marL="0" rtl="0" algn="l">
              <a:spcBef>
                <a:spcPts val="0"/>
              </a:spcBef>
              <a:spcAft>
                <a:spcPts val="0"/>
              </a:spcAft>
              <a:buNone/>
            </a:pPr>
            <a:r>
              <a:rPr lang="en"/>
              <a:t>   return smallAns + 1;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 main(){</a:t>
            </a:r>
            <a:endParaRPr/>
          </a:p>
          <a:p>
            <a:pPr indent="0" lvl="0" marL="0" rtl="0" algn="l">
              <a:spcBef>
                <a:spcPts val="0"/>
              </a:spcBef>
              <a:spcAft>
                <a:spcPts val="0"/>
              </a:spcAft>
              <a:buNone/>
            </a:pPr>
            <a:r>
              <a:rPr lang="en"/>
              <a:t>     cout&lt;&lt;count(7820);</a:t>
            </a:r>
            <a:endParaRPr/>
          </a:p>
          <a:p>
            <a:pPr indent="0" lvl="0" marL="0" rtl="0" algn="l">
              <a:spcBef>
                <a:spcPts val="0"/>
              </a:spcBef>
              <a:spcAft>
                <a:spcPts val="0"/>
              </a:spcAft>
              <a:buNone/>
            </a:pPr>
            <a:r>
              <a:rPr lang="en"/>
              <a:t>    return 0;</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p:txBody>
      </p:sp>
      <p:sp>
        <p:nvSpPr>
          <p:cNvPr id="713" name="Google Shape;713;g283038813be_0_42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283038813be_0_4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9900"/>
                </a:solidFill>
              </a:rPr>
              <a:t>Multiplication of m by n</a:t>
            </a:r>
            <a:endParaRPr>
              <a:solidFill>
                <a:srgbClr val="FF9900"/>
              </a:solidFill>
            </a:endParaRPr>
          </a:p>
        </p:txBody>
      </p:sp>
      <p:sp>
        <p:nvSpPr>
          <p:cNvPr id="719" name="Google Shape;719;g283038813be_0_431"/>
          <p:cNvSpPr txBox="1"/>
          <p:nvPr>
            <p:ph idx="1" type="body"/>
          </p:nvPr>
        </p:nvSpPr>
        <p:spPr>
          <a:xfrm>
            <a:off x="311700" y="1152475"/>
            <a:ext cx="3537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Build a function to count the power of m by n. M and n must be greater than zero. If m is zero it will be treated as our base case</a:t>
            </a:r>
            <a:endParaRPr/>
          </a:p>
        </p:txBody>
      </p:sp>
      <p:sp>
        <p:nvSpPr>
          <p:cNvPr id="720" name="Google Shape;720;g283038813be_0_431"/>
          <p:cNvSpPr txBox="1"/>
          <p:nvPr/>
        </p:nvSpPr>
        <p:spPr>
          <a:xfrm>
            <a:off x="5132025" y="286400"/>
            <a:ext cx="3000000" cy="47100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#include&lt;bits/stdc++.h&gt;</a:t>
            </a:r>
            <a:endParaRPr/>
          </a:p>
          <a:p>
            <a:pPr indent="0" lvl="0" marL="0" rtl="0" algn="l">
              <a:spcBef>
                <a:spcPts val="0"/>
              </a:spcBef>
              <a:spcAft>
                <a:spcPts val="0"/>
              </a:spcAft>
              <a:buNone/>
            </a:pPr>
            <a:r>
              <a:rPr lang="en"/>
              <a:t>using namespace std;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 multiply(int m,int n){    /// m*n</a:t>
            </a:r>
            <a:endParaRPr/>
          </a:p>
          <a:p>
            <a:pPr indent="0" lvl="0" marL="0" rtl="0" algn="l">
              <a:spcBef>
                <a:spcPts val="0"/>
              </a:spcBef>
              <a:spcAft>
                <a:spcPts val="0"/>
              </a:spcAft>
              <a:buNone/>
            </a:pPr>
            <a:r>
              <a:rPr lang="en"/>
              <a:t>    /// base</a:t>
            </a:r>
            <a:endParaRPr/>
          </a:p>
          <a:p>
            <a:pPr indent="0" lvl="0" marL="0" rtl="0" algn="l">
              <a:spcBef>
                <a:spcPts val="0"/>
              </a:spcBef>
              <a:spcAft>
                <a:spcPts val="0"/>
              </a:spcAft>
              <a:buNone/>
            </a:pPr>
            <a:r>
              <a:rPr lang="en"/>
              <a:t>    if(n==0){</a:t>
            </a:r>
            <a:endParaRPr/>
          </a:p>
          <a:p>
            <a:pPr indent="0" lvl="0" marL="0" rtl="0" algn="l">
              <a:spcBef>
                <a:spcPts val="0"/>
              </a:spcBef>
              <a:spcAft>
                <a:spcPts val="0"/>
              </a:spcAft>
              <a:buNone/>
            </a:pPr>
            <a:r>
              <a:rPr lang="en"/>
              <a:t>        return 0;</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 recursive</a:t>
            </a:r>
            <a:endParaRPr/>
          </a:p>
          <a:p>
            <a:pPr indent="0" lvl="0" marL="0" rtl="0" algn="l">
              <a:spcBef>
                <a:spcPts val="0"/>
              </a:spcBef>
              <a:spcAft>
                <a:spcPts val="0"/>
              </a:spcAft>
              <a:buNone/>
            </a:pPr>
            <a:r>
              <a:rPr lang="en"/>
              <a:t>    int smallAns = multiply(m,n-1);  /// m*(n-1)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 calculation</a:t>
            </a:r>
            <a:endParaRPr/>
          </a:p>
          <a:p>
            <a:pPr indent="0" lvl="0" marL="0" rtl="0" algn="l">
              <a:spcBef>
                <a:spcPts val="0"/>
              </a:spcBef>
              <a:spcAft>
                <a:spcPts val="0"/>
              </a:spcAft>
              <a:buNone/>
            </a:pPr>
            <a:r>
              <a:rPr lang="en"/>
              <a:t>    return smallAns + m;</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 main(){</a:t>
            </a:r>
            <a:endParaRPr/>
          </a:p>
          <a:p>
            <a:pPr indent="0" lvl="0" marL="0" rtl="0" algn="l">
              <a:spcBef>
                <a:spcPts val="0"/>
              </a:spcBef>
              <a:spcAft>
                <a:spcPts val="0"/>
              </a:spcAft>
              <a:buNone/>
            </a:pPr>
            <a:r>
              <a:rPr lang="en"/>
              <a:t>    cout&lt;&lt;multiply(3,5);</a:t>
            </a:r>
            <a:endParaRPr/>
          </a:p>
          <a:p>
            <a:pPr indent="0" lvl="0" marL="0" rtl="0" algn="l">
              <a:spcBef>
                <a:spcPts val="0"/>
              </a:spcBef>
              <a:spcAft>
                <a:spcPts val="0"/>
              </a:spcAft>
              <a:buNone/>
            </a:pPr>
            <a:r>
              <a:rPr lang="en"/>
              <a:t>    return 0;</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p:txBody>
      </p:sp>
      <p:sp>
        <p:nvSpPr>
          <p:cNvPr id="721" name="Google Shape;721;g283038813be_0_43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g283038813be_0_437"/>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9900"/>
                </a:solidFill>
              </a:rPr>
              <a:t>Counting the number of Zeros in a given number</a:t>
            </a:r>
            <a:endParaRPr>
              <a:solidFill>
                <a:srgbClr val="FF9900"/>
              </a:solidFill>
            </a:endParaRPr>
          </a:p>
        </p:txBody>
      </p:sp>
      <p:sp>
        <p:nvSpPr>
          <p:cNvPr id="727" name="Google Shape;727;g283038813be_0_437"/>
          <p:cNvSpPr txBox="1"/>
          <p:nvPr>
            <p:ph idx="1" type="body"/>
          </p:nvPr>
        </p:nvSpPr>
        <p:spPr>
          <a:xfrm>
            <a:off x="311700" y="1152475"/>
            <a:ext cx="4419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Build a function to calculate the number of zeros in a number n provided.</a:t>
            </a:r>
            <a:endParaRPr/>
          </a:p>
          <a:p>
            <a:pPr indent="0" lvl="0" marL="0" rtl="0" algn="l">
              <a:spcBef>
                <a:spcPts val="0"/>
              </a:spcBef>
              <a:spcAft>
                <a:spcPts val="0"/>
              </a:spcAft>
              <a:buNone/>
            </a:pPr>
            <a:r>
              <a:rPr lang="en"/>
              <a:t>For example n=12050, countZeros(n)=2</a:t>
            </a:r>
            <a:endParaRPr/>
          </a:p>
          <a:p>
            <a:pPr indent="0" lvl="0" marL="0" rtl="0" algn="l">
              <a:spcBef>
                <a:spcPts val="0"/>
              </a:spcBef>
              <a:spcAft>
                <a:spcPts val="0"/>
              </a:spcAft>
              <a:buNone/>
            </a:pPr>
            <a:r>
              <a:rPr lang="en"/>
              <a:t>Which means</a:t>
            </a:r>
            <a:endParaRPr/>
          </a:p>
          <a:p>
            <a:pPr indent="0" lvl="0" marL="0" rtl="0" algn="l">
              <a:spcBef>
                <a:spcPts val="0"/>
              </a:spcBef>
              <a:spcAft>
                <a:spcPts val="0"/>
              </a:spcAft>
              <a:buNone/>
            </a:pPr>
            <a:r>
              <a:rPr lang="en"/>
              <a:t>countZeros(n)=countZeros(n/10)</a:t>
            </a:r>
            <a:endParaRPr/>
          </a:p>
          <a:p>
            <a:pPr indent="0" lvl="0" marL="0" rtl="0" algn="l">
              <a:spcBef>
                <a:spcPts val="0"/>
              </a:spcBef>
              <a:spcAft>
                <a:spcPts val="0"/>
              </a:spcAft>
              <a:buNone/>
            </a:pPr>
            <a:r>
              <a:rPr lang="en"/>
              <a:t>if(lastNumber =0)</a:t>
            </a:r>
            <a:endParaRPr/>
          </a:p>
          <a:p>
            <a:pPr indent="0" lvl="0" marL="0" rtl="0" algn="l">
              <a:spcBef>
                <a:spcPts val="0"/>
              </a:spcBef>
              <a:spcAft>
                <a:spcPts val="0"/>
              </a:spcAft>
              <a:buNone/>
            </a:pPr>
            <a:r>
              <a:rPr lang="en"/>
              <a:t>Return smallAns+1;</a:t>
            </a:r>
            <a:endParaRPr/>
          </a:p>
          <a:p>
            <a:pPr indent="0" lvl="0" marL="0" rtl="0" algn="l">
              <a:spcBef>
                <a:spcPts val="0"/>
              </a:spcBef>
              <a:spcAft>
                <a:spcPts val="0"/>
              </a:spcAft>
              <a:buNone/>
            </a:pPr>
            <a:r>
              <a:rPr lang="en"/>
              <a:t>Else </a:t>
            </a:r>
            <a:endParaRPr/>
          </a:p>
          <a:p>
            <a:pPr indent="0" lvl="0" marL="0" rtl="0" algn="l">
              <a:spcBef>
                <a:spcPts val="0"/>
              </a:spcBef>
              <a:spcAft>
                <a:spcPts val="0"/>
              </a:spcAft>
              <a:buNone/>
            </a:pPr>
            <a:r>
              <a:rPr lang="en"/>
              <a:t>Return smallAns; </a:t>
            </a:r>
            <a:endParaRPr/>
          </a:p>
          <a:p>
            <a:pPr indent="0" lvl="0" marL="0" rtl="0" algn="l">
              <a:spcBef>
                <a:spcPts val="0"/>
              </a:spcBef>
              <a:spcAft>
                <a:spcPts val="0"/>
              </a:spcAft>
              <a:buNone/>
            </a:pPr>
            <a:r>
              <a:t/>
            </a:r>
            <a:endParaRPr/>
          </a:p>
        </p:txBody>
      </p:sp>
      <p:sp>
        <p:nvSpPr>
          <p:cNvPr id="728" name="Google Shape;728;g283038813be_0_437"/>
          <p:cNvSpPr txBox="1"/>
          <p:nvPr/>
        </p:nvSpPr>
        <p:spPr>
          <a:xfrm>
            <a:off x="4731300" y="798400"/>
            <a:ext cx="4101000" cy="43407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#include&lt;bits/stdc++.h&gt;</a:t>
            </a:r>
            <a:endParaRPr sz="1000"/>
          </a:p>
          <a:p>
            <a:pPr indent="0" lvl="0" marL="0" rtl="0" algn="l">
              <a:spcBef>
                <a:spcPts val="0"/>
              </a:spcBef>
              <a:spcAft>
                <a:spcPts val="0"/>
              </a:spcAft>
              <a:buNone/>
            </a:pPr>
            <a:r>
              <a:rPr lang="en" sz="1000"/>
              <a:t>using namespace std;</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int countZeroes(int n){</a:t>
            </a:r>
            <a:endParaRPr sz="1000"/>
          </a:p>
          <a:p>
            <a:pPr indent="0" lvl="0" marL="0" rtl="0" algn="l">
              <a:spcBef>
                <a:spcPts val="0"/>
              </a:spcBef>
              <a:spcAft>
                <a:spcPts val="0"/>
              </a:spcAft>
              <a:buNone/>
            </a:pPr>
            <a:r>
              <a:rPr lang="en" sz="1000"/>
              <a:t>  /// base</a:t>
            </a:r>
            <a:endParaRPr sz="1000"/>
          </a:p>
          <a:p>
            <a:pPr indent="0" lvl="0" marL="0" rtl="0" algn="l">
              <a:spcBef>
                <a:spcPts val="0"/>
              </a:spcBef>
              <a:spcAft>
                <a:spcPts val="0"/>
              </a:spcAft>
              <a:buNone/>
            </a:pPr>
            <a:r>
              <a:rPr lang="en" sz="1000"/>
              <a:t>  if(n==0){</a:t>
            </a:r>
            <a:endParaRPr sz="1000"/>
          </a:p>
          <a:p>
            <a:pPr indent="0" lvl="0" marL="0" rtl="0" algn="l">
              <a:spcBef>
                <a:spcPts val="0"/>
              </a:spcBef>
              <a:spcAft>
                <a:spcPts val="0"/>
              </a:spcAft>
              <a:buNone/>
            </a:pPr>
            <a:r>
              <a:rPr lang="en" sz="1000"/>
              <a:t>    return 0;</a:t>
            </a:r>
            <a:endParaRPr sz="1000"/>
          </a:p>
          <a:p>
            <a:pPr indent="0" lvl="0" marL="0" rtl="0" algn="l">
              <a:spcBef>
                <a:spcPts val="0"/>
              </a:spcBef>
              <a:spcAft>
                <a:spcPts val="0"/>
              </a:spcAft>
              <a:buNone/>
            </a:pPr>
            <a:r>
              <a:rPr lang="en" sz="1000"/>
              <a:t>  }</a:t>
            </a:r>
            <a:endParaRPr sz="1000"/>
          </a:p>
          <a:p>
            <a:pPr indent="0" lvl="0" marL="0" rtl="0" algn="l">
              <a:spcBef>
                <a:spcPts val="0"/>
              </a:spcBef>
              <a:spcAft>
                <a:spcPts val="0"/>
              </a:spcAft>
              <a:buNone/>
            </a:pPr>
            <a:r>
              <a:rPr lang="en" sz="1000"/>
              <a:t>  /// recursive</a:t>
            </a:r>
            <a:endParaRPr sz="1000"/>
          </a:p>
          <a:p>
            <a:pPr indent="0" lvl="0" marL="0" rtl="0" algn="l">
              <a:spcBef>
                <a:spcPts val="0"/>
              </a:spcBef>
              <a:spcAft>
                <a:spcPts val="0"/>
              </a:spcAft>
              <a:buNone/>
            </a:pPr>
            <a:r>
              <a:rPr lang="en" sz="1000"/>
              <a:t>  int smallAns = countZeroes(n/10);</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  /// calculation</a:t>
            </a:r>
            <a:endParaRPr sz="1000"/>
          </a:p>
          <a:p>
            <a:pPr indent="0" lvl="0" marL="0" rtl="0" algn="l">
              <a:spcBef>
                <a:spcPts val="0"/>
              </a:spcBef>
              <a:spcAft>
                <a:spcPts val="0"/>
              </a:spcAft>
              <a:buNone/>
            </a:pPr>
            <a:r>
              <a:rPr lang="en" sz="1000"/>
              <a:t>  int last_digit = n%10;</a:t>
            </a:r>
            <a:endParaRPr sz="1000"/>
          </a:p>
          <a:p>
            <a:pPr indent="0" lvl="0" marL="0" rtl="0" algn="l">
              <a:spcBef>
                <a:spcPts val="0"/>
              </a:spcBef>
              <a:spcAft>
                <a:spcPts val="0"/>
              </a:spcAft>
              <a:buNone/>
            </a:pPr>
            <a:r>
              <a:rPr lang="en" sz="1000"/>
              <a:t>  </a:t>
            </a:r>
            <a:endParaRPr sz="1000"/>
          </a:p>
          <a:p>
            <a:pPr indent="0" lvl="0" marL="0" rtl="0" algn="l">
              <a:spcBef>
                <a:spcPts val="0"/>
              </a:spcBef>
              <a:spcAft>
                <a:spcPts val="0"/>
              </a:spcAft>
              <a:buNone/>
            </a:pPr>
            <a:r>
              <a:rPr lang="en" sz="1000"/>
              <a:t>  if(last_digit==0){</a:t>
            </a:r>
            <a:endParaRPr sz="1000"/>
          </a:p>
          <a:p>
            <a:pPr indent="0" lvl="0" marL="0" rtl="0" algn="l">
              <a:spcBef>
                <a:spcPts val="0"/>
              </a:spcBef>
              <a:spcAft>
                <a:spcPts val="0"/>
              </a:spcAft>
              <a:buNone/>
            </a:pPr>
            <a:r>
              <a:rPr lang="en" sz="1000"/>
              <a:t>    return 1 + smallAns;</a:t>
            </a:r>
            <a:endParaRPr sz="1000"/>
          </a:p>
          <a:p>
            <a:pPr indent="0" lvl="0" marL="0" rtl="0" algn="l">
              <a:spcBef>
                <a:spcPts val="0"/>
              </a:spcBef>
              <a:spcAft>
                <a:spcPts val="0"/>
              </a:spcAft>
              <a:buNone/>
            </a:pPr>
            <a:r>
              <a:rPr lang="en" sz="1000"/>
              <a:t>  }else{</a:t>
            </a:r>
            <a:endParaRPr sz="1000"/>
          </a:p>
          <a:p>
            <a:pPr indent="0" lvl="0" marL="0" rtl="0" algn="l">
              <a:spcBef>
                <a:spcPts val="0"/>
              </a:spcBef>
              <a:spcAft>
                <a:spcPts val="0"/>
              </a:spcAft>
              <a:buNone/>
            </a:pPr>
            <a:r>
              <a:rPr lang="en" sz="1000"/>
              <a:t>    return smallAns;</a:t>
            </a:r>
            <a:endParaRPr sz="1000"/>
          </a:p>
          <a:p>
            <a:pPr indent="0" lvl="0" marL="0" rtl="0" algn="l">
              <a:spcBef>
                <a:spcPts val="0"/>
              </a:spcBef>
              <a:spcAft>
                <a:spcPts val="0"/>
              </a:spcAft>
              <a:buNone/>
            </a:pPr>
            <a:r>
              <a:rPr lang="en" sz="1000"/>
              <a:t>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int main(){</a:t>
            </a:r>
            <a:endParaRPr sz="1000"/>
          </a:p>
          <a:p>
            <a:pPr indent="0" lvl="0" marL="0" rtl="0" algn="l">
              <a:spcBef>
                <a:spcPts val="0"/>
              </a:spcBef>
              <a:spcAft>
                <a:spcPts val="0"/>
              </a:spcAft>
              <a:buNone/>
            </a:pPr>
            <a:r>
              <a:rPr lang="en" sz="1000"/>
              <a:t>    cout&lt;&lt;countZeroes(10320);</a:t>
            </a:r>
            <a:endParaRPr sz="1000"/>
          </a:p>
          <a:p>
            <a:pPr indent="0" lvl="0" marL="0" rtl="0" algn="l">
              <a:spcBef>
                <a:spcPts val="0"/>
              </a:spcBef>
              <a:spcAft>
                <a:spcPts val="0"/>
              </a:spcAft>
              <a:buNone/>
            </a:pPr>
            <a:r>
              <a:rPr lang="en" sz="1000"/>
              <a:t>    return 0;</a:t>
            </a:r>
            <a:endParaRPr sz="1000"/>
          </a:p>
          <a:p>
            <a:pPr indent="0" lvl="0" marL="0" rtl="0" algn="l">
              <a:spcBef>
                <a:spcPts val="0"/>
              </a:spcBef>
              <a:spcAft>
                <a:spcPts val="0"/>
              </a:spcAft>
              <a:buNone/>
            </a:pPr>
            <a:r>
              <a:rPr lang="en" sz="1000"/>
              <a:t>}</a:t>
            </a:r>
            <a:endParaRPr sz="1000"/>
          </a:p>
          <a:p>
            <a:pPr indent="0" lvl="0" marL="0" rtl="0" algn="l">
              <a:spcBef>
                <a:spcPts val="0"/>
              </a:spcBef>
              <a:spcAft>
                <a:spcPts val="0"/>
              </a:spcAft>
              <a:buNone/>
            </a:pPr>
            <a:r>
              <a:t/>
            </a:r>
            <a:endParaRPr sz="1000"/>
          </a:p>
        </p:txBody>
      </p:sp>
      <p:sp>
        <p:nvSpPr>
          <p:cNvPr id="729" name="Google Shape;729;g283038813be_0_43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g283038813be_0_443"/>
          <p:cNvSpPr txBox="1"/>
          <p:nvPr>
            <p:ph type="title"/>
          </p:nvPr>
        </p:nvSpPr>
        <p:spPr>
          <a:xfrm>
            <a:off x="231525" y="182500"/>
            <a:ext cx="4061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9900"/>
                </a:solidFill>
              </a:rPr>
              <a:t>Check if the array is sorted</a:t>
            </a:r>
            <a:endParaRPr>
              <a:solidFill>
                <a:srgbClr val="FF9900"/>
              </a:solidFill>
            </a:endParaRPr>
          </a:p>
        </p:txBody>
      </p:sp>
      <p:sp>
        <p:nvSpPr>
          <p:cNvPr id="735" name="Google Shape;735;g283038813be_0_443"/>
          <p:cNvSpPr txBox="1"/>
          <p:nvPr>
            <p:ph idx="1" type="body"/>
          </p:nvPr>
        </p:nvSpPr>
        <p:spPr>
          <a:xfrm>
            <a:off x="311700" y="847675"/>
            <a:ext cx="3526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Base case: if the number of elements is zero or 1, the array is sorted. Check if the first element is greater than the second , if so return false.</a:t>
            </a:r>
            <a:endParaRPr/>
          </a:p>
          <a:p>
            <a:pPr indent="0" lvl="0" marL="0" rtl="0" algn="l">
              <a:spcBef>
                <a:spcPts val="0"/>
              </a:spcBef>
              <a:spcAft>
                <a:spcPts val="0"/>
              </a:spcAft>
              <a:buNone/>
            </a:pPr>
            <a:r>
              <a:rPr lang="en"/>
              <a:t>If true; use the recursion for </a:t>
            </a:r>
            <a:r>
              <a:rPr b="1" lang="en"/>
              <a:t>small array</a:t>
            </a:r>
            <a:r>
              <a:rPr lang="en"/>
              <a:t> starting on the second index. The table on the right indicates the small arrays on each recursion by moving the </a:t>
            </a:r>
            <a:r>
              <a:rPr b="1" lang="en"/>
              <a:t>pointer </a:t>
            </a:r>
            <a:r>
              <a:rPr lang="en"/>
              <a:t>in our main array.</a:t>
            </a:r>
            <a:endParaRPr/>
          </a:p>
          <a:p>
            <a:pPr indent="0" lvl="0" marL="0" rtl="0" algn="l">
              <a:spcBef>
                <a:spcPts val="0"/>
              </a:spcBef>
              <a:spcAft>
                <a:spcPts val="0"/>
              </a:spcAft>
              <a:buNone/>
            </a:pPr>
            <a:r>
              <a:rPr lang="en"/>
              <a:t>If any small array is not sorted, the big array is not sorted.</a:t>
            </a:r>
            <a:endParaRPr/>
          </a:p>
        </p:txBody>
      </p:sp>
      <p:graphicFrame>
        <p:nvGraphicFramePr>
          <p:cNvPr id="736" name="Google Shape;736;g283038813be_0_443"/>
          <p:cNvGraphicFramePr/>
          <p:nvPr/>
        </p:nvGraphicFramePr>
        <p:xfrm>
          <a:off x="4068400" y="755200"/>
          <a:ext cx="3000000" cy="3000000"/>
        </p:xfrm>
        <a:graphic>
          <a:graphicData uri="http://schemas.openxmlformats.org/drawingml/2006/table">
            <a:tbl>
              <a:tblPr>
                <a:noFill/>
                <a:tableStyleId>{BF383963-E0AA-4E9D-A898-146F2279B2C8}</a:tableStyleId>
              </a:tblPr>
              <a:tblGrid>
                <a:gridCol w="1036625"/>
                <a:gridCol w="1036625"/>
                <a:gridCol w="1036625"/>
                <a:gridCol w="1036625"/>
                <a:gridCol w="1036625"/>
              </a:tblGrid>
              <a:tr h="434675">
                <a:tc>
                  <a:txBody>
                    <a:bodyPr/>
                    <a:lstStyle/>
                    <a:p>
                      <a:pPr indent="0" lvl="0" marL="0" rtl="0" algn="l">
                        <a:spcBef>
                          <a:spcPts val="0"/>
                        </a:spcBef>
                        <a:spcAft>
                          <a:spcPts val="0"/>
                        </a:spcAft>
                        <a:buNone/>
                      </a:pPr>
                      <a:r>
                        <a:rPr lang="en"/>
                        <a:t>1</a:t>
                      </a:r>
                      <a:endParaRPr/>
                    </a:p>
                  </a:txBody>
                  <a:tcPr marT="91425" marB="91425" marR="91425" marL="91425">
                    <a:solidFill>
                      <a:srgbClr val="D9EAD3"/>
                    </a:solidFill>
                  </a:tcPr>
                </a:tc>
                <a:tc>
                  <a:txBody>
                    <a:bodyPr/>
                    <a:lstStyle/>
                    <a:p>
                      <a:pPr indent="0" lvl="0" marL="0" rtl="0" algn="l">
                        <a:spcBef>
                          <a:spcPts val="0"/>
                        </a:spcBef>
                        <a:spcAft>
                          <a:spcPts val="0"/>
                        </a:spcAft>
                        <a:buNone/>
                      </a:pPr>
                      <a:r>
                        <a:rPr lang="en"/>
                        <a:t>2</a:t>
                      </a:r>
                      <a:endParaRPr/>
                    </a:p>
                  </a:txBody>
                  <a:tcPr marT="91425" marB="91425" marR="91425" marL="91425">
                    <a:solidFill>
                      <a:srgbClr val="D9EAD3"/>
                    </a:solidFill>
                  </a:tcPr>
                </a:tc>
                <a:tc>
                  <a:txBody>
                    <a:bodyPr/>
                    <a:lstStyle/>
                    <a:p>
                      <a:pPr indent="0" lvl="0" marL="0" rtl="0" algn="l">
                        <a:spcBef>
                          <a:spcPts val="0"/>
                        </a:spcBef>
                        <a:spcAft>
                          <a:spcPts val="0"/>
                        </a:spcAft>
                        <a:buNone/>
                      </a:pPr>
                      <a:r>
                        <a:rPr lang="en"/>
                        <a:t>3</a:t>
                      </a:r>
                      <a:endParaRPr/>
                    </a:p>
                  </a:txBody>
                  <a:tcPr marT="91425" marB="91425" marR="91425" marL="91425">
                    <a:solidFill>
                      <a:srgbClr val="D9EAD3"/>
                    </a:solidFill>
                  </a:tcPr>
                </a:tc>
                <a:tc>
                  <a:txBody>
                    <a:bodyPr/>
                    <a:lstStyle/>
                    <a:p>
                      <a:pPr indent="0" lvl="0" marL="0" rtl="0" algn="l">
                        <a:spcBef>
                          <a:spcPts val="0"/>
                        </a:spcBef>
                        <a:spcAft>
                          <a:spcPts val="0"/>
                        </a:spcAft>
                        <a:buNone/>
                      </a:pPr>
                      <a:r>
                        <a:rPr lang="en"/>
                        <a:t>4</a:t>
                      </a:r>
                      <a:endParaRPr/>
                    </a:p>
                  </a:txBody>
                  <a:tcPr marT="91425" marB="91425" marR="91425" marL="91425">
                    <a:solidFill>
                      <a:srgbClr val="D9EAD3"/>
                    </a:solidFill>
                  </a:tcPr>
                </a:tc>
                <a:tc>
                  <a:txBody>
                    <a:bodyPr/>
                    <a:lstStyle/>
                    <a:p>
                      <a:pPr indent="0" lvl="0" marL="0" rtl="0" algn="l">
                        <a:spcBef>
                          <a:spcPts val="0"/>
                        </a:spcBef>
                        <a:spcAft>
                          <a:spcPts val="0"/>
                        </a:spcAft>
                        <a:buNone/>
                      </a:pPr>
                      <a:r>
                        <a:rPr lang="en"/>
                        <a:t>5</a:t>
                      </a:r>
                      <a:endParaRPr/>
                    </a:p>
                  </a:txBody>
                  <a:tcPr marT="91425" marB="91425" marR="91425" marL="91425">
                    <a:solidFill>
                      <a:srgbClr val="D9EAD3"/>
                    </a:solidFill>
                  </a:tcPr>
                </a:tc>
              </a:tr>
              <a:tr h="434675">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solidFill>
                      <a:srgbClr val="D9EAD3"/>
                    </a:solidFill>
                  </a:tcPr>
                </a:tc>
                <a:tc>
                  <a:txBody>
                    <a:bodyPr/>
                    <a:lstStyle/>
                    <a:p>
                      <a:pPr indent="0" lvl="0" marL="0" rtl="0" algn="l">
                        <a:spcBef>
                          <a:spcPts val="0"/>
                        </a:spcBef>
                        <a:spcAft>
                          <a:spcPts val="0"/>
                        </a:spcAft>
                        <a:buNone/>
                      </a:pPr>
                      <a:r>
                        <a:rPr lang="en"/>
                        <a:t>3</a:t>
                      </a:r>
                      <a:endParaRPr/>
                    </a:p>
                  </a:txBody>
                  <a:tcPr marT="91425" marB="91425" marR="91425" marL="91425">
                    <a:solidFill>
                      <a:srgbClr val="D9EAD3"/>
                    </a:solidFill>
                  </a:tcPr>
                </a:tc>
                <a:tc>
                  <a:txBody>
                    <a:bodyPr/>
                    <a:lstStyle/>
                    <a:p>
                      <a:pPr indent="0" lvl="0" marL="0" rtl="0" algn="l">
                        <a:spcBef>
                          <a:spcPts val="0"/>
                        </a:spcBef>
                        <a:spcAft>
                          <a:spcPts val="0"/>
                        </a:spcAft>
                        <a:buNone/>
                      </a:pPr>
                      <a:r>
                        <a:rPr lang="en"/>
                        <a:t>4</a:t>
                      </a:r>
                      <a:endParaRPr/>
                    </a:p>
                  </a:txBody>
                  <a:tcPr marT="91425" marB="91425" marR="91425" marL="91425">
                    <a:solidFill>
                      <a:srgbClr val="D9EAD3"/>
                    </a:solidFill>
                  </a:tcPr>
                </a:tc>
                <a:tc>
                  <a:txBody>
                    <a:bodyPr/>
                    <a:lstStyle/>
                    <a:p>
                      <a:pPr indent="0" lvl="0" marL="0" rtl="0" algn="l">
                        <a:spcBef>
                          <a:spcPts val="0"/>
                        </a:spcBef>
                        <a:spcAft>
                          <a:spcPts val="0"/>
                        </a:spcAft>
                        <a:buNone/>
                      </a:pPr>
                      <a:r>
                        <a:rPr lang="en"/>
                        <a:t>5</a:t>
                      </a:r>
                      <a:endParaRPr/>
                    </a:p>
                  </a:txBody>
                  <a:tcPr marT="91425" marB="91425" marR="91425" marL="91425">
                    <a:solidFill>
                      <a:srgbClr val="D9EAD3"/>
                    </a:solidFill>
                  </a:tcPr>
                </a:tc>
              </a:tr>
              <a:tr h="434675">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t>3</a:t>
                      </a:r>
                      <a:endParaRPr/>
                    </a:p>
                  </a:txBody>
                  <a:tcPr marT="91425" marB="91425" marR="91425" marL="91425">
                    <a:solidFill>
                      <a:srgbClr val="D9EAD3"/>
                    </a:solidFill>
                  </a:tcPr>
                </a:tc>
                <a:tc>
                  <a:txBody>
                    <a:bodyPr/>
                    <a:lstStyle/>
                    <a:p>
                      <a:pPr indent="0" lvl="0" marL="0" rtl="0" algn="l">
                        <a:spcBef>
                          <a:spcPts val="0"/>
                        </a:spcBef>
                        <a:spcAft>
                          <a:spcPts val="0"/>
                        </a:spcAft>
                        <a:buNone/>
                      </a:pPr>
                      <a:r>
                        <a:rPr lang="en"/>
                        <a:t>4</a:t>
                      </a:r>
                      <a:endParaRPr/>
                    </a:p>
                  </a:txBody>
                  <a:tcPr marT="91425" marB="91425" marR="91425" marL="91425">
                    <a:solidFill>
                      <a:srgbClr val="D9EAD3"/>
                    </a:solidFill>
                  </a:tcPr>
                </a:tc>
                <a:tc>
                  <a:txBody>
                    <a:bodyPr/>
                    <a:lstStyle/>
                    <a:p>
                      <a:pPr indent="0" lvl="0" marL="0" rtl="0" algn="l">
                        <a:spcBef>
                          <a:spcPts val="0"/>
                        </a:spcBef>
                        <a:spcAft>
                          <a:spcPts val="0"/>
                        </a:spcAft>
                        <a:buNone/>
                      </a:pPr>
                      <a:r>
                        <a:rPr lang="en"/>
                        <a:t>5</a:t>
                      </a:r>
                      <a:endParaRPr/>
                    </a:p>
                  </a:txBody>
                  <a:tcPr marT="91425" marB="91425" marR="91425" marL="91425">
                    <a:solidFill>
                      <a:srgbClr val="D9EAD3"/>
                    </a:solidFill>
                  </a:tcPr>
                </a:tc>
              </a:tr>
              <a:tr h="434675">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t>3</a:t>
                      </a:r>
                      <a:endParaRPr/>
                    </a:p>
                  </a:txBody>
                  <a:tcPr marT="91425" marB="91425" marR="91425" marL="91425"/>
                </a:tc>
                <a:tc>
                  <a:txBody>
                    <a:bodyPr/>
                    <a:lstStyle/>
                    <a:p>
                      <a:pPr indent="0" lvl="0" marL="0" rtl="0" algn="l">
                        <a:spcBef>
                          <a:spcPts val="0"/>
                        </a:spcBef>
                        <a:spcAft>
                          <a:spcPts val="0"/>
                        </a:spcAft>
                        <a:buNone/>
                      </a:pPr>
                      <a:r>
                        <a:rPr lang="en"/>
                        <a:t>4</a:t>
                      </a:r>
                      <a:endParaRPr/>
                    </a:p>
                  </a:txBody>
                  <a:tcPr marT="91425" marB="91425" marR="91425" marL="91425">
                    <a:solidFill>
                      <a:srgbClr val="D9EAD3"/>
                    </a:solidFill>
                  </a:tcPr>
                </a:tc>
                <a:tc>
                  <a:txBody>
                    <a:bodyPr/>
                    <a:lstStyle/>
                    <a:p>
                      <a:pPr indent="0" lvl="0" marL="0" rtl="0" algn="l">
                        <a:spcBef>
                          <a:spcPts val="0"/>
                        </a:spcBef>
                        <a:spcAft>
                          <a:spcPts val="0"/>
                        </a:spcAft>
                        <a:buNone/>
                      </a:pPr>
                      <a:r>
                        <a:rPr lang="en"/>
                        <a:t>5</a:t>
                      </a:r>
                      <a:endParaRPr/>
                    </a:p>
                  </a:txBody>
                  <a:tcPr marT="91425" marB="91425" marR="91425" marL="91425">
                    <a:lnB cap="flat" cmpd="sng" w="9525">
                      <a:solidFill>
                        <a:srgbClr val="D9EAD3"/>
                      </a:solidFill>
                      <a:prstDash val="solid"/>
                      <a:round/>
                      <a:headEnd len="sm" w="sm" type="none"/>
                      <a:tailEnd len="sm" w="sm" type="none"/>
                    </a:lnB>
                    <a:solidFill>
                      <a:srgbClr val="D9EAD3"/>
                    </a:solidFill>
                  </a:tcPr>
                </a:tc>
              </a:tr>
              <a:tr h="434675">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t>3</a:t>
                      </a:r>
                      <a:endParaRPr/>
                    </a:p>
                  </a:txBody>
                  <a:tcPr marT="91425" marB="91425" marR="91425" marL="91425"/>
                </a:tc>
                <a:tc>
                  <a:txBody>
                    <a:bodyPr/>
                    <a:lstStyle/>
                    <a:p>
                      <a:pPr indent="0" lvl="0" marL="0" rtl="0" algn="l">
                        <a:spcBef>
                          <a:spcPts val="0"/>
                        </a:spcBef>
                        <a:spcAft>
                          <a:spcPts val="0"/>
                        </a:spcAft>
                        <a:buNone/>
                      </a:pPr>
                      <a:r>
                        <a:rPr lang="en"/>
                        <a:t>4</a:t>
                      </a:r>
                      <a:endParaRPr/>
                    </a:p>
                  </a:txBody>
                  <a:tcPr marT="91425" marB="91425" marR="91425" marL="91425">
                    <a:lnR cap="flat" cmpd="sng" w="9525">
                      <a:solidFill>
                        <a:srgbClr val="D9EAD3"/>
                      </a:solidFill>
                      <a:prstDash val="solid"/>
                      <a:round/>
                      <a:headEnd len="sm" w="sm" type="none"/>
                      <a:tailEnd len="sm" w="sm" type="none"/>
                    </a:lnR>
                  </a:tcPr>
                </a:tc>
                <a:tc>
                  <a:txBody>
                    <a:bodyPr/>
                    <a:lstStyle/>
                    <a:p>
                      <a:pPr indent="0" lvl="0" marL="0" rtl="0" algn="l">
                        <a:spcBef>
                          <a:spcPts val="0"/>
                        </a:spcBef>
                        <a:spcAft>
                          <a:spcPts val="0"/>
                        </a:spcAft>
                        <a:buNone/>
                      </a:pPr>
                      <a:r>
                        <a:rPr lang="en"/>
                        <a:t>5</a:t>
                      </a:r>
                      <a:endParaRPr/>
                    </a:p>
                  </a:txBody>
                  <a:tcPr marT="91425" marB="91425" marR="91425" marL="91425">
                    <a:lnL cap="flat" cmpd="sng" w="9525">
                      <a:solidFill>
                        <a:srgbClr val="D9EAD3"/>
                      </a:solidFill>
                      <a:prstDash val="solid"/>
                      <a:round/>
                      <a:headEnd len="sm" w="sm" type="none"/>
                      <a:tailEnd len="sm" w="sm" type="none"/>
                    </a:lnL>
                    <a:lnR cap="flat" cmpd="sng" w="9525">
                      <a:solidFill>
                        <a:srgbClr val="D9EAD3"/>
                      </a:solidFill>
                      <a:prstDash val="solid"/>
                      <a:round/>
                      <a:headEnd len="sm" w="sm" type="none"/>
                      <a:tailEnd len="sm" w="sm" type="none"/>
                    </a:lnR>
                    <a:lnT cap="flat" cmpd="sng" w="9525">
                      <a:solidFill>
                        <a:srgbClr val="D9EAD3"/>
                      </a:solidFill>
                      <a:prstDash val="solid"/>
                      <a:round/>
                      <a:headEnd len="sm" w="sm" type="none"/>
                      <a:tailEnd len="sm" w="sm" type="none"/>
                    </a:lnT>
                    <a:lnB cap="flat" cmpd="sng" w="9525">
                      <a:solidFill>
                        <a:srgbClr val="D9EAD3"/>
                      </a:solidFill>
                      <a:prstDash val="solid"/>
                      <a:round/>
                      <a:headEnd len="sm" w="sm" type="none"/>
                      <a:tailEnd len="sm" w="sm" type="none"/>
                    </a:lnB>
                    <a:solidFill>
                      <a:srgbClr val="D9EAD3"/>
                    </a:solidFill>
                  </a:tcPr>
                </a:tc>
              </a:tr>
            </a:tbl>
          </a:graphicData>
        </a:graphic>
      </p:graphicFrame>
      <p:sp>
        <p:nvSpPr>
          <p:cNvPr id="737" name="Google Shape;737;g283038813be_0_443"/>
          <p:cNvSpPr txBox="1"/>
          <p:nvPr/>
        </p:nvSpPr>
        <p:spPr>
          <a:xfrm>
            <a:off x="5481300" y="445500"/>
            <a:ext cx="425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a:p>
        </p:txBody>
      </p:sp>
      <p:sp>
        <p:nvSpPr>
          <p:cNvPr id="738" name="Google Shape;738;g283038813be_0_443"/>
          <p:cNvSpPr txBox="1"/>
          <p:nvPr/>
        </p:nvSpPr>
        <p:spPr>
          <a:xfrm>
            <a:off x="6243300" y="445500"/>
            <a:ext cx="425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2</a:t>
            </a:r>
            <a:endParaRPr/>
          </a:p>
        </p:txBody>
      </p:sp>
      <p:sp>
        <p:nvSpPr>
          <p:cNvPr id="739" name="Google Shape;739;g283038813be_0_443"/>
          <p:cNvSpPr txBox="1"/>
          <p:nvPr/>
        </p:nvSpPr>
        <p:spPr>
          <a:xfrm>
            <a:off x="4490700" y="369300"/>
            <a:ext cx="425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0</a:t>
            </a:r>
            <a:endParaRPr/>
          </a:p>
        </p:txBody>
      </p:sp>
      <p:sp>
        <p:nvSpPr>
          <p:cNvPr id="740" name="Google Shape;740;g283038813be_0_44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g283038813be_0_452"/>
          <p:cNvSpPr txBox="1"/>
          <p:nvPr/>
        </p:nvSpPr>
        <p:spPr>
          <a:xfrm>
            <a:off x="139400" y="479825"/>
            <a:ext cx="4305600" cy="43869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t>#include&lt;iostream&gt;</a:t>
            </a:r>
            <a:endParaRPr sz="1300"/>
          </a:p>
          <a:p>
            <a:pPr indent="0" lvl="0" marL="0" rtl="0" algn="l">
              <a:spcBef>
                <a:spcPts val="0"/>
              </a:spcBef>
              <a:spcAft>
                <a:spcPts val="0"/>
              </a:spcAft>
              <a:buNone/>
            </a:pPr>
            <a:r>
              <a:rPr lang="en" sz="1300"/>
              <a:t>using namespace std;</a:t>
            </a:r>
            <a:endParaRPr sz="1300"/>
          </a:p>
          <a:p>
            <a:pPr indent="0" lvl="0" marL="0" rtl="0" algn="l">
              <a:spcBef>
                <a:spcPts val="0"/>
              </a:spcBef>
              <a:spcAft>
                <a:spcPts val="0"/>
              </a:spcAft>
              <a:buNone/>
            </a:pPr>
            <a:r>
              <a:rPr lang="en" sz="1300"/>
              <a:t>bool isSorted(int a[], int n){</a:t>
            </a:r>
            <a:endParaRPr sz="1300"/>
          </a:p>
          <a:p>
            <a:pPr indent="0" lvl="0" marL="0" rtl="0" algn="l">
              <a:spcBef>
                <a:spcPts val="0"/>
              </a:spcBef>
              <a:spcAft>
                <a:spcPts val="0"/>
              </a:spcAft>
              <a:buNone/>
            </a:pPr>
            <a:r>
              <a:rPr lang="en" sz="1300"/>
              <a:t>   if(n==0 || n==1){</a:t>
            </a:r>
            <a:endParaRPr sz="1300"/>
          </a:p>
          <a:p>
            <a:pPr indent="0" lvl="0" marL="0" rtl="0" algn="l">
              <a:spcBef>
                <a:spcPts val="0"/>
              </a:spcBef>
              <a:spcAft>
                <a:spcPts val="0"/>
              </a:spcAft>
              <a:buNone/>
            </a:pPr>
            <a:r>
              <a:rPr lang="en" sz="1300"/>
              <a:t>    return true;</a:t>
            </a:r>
            <a:endParaRPr sz="1300"/>
          </a:p>
          <a:p>
            <a:pPr indent="0" lvl="0" marL="0" rtl="0" algn="l">
              <a:spcBef>
                <a:spcPts val="0"/>
              </a:spcBef>
              <a:spcAft>
                <a:spcPts val="0"/>
              </a:spcAft>
              <a:buNone/>
            </a:pPr>
            <a:r>
              <a:rPr lang="en" sz="1300"/>
              <a:t>   }</a:t>
            </a:r>
            <a:endParaRPr sz="1300"/>
          </a:p>
          <a:p>
            <a:pPr indent="0" lvl="0" marL="0" rtl="0" algn="l">
              <a:spcBef>
                <a:spcPts val="0"/>
              </a:spcBef>
              <a:spcAft>
                <a:spcPts val="0"/>
              </a:spcAft>
              <a:buNone/>
            </a:pPr>
            <a:r>
              <a:rPr lang="en" sz="1300"/>
              <a:t>   if(a[0] &gt; a[1]){</a:t>
            </a:r>
            <a:endParaRPr sz="1300"/>
          </a:p>
          <a:p>
            <a:pPr indent="0" lvl="0" marL="0" rtl="0" algn="l">
              <a:spcBef>
                <a:spcPts val="0"/>
              </a:spcBef>
              <a:spcAft>
                <a:spcPts val="0"/>
              </a:spcAft>
              <a:buNone/>
            </a:pPr>
            <a:r>
              <a:rPr lang="en" sz="1300"/>
              <a:t>    return false;</a:t>
            </a:r>
            <a:endParaRPr sz="1300"/>
          </a:p>
          <a:p>
            <a:pPr indent="0" lvl="0" marL="0" rtl="0" algn="l">
              <a:spcBef>
                <a:spcPts val="0"/>
              </a:spcBef>
              <a:spcAft>
                <a:spcPts val="0"/>
              </a:spcAft>
              <a:buNone/>
            </a:pPr>
            <a:r>
              <a:rPr lang="en" sz="1300"/>
              <a:t>   }</a:t>
            </a:r>
            <a:endParaRPr sz="1300"/>
          </a:p>
          <a:p>
            <a:pPr indent="0" lvl="0" marL="0" rtl="0" algn="l">
              <a:spcBef>
                <a:spcPts val="0"/>
              </a:spcBef>
              <a:spcAft>
                <a:spcPts val="0"/>
              </a:spcAft>
              <a:buNone/>
            </a:pPr>
            <a:r>
              <a:rPr lang="en" sz="1300"/>
              <a:t>   return isSorted(a+1 , n-1);;</a:t>
            </a:r>
            <a:endParaRPr sz="1300"/>
          </a:p>
          <a:p>
            <a:pPr indent="0" lvl="0" marL="0" rtl="0" algn="l">
              <a:spcBef>
                <a:spcPts val="0"/>
              </a:spcBef>
              <a:spcAft>
                <a:spcPts val="0"/>
              </a:spcAft>
              <a:buNone/>
            </a:pPr>
            <a:r>
              <a:rPr lang="en" sz="1300"/>
              <a:t>}</a:t>
            </a:r>
            <a:endParaRPr sz="1300"/>
          </a:p>
          <a:p>
            <a:pPr indent="0" lvl="0" marL="0" rtl="0" algn="l">
              <a:spcBef>
                <a:spcPts val="0"/>
              </a:spcBef>
              <a:spcAft>
                <a:spcPts val="0"/>
              </a:spcAft>
              <a:buNone/>
            </a:pPr>
            <a:r>
              <a:rPr lang="en" sz="1300"/>
              <a:t>// Alternatively</a:t>
            </a:r>
            <a:endParaRPr sz="1300"/>
          </a:p>
          <a:p>
            <a:pPr indent="0" lvl="0" marL="0" rtl="0" algn="l">
              <a:spcBef>
                <a:spcPts val="0"/>
              </a:spcBef>
              <a:spcAft>
                <a:spcPts val="0"/>
              </a:spcAft>
              <a:buNone/>
            </a:pPr>
            <a:r>
              <a:rPr lang="en" sz="1300"/>
              <a:t>bool isSorted2(int a[],int n){</a:t>
            </a:r>
            <a:endParaRPr sz="1300"/>
          </a:p>
          <a:p>
            <a:pPr indent="0" lvl="0" marL="0" rtl="0" algn="l">
              <a:spcBef>
                <a:spcPts val="0"/>
              </a:spcBef>
              <a:spcAft>
                <a:spcPts val="0"/>
              </a:spcAft>
              <a:buNone/>
            </a:pPr>
            <a:r>
              <a:rPr lang="en" sz="1300"/>
              <a:t>   if(n==0 || n==1){</a:t>
            </a:r>
            <a:endParaRPr sz="1300"/>
          </a:p>
          <a:p>
            <a:pPr indent="0" lvl="0" marL="0" rtl="0" algn="l">
              <a:spcBef>
                <a:spcPts val="0"/>
              </a:spcBef>
              <a:spcAft>
                <a:spcPts val="0"/>
              </a:spcAft>
              <a:buNone/>
            </a:pPr>
            <a:r>
              <a:rPr lang="en" sz="1300"/>
              <a:t>       return true;</a:t>
            </a:r>
            <a:endParaRPr sz="1300"/>
          </a:p>
          <a:p>
            <a:pPr indent="0" lvl="0" marL="0" rtl="0" algn="l">
              <a:spcBef>
                <a:spcPts val="0"/>
              </a:spcBef>
              <a:spcAft>
                <a:spcPts val="0"/>
              </a:spcAft>
              <a:buNone/>
            </a:pPr>
            <a:r>
              <a:rPr lang="en" sz="1300"/>
              <a:t>   }</a:t>
            </a:r>
            <a:endParaRPr sz="1300"/>
          </a:p>
          <a:p>
            <a:pPr indent="0" lvl="0" marL="0" rtl="0" algn="l">
              <a:spcBef>
                <a:spcPts val="0"/>
              </a:spcBef>
              <a:spcAft>
                <a:spcPts val="0"/>
              </a:spcAft>
              <a:buNone/>
            </a:pPr>
            <a:r>
              <a:rPr lang="en" sz="1300"/>
              <a:t>   if(a[n-2] &gt; a[n-1]){</a:t>
            </a:r>
            <a:endParaRPr sz="1300"/>
          </a:p>
          <a:p>
            <a:pPr indent="0" lvl="0" marL="0" rtl="0" algn="l">
              <a:spcBef>
                <a:spcPts val="0"/>
              </a:spcBef>
              <a:spcAft>
                <a:spcPts val="0"/>
              </a:spcAft>
              <a:buNone/>
            </a:pPr>
            <a:r>
              <a:rPr lang="en" sz="1300"/>
              <a:t>    return false;</a:t>
            </a:r>
            <a:endParaRPr sz="1300"/>
          </a:p>
          <a:p>
            <a:pPr indent="0" lvl="0" marL="0" rtl="0" algn="l">
              <a:spcBef>
                <a:spcPts val="0"/>
              </a:spcBef>
              <a:spcAft>
                <a:spcPts val="0"/>
              </a:spcAft>
              <a:buNone/>
            </a:pPr>
            <a:r>
              <a:rPr lang="en" sz="1300"/>
              <a:t>   }</a:t>
            </a:r>
            <a:endParaRPr sz="1300"/>
          </a:p>
          <a:p>
            <a:pPr indent="0" lvl="0" marL="0" rtl="0" algn="l">
              <a:spcBef>
                <a:spcPts val="0"/>
              </a:spcBef>
              <a:spcAft>
                <a:spcPts val="0"/>
              </a:spcAft>
              <a:buNone/>
            </a:pPr>
            <a:r>
              <a:rPr lang="en" sz="1300"/>
              <a:t>   return isSorted2(a,n-1);</a:t>
            </a:r>
            <a:endParaRPr sz="1300"/>
          </a:p>
          <a:p>
            <a:pPr indent="0" lvl="0" marL="0" rtl="0" algn="l">
              <a:spcBef>
                <a:spcPts val="0"/>
              </a:spcBef>
              <a:spcAft>
                <a:spcPts val="0"/>
              </a:spcAft>
              <a:buNone/>
            </a:pPr>
            <a:r>
              <a:rPr lang="en" sz="1300"/>
              <a:t>}</a:t>
            </a:r>
            <a:endParaRPr sz="1300"/>
          </a:p>
        </p:txBody>
      </p:sp>
      <p:sp>
        <p:nvSpPr>
          <p:cNvPr id="746" name="Google Shape;746;g283038813be_0_452"/>
          <p:cNvSpPr txBox="1"/>
          <p:nvPr/>
        </p:nvSpPr>
        <p:spPr>
          <a:xfrm>
            <a:off x="4524900" y="780825"/>
            <a:ext cx="3769200" cy="29553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rPr>
              <a:t>int main(){</a:t>
            </a:r>
            <a:endParaRPr sz="2000">
              <a:solidFill>
                <a:schemeClr val="dk1"/>
              </a:solidFill>
            </a:endParaRPr>
          </a:p>
          <a:p>
            <a:pPr indent="0" lvl="0" marL="0" rtl="0" algn="l">
              <a:spcBef>
                <a:spcPts val="0"/>
              </a:spcBef>
              <a:spcAft>
                <a:spcPts val="0"/>
              </a:spcAft>
              <a:buNone/>
            </a:pPr>
            <a:r>
              <a:rPr lang="en" sz="2000">
                <a:solidFill>
                  <a:schemeClr val="dk1"/>
                </a:solidFill>
              </a:rPr>
              <a:t>  int a[] = {1,2,3,4,5};</a:t>
            </a:r>
            <a:endParaRPr sz="2000">
              <a:solidFill>
                <a:schemeClr val="dk1"/>
              </a:solidFill>
            </a:endParaRPr>
          </a:p>
          <a:p>
            <a:pPr indent="0" lvl="0" marL="0" rtl="0" algn="l">
              <a:spcBef>
                <a:spcPts val="0"/>
              </a:spcBef>
              <a:spcAft>
                <a:spcPts val="0"/>
              </a:spcAft>
              <a:buNone/>
            </a:pPr>
            <a:r>
              <a:rPr lang="en" sz="2000">
                <a:solidFill>
                  <a:schemeClr val="dk1"/>
                </a:solidFill>
              </a:rPr>
              <a:t>  if(isSorted(a,5)){</a:t>
            </a:r>
            <a:endParaRPr sz="2000">
              <a:solidFill>
                <a:schemeClr val="dk1"/>
              </a:solidFill>
            </a:endParaRPr>
          </a:p>
          <a:p>
            <a:pPr indent="0" lvl="0" marL="0" rtl="0" algn="l">
              <a:spcBef>
                <a:spcPts val="0"/>
              </a:spcBef>
              <a:spcAft>
                <a:spcPts val="0"/>
              </a:spcAft>
              <a:buNone/>
            </a:pPr>
            <a:r>
              <a:rPr lang="en" sz="2000">
                <a:solidFill>
                  <a:schemeClr val="dk1"/>
                </a:solidFill>
              </a:rPr>
              <a:t>    cout&lt;&lt;"Sorted"&lt;&lt;endl;</a:t>
            </a:r>
            <a:endParaRPr sz="2000">
              <a:solidFill>
                <a:schemeClr val="dk1"/>
              </a:solidFill>
            </a:endParaRPr>
          </a:p>
          <a:p>
            <a:pPr indent="0" lvl="0" marL="0" rtl="0" algn="l">
              <a:spcBef>
                <a:spcPts val="0"/>
              </a:spcBef>
              <a:spcAft>
                <a:spcPts val="0"/>
              </a:spcAft>
              <a:buNone/>
            </a:pPr>
            <a:r>
              <a:rPr lang="en" sz="2000">
                <a:solidFill>
                  <a:schemeClr val="dk1"/>
                </a:solidFill>
              </a:rPr>
              <a:t>  }else{</a:t>
            </a:r>
            <a:endParaRPr sz="2000">
              <a:solidFill>
                <a:schemeClr val="dk1"/>
              </a:solidFill>
            </a:endParaRPr>
          </a:p>
          <a:p>
            <a:pPr indent="0" lvl="0" marL="0" rtl="0" algn="l">
              <a:spcBef>
                <a:spcPts val="0"/>
              </a:spcBef>
              <a:spcAft>
                <a:spcPts val="0"/>
              </a:spcAft>
              <a:buNone/>
            </a:pPr>
            <a:r>
              <a:rPr lang="en" sz="2000">
                <a:solidFill>
                  <a:schemeClr val="dk1"/>
                </a:solidFill>
              </a:rPr>
              <a:t>    cout&lt;&lt;"Not Sorted"&lt;&lt;endl;</a:t>
            </a:r>
            <a:endParaRPr sz="2000">
              <a:solidFill>
                <a:schemeClr val="dk1"/>
              </a:solidFill>
            </a:endParaRPr>
          </a:p>
          <a:p>
            <a:pPr indent="0" lvl="0" marL="0" rtl="0" algn="l">
              <a:spcBef>
                <a:spcPts val="0"/>
              </a:spcBef>
              <a:spcAft>
                <a:spcPts val="0"/>
              </a:spcAft>
              <a:buNone/>
            </a:pPr>
            <a:r>
              <a:rPr lang="en" sz="2000">
                <a:solidFill>
                  <a:schemeClr val="dk1"/>
                </a:solidFill>
              </a:rPr>
              <a:t>  }</a:t>
            </a:r>
            <a:endParaRPr sz="2000">
              <a:solidFill>
                <a:schemeClr val="dk1"/>
              </a:solidFill>
            </a:endParaRPr>
          </a:p>
          <a:p>
            <a:pPr indent="0" lvl="0" marL="0" rtl="0" algn="l">
              <a:spcBef>
                <a:spcPts val="0"/>
              </a:spcBef>
              <a:spcAft>
                <a:spcPts val="0"/>
              </a:spcAft>
              <a:buNone/>
            </a:pPr>
            <a:r>
              <a:rPr lang="en" sz="2000">
                <a:solidFill>
                  <a:schemeClr val="dk1"/>
                </a:solidFill>
              </a:rPr>
              <a:t>  return 0;</a:t>
            </a:r>
            <a:endParaRPr sz="2000">
              <a:solidFill>
                <a:schemeClr val="dk1"/>
              </a:solidFill>
            </a:endParaRPr>
          </a:p>
          <a:p>
            <a:pPr indent="0" lvl="0" marL="0" rtl="0" algn="l">
              <a:spcBef>
                <a:spcPts val="0"/>
              </a:spcBef>
              <a:spcAft>
                <a:spcPts val="0"/>
              </a:spcAft>
              <a:buNone/>
            </a:pPr>
            <a:r>
              <a:rPr lang="en" sz="2000">
                <a:solidFill>
                  <a:schemeClr val="dk1"/>
                </a:solidFill>
              </a:rPr>
              <a:t>}</a:t>
            </a:r>
            <a:endParaRPr sz="2000">
              <a:solidFill>
                <a:schemeClr val="dk1"/>
              </a:solidFill>
            </a:endParaRPr>
          </a:p>
        </p:txBody>
      </p:sp>
      <p:sp>
        <p:nvSpPr>
          <p:cNvPr id="747" name="Google Shape;747;g283038813be_0_452"/>
          <p:cNvSpPr txBox="1"/>
          <p:nvPr/>
        </p:nvSpPr>
        <p:spPr>
          <a:xfrm>
            <a:off x="756375" y="69525"/>
            <a:ext cx="785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9900"/>
                </a:solidFill>
              </a:rPr>
              <a:t>C++ Program to check if the array is sorted.</a:t>
            </a:r>
            <a:endParaRPr b="1">
              <a:solidFill>
                <a:srgbClr val="FF9900"/>
              </a:solidFill>
            </a:endParaRPr>
          </a:p>
        </p:txBody>
      </p:sp>
      <p:sp>
        <p:nvSpPr>
          <p:cNvPr id="748" name="Google Shape;748;g283038813be_0_45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283038813be_0_458"/>
          <p:cNvSpPr txBox="1"/>
          <p:nvPr>
            <p:ph type="title"/>
          </p:nvPr>
        </p:nvSpPr>
        <p:spPr>
          <a:xfrm>
            <a:off x="231500" y="1013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9900"/>
                </a:solidFill>
              </a:rPr>
              <a:t>Sum of the array using recursion</a:t>
            </a:r>
            <a:endParaRPr>
              <a:solidFill>
                <a:srgbClr val="FF9900"/>
              </a:solidFill>
            </a:endParaRPr>
          </a:p>
        </p:txBody>
      </p:sp>
      <p:sp>
        <p:nvSpPr>
          <p:cNvPr id="754" name="Google Shape;754;g283038813be_0_458"/>
          <p:cNvSpPr txBox="1"/>
          <p:nvPr>
            <p:ph idx="1" type="body"/>
          </p:nvPr>
        </p:nvSpPr>
        <p:spPr>
          <a:xfrm>
            <a:off x="311700" y="911900"/>
            <a:ext cx="4260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return type is integer as the sum of the array.</a:t>
            </a:r>
            <a:endParaRPr/>
          </a:p>
          <a:p>
            <a:pPr indent="0" lvl="0" marL="0" rtl="0" algn="l">
              <a:spcBef>
                <a:spcPts val="0"/>
              </a:spcBef>
              <a:spcAft>
                <a:spcPts val="0"/>
              </a:spcAft>
              <a:buNone/>
            </a:pPr>
            <a:r>
              <a:rPr lang="en"/>
              <a:t>We are going to break the problem into smaller problem</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We will return the sum of small array in green and add the first element</a:t>
            </a:r>
            <a:endParaRPr/>
          </a:p>
        </p:txBody>
      </p:sp>
      <p:graphicFrame>
        <p:nvGraphicFramePr>
          <p:cNvPr id="755" name="Google Shape;755;g283038813be_0_458"/>
          <p:cNvGraphicFramePr/>
          <p:nvPr/>
        </p:nvGraphicFramePr>
        <p:xfrm>
          <a:off x="379750" y="2730850"/>
          <a:ext cx="3000000" cy="3000000"/>
        </p:xfrm>
        <a:graphic>
          <a:graphicData uri="http://schemas.openxmlformats.org/drawingml/2006/table">
            <a:tbl>
              <a:tblPr>
                <a:noFill/>
                <a:tableStyleId>{BF383963-E0AA-4E9D-A898-146F2279B2C8}</a:tableStyleId>
              </a:tblPr>
              <a:tblGrid>
                <a:gridCol w="877450"/>
                <a:gridCol w="877450"/>
                <a:gridCol w="877450"/>
                <a:gridCol w="877450"/>
                <a:gridCol w="877450"/>
              </a:tblGrid>
              <a:tr h="396200">
                <a:tc>
                  <a:txBody>
                    <a:bodyPr/>
                    <a:lstStyle/>
                    <a:p>
                      <a:pPr indent="0" lvl="0" marL="0" rtl="0" algn="l">
                        <a:spcBef>
                          <a:spcPts val="0"/>
                        </a:spcBef>
                        <a:spcAft>
                          <a:spcPts val="0"/>
                        </a:spcAft>
                        <a:buNone/>
                      </a:pPr>
                      <a:r>
                        <a:rPr lang="en"/>
                        <a:t>a[0]</a:t>
                      </a:r>
                      <a:endParaRPr/>
                    </a:p>
                  </a:txBody>
                  <a:tcPr marT="91425" marB="91425" marR="91425" marL="91425"/>
                </a:tc>
                <a:tc>
                  <a:txBody>
                    <a:bodyPr/>
                    <a:lstStyle/>
                    <a:p>
                      <a:pPr indent="0" lvl="0" marL="0" rtl="0" algn="l">
                        <a:spcBef>
                          <a:spcPts val="0"/>
                        </a:spcBef>
                        <a:spcAft>
                          <a:spcPts val="0"/>
                        </a:spcAft>
                        <a:buNone/>
                      </a:pPr>
                      <a:r>
                        <a:rPr lang="en"/>
                        <a:t>small</a:t>
                      </a:r>
                      <a:endParaRPr/>
                    </a:p>
                  </a:txBody>
                  <a:tcPr marT="91425" marB="91425" marR="91425" marL="91425">
                    <a:solidFill>
                      <a:srgbClr val="D9EAD3"/>
                    </a:solidFill>
                  </a:tcPr>
                </a:tc>
                <a:tc>
                  <a:txBody>
                    <a:bodyPr/>
                    <a:lstStyle/>
                    <a:p>
                      <a:pPr indent="0" lvl="0" marL="0" rtl="0" algn="l">
                        <a:spcBef>
                          <a:spcPts val="0"/>
                        </a:spcBef>
                        <a:spcAft>
                          <a:spcPts val="0"/>
                        </a:spcAft>
                        <a:buNone/>
                      </a:pPr>
                      <a:r>
                        <a:rPr lang="en"/>
                        <a:t>ar</a:t>
                      </a:r>
                      <a:endParaRPr/>
                    </a:p>
                  </a:txBody>
                  <a:tcPr marT="91425" marB="91425" marR="91425" marL="91425">
                    <a:solidFill>
                      <a:srgbClr val="D9EAD3"/>
                    </a:solidFill>
                  </a:tcPr>
                </a:tc>
                <a:tc>
                  <a:txBody>
                    <a:bodyPr/>
                    <a:lstStyle/>
                    <a:p>
                      <a:pPr indent="0" lvl="0" marL="0" rtl="0" algn="l">
                        <a:spcBef>
                          <a:spcPts val="0"/>
                        </a:spcBef>
                        <a:spcAft>
                          <a:spcPts val="0"/>
                        </a:spcAft>
                        <a:buNone/>
                      </a:pPr>
                      <a:r>
                        <a:rPr lang="en"/>
                        <a:t>ra</a:t>
                      </a:r>
                      <a:endParaRPr/>
                    </a:p>
                  </a:txBody>
                  <a:tcPr marT="91425" marB="91425" marR="91425" marL="91425">
                    <a:solidFill>
                      <a:srgbClr val="D9EAD3"/>
                    </a:solidFill>
                  </a:tcPr>
                </a:tc>
                <a:tc>
                  <a:txBody>
                    <a:bodyPr/>
                    <a:lstStyle/>
                    <a:p>
                      <a:pPr indent="0" lvl="0" marL="0" rtl="0" algn="l">
                        <a:spcBef>
                          <a:spcPts val="0"/>
                        </a:spcBef>
                        <a:spcAft>
                          <a:spcPts val="0"/>
                        </a:spcAft>
                        <a:buNone/>
                      </a:pPr>
                      <a:r>
                        <a:rPr lang="en"/>
                        <a:t>y</a:t>
                      </a:r>
                      <a:endParaRPr/>
                    </a:p>
                  </a:txBody>
                  <a:tcPr marT="91425" marB="91425" marR="91425" marL="91425">
                    <a:solidFill>
                      <a:srgbClr val="D9EAD3"/>
                    </a:solidFill>
                  </a:tcPr>
                </a:tc>
              </a:tr>
            </a:tbl>
          </a:graphicData>
        </a:graphic>
      </p:graphicFrame>
      <p:sp>
        <p:nvSpPr>
          <p:cNvPr id="756" name="Google Shape;756;g283038813be_0_458"/>
          <p:cNvSpPr txBox="1"/>
          <p:nvPr/>
        </p:nvSpPr>
        <p:spPr>
          <a:xfrm>
            <a:off x="5212225" y="651925"/>
            <a:ext cx="3931800" cy="40635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#include&lt;iostream&gt;</a:t>
            </a:r>
            <a:endParaRPr/>
          </a:p>
          <a:p>
            <a:pPr indent="0" lvl="0" marL="0" rtl="0" algn="l">
              <a:spcBef>
                <a:spcPts val="0"/>
              </a:spcBef>
              <a:spcAft>
                <a:spcPts val="0"/>
              </a:spcAft>
              <a:buNone/>
            </a:pPr>
            <a:r>
              <a:rPr lang="en"/>
              <a:t>using namespace std;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 sumOfArray(int a[], int n){</a:t>
            </a:r>
            <a:endParaRPr/>
          </a:p>
          <a:p>
            <a:pPr indent="0" lvl="0" marL="0" rtl="0" algn="l">
              <a:spcBef>
                <a:spcPts val="0"/>
              </a:spcBef>
              <a:spcAft>
                <a:spcPts val="0"/>
              </a:spcAft>
              <a:buNone/>
            </a:pPr>
            <a:r>
              <a:rPr lang="en"/>
              <a:t>Base case</a:t>
            </a:r>
            <a:endParaRPr/>
          </a:p>
          <a:p>
            <a:pPr indent="0" lvl="0" marL="0" rtl="0" algn="l">
              <a:spcBef>
                <a:spcPts val="0"/>
              </a:spcBef>
              <a:spcAft>
                <a:spcPts val="0"/>
              </a:spcAft>
              <a:buNone/>
            </a:pPr>
            <a:r>
              <a:rPr lang="en"/>
              <a:t>   if(n==0){</a:t>
            </a:r>
            <a:endParaRPr/>
          </a:p>
          <a:p>
            <a:pPr indent="0" lvl="0" marL="0" rtl="0" algn="l">
              <a:spcBef>
                <a:spcPts val="0"/>
              </a:spcBef>
              <a:spcAft>
                <a:spcPts val="0"/>
              </a:spcAft>
              <a:buNone/>
            </a:pPr>
            <a:r>
              <a:rPr lang="en"/>
              <a:t>    return 0;</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return a[0] + sumOfArray(a+1 , n-1);</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 main(){</a:t>
            </a:r>
            <a:endParaRPr/>
          </a:p>
          <a:p>
            <a:pPr indent="0" lvl="0" marL="0" rtl="0" algn="l">
              <a:spcBef>
                <a:spcPts val="0"/>
              </a:spcBef>
              <a:spcAft>
                <a:spcPts val="0"/>
              </a:spcAft>
              <a:buNone/>
            </a:pPr>
            <a:r>
              <a:rPr lang="en"/>
              <a:t>  int a[] = {1,2,3,4,5};</a:t>
            </a:r>
            <a:endParaRPr/>
          </a:p>
          <a:p>
            <a:pPr indent="0" lvl="0" marL="0" rtl="0" algn="l">
              <a:spcBef>
                <a:spcPts val="0"/>
              </a:spcBef>
              <a:spcAft>
                <a:spcPts val="0"/>
              </a:spcAft>
              <a:buNone/>
            </a:pPr>
            <a:r>
              <a:rPr lang="en"/>
              <a:t>  cout&lt;&lt;sumOfArray(a, 5)&lt;&lt;endl;;</a:t>
            </a:r>
            <a:endParaRPr/>
          </a:p>
          <a:p>
            <a:pPr indent="0" lvl="0" marL="0" rtl="0" algn="l">
              <a:spcBef>
                <a:spcPts val="0"/>
              </a:spcBef>
              <a:spcAft>
                <a:spcPts val="0"/>
              </a:spcAft>
              <a:buNone/>
            </a:pPr>
            <a:r>
              <a:rPr lang="en"/>
              <a:t>  return 0;</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p:txBody>
      </p:sp>
      <p:sp>
        <p:nvSpPr>
          <p:cNvPr id="757" name="Google Shape;757;g283038813be_0_45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g283038813be_0_465"/>
          <p:cNvSpPr txBox="1"/>
          <p:nvPr>
            <p:ph type="title"/>
          </p:nvPr>
        </p:nvSpPr>
        <p:spPr>
          <a:xfrm>
            <a:off x="1593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9900"/>
                </a:solidFill>
              </a:rPr>
              <a:t>Count the Occurence of the number in the array</a:t>
            </a:r>
            <a:endParaRPr>
              <a:solidFill>
                <a:srgbClr val="FF9900"/>
              </a:solidFill>
            </a:endParaRPr>
          </a:p>
        </p:txBody>
      </p:sp>
      <p:sp>
        <p:nvSpPr>
          <p:cNvPr id="763" name="Google Shape;763;g283038813be_0_465"/>
          <p:cNvSpPr txBox="1"/>
          <p:nvPr>
            <p:ph idx="1" type="body"/>
          </p:nvPr>
        </p:nvSpPr>
        <p:spPr>
          <a:xfrm>
            <a:off x="311700" y="688125"/>
            <a:ext cx="4213500" cy="445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next question is to find the occurrence of an element </a:t>
            </a:r>
            <a:r>
              <a:rPr b="1" lang="en"/>
              <a:t>x</a:t>
            </a:r>
            <a:r>
              <a:rPr lang="en"/>
              <a:t> in the array of </a:t>
            </a:r>
            <a:r>
              <a:rPr b="1" lang="en"/>
              <a:t>n </a:t>
            </a:r>
            <a:r>
              <a:rPr lang="en"/>
              <a:t>elements from a given index </a:t>
            </a:r>
            <a:r>
              <a:rPr b="1" lang="en"/>
              <a:t>i</a:t>
            </a:r>
            <a:r>
              <a:rPr lang="en"/>
              <a:t>, </a:t>
            </a:r>
            <a:endParaRPr/>
          </a:p>
          <a:p>
            <a:pPr indent="0" lvl="0" marL="0" rtl="0" algn="l">
              <a:spcBef>
                <a:spcPts val="0"/>
              </a:spcBef>
              <a:spcAft>
                <a:spcPts val="0"/>
              </a:spcAft>
              <a:buNone/>
            </a:pPr>
            <a:r>
              <a:rPr lang="en"/>
              <a:t>Suppose array of {3,3,4,3,5,3}, the occurrence of 3 is 4 since it is  in array four times.</a:t>
            </a:r>
            <a:endParaRPr/>
          </a:p>
          <a:p>
            <a:pPr indent="0" lvl="0" marL="0" rtl="0" algn="l">
              <a:spcBef>
                <a:spcPts val="0"/>
              </a:spcBef>
              <a:spcAft>
                <a:spcPts val="0"/>
              </a:spcAft>
              <a:buNone/>
            </a:pPr>
            <a:r>
              <a:rPr lang="en"/>
              <a:t>The question can be solved using for loop but what is we want to solve the same Question using the recursion?</a:t>
            </a:r>
            <a:endParaRPr/>
          </a:p>
          <a:p>
            <a:pPr indent="0" lvl="0" marL="0" rtl="0" algn="l">
              <a:spcBef>
                <a:spcPts val="0"/>
              </a:spcBef>
              <a:spcAft>
                <a:spcPts val="0"/>
              </a:spcAft>
              <a:buNone/>
            </a:pPr>
            <a:r>
              <a:t/>
            </a:r>
            <a:endParaRPr/>
          </a:p>
        </p:txBody>
      </p:sp>
      <p:sp>
        <p:nvSpPr>
          <p:cNvPr id="764" name="Google Shape;764;g283038813be_0_465"/>
          <p:cNvSpPr txBox="1"/>
          <p:nvPr/>
        </p:nvSpPr>
        <p:spPr>
          <a:xfrm>
            <a:off x="4719975" y="524400"/>
            <a:ext cx="4213500" cy="47100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#include&lt;iostream&gt;</a:t>
            </a:r>
            <a:endParaRPr/>
          </a:p>
          <a:p>
            <a:pPr indent="0" lvl="0" marL="0" rtl="0" algn="l">
              <a:spcBef>
                <a:spcPts val="0"/>
              </a:spcBef>
              <a:spcAft>
                <a:spcPts val="0"/>
              </a:spcAft>
              <a:buNone/>
            </a:pPr>
            <a:r>
              <a:rPr lang="en"/>
              <a:t>using namespace std;</a:t>
            </a:r>
            <a:endParaRPr/>
          </a:p>
          <a:p>
            <a:pPr indent="0" lvl="0" marL="0" rtl="0" algn="l">
              <a:spcBef>
                <a:spcPts val="0"/>
              </a:spcBef>
              <a:spcAft>
                <a:spcPts val="0"/>
              </a:spcAft>
              <a:buNone/>
            </a:pPr>
            <a:r>
              <a:rPr lang="en"/>
              <a:t>// Answer will be passed as a reference variable initially zero //The function has return type of void </a:t>
            </a:r>
            <a:endParaRPr/>
          </a:p>
          <a:p>
            <a:pPr indent="0" lvl="0" marL="0" rtl="0" algn="l">
              <a:spcBef>
                <a:spcPts val="0"/>
              </a:spcBef>
              <a:spcAft>
                <a:spcPts val="0"/>
              </a:spcAft>
              <a:buNone/>
            </a:pPr>
            <a:r>
              <a:rPr lang="en"/>
              <a:t>void count(int a[],int n,int x,int i, int &amp;ans){</a:t>
            </a:r>
            <a:endParaRPr/>
          </a:p>
          <a:p>
            <a:pPr indent="0" lvl="0" marL="0" rtl="0" algn="l">
              <a:spcBef>
                <a:spcPts val="0"/>
              </a:spcBef>
              <a:spcAft>
                <a:spcPts val="0"/>
              </a:spcAft>
              <a:buNone/>
            </a:pPr>
            <a:r>
              <a:rPr lang="en"/>
              <a:t>//Base case</a:t>
            </a:r>
            <a:endParaRPr/>
          </a:p>
          <a:p>
            <a:pPr indent="0" lvl="0" marL="0" rtl="0" algn="l">
              <a:spcBef>
                <a:spcPts val="0"/>
              </a:spcBef>
              <a:spcAft>
                <a:spcPts val="0"/>
              </a:spcAft>
              <a:buNone/>
            </a:pPr>
            <a:r>
              <a:rPr lang="en"/>
              <a:t>    if(i==n){</a:t>
            </a:r>
            <a:endParaRPr/>
          </a:p>
          <a:p>
            <a:pPr indent="0" lvl="0" marL="0" rtl="0" algn="l">
              <a:spcBef>
                <a:spcPts val="0"/>
              </a:spcBef>
              <a:spcAft>
                <a:spcPts val="0"/>
              </a:spcAft>
              <a:buNone/>
            </a:pPr>
            <a:r>
              <a:rPr lang="en"/>
              <a:t>      return;</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if(a[i]==x){</a:t>
            </a:r>
            <a:endParaRPr/>
          </a:p>
          <a:p>
            <a:pPr indent="0" lvl="0" marL="0" rtl="0" algn="l">
              <a:spcBef>
                <a:spcPts val="0"/>
              </a:spcBef>
              <a:spcAft>
                <a:spcPts val="0"/>
              </a:spcAft>
              <a:buNone/>
            </a:pPr>
            <a:r>
              <a:rPr lang="en"/>
              <a:t>    ans++;</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count(a,n,x,i+1,ans);</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rPr lang="en"/>
              <a:t>int main(){</a:t>
            </a:r>
            <a:endParaRPr/>
          </a:p>
          <a:p>
            <a:pPr indent="0" lvl="0" marL="0" rtl="0" algn="l">
              <a:spcBef>
                <a:spcPts val="0"/>
              </a:spcBef>
              <a:spcAft>
                <a:spcPts val="0"/>
              </a:spcAft>
              <a:buNone/>
            </a:pPr>
            <a:r>
              <a:rPr lang="en"/>
              <a:t>  int a[] = {5,5,6,5,6,7};</a:t>
            </a:r>
            <a:endParaRPr/>
          </a:p>
          <a:p>
            <a:pPr indent="0" lvl="0" marL="0" rtl="0" algn="l">
              <a:spcBef>
                <a:spcPts val="0"/>
              </a:spcBef>
              <a:spcAft>
                <a:spcPts val="0"/>
              </a:spcAft>
              <a:buNone/>
            </a:pPr>
            <a:r>
              <a:rPr lang="en"/>
              <a:t>  int ans = 0;</a:t>
            </a:r>
            <a:endParaRPr/>
          </a:p>
          <a:p>
            <a:pPr indent="0" lvl="0" marL="0" rtl="0" algn="l">
              <a:spcBef>
                <a:spcPts val="0"/>
              </a:spcBef>
              <a:spcAft>
                <a:spcPts val="0"/>
              </a:spcAft>
              <a:buNone/>
            </a:pPr>
            <a:r>
              <a:rPr lang="en"/>
              <a:t>  count(a,6,10,0,ans);</a:t>
            </a:r>
            <a:endParaRPr/>
          </a:p>
          <a:p>
            <a:pPr indent="0" lvl="0" marL="0" rtl="0" algn="l">
              <a:spcBef>
                <a:spcPts val="0"/>
              </a:spcBef>
              <a:spcAft>
                <a:spcPts val="0"/>
              </a:spcAft>
              <a:buNone/>
            </a:pPr>
            <a:r>
              <a:rPr lang="en"/>
              <a:t>  cout&lt;&lt;ans&lt;&lt;endl;</a:t>
            </a:r>
            <a:endParaRPr/>
          </a:p>
          <a:p>
            <a:pPr indent="0" lvl="0" marL="0" rtl="0" algn="l">
              <a:spcBef>
                <a:spcPts val="0"/>
              </a:spcBef>
              <a:spcAft>
                <a:spcPts val="0"/>
              </a:spcAft>
              <a:buNone/>
            </a:pPr>
            <a:r>
              <a:rPr lang="en"/>
              <a:t>  return 0;</a:t>
            </a:r>
            <a:endParaRPr/>
          </a:p>
          <a:p>
            <a:pPr indent="0" lvl="0" marL="0" rtl="0" algn="l">
              <a:spcBef>
                <a:spcPts val="0"/>
              </a:spcBef>
              <a:spcAft>
                <a:spcPts val="0"/>
              </a:spcAft>
              <a:buNone/>
            </a:pPr>
            <a:r>
              <a:rPr lang="en"/>
              <a:t>}</a:t>
            </a:r>
            <a:endParaRPr/>
          </a:p>
        </p:txBody>
      </p:sp>
      <p:sp>
        <p:nvSpPr>
          <p:cNvPr id="765" name="Google Shape;765;g283038813be_0_46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g283038813be_0_471"/>
          <p:cNvSpPr txBox="1"/>
          <p:nvPr>
            <p:ph type="title"/>
          </p:nvPr>
        </p:nvSpPr>
        <p:spPr>
          <a:xfrm>
            <a:off x="185700" y="2159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Check if the number is palindrome</a:t>
            </a:r>
            <a:endParaRPr/>
          </a:p>
        </p:txBody>
      </p:sp>
      <p:sp>
        <p:nvSpPr>
          <p:cNvPr id="771" name="Google Shape;771;g283038813be_0_471"/>
          <p:cNvSpPr txBox="1"/>
          <p:nvPr>
            <p:ph idx="1" type="body"/>
          </p:nvPr>
        </p:nvSpPr>
        <p:spPr>
          <a:xfrm>
            <a:off x="311700" y="788625"/>
            <a:ext cx="4144800" cy="309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palindrome is a number if read from left to right or right to left it will be the same.</a:t>
            </a:r>
            <a:endParaRPr/>
          </a:p>
          <a:p>
            <a:pPr indent="0" lvl="0" marL="0" rtl="0" algn="l">
              <a:spcBef>
                <a:spcPts val="0"/>
              </a:spcBef>
              <a:spcAft>
                <a:spcPts val="0"/>
              </a:spcAft>
              <a:buNone/>
            </a:pPr>
            <a:r>
              <a:rPr lang="en"/>
              <a:t>Example : a=12321</a:t>
            </a:r>
            <a:endParaRPr/>
          </a:p>
          <a:p>
            <a:pPr indent="0" lvl="0" marL="0" rtl="0" algn="l">
              <a:spcBef>
                <a:spcPts val="0"/>
              </a:spcBef>
              <a:spcAft>
                <a:spcPts val="0"/>
              </a:spcAft>
              <a:buNone/>
            </a:pPr>
            <a:r>
              <a:rPr lang="en"/>
              <a:t>A is a palindrome because from left to right the number is still the same.</a:t>
            </a:r>
            <a:endParaRPr/>
          </a:p>
          <a:p>
            <a:pPr indent="0" lvl="0" marL="0" rtl="0" algn="l">
              <a:spcBef>
                <a:spcPts val="0"/>
              </a:spcBef>
              <a:spcAft>
                <a:spcPts val="0"/>
              </a:spcAft>
              <a:buNone/>
            </a:pPr>
            <a:r>
              <a:rPr lang="en"/>
              <a:t>In the recursion if  a[start]=a[end] the array is palindrome</a:t>
            </a:r>
            <a:endParaRPr/>
          </a:p>
          <a:p>
            <a:pPr indent="0" lvl="0" marL="0" rtl="0" algn="l">
              <a:spcBef>
                <a:spcPts val="0"/>
              </a:spcBef>
              <a:spcAft>
                <a:spcPts val="0"/>
              </a:spcAft>
              <a:buNone/>
            </a:pPr>
            <a:r>
              <a:rPr lang="en"/>
              <a:t>Then perform the recursion for small array</a:t>
            </a:r>
            <a:endParaRPr/>
          </a:p>
        </p:txBody>
      </p:sp>
      <p:graphicFrame>
        <p:nvGraphicFramePr>
          <p:cNvPr id="772" name="Google Shape;772;g283038813be_0_471"/>
          <p:cNvGraphicFramePr/>
          <p:nvPr/>
        </p:nvGraphicFramePr>
        <p:xfrm>
          <a:off x="470850" y="4189075"/>
          <a:ext cx="3000000" cy="3000000"/>
        </p:xfrm>
        <a:graphic>
          <a:graphicData uri="http://schemas.openxmlformats.org/drawingml/2006/table">
            <a:tbl>
              <a:tblPr>
                <a:noFill/>
                <a:tableStyleId>{BF383963-E0AA-4E9D-A898-146F2279B2C8}</a:tableStyleId>
              </a:tblPr>
              <a:tblGrid>
                <a:gridCol w="842850"/>
                <a:gridCol w="842850"/>
                <a:gridCol w="842850"/>
                <a:gridCol w="842850"/>
                <a:gridCol w="842850"/>
              </a:tblGrid>
              <a:tr h="396200">
                <a:tc>
                  <a:txBody>
                    <a:bodyPr/>
                    <a:lstStyle/>
                    <a:p>
                      <a:pPr indent="0" lvl="0" marL="0" rtl="0" algn="l">
                        <a:spcBef>
                          <a:spcPts val="0"/>
                        </a:spcBef>
                        <a:spcAft>
                          <a:spcPts val="0"/>
                        </a:spcAft>
                        <a:buNone/>
                      </a:pPr>
                      <a:r>
                        <a:rPr lang="en"/>
                        <a:t>a[0]</a:t>
                      </a:r>
                      <a:endParaRPr/>
                    </a:p>
                  </a:txBody>
                  <a:tcPr marT="91425" marB="91425" marR="91425" marL="91425"/>
                </a:tc>
                <a:tc>
                  <a:txBody>
                    <a:bodyPr/>
                    <a:lstStyle/>
                    <a:p>
                      <a:pPr indent="0" lvl="0" marL="0" rtl="0" algn="l">
                        <a:spcBef>
                          <a:spcPts val="0"/>
                        </a:spcBef>
                        <a:spcAft>
                          <a:spcPts val="0"/>
                        </a:spcAft>
                        <a:buNone/>
                      </a:pPr>
                      <a:r>
                        <a:rPr lang="en"/>
                        <a:t>small</a:t>
                      </a:r>
                      <a:endParaRPr/>
                    </a:p>
                  </a:txBody>
                  <a:tcPr marT="91425" marB="91425" marR="91425" marL="91425">
                    <a:solidFill>
                      <a:srgbClr val="D9EAD3"/>
                    </a:solidFill>
                  </a:tcPr>
                </a:tc>
                <a:tc>
                  <a:txBody>
                    <a:bodyPr/>
                    <a:lstStyle/>
                    <a:p>
                      <a:pPr indent="0" lvl="0" marL="0" rtl="0" algn="l">
                        <a:spcBef>
                          <a:spcPts val="0"/>
                        </a:spcBef>
                        <a:spcAft>
                          <a:spcPts val="0"/>
                        </a:spcAft>
                        <a:buNone/>
                      </a:pPr>
                      <a:r>
                        <a:rPr lang="en"/>
                        <a:t>arr</a:t>
                      </a:r>
                      <a:endParaRPr/>
                    </a:p>
                  </a:txBody>
                  <a:tcPr marT="91425" marB="91425" marR="91425" marL="91425">
                    <a:solidFill>
                      <a:srgbClr val="D9EAD3"/>
                    </a:solidFill>
                  </a:tcPr>
                </a:tc>
                <a:tc>
                  <a:txBody>
                    <a:bodyPr/>
                    <a:lstStyle/>
                    <a:p>
                      <a:pPr indent="0" lvl="0" marL="0" rtl="0" algn="l">
                        <a:spcBef>
                          <a:spcPts val="0"/>
                        </a:spcBef>
                        <a:spcAft>
                          <a:spcPts val="0"/>
                        </a:spcAft>
                        <a:buNone/>
                      </a:pPr>
                      <a:r>
                        <a:rPr lang="en"/>
                        <a:t>ay</a:t>
                      </a:r>
                      <a:endParaRPr/>
                    </a:p>
                  </a:txBody>
                  <a:tcPr marT="91425" marB="91425" marR="91425" marL="91425">
                    <a:solidFill>
                      <a:srgbClr val="D9EAD3"/>
                    </a:solidFill>
                  </a:tcPr>
                </a:tc>
                <a:tc>
                  <a:txBody>
                    <a:bodyPr/>
                    <a:lstStyle/>
                    <a:p>
                      <a:pPr indent="0" lvl="0" marL="0" rtl="0" algn="l">
                        <a:spcBef>
                          <a:spcPts val="0"/>
                        </a:spcBef>
                        <a:spcAft>
                          <a:spcPts val="0"/>
                        </a:spcAft>
                        <a:buNone/>
                      </a:pPr>
                      <a:r>
                        <a:rPr lang="en"/>
                        <a:t>a[n-1]</a:t>
                      </a:r>
                      <a:endParaRPr/>
                    </a:p>
                  </a:txBody>
                  <a:tcPr marT="91425" marB="91425" marR="91425" marL="91425"/>
                </a:tc>
              </a:tr>
            </a:tbl>
          </a:graphicData>
        </a:graphic>
      </p:graphicFrame>
      <p:sp>
        <p:nvSpPr>
          <p:cNvPr id="773" name="Google Shape;773;g283038813be_0_471"/>
          <p:cNvSpPr txBox="1"/>
          <p:nvPr/>
        </p:nvSpPr>
        <p:spPr>
          <a:xfrm>
            <a:off x="5578775" y="324450"/>
            <a:ext cx="3000000" cy="47100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#include&lt;iostream&gt;</a:t>
            </a:r>
            <a:endParaRPr/>
          </a:p>
          <a:p>
            <a:pPr indent="0" lvl="0" marL="0" rtl="0" algn="l">
              <a:spcBef>
                <a:spcPts val="0"/>
              </a:spcBef>
              <a:spcAft>
                <a:spcPts val="0"/>
              </a:spcAft>
              <a:buNone/>
            </a:pPr>
            <a:r>
              <a:rPr lang="en"/>
              <a:t>using namespace std;</a:t>
            </a:r>
            <a:endParaRPr/>
          </a:p>
          <a:p>
            <a:pPr indent="0" lvl="0" marL="0" rtl="0" algn="l">
              <a:spcBef>
                <a:spcPts val="0"/>
              </a:spcBef>
              <a:spcAft>
                <a:spcPts val="0"/>
              </a:spcAft>
              <a:buNone/>
            </a:pPr>
            <a:r>
              <a:rPr lang="en"/>
              <a:t>//s as start index, e as end index</a:t>
            </a:r>
            <a:endParaRPr/>
          </a:p>
          <a:p>
            <a:pPr indent="0" lvl="0" marL="0" rtl="0" algn="l">
              <a:spcBef>
                <a:spcPts val="0"/>
              </a:spcBef>
              <a:spcAft>
                <a:spcPts val="0"/>
              </a:spcAft>
              <a:buNone/>
            </a:pPr>
            <a:r>
              <a:rPr lang="en"/>
              <a:t>bool checkPal(int a[],int s,int e){</a:t>
            </a:r>
            <a:endParaRPr/>
          </a:p>
          <a:p>
            <a:pPr indent="0" lvl="0" marL="0" rtl="0" algn="l">
              <a:spcBef>
                <a:spcPts val="0"/>
              </a:spcBef>
              <a:spcAft>
                <a:spcPts val="0"/>
              </a:spcAft>
              <a:buNone/>
            </a:pPr>
            <a:r>
              <a:rPr lang="en"/>
              <a:t>//Base case for empty array</a:t>
            </a:r>
            <a:endParaRPr/>
          </a:p>
          <a:p>
            <a:pPr indent="0" lvl="0" marL="0" rtl="0" algn="l">
              <a:spcBef>
                <a:spcPts val="0"/>
              </a:spcBef>
              <a:spcAft>
                <a:spcPts val="0"/>
              </a:spcAft>
              <a:buNone/>
            </a:pPr>
            <a:r>
              <a:rPr lang="en"/>
              <a:t>    if(s &gt; e){</a:t>
            </a:r>
            <a:endParaRPr/>
          </a:p>
          <a:p>
            <a:pPr indent="0" lvl="0" marL="0" rtl="0" algn="l">
              <a:spcBef>
                <a:spcPts val="0"/>
              </a:spcBef>
              <a:spcAft>
                <a:spcPts val="0"/>
              </a:spcAft>
              <a:buNone/>
            </a:pPr>
            <a:r>
              <a:rPr lang="en"/>
              <a:t>        return true;</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if(a[s] == a[e]){</a:t>
            </a:r>
            <a:endParaRPr/>
          </a:p>
          <a:p>
            <a:pPr indent="0" lvl="0" marL="0" rtl="0" algn="l">
              <a:spcBef>
                <a:spcPts val="0"/>
              </a:spcBef>
              <a:spcAft>
                <a:spcPts val="0"/>
              </a:spcAft>
              <a:buNone/>
            </a:pPr>
            <a:r>
              <a:rPr lang="en"/>
              <a:t>        return checkPal(a,s+1,e-1);</a:t>
            </a:r>
            <a:endParaRPr/>
          </a:p>
          <a:p>
            <a:pPr indent="0" lvl="0" marL="0" rtl="0" algn="l">
              <a:spcBef>
                <a:spcPts val="0"/>
              </a:spcBef>
              <a:spcAft>
                <a:spcPts val="0"/>
              </a:spcAft>
              <a:buNone/>
            </a:pPr>
            <a:r>
              <a:rPr lang="en"/>
              <a:t>    }else{</a:t>
            </a:r>
            <a:endParaRPr/>
          </a:p>
          <a:p>
            <a:pPr indent="0" lvl="0" marL="0" rtl="0" algn="l">
              <a:spcBef>
                <a:spcPts val="0"/>
              </a:spcBef>
              <a:spcAft>
                <a:spcPts val="0"/>
              </a:spcAft>
              <a:buNone/>
            </a:pPr>
            <a:r>
              <a:rPr lang="en"/>
              <a:t>      return false;</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 main(){</a:t>
            </a:r>
            <a:endParaRPr/>
          </a:p>
          <a:p>
            <a:pPr indent="0" lvl="0" marL="0" rtl="0" algn="l">
              <a:spcBef>
                <a:spcPts val="0"/>
              </a:spcBef>
              <a:spcAft>
                <a:spcPts val="0"/>
              </a:spcAft>
              <a:buNone/>
            </a:pPr>
            <a:r>
              <a:rPr lang="en"/>
              <a:t>  int a[] = {1,2,3,4,3,2,1};</a:t>
            </a:r>
            <a:endParaRPr/>
          </a:p>
          <a:p>
            <a:pPr indent="0" lvl="0" marL="0" rtl="0" algn="l">
              <a:spcBef>
                <a:spcPts val="0"/>
              </a:spcBef>
              <a:spcAft>
                <a:spcPts val="0"/>
              </a:spcAft>
              <a:buNone/>
            </a:pPr>
            <a:r>
              <a:rPr lang="en"/>
              <a:t>  cout&lt;&lt;checkPal(a,0,6);</a:t>
            </a:r>
            <a:endParaRPr/>
          </a:p>
          <a:p>
            <a:pPr indent="0" lvl="0" marL="0" rtl="0" algn="l">
              <a:spcBef>
                <a:spcPts val="0"/>
              </a:spcBef>
              <a:spcAft>
                <a:spcPts val="0"/>
              </a:spcAft>
              <a:buNone/>
            </a:pPr>
            <a:r>
              <a:rPr lang="en"/>
              <a:t>  return 0;</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p:txBody>
      </p:sp>
      <p:sp>
        <p:nvSpPr>
          <p:cNvPr id="774" name="Google Shape;774;g283038813be_0_47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g283038813be_0_478"/>
          <p:cNvSpPr txBox="1"/>
          <p:nvPr>
            <p:ph type="title"/>
          </p:nvPr>
        </p:nvSpPr>
        <p:spPr>
          <a:xfrm>
            <a:off x="166931" y="0"/>
            <a:ext cx="8390400" cy="508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b="1" lang="en"/>
              <a:t>Exercises:</a:t>
            </a:r>
            <a:r>
              <a:rPr b="1" lang="en" sz="2100"/>
              <a:t>Using recursion, solve the following Questions</a:t>
            </a:r>
            <a:endParaRPr b="1"/>
          </a:p>
        </p:txBody>
      </p:sp>
      <p:sp>
        <p:nvSpPr>
          <p:cNvPr id="780" name="Google Shape;780;g283038813be_0_478"/>
          <p:cNvSpPr txBox="1"/>
          <p:nvPr>
            <p:ph idx="1" type="body"/>
          </p:nvPr>
        </p:nvSpPr>
        <p:spPr>
          <a:xfrm>
            <a:off x="254906" y="719419"/>
            <a:ext cx="4539900" cy="4413300"/>
          </a:xfrm>
          <a:prstGeom prst="rect">
            <a:avLst/>
          </a:prstGeom>
          <a:ln cap="flat" cmpd="sng" w="9525">
            <a:solidFill>
              <a:srgbClr val="000000"/>
            </a:solidFill>
            <a:prstDash val="dashDot"/>
            <a:round/>
            <a:headEnd len="sm" w="sm" type="none"/>
            <a:tailEnd len="sm" w="sm" type="none"/>
          </a:ln>
        </p:spPr>
        <p:txBody>
          <a:bodyPr anchorCtr="0" anchor="t" bIns="34275" lIns="68575" spcFirstLastPara="1" rIns="68575" wrap="square" tIns="34275">
            <a:normAutofit fontScale="85000" lnSpcReduction="20000"/>
          </a:bodyPr>
          <a:lstStyle/>
          <a:p>
            <a:pPr indent="-240665" lvl="0" marL="342900" rtl="0" algn="l">
              <a:spcBef>
                <a:spcPts val="800"/>
              </a:spcBef>
              <a:spcAft>
                <a:spcPts val="0"/>
              </a:spcAft>
              <a:buSzPct val="77777"/>
              <a:buAutoNum type="arabicPeriod"/>
            </a:pPr>
            <a:r>
              <a:rPr lang="en"/>
              <a:t>Write a program with a function that print  the character array.</a:t>
            </a:r>
            <a:endParaRPr/>
          </a:p>
          <a:p>
            <a:pPr indent="0" lvl="0" marL="342900" rtl="0" algn="l">
              <a:spcBef>
                <a:spcPts val="800"/>
              </a:spcBef>
              <a:spcAft>
                <a:spcPts val="0"/>
              </a:spcAft>
              <a:buNone/>
            </a:pPr>
            <a:r>
              <a:rPr lang="en"/>
              <a:t> Hint: if </a:t>
            </a:r>
            <a:r>
              <a:rPr b="1" lang="en"/>
              <a:t>abc</a:t>
            </a:r>
            <a:r>
              <a:rPr lang="en"/>
              <a:t> is provided, the program prints </a:t>
            </a:r>
            <a:r>
              <a:rPr b="1" lang="en"/>
              <a:t>abc. </a:t>
            </a:r>
            <a:r>
              <a:rPr lang="en"/>
              <a:t>Print the first character and call recursion on small array. If the character is ‘\0’ return.</a:t>
            </a:r>
            <a:endParaRPr/>
          </a:p>
          <a:p>
            <a:pPr indent="-240665" lvl="0" marL="342900" rtl="0" algn="l">
              <a:spcBef>
                <a:spcPts val="800"/>
              </a:spcBef>
              <a:spcAft>
                <a:spcPts val="0"/>
              </a:spcAft>
              <a:buSzPct val="77777"/>
              <a:buAutoNum type="arabicPeriod"/>
            </a:pPr>
            <a:r>
              <a:rPr lang="en"/>
              <a:t>Write a program with a function that print  the reversed character array.</a:t>
            </a:r>
            <a:endParaRPr/>
          </a:p>
          <a:p>
            <a:pPr indent="0" lvl="0" marL="342900" rtl="0" algn="l">
              <a:spcBef>
                <a:spcPts val="800"/>
              </a:spcBef>
              <a:spcAft>
                <a:spcPts val="0"/>
              </a:spcAft>
              <a:buNone/>
            </a:pPr>
            <a:r>
              <a:rPr lang="en"/>
              <a:t> Hint: if </a:t>
            </a:r>
            <a:r>
              <a:rPr b="1" lang="en"/>
              <a:t>abc</a:t>
            </a:r>
            <a:r>
              <a:rPr lang="en"/>
              <a:t> is provided, the program prints </a:t>
            </a:r>
            <a:r>
              <a:rPr b="1" lang="en"/>
              <a:t>cba. </a:t>
            </a:r>
            <a:r>
              <a:rPr lang="en"/>
              <a:t>Print the last character and call recursion on small array. If the character is ‘\0’ return.</a:t>
            </a:r>
            <a:endParaRPr b="1"/>
          </a:p>
          <a:p>
            <a:pPr indent="-240665" lvl="0" marL="342900" rtl="0" algn="l">
              <a:spcBef>
                <a:spcPts val="800"/>
              </a:spcBef>
              <a:spcAft>
                <a:spcPts val="0"/>
              </a:spcAft>
              <a:buSzPct val="77777"/>
              <a:buAutoNum type="arabicPeriod"/>
            </a:pPr>
            <a:r>
              <a:rPr lang="en"/>
              <a:t>Remove a character in the array.</a:t>
            </a:r>
            <a:endParaRPr/>
          </a:p>
          <a:p>
            <a:pPr indent="0" lvl="0" marL="342900" rtl="0" algn="l">
              <a:spcBef>
                <a:spcPts val="800"/>
              </a:spcBef>
              <a:spcAft>
                <a:spcPts val="0"/>
              </a:spcAft>
              <a:buNone/>
            </a:pPr>
            <a:r>
              <a:rPr lang="en"/>
              <a:t>Hint: if </a:t>
            </a:r>
            <a:r>
              <a:rPr b="1" lang="en"/>
              <a:t>abacada</a:t>
            </a:r>
            <a:r>
              <a:rPr lang="en"/>
              <a:t> is provided, by removing</a:t>
            </a:r>
            <a:r>
              <a:rPr b="1" lang="en"/>
              <a:t> a</a:t>
            </a:r>
            <a:r>
              <a:rPr lang="en"/>
              <a:t> the program print </a:t>
            </a:r>
            <a:r>
              <a:rPr b="1" lang="en"/>
              <a:t>bcd</a:t>
            </a:r>
            <a:endParaRPr b="1"/>
          </a:p>
          <a:p>
            <a:pPr indent="-240665" lvl="0" marL="342900" rtl="0" algn="l">
              <a:spcBef>
                <a:spcPts val="800"/>
              </a:spcBef>
              <a:spcAft>
                <a:spcPts val="0"/>
              </a:spcAft>
              <a:buSzPct val="77777"/>
              <a:buAutoNum type="arabicPeriod"/>
            </a:pPr>
            <a:r>
              <a:rPr lang="en"/>
              <a:t>Replace the character in the array</a:t>
            </a:r>
            <a:endParaRPr/>
          </a:p>
          <a:p>
            <a:pPr indent="0" lvl="0" marL="342900" rtl="0" algn="l">
              <a:spcBef>
                <a:spcPts val="800"/>
              </a:spcBef>
              <a:spcAft>
                <a:spcPts val="0"/>
              </a:spcAft>
              <a:buNone/>
            </a:pPr>
            <a:r>
              <a:rPr lang="en"/>
              <a:t>Hint: if </a:t>
            </a:r>
            <a:r>
              <a:rPr b="1" lang="en"/>
              <a:t>abacada</a:t>
            </a:r>
            <a:r>
              <a:rPr lang="en"/>
              <a:t> is provided, by replacing</a:t>
            </a:r>
            <a:r>
              <a:rPr b="1" lang="en"/>
              <a:t> a </a:t>
            </a:r>
            <a:r>
              <a:rPr lang="en"/>
              <a:t>with</a:t>
            </a:r>
            <a:r>
              <a:rPr b="1" lang="en"/>
              <a:t>  x</a:t>
            </a:r>
            <a:r>
              <a:rPr lang="en"/>
              <a:t> the program print </a:t>
            </a:r>
            <a:r>
              <a:rPr b="1" lang="en"/>
              <a:t>xbxcxdx</a:t>
            </a:r>
            <a:endParaRPr/>
          </a:p>
          <a:p>
            <a:pPr indent="-240665" lvl="0" marL="342900" rtl="0" algn="l">
              <a:spcBef>
                <a:spcPts val="800"/>
              </a:spcBef>
              <a:spcAft>
                <a:spcPts val="0"/>
              </a:spcAft>
              <a:buSzPct val="77777"/>
              <a:buAutoNum type="arabicPeriod"/>
            </a:pPr>
            <a:r>
              <a:rPr lang="en"/>
              <a:t>Find the length of Character Array</a:t>
            </a:r>
            <a:endParaRPr/>
          </a:p>
          <a:p>
            <a:pPr indent="0" lvl="0" marL="342900" marR="0" rtl="0" algn="l">
              <a:lnSpc>
                <a:spcPct val="90000"/>
              </a:lnSpc>
              <a:spcBef>
                <a:spcPts val="800"/>
              </a:spcBef>
              <a:spcAft>
                <a:spcPts val="0"/>
              </a:spcAft>
              <a:buNone/>
            </a:pPr>
            <a:r>
              <a:rPr lang="en"/>
              <a:t>Hint: if </a:t>
            </a:r>
            <a:r>
              <a:rPr b="1" lang="en"/>
              <a:t>abcde</a:t>
            </a:r>
            <a:r>
              <a:rPr lang="en"/>
              <a:t> i  Finds provided, the length should be </a:t>
            </a:r>
            <a:r>
              <a:rPr b="1" lang="en"/>
              <a:t>5</a:t>
            </a:r>
            <a:endParaRPr b="1"/>
          </a:p>
        </p:txBody>
      </p:sp>
      <p:sp>
        <p:nvSpPr>
          <p:cNvPr id="781" name="Google Shape;781;g283038813be_0_478"/>
          <p:cNvSpPr txBox="1"/>
          <p:nvPr>
            <p:ph idx="1" type="body"/>
          </p:nvPr>
        </p:nvSpPr>
        <p:spPr>
          <a:xfrm>
            <a:off x="4966181" y="657263"/>
            <a:ext cx="4121100" cy="4270200"/>
          </a:xfrm>
          <a:prstGeom prst="rect">
            <a:avLst/>
          </a:prstGeom>
          <a:ln cap="flat" cmpd="sng" w="9525">
            <a:solidFill>
              <a:srgbClr val="000000"/>
            </a:solidFill>
            <a:prstDash val="dashDot"/>
            <a:round/>
            <a:headEnd len="sm" w="sm" type="none"/>
            <a:tailEnd len="sm" w="sm" type="none"/>
          </a:ln>
        </p:spPr>
        <p:txBody>
          <a:bodyPr anchorCtr="0" anchor="t" bIns="34275" lIns="68575" spcFirstLastPara="1" rIns="68575" wrap="square" tIns="34275">
            <a:normAutofit fontScale="92500" lnSpcReduction="20000"/>
          </a:bodyPr>
          <a:lstStyle/>
          <a:p>
            <a:pPr indent="0" lvl="0" marL="0" rtl="0" algn="l">
              <a:lnSpc>
                <a:spcPct val="80000"/>
              </a:lnSpc>
              <a:spcBef>
                <a:spcPts val="800"/>
              </a:spcBef>
              <a:spcAft>
                <a:spcPts val="0"/>
              </a:spcAft>
              <a:buNone/>
            </a:pPr>
            <a:r>
              <a:rPr lang="en" sz="2000"/>
              <a:t> 6. </a:t>
            </a:r>
            <a:r>
              <a:rPr lang="en"/>
              <a:t>Convert the String of digits to Integer.</a:t>
            </a:r>
            <a:endParaRPr/>
          </a:p>
          <a:p>
            <a:pPr indent="0" lvl="0" marL="0" rtl="0" algn="l">
              <a:lnSpc>
                <a:spcPct val="100000"/>
              </a:lnSpc>
              <a:spcBef>
                <a:spcPts val="0"/>
              </a:spcBef>
              <a:spcAft>
                <a:spcPts val="0"/>
              </a:spcAft>
              <a:buNone/>
            </a:pPr>
            <a:r>
              <a:rPr lang="en"/>
              <a:t>Hint: if “</a:t>
            </a:r>
            <a:r>
              <a:rPr b="1" lang="en"/>
              <a:t>12345</a:t>
            </a:r>
            <a:r>
              <a:rPr lang="en"/>
              <a:t>” is provided then the program would return </a:t>
            </a:r>
            <a:r>
              <a:rPr b="1" lang="en"/>
              <a:t>12345</a:t>
            </a:r>
            <a:endParaRPr b="1"/>
          </a:p>
          <a:p>
            <a:pPr indent="0" lvl="0" marL="0" rtl="0" algn="l">
              <a:lnSpc>
                <a:spcPct val="100000"/>
              </a:lnSpc>
              <a:spcBef>
                <a:spcPts val="0"/>
              </a:spcBef>
              <a:spcAft>
                <a:spcPts val="0"/>
              </a:spcAft>
              <a:buNone/>
            </a:pPr>
            <a:r>
              <a:rPr b="1" lang="en" sz="2000"/>
              <a:t>Hint:</a:t>
            </a:r>
            <a:endParaRPr b="1" sz="2000"/>
          </a:p>
          <a:p>
            <a:pPr indent="0" lvl="0" marL="0" rtl="0" algn="l">
              <a:lnSpc>
                <a:spcPct val="100000"/>
              </a:lnSpc>
              <a:spcBef>
                <a:spcPts val="0"/>
              </a:spcBef>
              <a:spcAft>
                <a:spcPts val="0"/>
              </a:spcAft>
              <a:buNone/>
            </a:pPr>
            <a:r>
              <a:rPr lang="en" sz="2000"/>
              <a:t>If we have “12345” , </a:t>
            </a:r>
            <a:endParaRPr sz="2000"/>
          </a:p>
          <a:p>
            <a:pPr indent="0" lvl="0" marL="0" rtl="0" algn="l">
              <a:lnSpc>
                <a:spcPct val="100000"/>
              </a:lnSpc>
              <a:spcBef>
                <a:spcPts val="0"/>
              </a:spcBef>
              <a:spcAft>
                <a:spcPts val="0"/>
              </a:spcAft>
              <a:buNone/>
            </a:pPr>
            <a:r>
              <a:rPr lang="en" sz="2000"/>
              <a:t>Then call the recursion on “1234”, </a:t>
            </a:r>
            <a:endParaRPr sz="2000"/>
          </a:p>
          <a:p>
            <a:pPr indent="0" lvl="0" marL="0" rtl="0" algn="l">
              <a:lnSpc>
                <a:spcPct val="100000"/>
              </a:lnSpc>
              <a:spcBef>
                <a:spcPts val="0"/>
              </a:spcBef>
              <a:spcAft>
                <a:spcPts val="0"/>
              </a:spcAft>
              <a:buNone/>
            </a:pPr>
            <a:r>
              <a:rPr lang="en" sz="2000"/>
              <a:t>Then call the recursion on “123”,</a:t>
            </a:r>
            <a:endParaRPr sz="2000"/>
          </a:p>
          <a:p>
            <a:pPr indent="0" lvl="0" marL="0" rtl="0" algn="l">
              <a:lnSpc>
                <a:spcPct val="100000"/>
              </a:lnSpc>
              <a:spcBef>
                <a:spcPts val="0"/>
              </a:spcBef>
              <a:spcAft>
                <a:spcPts val="0"/>
              </a:spcAft>
              <a:buNone/>
            </a:pPr>
            <a:r>
              <a:rPr lang="en" sz="2000"/>
              <a:t> Then call the recursion on “12”, </a:t>
            </a:r>
            <a:endParaRPr sz="2000"/>
          </a:p>
          <a:p>
            <a:pPr indent="0" lvl="0" marL="0" rtl="0" algn="l">
              <a:lnSpc>
                <a:spcPct val="100000"/>
              </a:lnSpc>
              <a:spcBef>
                <a:spcPts val="0"/>
              </a:spcBef>
              <a:spcAft>
                <a:spcPts val="0"/>
              </a:spcAft>
              <a:buNone/>
            </a:pPr>
            <a:r>
              <a:rPr lang="en" sz="2000"/>
              <a:t>Then call the recursion on “1”,  now n=1, Then call the recursion on empty array.</a:t>
            </a:r>
            <a:endParaRPr sz="2000"/>
          </a:p>
          <a:p>
            <a:pPr indent="-241458" lvl="0" marL="342900" rtl="0" algn="l">
              <a:lnSpc>
                <a:spcPct val="100000"/>
              </a:lnSpc>
              <a:spcBef>
                <a:spcPts val="0"/>
              </a:spcBef>
              <a:spcAft>
                <a:spcPts val="0"/>
              </a:spcAft>
              <a:buSzPct val="64999"/>
              <a:buAutoNum type="arabicPeriod"/>
            </a:pPr>
            <a:r>
              <a:rPr lang="en" sz="2000"/>
              <a:t>if n=0, then return 0;</a:t>
            </a:r>
            <a:endParaRPr sz="2000"/>
          </a:p>
          <a:p>
            <a:pPr indent="-241458" lvl="0" marL="342900" rtl="0" algn="l">
              <a:lnSpc>
                <a:spcPct val="100000"/>
              </a:lnSpc>
              <a:spcBef>
                <a:spcPts val="0"/>
              </a:spcBef>
              <a:spcAft>
                <a:spcPts val="0"/>
              </a:spcAft>
              <a:buSzPct val="64999"/>
              <a:buAutoNum type="arabicPeriod"/>
            </a:pPr>
            <a:r>
              <a:rPr lang="en" sz="2000"/>
              <a:t>The small answer is 0, then 0*10+1 as the last digit which is 1</a:t>
            </a:r>
            <a:endParaRPr sz="2000"/>
          </a:p>
          <a:p>
            <a:pPr indent="-241458" lvl="0" marL="342900" rtl="0" algn="l">
              <a:lnSpc>
                <a:spcPct val="100000"/>
              </a:lnSpc>
              <a:spcBef>
                <a:spcPts val="0"/>
              </a:spcBef>
              <a:spcAft>
                <a:spcPts val="0"/>
              </a:spcAft>
              <a:buSzPct val="64999"/>
              <a:buAutoNum type="arabicPeriod"/>
            </a:pPr>
            <a:r>
              <a:rPr lang="en" sz="2000"/>
              <a:t>Then 1*10+2 as the last digit</a:t>
            </a:r>
            <a:endParaRPr sz="2000"/>
          </a:p>
          <a:p>
            <a:pPr indent="-241458" lvl="0" marL="342900" rtl="0" algn="l">
              <a:lnSpc>
                <a:spcPct val="100000"/>
              </a:lnSpc>
              <a:spcBef>
                <a:spcPts val="0"/>
              </a:spcBef>
              <a:spcAft>
                <a:spcPts val="0"/>
              </a:spcAft>
              <a:buSzPct val="64999"/>
              <a:buAutoNum type="arabicPeriod"/>
            </a:pPr>
            <a:r>
              <a:rPr lang="en" sz="2000"/>
              <a:t>Then 12*10+3 </a:t>
            </a:r>
            <a:endParaRPr sz="2000"/>
          </a:p>
          <a:p>
            <a:pPr indent="-241458" lvl="0" marL="342900" rtl="0" algn="l">
              <a:lnSpc>
                <a:spcPct val="100000"/>
              </a:lnSpc>
              <a:spcBef>
                <a:spcPts val="0"/>
              </a:spcBef>
              <a:spcAft>
                <a:spcPts val="0"/>
              </a:spcAft>
              <a:buSzPct val="64999"/>
              <a:buAutoNum type="arabicPeriod"/>
            </a:pPr>
            <a:r>
              <a:rPr lang="en" sz="2000"/>
              <a:t>Then 123*10+4</a:t>
            </a:r>
            <a:endParaRPr sz="2000"/>
          </a:p>
          <a:p>
            <a:pPr indent="-241458" lvl="0" marL="342900" rtl="0" algn="l">
              <a:lnSpc>
                <a:spcPct val="100000"/>
              </a:lnSpc>
              <a:spcBef>
                <a:spcPts val="0"/>
              </a:spcBef>
              <a:spcAft>
                <a:spcPts val="0"/>
              </a:spcAft>
              <a:buSzPct val="64999"/>
              <a:buAutoNum type="arabicPeriod"/>
            </a:pPr>
            <a:r>
              <a:rPr lang="en" sz="2000"/>
              <a:t>Finally 1234*10+5</a:t>
            </a:r>
            <a:endParaRPr sz="2000"/>
          </a:p>
        </p:txBody>
      </p:sp>
      <p:sp>
        <p:nvSpPr>
          <p:cNvPr id="782" name="Google Shape;782;g283038813be_0_478"/>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g283038813be_0_484"/>
          <p:cNvSpPr txBox="1"/>
          <p:nvPr>
            <p:ph type="title"/>
          </p:nvPr>
        </p:nvSpPr>
        <p:spPr>
          <a:xfrm>
            <a:off x="503450" y="127772"/>
            <a:ext cx="7886700" cy="5295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Exercises(next: Use recursion)</a:t>
            </a:r>
            <a:endParaRPr/>
          </a:p>
        </p:txBody>
      </p:sp>
      <p:sp>
        <p:nvSpPr>
          <p:cNvPr id="788" name="Google Shape;788;g283038813be_0_484"/>
          <p:cNvSpPr txBox="1"/>
          <p:nvPr>
            <p:ph idx="1" type="body"/>
          </p:nvPr>
        </p:nvSpPr>
        <p:spPr>
          <a:xfrm>
            <a:off x="628650" y="552950"/>
            <a:ext cx="7886700" cy="4507200"/>
          </a:xfrm>
          <a:prstGeom prst="rect">
            <a:avLst/>
          </a:prstGeom>
        </p:spPr>
        <p:txBody>
          <a:bodyPr anchorCtr="0" anchor="t" bIns="34275" lIns="68575" spcFirstLastPara="1" rIns="68575" wrap="square" tIns="34275">
            <a:normAutofit/>
          </a:bodyPr>
          <a:lstStyle/>
          <a:p>
            <a:pPr indent="0" lvl="0" marL="0" rtl="0" algn="l">
              <a:lnSpc>
                <a:spcPct val="115000"/>
              </a:lnSpc>
              <a:spcBef>
                <a:spcPts val="0"/>
              </a:spcBef>
              <a:spcAft>
                <a:spcPts val="0"/>
              </a:spcAft>
              <a:buNone/>
            </a:pPr>
            <a:r>
              <a:rPr lang="en" sz="1600">
                <a:solidFill>
                  <a:schemeClr val="dk1"/>
                </a:solidFill>
              </a:rPr>
              <a:t>7.  A function that remove consecutive duplicate in the string</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600">
                <a:solidFill>
                  <a:schemeClr val="dk1"/>
                </a:solidFill>
              </a:rPr>
              <a:t> Examples:</a:t>
            </a:r>
            <a:endParaRPr b="1"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600">
                <a:solidFill>
                  <a:schemeClr val="dk1"/>
                </a:solidFill>
              </a:rPr>
              <a:t>if aabbbccdd the  function would print  abcd</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600">
                <a:solidFill>
                  <a:schemeClr val="dk1"/>
                </a:solidFill>
              </a:rPr>
              <a:t>if abcde  is provided, the function would  give abcde</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600">
                <a:solidFill>
                  <a:schemeClr val="dk1"/>
                </a:solidFill>
              </a:rPr>
              <a:t>8. Find the last index of an element in the array</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600">
                <a:solidFill>
                  <a:schemeClr val="dk1"/>
                </a:solidFill>
              </a:rPr>
              <a:t>a[6]={5,5,6,20,5,6}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600">
                <a:solidFill>
                  <a:schemeClr val="dk1"/>
                </a:solidFill>
              </a:rPr>
              <a:t>if x=5, the last index of x is 3.</a:t>
            </a:r>
            <a:endParaRPr sz="1600">
              <a:solidFill>
                <a:schemeClr val="dk1"/>
              </a:solidFill>
            </a:endParaRPr>
          </a:p>
          <a:p>
            <a:pPr indent="0" lvl="0" marL="0" rtl="0" algn="l">
              <a:lnSpc>
                <a:spcPct val="115000"/>
              </a:lnSpc>
              <a:spcBef>
                <a:spcPts val="0"/>
              </a:spcBef>
              <a:spcAft>
                <a:spcPts val="0"/>
              </a:spcAft>
              <a:buNone/>
            </a:pPr>
            <a:r>
              <a:rPr lang="en" sz="1600">
                <a:solidFill>
                  <a:schemeClr val="dk1"/>
                </a:solidFill>
              </a:rPr>
              <a:t>int lastIndex(int arr[], int element)</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None/>
            </a:pPr>
            <a:r>
              <a:rPr lang="en" sz="1600">
                <a:solidFill>
                  <a:schemeClr val="dk1"/>
                </a:solidFill>
              </a:rPr>
              <a:t>8. Find the first  index of an element in the array</a:t>
            </a:r>
            <a:endParaRPr sz="1600">
              <a:solidFill>
                <a:schemeClr val="dk1"/>
              </a:solidFill>
            </a:endParaRPr>
          </a:p>
          <a:p>
            <a:pPr indent="0" lvl="0" marL="0" rtl="0" algn="l">
              <a:lnSpc>
                <a:spcPct val="115000"/>
              </a:lnSpc>
              <a:spcBef>
                <a:spcPts val="0"/>
              </a:spcBef>
              <a:spcAft>
                <a:spcPts val="0"/>
              </a:spcAft>
              <a:buNone/>
            </a:pPr>
            <a:r>
              <a:rPr lang="en" sz="1600">
                <a:solidFill>
                  <a:schemeClr val="dk1"/>
                </a:solidFill>
              </a:rPr>
              <a:t>a[6]={5,5,6,20,5,6} </a:t>
            </a:r>
            <a:endParaRPr sz="1600">
              <a:solidFill>
                <a:schemeClr val="dk1"/>
              </a:solidFill>
            </a:endParaRPr>
          </a:p>
          <a:p>
            <a:pPr indent="0" lvl="0" marL="0" rtl="0" algn="l">
              <a:lnSpc>
                <a:spcPct val="115000"/>
              </a:lnSpc>
              <a:spcBef>
                <a:spcPts val="0"/>
              </a:spcBef>
              <a:spcAft>
                <a:spcPts val="0"/>
              </a:spcAft>
              <a:buNone/>
            </a:pPr>
            <a:r>
              <a:rPr lang="en" sz="1600">
                <a:solidFill>
                  <a:schemeClr val="dk1"/>
                </a:solidFill>
              </a:rPr>
              <a:t>if x=5, the first index of x is 0.</a:t>
            </a:r>
            <a:endParaRPr sz="1600">
              <a:solidFill>
                <a:schemeClr val="dk1"/>
              </a:solidFill>
            </a:endParaRPr>
          </a:p>
          <a:p>
            <a:pPr indent="0" lvl="0" marL="0" rtl="0" algn="l">
              <a:lnSpc>
                <a:spcPct val="115000"/>
              </a:lnSpc>
              <a:spcBef>
                <a:spcPts val="0"/>
              </a:spcBef>
              <a:spcAft>
                <a:spcPts val="0"/>
              </a:spcAft>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600">
                <a:solidFill>
                  <a:schemeClr val="dk1"/>
                </a:solidFill>
              </a:rPr>
              <a:t>int firstIdex(int arr[], int elemen</a:t>
            </a:r>
            <a:r>
              <a:rPr lang="en" sz="1400">
                <a:solidFill>
                  <a:schemeClr val="dk1"/>
                </a:solidFill>
              </a:rPr>
              <a:t>t)</a:t>
            </a:r>
            <a:endParaRPr sz="1400">
              <a:solidFill>
                <a:schemeClr val="dk1"/>
              </a:solidFill>
            </a:endParaRPr>
          </a:p>
        </p:txBody>
      </p:sp>
      <p:sp>
        <p:nvSpPr>
          <p:cNvPr id="789" name="Google Shape;789;g283038813be_0_484"/>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g283038813be_0_489"/>
          <p:cNvSpPr txBox="1"/>
          <p:nvPr>
            <p:ph type="title"/>
          </p:nvPr>
        </p:nvSpPr>
        <p:spPr>
          <a:xfrm>
            <a:off x="57150" y="118299"/>
            <a:ext cx="7886700" cy="4263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3000"/>
              <a:buFont typeface="Calibri"/>
              <a:buNone/>
            </a:pPr>
            <a:r>
              <a:rPr b="1" lang="en" sz="2200"/>
              <a:t>Recursion on Character Array: Print array and Print reversed array</a:t>
            </a:r>
            <a:endParaRPr sz="2200"/>
          </a:p>
        </p:txBody>
      </p:sp>
      <p:sp>
        <p:nvSpPr>
          <p:cNvPr id="795" name="Google Shape;795;g283038813be_0_489"/>
          <p:cNvSpPr txBox="1"/>
          <p:nvPr/>
        </p:nvSpPr>
        <p:spPr>
          <a:xfrm>
            <a:off x="149646" y="636309"/>
            <a:ext cx="2678400" cy="4298700"/>
          </a:xfrm>
          <a:prstGeom prst="rect">
            <a:avLst/>
          </a:prstGeom>
          <a:noFill/>
          <a:ln>
            <a:noFill/>
          </a:ln>
        </p:spPr>
        <p:txBody>
          <a:bodyPr anchorCtr="0" anchor="t" bIns="34275" lIns="68575" spcFirstLastPara="1" rIns="68575" wrap="square" tIns="34275">
            <a:normAutofit/>
          </a:bodyPr>
          <a:lstStyle/>
          <a:p>
            <a:pPr indent="-171450" lvl="0" marL="177800" marR="0" rtl="0" algn="l">
              <a:lnSpc>
                <a:spcPct val="90000"/>
              </a:lnSpc>
              <a:spcBef>
                <a:spcPts val="0"/>
              </a:spcBef>
              <a:spcAft>
                <a:spcPts val="0"/>
              </a:spcAft>
              <a:buClr>
                <a:schemeClr val="dk1"/>
              </a:buClr>
              <a:buSzPts val="1500"/>
              <a:buFont typeface="Arial"/>
              <a:buChar char="•"/>
            </a:pPr>
            <a:r>
              <a:rPr b="0" i="0" lang="en" sz="1500" u="none" cap="none" strike="noStrike">
                <a:solidFill>
                  <a:schemeClr val="dk1"/>
                </a:solidFill>
                <a:latin typeface="Calibri"/>
                <a:ea typeface="Calibri"/>
                <a:cs typeface="Calibri"/>
                <a:sym typeface="Calibri"/>
              </a:rPr>
              <a:t>Let us think on two functions that (1) print a string/character array and (2) a reversed string . If we have original string </a:t>
            </a:r>
            <a:r>
              <a:rPr b="1" i="0" lang="en" sz="1500" u="none" cap="none" strike="noStrike">
                <a:solidFill>
                  <a:schemeClr val="dk1"/>
                </a:solidFill>
                <a:latin typeface="Calibri"/>
                <a:ea typeface="Calibri"/>
                <a:cs typeface="Calibri"/>
                <a:sym typeface="Calibri"/>
              </a:rPr>
              <a:t>abc</a:t>
            </a:r>
            <a:r>
              <a:rPr b="0" i="0" lang="en" sz="1500" u="none" cap="none" strike="noStrike">
                <a:solidFill>
                  <a:schemeClr val="dk1"/>
                </a:solidFill>
                <a:latin typeface="Calibri"/>
                <a:ea typeface="Calibri"/>
                <a:cs typeface="Calibri"/>
                <a:sym typeface="Calibri"/>
              </a:rPr>
              <a:t> the reverse will be </a:t>
            </a:r>
            <a:r>
              <a:rPr b="1" i="0" lang="en" sz="1500" u="none" cap="none" strike="noStrike">
                <a:solidFill>
                  <a:schemeClr val="dk1"/>
                </a:solidFill>
                <a:latin typeface="Calibri"/>
                <a:ea typeface="Calibri"/>
                <a:cs typeface="Calibri"/>
                <a:sym typeface="Calibri"/>
              </a:rPr>
              <a:t>cba.</a:t>
            </a:r>
            <a:endParaRPr b="1" i="0" sz="1500" u="none" cap="none" strike="noStrike">
              <a:solidFill>
                <a:schemeClr val="dk1"/>
              </a:solidFill>
              <a:latin typeface="Calibri"/>
              <a:ea typeface="Calibri"/>
              <a:cs typeface="Calibri"/>
              <a:sym typeface="Calibri"/>
            </a:endParaRPr>
          </a:p>
          <a:p>
            <a:pPr indent="-171450" lvl="0" marL="177800" marR="0" rtl="0" algn="l">
              <a:lnSpc>
                <a:spcPct val="90000"/>
              </a:lnSpc>
              <a:spcBef>
                <a:spcPts val="0"/>
              </a:spcBef>
              <a:spcAft>
                <a:spcPts val="0"/>
              </a:spcAft>
              <a:buClr>
                <a:schemeClr val="dk1"/>
              </a:buClr>
              <a:buSzPts val="1500"/>
              <a:buFont typeface="Calibri"/>
              <a:buChar char="•"/>
            </a:pPr>
            <a:r>
              <a:rPr b="1" lang="en" sz="1500">
                <a:solidFill>
                  <a:schemeClr val="dk1"/>
                </a:solidFill>
                <a:latin typeface="Calibri"/>
                <a:ea typeface="Calibri"/>
                <a:cs typeface="Calibri"/>
                <a:sym typeface="Calibri"/>
              </a:rPr>
              <a:t>Print Function</a:t>
            </a:r>
            <a:endParaRPr b="1" sz="1500">
              <a:solidFill>
                <a:schemeClr val="dk1"/>
              </a:solidFill>
              <a:latin typeface="Calibri"/>
              <a:ea typeface="Calibri"/>
              <a:cs typeface="Calibri"/>
              <a:sym typeface="Calibri"/>
            </a:endParaRPr>
          </a:p>
          <a:p>
            <a:pPr indent="-171450" lvl="0" marL="177800" marR="0" rtl="0" algn="l">
              <a:lnSpc>
                <a:spcPct val="90000"/>
              </a:lnSpc>
              <a:spcBef>
                <a:spcPts val="800"/>
              </a:spcBef>
              <a:spcAft>
                <a:spcPts val="0"/>
              </a:spcAft>
              <a:buClr>
                <a:schemeClr val="dk1"/>
              </a:buClr>
              <a:buSzPts val="1500"/>
              <a:buFont typeface="Arial"/>
              <a:buChar char="•"/>
            </a:pPr>
            <a:r>
              <a:rPr b="0" i="0" lang="en" sz="1500" u="none" cap="none" strike="noStrike">
                <a:solidFill>
                  <a:schemeClr val="dk1"/>
                </a:solidFill>
                <a:latin typeface="Calibri"/>
                <a:ea typeface="Calibri"/>
                <a:cs typeface="Calibri"/>
                <a:sym typeface="Calibri"/>
              </a:rPr>
              <a:t>Let us start with first function</a:t>
            </a:r>
            <a:endParaRPr sz="1100"/>
          </a:p>
          <a:p>
            <a:pPr indent="-171450" lvl="1" marL="520700" marR="0" rtl="0" algn="l">
              <a:lnSpc>
                <a:spcPct val="90000"/>
              </a:lnSpc>
              <a:spcBef>
                <a:spcPts val="400"/>
              </a:spcBef>
              <a:spcAft>
                <a:spcPts val="0"/>
              </a:spcAft>
              <a:buClr>
                <a:schemeClr val="dk1"/>
              </a:buClr>
              <a:buSzPts val="1500"/>
              <a:buFont typeface="Arial"/>
              <a:buChar char="•"/>
            </a:pPr>
            <a:r>
              <a:rPr b="0" i="0" lang="en" sz="1500" u="none" cap="none" strike="noStrike">
                <a:solidFill>
                  <a:schemeClr val="dk1"/>
                </a:solidFill>
                <a:latin typeface="Calibri"/>
                <a:ea typeface="Calibri"/>
                <a:cs typeface="Calibri"/>
                <a:sym typeface="Calibri"/>
              </a:rPr>
              <a:t>The best case for first function is when the array is empty.  The first character will be equal to zero i.e  arr[0]=‘\0’</a:t>
            </a:r>
            <a:endParaRPr sz="1100"/>
          </a:p>
          <a:p>
            <a:pPr indent="-171450" lvl="1" marL="520700" marR="0" rtl="0" algn="l">
              <a:lnSpc>
                <a:spcPct val="90000"/>
              </a:lnSpc>
              <a:spcBef>
                <a:spcPts val="400"/>
              </a:spcBef>
              <a:spcAft>
                <a:spcPts val="0"/>
              </a:spcAft>
              <a:buClr>
                <a:schemeClr val="dk1"/>
              </a:buClr>
              <a:buSzPts val="1500"/>
              <a:buFont typeface="Arial"/>
              <a:buChar char="•"/>
            </a:pPr>
            <a:r>
              <a:rPr b="0" i="0" lang="en" sz="1500" u="none" cap="none" strike="noStrike">
                <a:solidFill>
                  <a:schemeClr val="dk1"/>
                </a:solidFill>
                <a:latin typeface="Calibri"/>
                <a:ea typeface="Calibri"/>
                <a:cs typeface="Calibri"/>
                <a:sym typeface="Calibri"/>
              </a:rPr>
              <a:t>If the array is empty, we will not print anything.</a:t>
            </a:r>
            <a:endParaRPr sz="1100"/>
          </a:p>
          <a:p>
            <a:pPr indent="-171450" lvl="1" marL="520700" marR="0" rtl="0" algn="l">
              <a:lnSpc>
                <a:spcPct val="90000"/>
              </a:lnSpc>
              <a:spcBef>
                <a:spcPts val="400"/>
              </a:spcBef>
              <a:spcAft>
                <a:spcPts val="0"/>
              </a:spcAft>
              <a:buClr>
                <a:schemeClr val="dk1"/>
              </a:buClr>
              <a:buSzPts val="1500"/>
              <a:buFont typeface="Arial"/>
              <a:buChar char="•"/>
            </a:pPr>
            <a:r>
              <a:rPr b="0" i="0" lang="en" sz="1500" u="none" cap="none" strike="noStrike">
                <a:solidFill>
                  <a:schemeClr val="dk1"/>
                </a:solidFill>
                <a:latin typeface="Calibri"/>
                <a:ea typeface="Calibri"/>
                <a:cs typeface="Calibri"/>
                <a:sym typeface="Calibri"/>
              </a:rPr>
              <a:t>If the array is not empty, we will print the first element.</a:t>
            </a:r>
            <a:endParaRPr sz="1100"/>
          </a:p>
          <a:p>
            <a:pPr indent="-171450" lvl="1" marL="520700" marR="0" rtl="0" algn="l">
              <a:lnSpc>
                <a:spcPct val="90000"/>
              </a:lnSpc>
              <a:spcBef>
                <a:spcPts val="400"/>
              </a:spcBef>
              <a:spcAft>
                <a:spcPts val="0"/>
              </a:spcAft>
              <a:buClr>
                <a:schemeClr val="dk1"/>
              </a:buClr>
              <a:buSzPts val="1500"/>
              <a:buFont typeface="Arial"/>
              <a:buChar char="•"/>
            </a:pPr>
            <a:r>
              <a:rPr b="0" i="0" lang="en" sz="1500" u="none" cap="none" strike="noStrike">
                <a:solidFill>
                  <a:schemeClr val="dk1"/>
                </a:solidFill>
                <a:latin typeface="Calibri"/>
                <a:ea typeface="Calibri"/>
                <a:cs typeface="Calibri"/>
                <a:sym typeface="Calibri"/>
              </a:rPr>
              <a:t>Then call print recursion</a:t>
            </a:r>
            <a:endParaRPr sz="1100"/>
          </a:p>
        </p:txBody>
      </p:sp>
      <p:graphicFrame>
        <p:nvGraphicFramePr>
          <p:cNvPr id="796" name="Google Shape;796;g283038813be_0_489"/>
          <p:cNvGraphicFramePr/>
          <p:nvPr/>
        </p:nvGraphicFramePr>
        <p:xfrm>
          <a:off x="2960009" y="2326298"/>
          <a:ext cx="3000000" cy="3000000"/>
        </p:xfrm>
        <a:graphic>
          <a:graphicData uri="http://schemas.openxmlformats.org/drawingml/2006/table">
            <a:tbl>
              <a:tblPr>
                <a:noFill/>
                <a:tableStyleId>{6E33B257-1282-41D0-97F9-88C26BE8B7CD}</a:tableStyleId>
              </a:tblPr>
              <a:tblGrid>
                <a:gridCol w="475725"/>
                <a:gridCol w="487925"/>
                <a:gridCol w="523250"/>
                <a:gridCol w="622250"/>
                <a:gridCol w="622250"/>
              </a:tblGrid>
              <a:tr h="390575">
                <a:tc>
                  <a:txBody>
                    <a:bodyPr/>
                    <a:lstStyle/>
                    <a:p>
                      <a:pPr indent="0" lvl="0" marL="0" marR="0" rtl="0" algn="l">
                        <a:spcBef>
                          <a:spcPts val="0"/>
                        </a:spcBef>
                        <a:spcAft>
                          <a:spcPts val="0"/>
                        </a:spcAft>
                        <a:buNone/>
                      </a:pPr>
                      <a:r>
                        <a:rPr b="1" lang="en" sz="1400" u="none" cap="none" strike="noStrike"/>
                        <a:t>a</a:t>
                      </a:r>
                      <a:endParaRPr sz="1100"/>
                    </a:p>
                  </a:txBody>
                  <a:tcPr marT="34300" marB="34300" marR="68600" marL="68600"/>
                </a:tc>
                <a:tc>
                  <a:txBody>
                    <a:bodyPr/>
                    <a:lstStyle/>
                    <a:p>
                      <a:pPr indent="0" lvl="0" marL="0" marR="0" rtl="0" algn="l">
                        <a:spcBef>
                          <a:spcPts val="0"/>
                        </a:spcBef>
                        <a:spcAft>
                          <a:spcPts val="0"/>
                        </a:spcAft>
                        <a:buNone/>
                      </a:pPr>
                      <a:r>
                        <a:rPr lang="en" sz="1400"/>
                        <a:t>b</a:t>
                      </a:r>
                      <a:endParaRPr sz="1100"/>
                    </a:p>
                  </a:txBody>
                  <a:tcPr marT="34300" marB="34300" marR="68600" marL="68600">
                    <a:solidFill>
                      <a:srgbClr val="F4B081"/>
                    </a:solidFill>
                  </a:tcPr>
                </a:tc>
                <a:tc>
                  <a:txBody>
                    <a:bodyPr/>
                    <a:lstStyle/>
                    <a:p>
                      <a:pPr indent="0" lvl="0" marL="0" marR="0" rtl="0" algn="l">
                        <a:spcBef>
                          <a:spcPts val="0"/>
                        </a:spcBef>
                        <a:spcAft>
                          <a:spcPts val="0"/>
                        </a:spcAft>
                        <a:buNone/>
                      </a:pPr>
                      <a:r>
                        <a:rPr lang="en" sz="1400"/>
                        <a:t>c</a:t>
                      </a:r>
                      <a:endParaRPr sz="1100"/>
                    </a:p>
                  </a:txBody>
                  <a:tcPr marT="34300" marB="34300" marR="68600" marL="68600">
                    <a:solidFill>
                      <a:srgbClr val="F4B081"/>
                    </a:solidFill>
                  </a:tcPr>
                </a:tc>
                <a:tc>
                  <a:txBody>
                    <a:bodyPr/>
                    <a:lstStyle/>
                    <a:p>
                      <a:pPr indent="0" lvl="0" marL="0" marR="0" rtl="0" algn="l">
                        <a:spcBef>
                          <a:spcPts val="0"/>
                        </a:spcBef>
                        <a:spcAft>
                          <a:spcPts val="0"/>
                        </a:spcAft>
                        <a:buNone/>
                      </a:pPr>
                      <a:r>
                        <a:rPr lang="en" sz="1400"/>
                        <a:t>d</a:t>
                      </a:r>
                      <a:endParaRPr sz="1100"/>
                    </a:p>
                  </a:txBody>
                  <a:tcPr marT="34300" marB="34300" marR="68600" marL="68600">
                    <a:solidFill>
                      <a:srgbClr val="F4B081"/>
                    </a:solidFill>
                  </a:tcPr>
                </a:tc>
                <a:tc>
                  <a:txBody>
                    <a:bodyPr/>
                    <a:lstStyle/>
                    <a:p>
                      <a:pPr indent="0" lvl="0" marL="0" marR="0" rtl="0" algn="l">
                        <a:spcBef>
                          <a:spcPts val="0"/>
                        </a:spcBef>
                        <a:spcAft>
                          <a:spcPts val="0"/>
                        </a:spcAft>
                        <a:buNone/>
                      </a:pPr>
                      <a:r>
                        <a:rPr lang="en" sz="1400"/>
                        <a:t>e</a:t>
                      </a:r>
                      <a:endParaRPr sz="1100"/>
                    </a:p>
                  </a:txBody>
                  <a:tcPr marT="34300" marB="34300" marR="68600" marL="68600">
                    <a:solidFill>
                      <a:srgbClr val="F4B081"/>
                    </a:solidFill>
                  </a:tcPr>
                </a:tc>
              </a:tr>
              <a:tr h="390575">
                <a:tc>
                  <a:txBody>
                    <a:bodyPr/>
                    <a:lstStyle/>
                    <a:p>
                      <a:pPr indent="0" lvl="0" marL="0" marR="0" rtl="0" algn="l">
                        <a:spcBef>
                          <a:spcPts val="0"/>
                        </a:spcBef>
                        <a:spcAft>
                          <a:spcPts val="0"/>
                        </a:spcAft>
                        <a:buNone/>
                      </a:pPr>
                      <a:r>
                        <a:rPr lang="en" sz="1400"/>
                        <a:t>a</a:t>
                      </a:r>
                      <a:endParaRPr sz="1100"/>
                    </a:p>
                  </a:txBody>
                  <a:tcPr marT="34300" marB="34300" marR="68600" marL="68600"/>
                </a:tc>
                <a:tc>
                  <a:txBody>
                    <a:bodyPr/>
                    <a:lstStyle/>
                    <a:p>
                      <a:pPr indent="0" lvl="0" marL="0" marR="0" rtl="0" algn="l">
                        <a:spcBef>
                          <a:spcPts val="0"/>
                        </a:spcBef>
                        <a:spcAft>
                          <a:spcPts val="0"/>
                        </a:spcAft>
                        <a:buNone/>
                      </a:pPr>
                      <a:r>
                        <a:rPr b="1" i="1" lang="en" sz="1400"/>
                        <a:t>b</a:t>
                      </a:r>
                      <a:endParaRPr sz="1100"/>
                    </a:p>
                  </a:txBody>
                  <a:tcPr marT="34300" marB="34300" marR="68600" marL="68600"/>
                </a:tc>
                <a:tc>
                  <a:txBody>
                    <a:bodyPr/>
                    <a:lstStyle/>
                    <a:p>
                      <a:pPr indent="0" lvl="0" marL="0" marR="0" rtl="0" algn="l">
                        <a:spcBef>
                          <a:spcPts val="0"/>
                        </a:spcBef>
                        <a:spcAft>
                          <a:spcPts val="0"/>
                        </a:spcAft>
                        <a:buNone/>
                      </a:pPr>
                      <a:r>
                        <a:rPr lang="en" sz="1400"/>
                        <a:t>c</a:t>
                      </a:r>
                      <a:endParaRPr sz="1100"/>
                    </a:p>
                  </a:txBody>
                  <a:tcPr marT="34300" marB="34300" marR="68600" marL="68600">
                    <a:solidFill>
                      <a:srgbClr val="F4B081"/>
                    </a:solidFill>
                  </a:tcPr>
                </a:tc>
                <a:tc>
                  <a:txBody>
                    <a:bodyPr/>
                    <a:lstStyle/>
                    <a:p>
                      <a:pPr indent="0" lvl="0" marL="0" marR="0" rtl="0" algn="l">
                        <a:spcBef>
                          <a:spcPts val="0"/>
                        </a:spcBef>
                        <a:spcAft>
                          <a:spcPts val="0"/>
                        </a:spcAft>
                        <a:buNone/>
                      </a:pPr>
                      <a:r>
                        <a:rPr lang="en" sz="1400"/>
                        <a:t>d</a:t>
                      </a:r>
                      <a:endParaRPr sz="1100"/>
                    </a:p>
                  </a:txBody>
                  <a:tcPr marT="34300" marB="34300" marR="68600" marL="68600">
                    <a:solidFill>
                      <a:srgbClr val="F4B081"/>
                    </a:solidFill>
                  </a:tcPr>
                </a:tc>
                <a:tc>
                  <a:txBody>
                    <a:bodyPr/>
                    <a:lstStyle/>
                    <a:p>
                      <a:pPr indent="0" lvl="0" marL="0" marR="0" rtl="0" algn="l">
                        <a:spcBef>
                          <a:spcPts val="0"/>
                        </a:spcBef>
                        <a:spcAft>
                          <a:spcPts val="0"/>
                        </a:spcAft>
                        <a:buNone/>
                      </a:pPr>
                      <a:r>
                        <a:rPr lang="en" sz="1400"/>
                        <a:t>e</a:t>
                      </a:r>
                      <a:endParaRPr sz="1100"/>
                    </a:p>
                  </a:txBody>
                  <a:tcPr marT="34300" marB="34300" marR="68600" marL="68600">
                    <a:solidFill>
                      <a:srgbClr val="F4B081"/>
                    </a:solidFill>
                  </a:tcPr>
                </a:tc>
              </a:tr>
              <a:tr h="390575">
                <a:tc>
                  <a:txBody>
                    <a:bodyPr/>
                    <a:lstStyle/>
                    <a:p>
                      <a:pPr indent="0" lvl="0" marL="0" marR="0" rtl="0" algn="l">
                        <a:spcBef>
                          <a:spcPts val="0"/>
                        </a:spcBef>
                        <a:spcAft>
                          <a:spcPts val="0"/>
                        </a:spcAft>
                        <a:buNone/>
                      </a:pPr>
                      <a:r>
                        <a:rPr lang="en" sz="1400"/>
                        <a:t>a</a:t>
                      </a:r>
                      <a:endParaRPr sz="1100"/>
                    </a:p>
                  </a:txBody>
                  <a:tcPr marT="34300" marB="34300" marR="68600" marL="68600"/>
                </a:tc>
                <a:tc>
                  <a:txBody>
                    <a:bodyPr/>
                    <a:lstStyle/>
                    <a:p>
                      <a:pPr indent="0" lvl="0" marL="0" marR="0" rtl="0" algn="l">
                        <a:spcBef>
                          <a:spcPts val="0"/>
                        </a:spcBef>
                        <a:spcAft>
                          <a:spcPts val="0"/>
                        </a:spcAft>
                        <a:buNone/>
                      </a:pPr>
                      <a:r>
                        <a:rPr lang="en" sz="1400"/>
                        <a:t>b</a:t>
                      </a:r>
                      <a:endParaRPr sz="1100"/>
                    </a:p>
                  </a:txBody>
                  <a:tcPr marT="34300" marB="34300" marR="68600" marL="68600"/>
                </a:tc>
                <a:tc>
                  <a:txBody>
                    <a:bodyPr/>
                    <a:lstStyle/>
                    <a:p>
                      <a:pPr indent="0" lvl="0" marL="0" marR="0" rtl="0" algn="l">
                        <a:spcBef>
                          <a:spcPts val="0"/>
                        </a:spcBef>
                        <a:spcAft>
                          <a:spcPts val="0"/>
                        </a:spcAft>
                        <a:buNone/>
                      </a:pPr>
                      <a:r>
                        <a:rPr b="1" i="0" lang="en" sz="1400"/>
                        <a:t>c</a:t>
                      </a:r>
                      <a:endParaRPr sz="1100"/>
                    </a:p>
                  </a:txBody>
                  <a:tcPr marT="34300" marB="34300" marR="68600" marL="68600"/>
                </a:tc>
                <a:tc>
                  <a:txBody>
                    <a:bodyPr/>
                    <a:lstStyle/>
                    <a:p>
                      <a:pPr indent="0" lvl="0" marL="0" marR="0" rtl="0" algn="l">
                        <a:spcBef>
                          <a:spcPts val="0"/>
                        </a:spcBef>
                        <a:spcAft>
                          <a:spcPts val="0"/>
                        </a:spcAft>
                        <a:buNone/>
                      </a:pPr>
                      <a:r>
                        <a:rPr lang="en" sz="1400"/>
                        <a:t>d</a:t>
                      </a:r>
                      <a:endParaRPr sz="1100"/>
                    </a:p>
                  </a:txBody>
                  <a:tcPr marT="34300" marB="34300" marR="68600" marL="68600">
                    <a:solidFill>
                      <a:srgbClr val="F4B081"/>
                    </a:solidFill>
                  </a:tcPr>
                </a:tc>
                <a:tc>
                  <a:txBody>
                    <a:bodyPr/>
                    <a:lstStyle/>
                    <a:p>
                      <a:pPr indent="0" lvl="0" marL="0" marR="0" rtl="0" algn="l">
                        <a:spcBef>
                          <a:spcPts val="0"/>
                        </a:spcBef>
                        <a:spcAft>
                          <a:spcPts val="0"/>
                        </a:spcAft>
                        <a:buNone/>
                      </a:pPr>
                      <a:r>
                        <a:rPr lang="en" sz="1400"/>
                        <a:t>e</a:t>
                      </a:r>
                      <a:endParaRPr sz="1100"/>
                    </a:p>
                  </a:txBody>
                  <a:tcPr marT="34300" marB="34300" marR="68600" marL="68600">
                    <a:solidFill>
                      <a:srgbClr val="F4B081"/>
                    </a:solidFill>
                  </a:tcPr>
                </a:tc>
              </a:tr>
              <a:tr h="390575">
                <a:tc>
                  <a:txBody>
                    <a:bodyPr/>
                    <a:lstStyle/>
                    <a:p>
                      <a:pPr indent="0" lvl="0" marL="0" marR="0" rtl="0" algn="l">
                        <a:spcBef>
                          <a:spcPts val="0"/>
                        </a:spcBef>
                        <a:spcAft>
                          <a:spcPts val="0"/>
                        </a:spcAft>
                        <a:buNone/>
                      </a:pPr>
                      <a:r>
                        <a:rPr lang="en" sz="1400"/>
                        <a:t>a</a:t>
                      </a:r>
                      <a:endParaRPr sz="1100"/>
                    </a:p>
                  </a:txBody>
                  <a:tcPr marT="34300" marB="34300" marR="68600" marL="68600"/>
                </a:tc>
                <a:tc>
                  <a:txBody>
                    <a:bodyPr/>
                    <a:lstStyle/>
                    <a:p>
                      <a:pPr indent="0" lvl="0" marL="0" marR="0" rtl="0" algn="l">
                        <a:spcBef>
                          <a:spcPts val="0"/>
                        </a:spcBef>
                        <a:spcAft>
                          <a:spcPts val="0"/>
                        </a:spcAft>
                        <a:buNone/>
                      </a:pPr>
                      <a:r>
                        <a:rPr lang="en" sz="1400"/>
                        <a:t>b</a:t>
                      </a:r>
                      <a:endParaRPr sz="1100"/>
                    </a:p>
                  </a:txBody>
                  <a:tcPr marT="34300" marB="34300" marR="68600" marL="68600"/>
                </a:tc>
                <a:tc>
                  <a:txBody>
                    <a:bodyPr/>
                    <a:lstStyle/>
                    <a:p>
                      <a:pPr indent="0" lvl="0" marL="0" marR="0" rtl="0" algn="l">
                        <a:spcBef>
                          <a:spcPts val="0"/>
                        </a:spcBef>
                        <a:spcAft>
                          <a:spcPts val="0"/>
                        </a:spcAft>
                        <a:buNone/>
                      </a:pPr>
                      <a:r>
                        <a:rPr lang="en" sz="1400"/>
                        <a:t>c</a:t>
                      </a:r>
                      <a:endParaRPr sz="1100"/>
                    </a:p>
                  </a:txBody>
                  <a:tcPr marT="34300" marB="34300" marR="68600" marL="68600"/>
                </a:tc>
                <a:tc>
                  <a:txBody>
                    <a:bodyPr/>
                    <a:lstStyle/>
                    <a:p>
                      <a:pPr indent="0" lvl="0" marL="0" marR="0" rtl="0" algn="l">
                        <a:spcBef>
                          <a:spcPts val="0"/>
                        </a:spcBef>
                        <a:spcAft>
                          <a:spcPts val="0"/>
                        </a:spcAft>
                        <a:buNone/>
                      </a:pPr>
                      <a:r>
                        <a:rPr b="1" i="1" lang="en" sz="1400"/>
                        <a:t>d</a:t>
                      </a:r>
                      <a:endParaRPr sz="1100"/>
                    </a:p>
                  </a:txBody>
                  <a:tcPr marT="34300" marB="34300" marR="68600" marL="68600"/>
                </a:tc>
                <a:tc>
                  <a:txBody>
                    <a:bodyPr/>
                    <a:lstStyle/>
                    <a:p>
                      <a:pPr indent="0" lvl="0" marL="0" marR="0" rtl="0" algn="l">
                        <a:spcBef>
                          <a:spcPts val="0"/>
                        </a:spcBef>
                        <a:spcAft>
                          <a:spcPts val="0"/>
                        </a:spcAft>
                        <a:buNone/>
                      </a:pPr>
                      <a:r>
                        <a:rPr lang="en" sz="1400"/>
                        <a:t>e</a:t>
                      </a:r>
                      <a:endParaRPr sz="1100"/>
                    </a:p>
                  </a:txBody>
                  <a:tcPr marT="34300" marB="34300" marR="68600" marL="68600">
                    <a:solidFill>
                      <a:srgbClr val="F4B081"/>
                    </a:solidFill>
                  </a:tcPr>
                </a:tc>
              </a:tr>
              <a:tr h="390575">
                <a:tc>
                  <a:txBody>
                    <a:bodyPr/>
                    <a:lstStyle/>
                    <a:p>
                      <a:pPr indent="0" lvl="0" marL="0" marR="0" rtl="0" algn="l">
                        <a:spcBef>
                          <a:spcPts val="0"/>
                        </a:spcBef>
                        <a:spcAft>
                          <a:spcPts val="0"/>
                        </a:spcAft>
                        <a:buNone/>
                      </a:pPr>
                      <a:r>
                        <a:rPr lang="en" sz="1400"/>
                        <a:t>a</a:t>
                      </a:r>
                      <a:endParaRPr sz="1100"/>
                    </a:p>
                  </a:txBody>
                  <a:tcPr marT="34300" marB="34300" marR="68600" marL="68600"/>
                </a:tc>
                <a:tc>
                  <a:txBody>
                    <a:bodyPr/>
                    <a:lstStyle/>
                    <a:p>
                      <a:pPr indent="0" lvl="0" marL="0" marR="0" rtl="0" algn="l">
                        <a:spcBef>
                          <a:spcPts val="0"/>
                        </a:spcBef>
                        <a:spcAft>
                          <a:spcPts val="0"/>
                        </a:spcAft>
                        <a:buNone/>
                      </a:pPr>
                      <a:r>
                        <a:rPr lang="en" sz="1400"/>
                        <a:t>b</a:t>
                      </a:r>
                      <a:endParaRPr sz="1100"/>
                    </a:p>
                  </a:txBody>
                  <a:tcPr marT="34300" marB="34300" marR="68600" marL="68600"/>
                </a:tc>
                <a:tc>
                  <a:txBody>
                    <a:bodyPr/>
                    <a:lstStyle/>
                    <a:p>
                      <a:pPr indent="0" lvl="0" marL="0" marR="0" rtl="0" algn="l">
                        <a:spcBef>
                          <a:spcPts val="0"/>
                        </a:spcBef>
                        <a:spcAft>
                          <a:spcPts val="0"/>
                        </a:spcAft>
                        <a:buNone/>
                      </a:pPr>
                      <a:r>
                        <a:rPr lang="en" sz="1400"/>
                        <a:t>c</a:t>
                      </a:r>
                      <a:endParaRPr sz="1100"/>
                    </a:p>
                  </a:txBody>
                  <a:tcPr marT="34300" marB="34300" marR="68600" marL="68600"/>
                </a:tc>
                <a:tc>
                  <a:txBody>
                    <a:bodyPr/>
                    <a:lstStyle/>
                    <a:p>
                      <a:pPr indent="0" lvl="0" marL="0" marR="0" rtl="0" algn="l">
                        <a:spcBef>
                          <a:spcPts val="0"/>
                        </a:spcBef>
                        <a:spcAft>
                          <a:spcPts val="0"/>
                        </a:spcAft>
                        <a:buNone/>
                      </a:pPr>
                      <a:r>
                        <a:rPr lang="en" sz="1400"/>
                        <a:t>d</a:t>
                      </a:r>
                      <a:endParaRPr sz="1100"/>
                    </a:p>
                  </a:txBody>
                  <a:tcPr marT="34300" marB="34300" marR="68600" marL="68600"/>
                </a:tc>
                <a:tc>
                  <a:txBody>
                    <a:bodyPr/>
                    <a:lstStyle/>
                    <a:p>
                      <a:pPr indent="0" lvl="0" marL="0" marR="0" rtl="0" algn="l">
                        <a:spcBef>
                          <a:spcPts val="0"/>
                        </a:spcBef>
                        <a:spcAft>
                          <a:spcPts val="0"/>
                        </a:spcAft>
                        <a:buNone/>
                      </a:pPr>
                      <a:r>
                        <a:rPr b="1" i="1" lang="en" sz="1400" u="none"/>
                        <a:t>e</a:t>
                      </a:r>
                      <a:endParaRPr sz="1100"/>
                    </a:p>
                  </a:txBody>
                  <a:tcPr marT="34300" marB="34300" marR="68600" marL="68600"/>
                </a:tc>
              </a:tr>
            </a:tbl>
          </a:graphicData>
        </a:graphic>
      </p:graphicFrame>
      <p:graphicFrame>
        <p:nvGraphicFramePr>
          <p:cNvPr id="797" name="Google Shape;797;g283038813be_0_489"/>
          <p:cNvGraphicFramePr/>
          <p:nvPr/>
        </p:nvGraphicFramePr>
        <p:xfrm>
          <a:off x="2960009" y="1795805"/>
          <a:ext cx="3000000" cy="3000000"/>
        </p:xfrm>
        <a:graphic>
          <a:graphicData uri="http://schemas.openxmlformats.org/drawingml/2006/table">
            <a:tbl>
              <a:tblPr bandRow="1" firstRow="1">
                <a:noFill/>
                <a:tableStyleId>{8A5AB06D-D19D-4F94-BA5E-EF1543E2CBFD}</a:tableStyleId>
              </a:tblPr>
              <a:tblGrid>
                <a:gridCol w="526850"/>
                <a:gridCol w="526850"/>
                <a:gridCol w="526850"/>
                <a:gridCol w="526850"/>
                <a:gridCol w="526850"/>
              </a:tblGrid>
              <a:tr h="240575">
                <a:tc>
                  <a:txBody>
                    <a:bodyPr/>
                    <a:lstStyle/>
                    <a:p>
                      <a:pPr indent="0" lvl="0" marL="0" marR="0" rtl="0" algn="l">
                        <a:spcBef>
                          <a:spcPts val="0"/>
                        </a:spcBef>
                        <a:spcAft>
                          <a:spcPts val="0"/>
                        </a:spcAft>
                        <a:buNone/>
                      </a:pPr>
                      <a:r>
                        <a:rPr lang="en" sz="1400"/>
                        <a:t>a</a:t>
                      </a:r>
                      <a:endParaRPr sz="1100"/>
                    </a:p>
                  </a:txBody>
                  <a:tcPr marT="34300" marB="34300" marR="68600" marL="68600"/>
                </a:tc>
                <a:tc>
                  <a:txBody>
                    <a:bodyPr/>
                    <a:lstStyle/>
                    <a:p>
                      <a:pPr indent="0" lvl="0" marL="0" marR="0" rtl="0" algn="l">
                        <a:spcBef>
                          <a:spcPts val="0"/>
                        </a:spcBef>
                        <a:spcAft>
                          <a:spcPts val="0"/>
                        </a:spcAft>
                        <a:buNone/>
                      </a:pPr>
                      <a:r>
                        <a:rPr lang="en" sz="1400"/>
                        <a:t>b</a:t>
                      </a:r>
                      <a:endParaRPr sz="1100"/>
                    </a:p>
                  </a:txBody>
                  <a:tcPr marT="34300" marB="34300" marR="68600" marL="68600"/>
                </a:tc>
                <a:tc>
                  <a:txBody>
                    <a:bodyPr/>
                    <a:lstStyle/>
                    <a:p>
                      <a:pPr indent="0" lvl="0" marL="0" marR="0" rtl="0" algn="l">
                        <a:spcBef>
                          <a:spcPts val="0"/>
                        </a:spcBef>
                        <a:spcAft>
                          <a:spcPts val="0"/>
                        </a:spcAft>
                        <a:buNone/>
                      </a:pPr>
                      <a:r>
                        <a:rPr lang="en" sz="1400"/>
                        <a:t>c</a:t>
                      </a:r>
                      <a:endParaRPr sz="1100"/>
                    </a:p>
                  </a:txBody>
                  <a:tcPr marT="34300" marB="34300" marR="68600" marL="68600"/>
                </a:tc>
                <a:tc>
                  <a:txBody>
                    <a:bodyPr/>
                    <a:lstStyle/>
                    <a:p>
                      <a:pPr indent="0" lvl="0" marL="0" marR="0" rtl="0" algn="l">
                        <a:spcBef>
                          <a:spcPts val="0"/>
                        </a:spcBef>
                        <a:spcAft>
                          <a:spcPts val="0"/>
                        </a:spcAft>
                        <a:buNone/>
                      </a:pPr>
                      <a:r>
                        <a:rPr lang="en" sz="1400"/>
                        <a:t>d</a:t>
                      </a:r>
                      <a:endParaRPr sz="1100"/>
                    </a:p>
                  </a:txBody>
                  <a:tcPr marT="34300" marB="34300" marR="68600" marL="68600"/>
                </a:tc>
                <a:tc>
                  <a:txBody>
                    <a:bodyPr/>
                    <a:lstStyle/>
                    <a:p>
                      <a:pPr indent="0" lvl="0" marL="0" marR="0" rtl="0" algn="l">
                        <a:spcBef>
                          <a:spcPts val="0"/>
                        </a:spcBef>
                        <a:spcAft>
                          <a:spcPts val="0"/>
                        </a:spcAft>
                        <a:buNone/>
                      </a:pPr>
                      <a:r>
                        <a:rPr lang="en" sz="1400"/>
                        <a:t>e</a:t>
                      </a:r>
                      <a:endParaRPr sz="1100"/>
                    </a:p>
                  </a:txBody>
                  <a:tcPr marT="34300" marB="34300" marR="68600" marL="68600"/>
                </a:tc>
              </a:tr>
            </a:tbl>
          </a:graphicData>
        </a:graphic>
      </p:graphicFrame>
      <p:sp>
        <p:nvSpPr>
          <p:cNvPr id="798" name="Google Shape;798;g283038813be_0_489"/>
          <p:cNvSpPr txBox="1"/>
          <p:nvPr>
            <p:ph idx="1" type="body"/>
          </p:nvPr>
        </p:nvSpPr>
        <p:spPr>
          <a:xfrm>
            <a:off x="5931817" y="481589"/>
            <a:ext cx="2962500" cy="4651500"/>
          </a:xfrm>
          <a:prstGeom prst="rect">
            <a:avLst/>
          </a:prstGeom>
          <a:solidFill>
            <a:schemeClr val="accent3"/>
          </a:solidFill>
          <a:ln cap="flat" cmpd="sng" w="12700">
            <a:solidFill>
              <a:srgbClr val="787878"/>
            </a:solidFill>
            <a:prstDash val="solid"/>
            <a:miter lim="800000"/>
            <a:headEnd len="sm" w="sm" type="none"/>
            <a:tailEnd len="sm" w="sm" type="none"/>
          </a:ln>
        </p:spPr>
        <p:txBody>
          <a:bodyPr anchorCtr="0" anchor="t" bIns="34275" lIns="68575" spcFirstLastPara="1" rIns="68575" wrap="square" tIns="34275">
            <a:noAutofit/>
          </a:bodyPr>
          <a:lstStyle/>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#include&lt;iostream&gt;</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using namespace std;</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void print(char input[]){</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//If the array is zero,  we don’t print</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    if(input[0]=='\0'){</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        return ;</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    }</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//Print the output</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    cout&lt;&lt;input[0];</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 Call recursion </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    print(input+1);</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int main(){</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  char input[] = “RCA";</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  print(input);</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return 0;</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a:t>
            </a:r>
            <a:endParaRPr/>
          </a:p>
        </p:txBody>
      </p:sp>
      <p:sp>
        <p:nvSpPr>
          <p:cNvPr id="799" name="Google Shape;799;g283038813be_0_489"/>
          <p:cNvSpPr txBox="1"/>
          <p:nvPr/>
        </p:nvSpPr>
        <p:spPr>
          <a:xfrm>
            <a:off x="3464351" y="1272619"/>
            <a:ext cx="12090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400" u="none" cap="none" strike="noStrike">
                <a:solidFill>
                  <a:schemeClr val="dk1"/>
                </a:solidFill>
                <a:latin typeface="Calibri"/>
                <a:ea typeface="Calibri"/>
                <a:cs typeface="Calibri"/>
                <a:sym typeface="Calibri"/>
              </a:rPr>
              <a:t>Design in table</a:t>
            </a:r>
            <a:endParaRPr sz="1100"/>
          </a:p>
        </p:txBody>
      </p:sp>
      <p:cxnSp>
        <p:nvCxnSpPr>
          <p:cNvPr id="800" name="Google Shape;800;g283038813be_0_489"/>
          <p:cNvCxnSpPr/>
          <p:nvPr/>
        </p:nvCxnSpPr>
        <p:spPr>
          <a:xfrm>
            <a:off x="2960009" y="2460397"/>
            <a:ext cx="2413500" cy="1803000"/>
          </a:xfrm>
          <a:prstGeom prst="straightConnector1">
            <a:avLst/>
          </a:prstGeom>
          <a:noFill/>
          <a:ln cap="flat" cmpd="sng" w="19050">
            <a:solidFill>
              <a:schemeClr val="accent1"/>
            </a:solidFill>
            <a:prstDash val="solid"/>
            <a:miter lim="800000"/>
            <a:headEnd len="sm" w="sm" type="none"/>
            <a:tailEnd len="med" w="med" type="triangle"/>
          </a:ln>
        </p:spPr>
      </p:cxnSp>
      <p:sp>
        <p:nvSpPr>
          <p:cNvPr id="801" name="Google Shape;801;g283038813be_0_489"/>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g283038813be_0_499"/>
          <p:cNvSpPr txBox="1"/>
          <p:nvPr>
            <p:ph type="title"/>
          </p:nvPr>
        </p:nvSpPr>
        <p:spPr>
          <a:xfrm>
            <a:off x="-57149" y="118299"/>
            <a:ext cx="7886700" cy="4263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3000"/>
              <a:buFont typeface="Calibri"/>
              <a:buNone/>
            </a:pPr>
            <a:r>
              <a:rPr b="1" lang="en" sz="2700"/>
              <a:t>Function 2: Recursion on Reversing Character Array</a:t>
            </a:r>
            <a:endParaRPr sz="2700"/>
          </a:p>
        </p:txBody>
      </p:sp>
      <p:sp>
        <p:nvSpPr>
          <p:cNvPr id="807" name="Google Shape;807;g283038813be_0_499"/>
          <p:cNvSpPr txBox="1"/>
          <p:nvPr/>
        </p:nvSpPr>
        <p:spPr>
          <a:xfrm>
            <a:off x="149646" y="636309"/>
            <a:ext cx="2678400" cy="4298700"/>
          </a:xfrm>
          <a:prstGeom prst="rect">
            <a:avLst/>
          </a:prstGeom>
          <a:noFill/>
          <a:ln>
            <a:noFill/>
          </a:ln>
        </p:spPr>
        <p:txBody>
          <a:bodyPr anchorCtr="0" anchor="t" bIns="34275" lIns="68575" spcFirstLastPara="1" rIns="68575" wrap="square" tIns="34275">
            <a:normAutofit/>
          </a:bodyPr>
          <a:lstStyle/>
          <a:p>
            <a:pPr indent="-171450" lvl="0" marL="177800" marR="0" rtl="0" algn="l">
              <a:lnSpc>
                <a:spcPct val="90000"/>
              </a:lnSpc>
              <a:spcBef>
                <a:spcPts val="0"/>
              </a:spcBef>
              <a:spcAft>
                <a:spcPts val="0"/>
              </a:spcAft>
              <a:buClr>
                <a:schemeClr val="dk1"/>
              </a:buClr>
              <a:buSzPts val="1500"/>
              <a:buFont typeface="Arial"/>
              <a:buChar char="•"/>
            </a:pPr>
            <a:r>
              <a:rPr lang="en" sz="1500">
                <a:solidFill>
                  <a:schemeClr val="dk1"/>
                </a:solidFill>
                <a:latin typeface="Calibri"/>
                <a:ea typeface="Calibri"/>
                <a:cs typeface="Calibri"/>
                <a:sym typeface="Calibri"/>
              </a:rPr>
              <a:t>Let us start with second reverse  function</a:t>
            </a:r>
            <a:endParaRPr sz="1100"/>
          </a:p>
          <a:p>
            <a:pPr indent="-171450" lvl="0" marL="177800" marR="0" rtl="0" algn="l">
              <a:lnSpc>
                <a:spcPct val="90000"/>
              </a:lnSpc>
              <a:spcBef>
                <a:spcPts val="800"/>
              </a:spcBef>
              <a:spcAft>
                <a:spcPts val="0"/>
              </a:spcAft>
              <a:buClr>
                <a:schemeClr val="dk1"/>
              </a:buClr>
              <a:buSzPts val="1500"/>
              <a:buFont typeface="Arial"/>
              <a:buChar char="•"/>
            </a:pPr>
            <a:r>
              <a:rPr lang="en" sz="1500">
                <a:solidFill>
                  <a:schemeClr val="dk1"/>
                </a:solidFill>
                <a:latin typeface="Calibri"/>
                <a:ea typeface="Calibri"/>
                <a:cs typeface="Calibri"/>
                <a:sym typeface="Calibri"/>
              </a:rPr>
              <a:t>We first print the small array and the print the  first value. The order will be reversed.</a:t>
            </a:r>
            <a:endParaRPr sz="1100"/>
          </a:p>
          <a:p>
            <a:pPr indent="-76200" lvl="0" marL="177800" marR="0" rtl="0" algn="l">
              <a:lnSpc>
                <a:spcPct val="90000"/>
              </a:lnSpc>
              <a:spcBef>
                <a:spcPts val="800"/>
              </a:spcBef>
              <a:spcAft>
                <a:spcPts val="0"/>
              </a:spcAft>
              <a:buClr>
                <a:schemeClr val="dk1"/>
              </a:buClr>
              <a:buSzPts val="1500"/>
              <a:buFont typeface="Arial"/>
              <a:buNone/>
            </a:pPr>
            <a:r>
              <a:t/>
            </a:r>
            <a:endParaRPr sz="1500">
              <a:solidFill>
                <a:schemeClr val="dk1"/>
              </a:solidFill>
              <a:latin typeface="Calibri"/>
              <a:ea typeface="Calibri"/>
              <a:cs typeface="Calibri"/>
              <a:sym typeface="Calibri"/>
            </a:endParaRPr>
          </a:p>
        </p:txBody>
      </p:sp>
      <p:graphicFrame>
        <p:nvGraphicFramePr>
          <p:cNvPr id="808" name="Google Shape;808;g283038813be_0_499"/>
          <p:cNvGraphicFramePr/>
          <p:nvPr/>
        </p:nvGraphicFramePr>
        <p:xfrm>
          <a:off x="2960009" y="2326298"/>
          <a:ext cx="3000000" cy="3000000"/>
        </p:xfrm>
        <a:graphic>
          <a:graphicData uri="http://schemas.openxmlformats.org/drawingml/2006/table">
            <a:tbl>
              <a:tblPr>
                <a:noFill/>
                <a:tableStyleId>{6E33B257-1282-41D0-97F9-88C26BE8B7CD}</a:tableStyleId>
              </a:tblPr>
              <a:tblGrid>
                <a:gridCol w="475725"/>
                <a:gridCol w="487925"/>
                <a:gridCol w="523250"/>
                <a:gridCol w="622250"/>
                <a:gridCol w="622250"/>
              </a:tblGrid>
              <a:tr h="390575">
                <a:tc>
                  <a:txBody>
                    <a:bodyPr/>
                    <a:lstStyle/>
                    <a:p>
                      <a:pPr indent="0" lvl="0" marL="0" marR="0" rtl="0" algn="l">
                        <a:spcBef>
                          <a:spcPts val="0"/>
                        </a:spcBef>
                        <a:spcAft>
                          <a:spcPts val="0"/>
                        </a:spcAft>
                        <a:buNone/>
                      </a:pPr>
                      <a:r>
                        <a:rPr b="1" lang="en" sz="1400" u="sng"/>
                        <a:t>a</a:t>
                      </a:r>
                      <a:endParaRPr sz="1100"/>
                    </a:p>
                  </a:txBody>
                  <a:tcPr marT="34300" marB="34300" marR="68600" marL="68600"/>
                </a:tc>
                <a:tc>
                  <a:txBody>
                    <a:bodyPr/>
                    <a:lstStyle/>
                    <a:p>
                      <a:pPr indent="0" lvl="0" marL="0" marR="0" rtl="0" algn="l">
                        <a:spcBef>
                          <a:spcPts val="0"/>
                        </a:spcBef>
                        <a:spcAft>
                          <a:spcPts val="0"/>
                        </a:spcAft>
                        <a:buNone/>
                      </a:pPr>
                      <a:r>
                        <a:rPr lang="en" sz="1400"/>
                        <a:t>b</a:t>
                      </a:r>
                      <a:endParaRPr sz="1100"/>
                    </a:p>
                  </a:txBody>
                  <a:tcPr marT="34300" marB="34300" marR="68600" marL="68600">
                    <a:solidFill>
                      <a:srgbClr val="F4B081"/>
                    </a:solidFill>
                  </a:tcPr>
                </a:tc>
                <a:tc>
                  <a:txBody>
                    <a:bodyPr/>
                    <a:lstStyle/>
                    <a:p>
                      <a:pPr indent="0" lvl="0" marL="0" marR="0" rtl="0" algn="l">
                        <a:spcBef>
                          <a:spcPts val="0"/>
                        </a:spcBef>
                        <a:spcAft>
                          <a:spcPts val="0"/>
                        </a:spcAft>
                        <a:buNone/>
                      </a:pPr>
                      <a:r>
                        <a:rPr lang="en" sz="1400"/>
                        <a:t>c</a:t>
                      </a:r>
                      <a:endParaRPr sz="1100"/>
                    </a:p>
                  </a:txBody>
                  <a:tcPr marT="34300" marB="34300" marR="68600" marL="68600">
                    <a:solidFill>
                      <a:srgbClr val="F4B081"/>
                    </a:solidFill>
                  </a:tcPr>
                </a:tc>
                <a:tc>
                  <a:txBody>
                    <a:bodyPr/>
                    <a:lstStyle/>
                    <a:p>
                      <a:pPr indent="0" lvl="0" marL="0" marR="0" rtl="0" algn="l">
                        <a:spcBef>
                          <a:spcPts val="0"/>
                        </a:spcBef>
                        <a:spcAft>
                          <a:spcPts val="0"/>
                        </a:spcAft>
                        <a:buNone/>
                      </a:pPr>
                      <a:r>
                        <a:rPr lang="en" sz="1400"/>
                        <a:t>d</a:t>
                      </a:r>
                      <a:endParaRPr sz="1100"/>
                    </a:p>
                  </a:txBody>
                  <a:tcPr marT="34300" marB="34300" marR="68600" marL="68600">
                    <a:solidFill>
                      <a:srgbClr val="F4B081"/>
                    </a:solidFill>
                  </a:tcPr>
                </a:tc>
                <a:tc>
                  <a:txBody>
                    <a:bodyPr/>
                    <a:lstStyle/>
                    <a:p>
                      <a:pPr indent="0" lvl="0" marL="0" marR="0" rtl="0" algn="l">
                        <a:spcBef>
                          <a:spcPts val="0"/>
                        </a:spcBef>
                        <a:spcAft>
                          <a:spcPts val="0"/>
                        </a:spcAft>
                        <a:buNone/>
                      </a:pPr>
                      <a:r>
                        <a:rPr lang="en" sz="1400"/>
                        <a:t>e</a:t>
                      </a:r>
                      <a:endParaRPr sz="1100"/>
                    </a:p>
                  </a:txBody>
                  <a:tcPr marT="34300" marB="34300" marR="68600" marL="68600">
                    <a:solidFill>
                      <a:srgbClr val="F4B081"/>
                    </a:solidFill>
                  </a:tcPr>
                </a:tc>
              </a:tr>
              <a:tr h="390575">
                <a:tc>
                  <a:txBody>
                    <a:bodyPr/>
                    <a:lstStyle/>
                    <a:p>
                      <a:pPr indent="0" lvl="0" marL="0" marR="0" rtl="0" algn="l">
                        <a:spcBef>
                          <a:spcPts val="0"/>
                        </a:spcBef>
                        <a:spcAft>
                          <a:spcPts val="0"/>
                        </a:spcAft>
                        <a:buNone/>
                      </a:pPr>
                      <a:r>
                        <a:rPr lang="en" sz="1400"/>
                        <a:t>a</a:t>
                      </a:r>
                      <a:endParaRPr sz="1100"/>
                    </a:p>
                  </a:txBody>
                  <a:tcPr marT="34300" marB="34300" marR="68600" marL="68600"/>
                </a:tc>
                <a:tc>
                  <a:txBody>
                    <a:bodyPr/>
                    <a:lstStyle/>
                    <a:p>
                      <a:pPr indent="0" lvl="0" marL="0" marR="0" rtl="0" algn="l">
                        <a:spcBef>
                          <a:spcPts val="0"/>
                        </a:spcBef>
                        <a:spcAft>
                          <a:spcPts val="0"/>
                        </a:spcAft>
                        <a:buNone/>
                      </a:pPr>
                      <a:r>
                        <a:rPr b="1" lang="en" sz="1400" u="sng"/>
                        <a:t>b</a:t>
                      </a:r>
                      <a:endParaRPr sz="1100"/>
                    </a:p>
                  </a:txBody>
                  <a:tcPr marT="34300" marB="34300" marR="68600" marL="68600"/>
                </a:tc>
                <a:tc>
                  <a:txBody>
                    <a:bodyPr/>
                    <a:lstStyle/>
                    <a:p>
                      <a:pPr indent="0" lvl="0" marL="0" marR="0" rtl="0" algn="l">
                        <a:spcBef>
                          <a:spcPts val="0"/>
                        </a:spcBef>
                        <a:spcAft>
                          <a:spcPts val="0"/>
                        </a:spcAft>
                        <a:buNone/>
                      </a:pPr>
                      <a:r>
                        <a:rPr lang="en" sz="1400"/>
                        <a:t>c</a:t>
                      </a:r>
                      <a:endParaRPr sz="1100"/>
                    </a:p>
                  </a:txBody>
                  <a:tcPr marT="34300" marB="34300" marR="68600" marL="68600">
                    <a:solidFill>
                      <a:srgbClr val="F4B081"/>
                    </a:solidFill>
                  </a:tcPr>
                </a:tc>
                <a:tc>
                  <a:txBody>
                    <a:bodyPr/>
                    <a:lstStyle/>
                    <a:p>
                      <a:pPr indent="0" lvl="0" marL="0" marR="0" rtl="0" algn="l">
                        <a:spcBef>
                          <a:spcPts val="0"/>
                        </a:spcBef>
                        <a:spcAft>
                          <a:spcPts val="0"/>
                        </a:spcAft>
                        <a:buNone/>
                      </a:pPr>
                      <a:r>
                        <a:rPr lang="en" sz="1400"/>
                        <a:t>d</a:t>
                      </a:r>
                      <a:endParaRPr sz="1100"/>
                    </a:p>
                  </a:txBody>
                  <a:tcPr marT="34300" marB="34300" marR="68600" marL="68600">
                    <a:solidFill>
                      <a:srgbClr val="F4B081"/>
                    </a:solidFill>
                  </a:tcPr>
                </a:tc>
                <a:tc>
                  <a:txBody>
                    <a:bodyPr/>
                    <a:lstStyle/>
                    <a:p>
                      <a:pPr indent="0" lvl="0" marL="0" marR="0" rtl="0" algn="l">
                        <a:spcBef>
                          <a:spcPts val="0"/>
                        </a:spcBef>
                        <a:spcAft>
                          <a:spcPts val="0"/>
                        </a:spcAft>
                        <a:buNone/>
                      </a:pPr>
                      <a:r>
                        <a:rPr lang="en" sz="1400"/>
                        <a:t>e</a:t>
                      </a:r>
                      <a:endParaRPr sz="1100"/>
                    </a:p>
                  </a:txBody>
                  <a:tcPr marT="34300" marB="34300" marR="68600" marL="68600">
                    <a:solidFill>
                      <a:srgbClr val="F4B081"/>
                    </a:solidFill>
                  </a:tcPr>
                </a:tc>
              </a:tr>
              <a:tr h="390575">
                <a:tc>
                  <a:txBody>
                    <a:bodyPr/>
                    <a:lstStyle/>
                    <a:p>
                      <a:pPr indent="0" lvl="0" marL="0" marR="0" rtl="0" algn="l">
                        <a:spcBef>
                          <a:spcPts val="0"/>
                        </a:spcBef>
                        <a:spcAft>
                          <a:spcPts val="0"/>
                        </a:spcAft>
                        <a:buNone/>
                      </a:pPr>
                      <a:r>
                        <a:rPr lang="en" sz="1400"/>
                        <a:t>a</a:t>
                      </a:r>
                      <a:endParaRPr sz="1100"/>
                    </a:p>
                  </a:txBody>
                  <a:tcPr marT="34300" marB="34300" marR="68600" marL="68600"/>
                </a:tc>
                <a:tc>
                  <a:txBody>
                    <a:bodyPr/>
                    <a:lstStyle/>
                    <a:p>
                      <a:pPr indent="0" lvl="0" marL="0" marR="0" rtl="0" algn="l">
                        <a:spcBef>
                          <a:spcPts val="0"/>
                        </a:spcBef>
                        <a:spcAft>
                          <a:spcPts val="0"/>
                        </a:spcAft>
                        <a:buNone/>
                      </a:pPr>
                      <a:r>
                        <a:rPr lang="en" sz="1400"/>
                        <a:t>b</a:t>
                      </a:r>
                      <a:endParaRPr sz="1100"/>
                    </a:p>
                  </a:txBody>
                  <a:tcPr marT="34300" marB="34300" marR="68600" marL="68600"/>
                </a:tc>
                <a:tc>
                  <a:txBody>
                    <a:bodyPr/>
                    <a:lstStyle/>
                    <a:p>
                      <a:pPr indent="0" lvl="0" marL="0" marR="0" rtl="0" algn="l">
                        <a:spcBef>
                          <a:spcPts val="0"/>
                        </a:spcBef>
                        <a:spcAft>
                          <a:spcPts val="0"/>
                        </a:spcAft>
                        <a:buNone/>
                      </a:pPr>
                      <a:r>
                        <a:rPr b="1" lang="en" sz="1400" u="sng"/>
                        <a:t>c</a:t>
                      </a:r>
                      <a:endParaRPr sz="1100"/>
                    </a:p>
                  </a:txBody>
                  <a:tcPr marT="34300" marB="34300" marR="68600" marL="68600"/>
                </a:tc>
                <a:tc>
                  <a:txBody>
                    <a:bodyPr/>
                    <a:lstStyle/>
                    <a:p>
                      <a:pPr indent="0" lvl="0" marL="0" marR="0" rtl="0" algn="l">
                        <a:spcBef>
                          <a:spcPts val="0"/>
                        </a:spcBef>
                        <a:spcAft>
                          <a:spcPts val="0"/>
                        </a:spcAft>
                        <a:buNone/>
                      </a:pPr>
                      <a:r>
                        <a:rPr lang="en" sz="1400"/>
                        <a:t>d</a:t>
                      </a:r>
                      <a:endParaRPr sz="1100"/>
                    </a:p>
                  </a:txBody>
                  <a:tcPr marT="34300" marB="34300" marR="68600" marL="68600">
                    <a:solidFill>
                      <a:srgbClr val="F4B081"/>
                    </a:solidFill>
                  </a:tcPr>
                </a:tc>
                <a:tc>
                  <a:txBody>
                    <a:bodyPr/>
                    <a:lstStyle/>
                    <a:p>
                      <a:pPr indent="0" lvl="0" marL="0" marR="0" rtl="0" algn="l">
                        <a:spcBef>
                          <a:spcPts val="0"/>
                        </a:spcBef>
                        <a:spcAft>
                          <a:spcPts val="0"/>
                        </a:spcAft>
                        <a:buNone/>
                      </a:pPr>
                      <a:r>
                        <a:rPr lang="en" sz="1400"/>
                        <a:t>e</a:t>
                      </a:r>
                      <a:endParaRPr sz="1100"/>
                    </a:p>
                  </a:txBody>
                  <a:tcPr marT="34300" marB="34300" marR="68600" marL="68600">
                    <a:solidFill>
                      <a:srgbClr val="F4B081"/>
                    </a:solidFill>
                  </a:tcPr>
                </a:tc>
              </a:tr>
              <a:tr h="390575">
                <a:tc>
                  <a:txBody>
                    <a:bodyPr/>
                    <a:lstStyle/>
                    <a:p>
                      <a:pPr indent="0" lvl="0" marL="0" marR="0" rtl="0" algn="l">
                        <a:spcBef>
                          <a:spcPts val="0"/>
                        </a:spcBef>
                        <a:spcAft>
                          <a:spcPts val="0"/>
                        </a:spcAft>
                        <a:buNone/>
                      </a:pPr>
                      <a:r>
                        <a:rPr lang="en" sz="1400"/>
                        <a:t>a</a:t>
                      </a:r>
                      <a:endParaRPr sz="1100"/>
                    </a:p>
                  </a:txBody>
                  <a:tcPr marT="34300" marB="34300" marR="68600" marL="68600"/>
                </a:tc>
                <a:tc>
                  <a:txBody>
                    <a:bodyPr/>
                    <a:lstStyle/>
                    <a:p>
                      <a:pPr indent="0" lvl="0" marL="0" marR="0" rtl="0" algn="l">
                        <a:spcBef>
                          <a:spcPts val="0"/>
                        </a:spcBef>
                        <a:spcAft>
                          <a:spcPts val="0"/>
                        </a:spcAft>
                        <a:buNone/>
                      </a:pPr>
                      <a:r>
                        <a:rPr lang="en" sz="1400"/>
                        <a:t>b</a:t>
                      </a:r>
                      <a:endParaRPr sz="1100"/>
                    </a:p>
                  </a:txBody>
                  <a:tcPr marT="34300" marB="34300" marR="68600" marL="68600"/>
                </a:tc>
                <a:tc>
                  <a:txBody>
                    <a:bodyPr/>
                    <a:lstStyle/>
                    <a:p>
                      <a:pPr indent="0" lvl="0" marL="0" marR="0" rtl="0" algn="l">
                        <a:spcBef>
                          <a:spcPts val="0"/>
                        </a:spcBef>
                        <a:spcAft>
                          <a:spcPts val="0"/>
                        </a:spcAft>
                        <a:buNone/>
                      </a:pPr>
                      <a:r>
                        <a:rPr lang="en" sz="1400"/>
                        <a:t>c</a:t>
                      </a:r>
                      <a:endParaRPr sz="1100"/>
                    </a:p>
                  </a:txBody>
                  <a:tcPr marT="34300" marB="34300" marR="68600" marL="68600"/>
                </a:tc>
                <a:tc>
                  <a:txBody>
                    <a:bodyPr/>
                    <a:lstStyle/>
                    <a:p>
                      <a:pPr indent="0" lvl="0" marL="0" marR="0" rtl="0" algn="l">
                        <a:spcBef>
                          <a:spcPts val="0"/>
                        </a:spcBef>
                        <a:spcAft>
                          <a:spcPts val="0"/>
                        </a:spcAft>
                        <a:buNone/>
                      </a:pPr>
                      <a:r>
                        <a:rPr b="1" lang="en" sz="1400" u="sng"/>
                        <a:t>d</a:t>
                      </a:r>
                      <a:endParaRPr sz="1100"/>
                    </a:p>
                  </a:txBody>
                  <a:tcPr marT="34300" marB="34300" marR="68600" marL="68600"/>
                </a:tc>
                <a:tc>
                  <a:txBody>
                    <a:bodyPr/>
                    <a:lstStyle/>
                    <a:p>
                      <a:pPr indent="0" lvl="0" marL="0" marR="0" rtl="0" algn="l">
                        <a:spcBef>
                          <a:spcPts val="0"/>
                        </a:spcBef>
                        <a:spcAft>
                          <a:spcPts val="0"/>
                        </a:spcAft>
                        <a:buNone/>
                      </a:pPr>
                      <a:r>
                        <a:rPr lang="en" sz="1400"/>
                        <a:t>e</a:t>
                      </a:r>
                      <a:endParaRPr sz="1100"/>
                    </a:p>
                  </a:txBody>
                  <a:tcPr marT="34300" marB="34300" marR="68600" marL="68600">
                    <a:solidFill>
                      <a:srgbClr val="F4B081"/>
                    </a:solidFill>
                  </a:tcPr>
                </a:tc>
              </a:tr>
              <a:tr h="390575">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sz="1400"/>
                    </a:p>
                  </a:txBody>
                  <a:tcPr marT="34300" marB="34300" marR="68600" marL="68600"/>
                </a:tc>
                <a:tc>
                  <a:txBody>
                    <a:bodyPr/>
                    <a:lstStyle/>
                    <a:p>
                      <a:pPr indent="0" lvl="0" marL="0" marR="0" rtl="0" algn="l">
                        <a:spcBef>
                          <a:spcPts val="0"/>
                        </a:spcBef>
                        <a:spcAft>
                          <a:spcPts val="0"/>
                        </a:spcAft>
                        <a:buNone/>
                      </a:pPr>
                      <a:r>
                        <a:t/>
                      </a:r>
                      <a:endParaRPr b="1" sz="1400" u="sng"/>
                    </a:p>
                  </a:txBody>
                  <a:tcPr marT="34300" marB="34300" marR="68600" marL="68600"/>
                </a:tc>
                <a:tc>
                  <a:txBody>
                    <a:bodyPr/>
                    <a:lstStyle/>
                    <a:p>
                      <a:pPr indent="0" lvl="0" marL="0" marR="0" rtl="0" algn="l">
                        <a:spcBef>
                          <a:spcPts val="0"/>
                        </a:spcBef>
                        <a:spcAft>
                          <a:spcPts val="0"/>
                        </a:spcAft>
                        <a:buNone/>
                      </a:pPr>
                      <a:r>
                        <a:rPr b="1" lang="en" sz="1400" u="sng"/>
                        <a:t>e</a:t>
                      </a:r>
                      <a:endParaRPr sz="1100"/>
                    </a:p>
                  </a:txBody>
                  <a:tcPr marT="34300" marB="34300" marR="68600" marL="68600">
                    <a:solidFill>
                      <a:srgbClr val="F4B081"/>
                    </a:solidFill>
                  </a:tcPr>
                </a:tc>
              </a:tr>
            </a:tbl>
          </a:graphicData>
        </a:graphic>
      </p:graphicFrame>
      <p:graphicFrame>
        <p:nvGraphicFramePr>
          <p:cNvPr id="809" name="Google Shape;809;g283038813be_0_499"/>
          <p:cNvGraphicFramePr/>
          <p:nvPr/>
        </p:nvGraphicFramePr>
        <p:xfrm>
          <a:off x="2960009" y="1795805"/>
          <a:ext cx="3000000" cy="3000000"/>
        </p:xfrm>
        <a:graphic>
          <a:graphicData uri="http://schemas.openxmlformats.org/drawingml/2006/table">
            <a:tbl>
              <a:tblPr bandRow="1" firstRow="1">
                <a:noFill/>
                <a:tableStyleId>{8A5AB06D-D19D-4F94-BA5E-EF1543E2CBFD}</a:tableStyleId>
              </a:tblPr>
              <a:tblGrid>
                <a:gridCol w="526850"/>
                <a:gridCol w="526850"/>
                <a:gridCol w="526850"/>
                <a:gridCol w="526850"/>
                <a:gridCol w="526850"/>
              </a:tblGrid>
              <a:tr h="240575">
                <a:tc>
                  <a:txBody>
                    <a:bodyPr/>
                    <a:lstStyle/>
                    <a:p>
                      <a:pPr indent="0" lvl="0" marL="0" marR="0" rtl="0" algn="l">
                        <a:spcBef>
                          <a:spcPts val="0"/>
                        </a:spcBef>
                        <a:spcAft>
                          <a:spcPts val="0"/>
                        </a:spcAft>
                        <a:buNone/>
                      </a:pPr>
                      <a:r>
                        <a:rPr lang="en" sz="1400"/>
                        <a:t>a</a:t>
                      </a:r>
                      <a:endParaRPr sz="1100"/>
                    </a:p>
                  </a:txBody>
                  <a:tcPr marT="34300" marB="34300" marR="68600" marL="68600"/>
                </a:tc>
                <a:tc>
                  <a:txBody>
                    <a:bodyPr/>
                    <a:lstStyle/>
                    <a:p>
                      <a:pPr indent="0" lvl="0" marL="0" marR="0" rtl="0" algn="l">
                        <a:spcBef>
                          <a:spcPts val="0"/>
                        </a:spcBef>
                        <a:spcAft>
                          <a:spcPts val="0"/>
                        </a:spcAft>
                        <a:buNone/>
                      </a:pPr>
                      <a:r>
                        <a:rPr lang="en" sz="1400"/>
                        <a:t>b</a:t>
                      </a:r>
                      <a:endParaRPr sz="1100"/>
                    </a:p>
                  </a:txBody>
                  <a:tcPr marT="34300" marB="34300" marR="68600" marL="68600"/>
                </a:tc>
                <a:tc>
                  <a:txBody>
                    <a:bodyPr/>
                    <a:lstStyle/>
                    <a:p>
                      <a:pPr indent="0" lvl="0" marL="0" marR="0" rtl="0" algn="l">
                        <a:spcBef>
                          <a:spcPts val="0"/>
                        </a:spcBef>
                        <a:spcAft>
                          <a:spcPts val="0"/>
                        </a:spcAft>
                        <a:buNone/>
                      </a:pPr>
                      <a:r>
                        <a:rPr lang="en" sz="1400"/>
                        <a:t>c</a:t>
                      </a:r>
                      <a:endParaRPr sz="1100"/>
                    </a:p>
                  </a:txBody>
                  <a:tcPr marT="34300" marB="34300" marR="68600" marL="68600"/>
                </a:tc>
                <a:tc>
                  <a:txBody>
                    <a:bodyPr/>
                    <a:lstStyle/>
                    <a:p>
                      <a:pPr indent="0" lvl="0" marL="0" marR="0" rtl="0" algn="l">
                        <a:spcBef>
                          <a:spcPts val="0"/>
                        </a:spcBef>
                        <a:spcAft>
                          <a:spcPts val="0"/>
                        </a:spcAft>
                        <a:buNone/>
                      </a:pPr>
                      <a:r>
                        <a:rPr lang="en" sz="1400"/>
                        <a:t>d</a:t>
                      </a:r>
                      <a:endParaRPr sz="1100"/>
                    </a:p>
                  </a:txBody>
                  <a:tcPr marT="34300" marB="34300" marR="68600" marL="68600"/>
                </a:tc>
                <a:tc>
                  <a:txBody>
                    <a:bodyPr/>
                    <a:lstStyle/>
                    <a:p>
                      <a:pPr indent="0" lvl="0" marL="0" marR="0" rtl="0" algn="l">
                        <a:spcBef>
                          <a:spcPts val="0"/>
                        </a:spcBef>
                        <a:spcAft>
                          <a:spcPts val="0"/>
                        </a:spcAft>
                        <a:buNone/>
                      </a:pPr>
                      <a:r>
                        <a:rPr lang="en" sz="1400"/>
                        <a:t>e</a:t>
                      </a:r>
                      <a:endParaRPr sz="1100"/>
                    </a:p>
                  </a:txBody>
                  <a:tcPr marT="34300" marB="34300" marR="68600" marL="68600"/>
                </a:tc>
              </a:tr>
            </a:tbl>
          </a:graphicData>
        </a:graphic>
      </p:graphicFrame>
      <p:sp>
        <p:nvSpPr>
          <p:cNvPr id="810" name="Google Shape;810;g283038813be_0_499"/>
          <p:cNvSpPr txBox="1"/>
          <p:nvPr>
            <p:ph idx="1" type="body"/>
          </p:nvPr>
        </p:nvSpPr>
        <p:spPr>
          <a:xfrm>
            <a:off x="6160417" y="481589"/>
            <a:ext cx="2962500" cy="4651500"/>
          </a:xfrm>
          <a:prstGeom prst="rect">
            <a:avLst/>
          </a:prstGeom>
          <a:solidFill>
            <a:schemeClr val="accent3"/>
          </a:solidFill>
          <a:ln cap="flat" cmpd="sng" w="12700">
            <a:solidFill>
              <a:srgbClr val="787878"/>
            </a:solidFill>
            <a:prstDash val="solid"/>
            <a:miter lim="800000"/>
            <a:headEnd len="sm" w="sm" type="none"/>
            <a:tailEnd len="sm" w="sm" type="none"/>
          </a:ln>
        </p:spPr>
        <p:txBody>
          <a:bodyPr anchorCtr="0" anchor="t" bIns="34275" lIns="68575" spcFirstLastPara="1" rIns="68575" wrap="square" tIns="34275">
            <a:noAutofit/>
          </a:bodyPr>
          <a:lstStyle/>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#include&lt;iostream&gt;</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using namespace std;</a:t>
            </a:r>
            <a:endParaRPr/>
          </a:p>
          <a:p>
            <a:pPr indent="0" lvl="0" marL="0" rtl="0" algn="l">
              <a:lnSpc>
                <a:spcPct val="120000"/>
              </a:lnSpc>
              <a:spcBef>
                <a:spcPts val="0"/>
              </a:spcBef>
              <a:spcAft>
                <a:spcPts val="0"/>
              </a:spcAft>
              <a:buClr>
                <a:schemeClr val="dk1"/>
              </a:buClr>
              <a:buSzPts val="1500"/>
              <a:buNone/>
            </a:pPr>
            <a:r>
              <a:t/>
            </a:r>
            <a:endParaRPr sz="1500"/>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void revPrint(char input[]){</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      if(input[0]=='\0'){</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        return ;</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    }</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   revPrint(input+1);</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   cout&lt;&lt;input[0];</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a:t>
            </a:r>
            <a:endParaRPr/>
          </a:p>
          <a:p>
            <a:pPr indent="0" lvl="0" marL="0" rtl="0" algn="l">
              <a:lnSpc>
                <a:spcPct val="120000"/>
              </a:lnSpc>
              <a:spcBef>
                <a:spcPts val="0"/>
              </a:spcBef>
              <a:spcAft>
                <a:spcPts val="0"/>
              </a:spcAft>
              <a:buClr>
                <a:schemeClr val="dk1"/>
              </a:buClr>
              <a:buSzPts val="1500"/>
              <a:buNone/>
            </a:pPr>
            <a:r>
              <a:t/>
            </a:r>
            <a:endParaRPr sz="1500"/>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int main(){</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  char input[] = "abc";</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revPrint(input);</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  return 0;</a:t>
            </a:r>
            <a:endParaRPr/>
          </a:p>
          <a:p>
            <a:pPr indent="0" lvl="0" marL="0" rtl="0" algn="l">
              <a:lnSpc>
                <a:spcPct val="120000"/>
              </a:lnSpc>
              <a:spcBef>
                <a:spcPts val="0"/>
              </a:spcBef>
              <a:spcAft>
                <a:spcPts val="0"/>
              </a:spcAft>
              <a:buClr>
                <a:schemeClr val="lt1"/>
              </a:buClr>
              <a:buSzPts val="1500"/>
              <a:buNone/>
            </a:pPr>
            <a:r>
              <a:rPr lang="en" sz="1500">
                <a:solidFill>
                  <a:schemeClr val="lt1"/>
                </a:solidFill>
                <a:latin typeface="Calibri"/>
                <a:ea typeface="Calibri"/>
                <a:cs typeface="Calibri"/>
                <a:sym typeface="Calibri"/>
              </a:rPr>
              <a:t>}</a:t>
            </a:r>
            <a:endParaRPr/>
          </a:p>
          <a:p>
            <a:pPr indent="0" lvl="0" marL="0" rtl="0" algn="l">
              <a:lnSpc>
                <a:spcPct val="120000"/>
              </a:lnSpc>
              <a:spcBef>
                <a:spcPts val="0"/>
              </a:spcBef>
              <a:spcAft>
                <a:spcPts val="0"/>
              </a:spcAft>
              <a:buClr>
                <a:schemeClr val="dk1"/>
              </a:buClr>
              <a:buSzPts val="1500"/>
              <a:buNone/>
            </a:pPr>
            <a:r>
              <a:t/>
            </a:r>
            <a:endParaRPr sz="1500"/>
          </a:p>
        </p:txBody>
      </p:sp>
      <p:sp>
        <p:nvSpPr>
          <p:cNvPr id="811" name="Google Shape;811;g283038813be_0_499"/>
          <p:cNvSpPr txBox="1"/>
          <p:nvPr/>
        </p:nvSpPr>
        <p:spPr>
          <a:xfrm>
            <a:off x="3464351" y="1272619"/>
            <a:ext cx="12090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400">
                <a:solidFill>
                  <a:schemeClr val="dk1"/>
                </a:solidFill>
                <a:latin typeface="Calibri"/>
                <a:ea typeface="Calibri"/>
                <a:cs typeface="Calibri"/>
                <a:sym typeface="Calibri"/>
              </a:rPr>
              <a:t>Design in table</a:t>
            </a:r>
            <a:endParaRPr sz="1100"/>
          </a:p>
        </p:txBody>
      </p:sp>
      <p:cxnSp>
        <p:nvCxnSpPr>
          <p:cNvPr id="812" name="Google Shape;812;g283038813be_0_499"/>
          <p:cNvCxnSpPr/>
          <p:nvPr/>
        </p:nvCxnSpPr>
        <p:spPr>
          <a:xfrm rot="10800000">
            <a:off x="2959970" y="2502783"/>
            <a:ext cx="2533500" cy="1781700"/>
          </a:xfrm>
          <a:prstGeom prst="straightConnector1">
            <a:avLst/>
          </a:prstGeom>
          <a:noFill/>
          <a:ln cap="flat" cmpd="sng" w="19050">
            <a:solidFill>
              <a:schemeClr val="accent2"/>
            </a:solidFill>
            <a:prstDash val="solid"/>
            <a:miter lim="800000"/>
            <a:headEnd len="sm" w="sm" type="none"/>
            <a:tailEnd len="med" w="med" type="triangle"/>
          </a:ln>
        </p:spPr>
      </p:cxnSp>
      <p:sp>
        <p:nvSpPr>
          <p:cNvPr id="813" name="Google Shape;813;g283038813be_0_499"/>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283038813be_0_509"/>
          <p:cNvSpPr txBox="1"/>
          <p:nvPr>
            <p:ph type="title"/>
          </p:nvPr>
        </p:nvSpPr>
        <p:spPr>
          <a:xfrm>
            <a:off x="228600" y="118299"/>
            <a:ext cx="7886700" cy="4899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17857"/>
              <a:buFont typeface="Calibri"/>
              <a:buNone/>
            </a:pPr>
            <a:r>
              <a:rPr b="1" lang="en"/>
              <a:t>Recursion on Finding length of Character Array</a:t>
            </a:r>
            <a:endParaRPr/>
          </a:p>
        </p:txBody>
      </p:sp>
      <p:sp>
        <p:nvSpPr>
          <p:cNvPr id="819" name="Google Shape;819;g283038813be_0_509"/>
          <p:cNvSpPr txBox="1"/>
          <p:nvPr>
            <p:ph idx="1" type="body"/>
          </p:nvPr>
        </p:nvSpPr>
        <p:spPr>
          <a:xfrm>
            <a:off x="6234825" y="608119"/>
            <a:ext cx="2851800" cy="4263300"/>
          </a:xfrm>
          <a:prstGeom prst="rect">
            <a:avLst/>
          </a:prstGeom>
          <a:solidFill>
            <a:srgbClr val="A4C2F4"/>
          </a:solidFill>
          <a:ln>
            <a:noFill/>
          </a:ln>
        </p:spPr>
        <p:txBody>
          <a:bodyPr anchorCtr="0" anchor="t" bIns="34275" lIns="68575" spcFirstLastPara="1" rIns="68575" wrap="square" tIns="34275">
            <a:normAutofit lnSpcReduction="10000"/>
          </a:bodyPr>
          <a:lstStyle/>
          <a:p>
            <a:pPr indent="0" lvl="0" marL="177800" rtl="0" algn="l">
              <a:lnSpc>
                <a:spcPct val="90000"/>
              </a:lnSpc>
              <a:spcBef>
                <a:spcPts val="0"/>
              </a:spcBef>
              <a:spcAft>
                <a:spcPts val="0"/>
              </a:spcAft>
              <a:buClr>
                <a:schemeClr val="dk1"/>
              </a:buClr>
              <a:buSzPts val="800"/>
              <a:buFont typeface="Arial"/>
              <a:buNone/>
            </a:pPr>
            <a:r>
              <a:rPr lang="en">
                <a:solidFill>
                  <a:srgbClr val="FFFFFF"/>
                </a:solidFill>
              </a:rPr>
              <a:t>#include&lt;iostream&gt;</a:t>
            </a:r>
            <a:endParaRPr>
              <a:solidFill>
                <a:srgbClr val="FFFFFF"/>
              </a:solidFill>
            </a:endParaRPr>
          </a:p>
          <a:p>
            <a:pPr indent="0" lvl="0" marL="177800" rtl="0" algn="l">
              <a:lnSpc>
                <a:spcPct val="90000"/>
              </a:lnSpc>
              <a:spcBef>
                <a:spcPts val="0"/>
              </a:spcBef>
              <a:spcAft>
                <a:spcPts val="0"/>
              </a:spcAft>
              <a:buClr>
                <a:schemeClr val="dk1"/>
              </a:buClr>
              <a:buSzPts val="800"/>
              <a:buFont typeface="Arial"/>
              <a:buNone/>
            </a:pPr>
            <a:r>
              <a:rPr lang="en">
                <a:solidFill>
                  <a:srgbClr val="FFFFFF"/>
                </a:solidFill>
              </a:rPr>
              <a:t>using namespace std;</a:t>
            </a:r>
            <a:endParaRPr>
              <a:solidFill>
                <a:srgbClr val="FFFFFF"/>
              </a:solidFill>
            </a:endParaRPr>
          </a:p>
          <a:p>
            <a:pPr indent="0" lvl="0" marL="177800" rtl="0" algn="l">
              <a:lnSpc>
                <a:spcPct val="90000"/>
              </a:lnSpc>
              <a:spcBef>
                <a:spcPts val="0"/>
              </a:spcBef>
              <a:spcAft>
                <a:spcPts val="0"/>
              </a:spcAft>
              <a:buClr>
                <a:schemeClr val="dk1"/>
              </a:buClr>
              <a:buSzPts val="800"/>
              <a:buFont typeface="Arial"/>
              <a:buNone/>
            </a:pPr>
            <a:r>
              <a:t/>
            </a:r>
            <a:endParaRPr>
              <a:solidFill>
                <a:srgbClr val="FFFFFF"/>
              </a:solidFill>
            </a:endParaRPr>
          </a:p>
          <a:p>
            <a:pPr indent="0" lvl="0" marL="177800" rtl="0" algn="l">
              <a:lnSpc>
                <a:spcPct val="90000"/>
              </a:lnSpc>
              <a:spcBef>
                <a:spcPts val="0"/>
              </a:spcBef>
              <a:spcAft>
                <a:spcPts val="0"/>
              </a:spcAft>
              <a:buClr>
                <a:schemeClr val="dk1"/>
              </a:buClr>
              <a:buSzPts val="800"/>
              <a:buFont typeface="Arial"/>
              <a:buNone/>
            </a:pPr>
            <a:r>
              <a:rPr lang="en">
                <a:solidFill>
                  <a:srgbClr val="FFFFFF"/>
                </a:solidFill>
              </a:rPr>
              <a:t>int length(char input[]){</a:t>
            </a:r>
            <a:endParaRPr>
              <a:solidFill>
                <a:srgbClr val="FFFFFF"/>
              </a:solidFill>
            </a:endParaRPr>
          </a:p>
          <a:p>
            <a:pPr indent="0" lvl="0" marL="177800" rtl="0" algn="l">
              <a:lnSpc>
                <a:spcPct val="90000"/>
              </a:lnSpc>
              <a:spcBef>
                <a:spcPts val="0"/>
              </a:spcBef>
              <a:spcAft>
                <a:spcPts val="0"/>
              </a:spcAft>
              <a:buClr>
                <a:schemeClr val="dk1"/>
              </a:buClr>
              <a:buSzPts val="800"/>
              <a:buFont typeface="Arial"/>
              <a:buNone/>
            </a:pPr>
            <a:r>
              <a:rPr lang="en">
                <a:solidFill>
                  <a:srgbClr val="FFFFFF"/>
                </a:solidFill>
              </a:rPr>
              <a:t>    if(input[0]=='\0'){</a:t>
            </a:r>
            <a:endParaRPr>
              <a:solidFill>
                <a:srgbClr val="FFFFFF"/>
              </a:solidFill>
            </a:endParaRPr>
          </a:p>
          <a:p>
            <a:pPr indent="0" lvl="0" marL="177800" rtl="0" algn="l">
              <a:lnSpc>
                <a:spcPct val="90000"/>
              </a:lnSpc>
              <a:spcBef>
                <a:spcPts val="0"/>
              </a:spcBef>
              <a:spcAft>
                <a:spcPts val="0"/>
              </a:spcAft>
              <a:buClr>
                <a:schemeClr val="dk1"/>
              </a:buClr>
              <a:buSzPts val="800"/>
              <a:buFont typeface="Arial"/>
              <a:buNone/>
            </a:pPr>
            <a:r>
              <a:rPr lang="en">
                <a:solidFill>
                  <a:srgbClr val="FFFFFF"/>
                </a:solidFill>
              </a:rPr>
              <a:t>        return 0;</a:t>
            </a:r>
            <a:endParaRPr>
              <a:solidFill>
                <a:srgbClr val="FFFFFF"/>
              </a:solidFill>
            </a:endParaRPr>
          </a:p>
          <a:p>
            <a:pPr indent="0" lvl="0" marL="177800" rtl="0" algn="l">
              <a:lnSpc>
                <a:spcPct val="90000"/>
              </a:lnSpc>
              <a:spcBef>
                <a:spcPts val="0"/>
              </a:spcBef>
              <a:spcAft>
                <a:spcPts val="0"/>
              </a:spcAft>
              <a:buClr>
                <a:schemeClr val="dk1"/>
              </a:buClr>
              <a:buSzPts val="800"/>
              <a:buFont typeface="Arial"/>
              <a:buNone/>
            </a:pPr>
            <a:r>
              <a:rPr lang="en">
                <a:solidFill>
                  <a:srgbClr val="FFFFFF"/>
                </a:solidFill>
              </a:rPr>
              <a:t>    }</a:t>
            </a:r>
            <a:endParaRPr>
              <a:solidFill>
                <a:srgbClr val="FFFFFF"/>
              </a:solidFill>
            </a:endParaRPr>
          </a:p>
          <a:p>
            <a:pPr indent="0" lvl="0" marL="177800" rtl="0" algn="l">
              <a:lnSpc>
                <a:spcPct val="90000"/>
              </a:lnSpc>
              <a:spcBef>
                <a:spcPts val="0"/>
              </a:spcBef>
              <a:spcAft>
                <a:spcPts val="0"/>
              </a:spcAft>
              <a:buClr>
                <a:schemeClr val="dk1"/>
              </a:buClr>
              <a:buSzPts val="800"/>
              <a:buFont typeface="Arial"/>
              <a:buNone/>
            </a:pPr>
            <a:r>
              <a:rPr lang="en">
                <a:solidFill>
                  <a:srgbClr val="FFFFFF"/>
                </a:solidFill>
              </a:rPr>
              <a:t>    return 1 + length(input+1);</a:t>
            </a:r>
            <a:endParaRPr>
              <a:solidFill>
                <a:srgbClr val="FFFFFF"/>
              </a:solidFill>
            </a:endParaRPr>
          </a:p>
          <a:p>
            <a:pPr indent="0" lvl="0" marL="177800" rtl="0" algn="l">
              <a:lnSpc>
                <a:spcPct val="90000"/>
              </a:lnSpc>
              <a:spcBef>
                <a:spcPts val="0"/>
              </a:spcBef>
              <a:spcAft>
                <a:spcPts val="0"/>
              </a:spcAft>
              <a:buClr>
                <a:schemeClr val="dk1"/>
              </a:buClr>
              <a:buSzPts val="800"/>
              <a:buFont typeface="Arial"/>
              <a:buNone/>
            </a:pPr>
            <a:r>
              <a:rPr lang="en">
                <a:solidFill>
                  <a:srgbClr val="FFFFFF"/>
                </a:solidFill>
              </a:rPr>
              <a:t>}</a:t>
            </a:r>
            <a:endParaRPr>
              <a:solidFill>
                <a:srgbClr val="FFFFFF"/>
              </a:solidFill>
            </a:endParaRPr>
          </a:p>
          <a:p>
            <a:pPr indent="0" lvl="0" marL="177800" rtl="0" algn="l">
              <a:lnSpc>
                <a:spcPct val="90000"/>
              </a:lnSpc>
              <a:spcBef>
                <a:spcPts val="0"/>
              </a:spcBef>
              <a:spcAft>
                <a:spcPts val="0"/>
              </a:spcAft>
              <a:buClr>
                <a:schemeClr val="dk1"/>
              </a:buClr>
              <a:buSzPts val="800"/>
              <a:buFont typeface="Arial"/>
              <a:buNone/>
            </a:pPr>
            <a:r>
              <a:t/>
            </a:r>
            <a:endParaRPr>
              <a:solidFill>
                <a:srgbClr val="FFFFFF"/>
              </a:solidFill>
            </a:endParaRPr>
          </a:p>
          <a:p>
            <a:pPr indent="0" lvl="0" marL="177800" rtl="0" algn="l">
              <a:lnSpc>
                <a:spcPct val="90000"/>
              </a:lnSpc>
              <a:spcBef>
                <a:spcPts val="0"/>
              </a:spcBef>
              <a:spcAft>
                <a:spcPts val="0"/>
              </a:spcAft>
              <a:buClr>
                <a:schemeClr val="dk1"/>
              </a:buClr>
              <a:buSzPts val="800"/>
              <a:buFont typeface="Arial"/>
              <a:buNone/>
            </a:pPr>
            <a:r>
              <a:rPr lang="en">
                <a:solidFill>
                  <a:srgbClr val="FFFFFF"/>
                </a:solidFill>
              </a:rPr>
              <a:t>int main(){</a:t>
            </a:r>
            <a:endParaRPr>
              <a:solidFill>
                <a:srgbClr val="FFFFFF"/>
              </a:solidFill>
            </a:endParaRPr>
          </a:p>
          <a:p>
            <a:pPr indent="0" lvl="0" marL="177800" rtl="0" algn="l">
              <a:lnSpc>
                <a:spcPct val="90000"/>
              </a:lnSpc>
              <a:spcBef>
                <a:spcPts val="0"/>
              </a:spcBef>
              <a:spcAft>
                <a:spcPts val="0"/>
              </a:spcAft>
              <a:buClr>
                <a:schemeClr val="dk1"/>
              </a:buClr>
              <a:buSzPts val="800"/>
              <a:buFont typeface="Arial"/>
              <a:buNone/>
            </a:pPr>
            <a:r>
              <a:rPr lang="en">
                <a:solidFill>
                  <a:srgbClr val="FFFFFF"/>
                </a:solidFill>
              </a:rPr>
              <a:t>  char input[100];</a:t>
            </a:r>
            <a:endParaRPr>
              <a:solidFill>
                <a:srgbClr val="FFFFFF"/>
              </a:solidFill>
            </a:endParaRPr>
          </a:p>
          <a:p>
            <a:pPr indent="0" lvl="0" marL="177800" rtl="0" algn="l">
              <a:lnSpc>
                <a:spcPct val="90000"/>
              </a:lnSpc>
              <a:spcBef>
                <a:spcPts val="0"/>
              </a:spcBef>
              <a:spcAft>
                <a:spcPts val="0"/>
              </a:spcAft>
              <a:buClr>
                <a:schemeClr val="dk1"/>
              </a:buClr>
              <a:buSzPts val="800"/>
              <a:buFont typeface="Arial"/>
              <a:buNone/>
            </a:pPr>
            <a:r>
              <a:rPr lang="en">
                <a:solidFill>
                  <a:srgbClr val="FFFFFF"/>
                </a:solidFill>
              </a:rPr>
              <a:t>  cin&gt;&gt;input;</a:t>
            </a:r>
            <a:endParaRPr>
              <a:solidFill>
                <a:srgbClr val="FFFFFF"/>
              </a:solidFill>
            </a:endParaRPr>
          </a:p>
          <a:p>
            <a:pPr indent="0" lvl="0" marL="177800" rtl="0" algn="l">
              <a:lnSpc>
                <a:spcPct val="90000"/>
              </a:lnSpc>
              <a:spcBef>
                <a:spcPts val="0"/>
              </a:spcBef>
              <a:spcAft>
                <a:spcPts val="0"/>
              </a:spcAft>
              <a:buClr>
                <a:schemeClr val="dk1"/>
              </a:buClr>
              <a:buSzPts val="800"/>
              <a:buFont typeface="Arial"/>
              <a:buNone/>
            </a:pPr>
            <a:r>
              <a:rPr lang="en">
                <a:solidFill>
                  <a:srgbClr val="FFFFFF"/>
                </a:solidFill>
              </a:rPr>
              <a:t>  int l = length(input);</a:t>
            </a:r>
            <a:endParaRPr>
              <a:solidFill>
                <a:srgbClr val="FFFFFF"/>
              </a:solidFill>
            </a:endParaRPr>
          </a:p>
          <a:p>
            <a:pPr indent="0" lvl="0" marL="177800" rtl="0" algn="l">
              <a:lnSpc>
                <a:spcPct val="90000"/>
              </a:lnSpc>
              <a:spcBef>
                <a:spcPts val="0"/>
              </a:spcBef>
              <a:spcAft>
                <a:spcPts val="0"/>
              </a:spcAft>
              <a:buClr>
                <a:schemeClr val="dk1"/>
              </a:buClr>
              <a:buSzPts val="800"/>
              <a:buFont typeface="Arial"/>
              <a:buNone/>
            </a:pPr>
            <a:r>
              <a:rPr lang="en">
                <a:solidFill>
                  <a:srgbClr val="FFFFFF"/>
                </a:solidFill>
              </a:rPr>
              <a:t>  cout&lt;&lt;l&lt;&lt;endl;</a:t>
            </a:r>
            <a:endParaRPr>
              <a:solidFill>
                <a:srgbClr val="FFFFFF"/>
              </a:solidFill>
            </a:endParaRPr>
          </a:p>
          <a:p>
            <a:pPr indent="0" lvl="0" marL="177800" rtl="0" algn="l">
              <a:lnSpc>
                <a:spcPct val="90000"/>
              </a:lnSpc>
              <a:spcBef>
                <a:spcPts val="0"/>
              </a:spcBef>
              <a:spcAft>
                <a:spcPts val="0"/>
              </a:spcAft>
              <a:buClr>
                <a:schemeClr val="dk1"/>
              </a:buClr>
              <a:buSzPts val="800"/>
              <a:buFont typeface="Arial"/>
              <a:buNone/>
            </a:pPr>
            <a:r>
              <a:rPr lang="en">
                <a:solidFill>
                  <a:srgbClr val="FFFFFF"/>
                </a:solidFill>
              </a:rPr>
              <a:t>  return 0;</a:t>
            </a:r>
            <a:endParaRPr>
              <a:solidFill>
                <a:srgbClr val="FFFFFF"/>
              </a:solidFill>
            </a:endParaRPr>
          </a:p>
          <a:p>
            <a:pPr indent="0" lvl="0" marL="177800" rtl="0" algn="l">
              <a:lnSpc>
                <a:spcPct val="90000"/>
              </a:lnSpc>
              <a:spcBef>
                <a:spcPts val="0"/>
              </a:spcBef>
              <a:spcAft>
                <a:spcPts val="0"/>
              </a:spcAft>
              <a:buClr>
                <a:schemeClr val="dk1"/>
              </a:buClr>
              <a:buSzPts val="800"/>
              <a:buFont typeface="Arial"/>
              <a:buNone/>
            </a:pPr>
            <a:r>
              <a:rPr lang="en">
                <a:solidFill>
                  <a:srgbClr val="FFFFFF"/>
                </a:solidFill>
              </a:rPr>
              <a:t>}</a:t>
            </a:r>
            <a:endParaRPr>
              <a:solidFill>
                <a:srgbClr val="FFFFFF"/>
              </a:solidFill>
            </a:endParaRPr>
          </a:p>
          <a:p>
            <a:pPr indent="0" lvl="0" marL="177800" rtl="0" algn="l">
              <a:lnSpc>
                <a:spcPct val="90000"/>
              </a:lnSpc>
              <a:spcBef>
                <a:spcPts val="0"/>
              </a:spcBef>
              <a:spcAft>
                <a:spcPts val="0"/>
              </a:spcAft>
              <a:buNone/>
            </a:pPr>
            <a:r>
              <a:rPr lang="en">
                <a:solidFill>
                  <a:srgbClr val="FFFFFF"/>
                </a:solidFill>
              </a:rPr>
              <a:t> </a:t>
            </a:r>
            <a:endParaRPr>
              <a:solidFill>
                <a:srgbClr val="FFFFFF"/>
              </a:solidFill>
            </a:endParaRPr>
          </a:p>
        </p:txBody>
      </p:sp>
      <p:sp>
        <p:nvSpPr>
          <p:cNvPr id="820" name="Google Shape;820;g283038813be_0_509"/>
          <p:cNvSpPr txBox="1"/>
          <p:nvPr/>
        </p:nvSpPr>
        <p:spPr>
          <a:xfrm>
            <a:off x="88781" y="608119"/>
            <a:ext cx="3555300" cy="4469400"/>
          </a:xfrm>
          <a:prstGeom prst="rect">
            <a:avLst/>
          </a:prstGeom>
          <a:noFill/>
          <a:ln cap="flat" cmpd="sng" w="9525">
            <a:solidFill>
              <a:srgbClr val="000000"/>
            </a:solidFill>
            <a:prstDash val="dot"/>
            <a:round/>
            <a:headEnd len="sm" w="sm" type="none"/>
            <a:tailEnd len="sm" w="sm" type="none"/>
          </a:ln>
        </p:spPr>
        <p:txBody>
          <a:bodyPr anchorCtr="0" anchor="t" bIns="34275" lIns="68575" spcFirstLastPara="1" rIns="68575" wrap="square" tIns="34275">
            <a:normAutofit fontScale="92500" lnSpcReduction="10000"/>
          </a:bodyPr>
          <a:lstStyle/>
          <a:p>
            <a:pPr indent="0" lvl="0" marL="139700" marR="0" rtl="0" algn="l">
              <a:lnSpc>
                <a:spcPct val="90000"/>
              </a:lnSpc>
              <a:spcBef>
                <a:spcPts val="0"/>
              </a:spcBef>
              <a:spcAft>
                <a:spcPts val="0"/>
              </a:spcAft>
              <a:buClr>
                <a:schemeClr val="dk1"/>
              </a:buClr>
              <a:buSzPct val="100000"/>
              <a:buFont typeface="Arial"/>
              <a:buNone/>
            </a:pPr>
            <a:r>
              <a:rPr lang="en" sz="2100">
                <a:solidFill>
                  <a:schemeClr val="dk1"/>
                </a:solidFill>
                <a:latin typeface="Calibri"/>
                <a:ea typeface="Calibri"/>
                <a:cs typeface="Calibri"/>
                <a:sym typeface="Calibri"/>
              </a:rPr>
              <a:t>We can find the length of the character array using loops but we need to apply recursion.</a:t>
            </a:r>
            <a:endParaRPr sz="2100">
              <a:solidFill>
                <a:schemeClr val="dk1"/>
              </a:solidFill>
              <a:latin typeface="Calibri"/>
              <a:ea typeface="Calibri"/>
              <a:cs typeface="Calibri"/>
              <a:sym typeface="Calibri"/>
            </a:endParaRPr>
          </a:p>
          <a:p>
            <a:pPr indent="-38100" lvl="0" marL="177800" marR="0" rtl="0" algn="l">
              <a:lnSpc>
                <a:spcPct val="90000"/>
              </a:lnSpc>
              <a:spcBef>
                <a:spcPts val="0"/>
              </a:spcBef>
              <a:spcAft>
                <a:spcPts val="0"/>
              </a:spcAft>
              <a:buClr>
                <a:schemeClr val="dk1"/>
              </a:buClr>
              <a:buSzPct val="100000"/>
              <a:buFont typeface="Arial"/>
              <a:buNone/>
            </a:pPr>
            <a:r>
              <a:rPr lang="en" sz="2100">
                <a:solidFill>
                  <a:schemeClr val="dk1"/>
                </a:solidFill>
                <a:latin typeface="Calibri"/>
                <a:ea typeface="Calibri"/>
                <a:cs typeface="Calibri"/>
                <a:sym typeface="Calibri"/>
              </a:rPr>
              <a:t>If the character array is </a:t>
            </a:r>
            <a:r>
              <a:rPr b="1" lang="en" sz="2100">
                <a:solidFill>
                  <a:schemeClr val="dk1"/>
                </a:solidFill>
                <a:latin typeface="Calibri"/>
                <a:ea typeface="Calibri"/>
                <a:cs typeface="Calibri"/>
                <a:sym typeface="Calibri"/>
              </a:rPr>
              <a:t>abcde</a:t>
            </a:r>
            <a:r>
              <a:rPr lang="en" sz="2100">
                <a:solidFill>
                  <a:schemeClr val="dk1"/>
                </a:solidFill>
                <a:latin typeface="Calibri"/>
                <a:ea typeface="Calibri"/>
                <a:cs typeface="Calibri"/>
                <a:sym typeface="Calibri"/>
              </a:rPr>
              <a:t> the length should be </a:t>
            </a:r>
            <a:r>
              <a:rPr b="1" lang="en" sz="2100">
                <a:solidFill>
                  <a:schemeClr val="dk1"/>
                </a:solidFill>
                <a:latin typeface="Calibri"/>
                <a:ea typeface="Calibri"/>
                <a:cs typeface="Calibri"/>
                <a:sym typeface="Calibri"/>
              </a:rPr>
              <a:t>5</a:t>
            </a:r>
            <a:endParaRPr b="1" sz="2100">
              <a:solidFill>
                <a:schemeClr val="dk1"/>
              </a:solidFill>
              <a:latin typeface="Calibri"/>
              <a:ea typeface="Calibri"/>
              <a:cs typeface="Calibri"/>
              <a:sym typeface="Calibri"/>
            </a:endParaRPr>
          </a:p>
          <a:p>
            <a:pPr indent="-38100" lvl="0" marL="177800" marR="0" rtl="0" algn="l">
              <a:lnSpc>
                <a:spcPct val="90000"/>
              </a:lnSpc>
              <a:spcBef>
                <a:spcPts val="0"/>
              </a:spcBef>
              <a:spcAft>
                <a:spcPts val="0"/>
              </a:spcAft>
              <a:buClr>
                <a:schemeClr val="dk1"/>
              </a:buClr>
              <a:buSzPct val="100000"/>
              <a:buFont typeface="Arial"/>
              <a:buNone/>
            </a:pPr>
            <a:r>
              <a:rPr b="1" lang="en" sz="2100">
                <a:solidFill>
                  <a:schemeClr val="dk1"/>
                </a:solidFill>
                <a:latin typeface="Calibri"/>
                <a:ea typeface="Calibri"/>
                <a:cs typeface="Calibri"/>
                <a:sym typeface="Calibri"/>
              </a:rPr>
              <a:t>Array</a:t>
            </a:r>
            <a:endParaRPr b="1" sz="2100">
              <a:solidFill>
                <a:schemeClr val="dk1"/>
              </a:solidFill>
              <a:latin typeface="Calibri"/>
              <a:ea typeface="Calibri"/>
              <a:cs typeface="Calibri"/>
              <a:sym typeface="Calibri"/>
            </a:endParaRPr>
          </a:p>
          <a:p>
            <a:pPr indent="-38100" lvl="0" marL="177800" marR="0" rtl="0" algn="l">
              <a:lnSpc>
                <a:spcPct val="90000"/>
              </a:lnSpc>
              <a:spcBef>
                <a:spcPts val="0"/>
              </a:spcBef>
              <a:spcAft>
                <a:spcPts val="0"/>
              </a:spcAft>
              <a:buClr>
                <a:schemeClr val="dk1"/>
              </a:buClr>
              <a:buSzPct val="100000"/>
              <a:buFont typeface="Arial"/>
              <a:buNone/>
            </a:pPr>
            <a:r>
              <a:t/>
            </a:r>
            <a:endParaRPr sz="2100">
              <a:solidFill>
                <a:schemeClr val="dk1"/>
              </a:solidFill>
              <a:latin typeface="Calibri"/>
              <a:ea typeface="Calibri"/>
              <a:cs typeface="Calibri"/>
              <a:sym typeface="Calibri"/>
            </a:endParaRPr>
          </a:p>
          <a:p>
            <a:pPr indent="-38100" lvl="0" marL="177800" marR="0" rtl="0" algn="l">
              <a:lnSpc>
                <a:spcPct val="90000"/>
              </a:lnSpc>
              <a:spcBef>
                <a:spcPts val="0"/>
              </a:spcBef>
              <a:spcAft>
                <a:spcPts val="0"/>
              </a:spcAft>
              <a:buClr>
                <a:schemeClr val="dk1"/>
              </a:buClr>
              <a:buSzPct val="100000"/>
              <a:buFont typeface="Arial"/>
              <a:buNone/>
            </a:pPr>
            <a:r>
              <a:t/>
            </a:r>
            <a:endParaRPr sz="2100">
              <a:solidFill>
                <a:schemeClr val="dk1"/>
              </a:solidFill>
              <a:latin typeface="Calibri"/>
              <a:ea typeface="Calibri"/>
              <a:cs typeface="Calibri"/>
              <a:sym typeface="Calibri"/>
            </a:endParaRPr>
          </a:p>
          <a:p>
            <a:pPr indent="-38100" lvl="0" marL="177800" marR="0" rtl="0" algn="l">
              <a:lnSpc>
                <a:spcPct val="90000"/>
              </a:lnSpc>
              <a:spcBef>
                <a:spcPts val="0"/>
              </a:spcBef>
              <a:spcAft>
                <a:spcPts val="0"/>
              </a:spcAft>
              <a:buClr>
                <a:schemeClr val="dk1"/>
              </a:buClr>
              <a:buSzPct val="100000"/>
              <a:buFont typeface="Arial"/>
              <a:buNone/>
            </a:pPr>
            <a:r>
              <a:rPr lang="en" sz="2100">
                <a:solidFill>
                  <a:schemeClr val="dk1"/>
                </a:solidFill>
                <a:latin typeface="Calibri"/>
                <a:ea typeface="Calibri"/>
                <a:cs typeface="Calibri"/>
                <a:sym typeface="Calibri"/>
              </a:rPr>
              <a:t>1+length</a:t>
            </a:r>
            <a:endParaRPr sz="2100">
              <a:solidFill>
                <a:schemeClr val="dk1"/>
              </a:solidFill>
              <a:latin typeface="Calibri"/>
              <a:ea typeface="Calibri"/>
              <a:cs typeface="Calibri"/>
              <a:sym typeface="Calibri"/>
            </a:endParaRPr>
          </a:p>
          <a:p>
            <a:pPr indent="-38100" lvl="0" marL="177800" marR="0" rtl="0" algn="l">
              <a:lnSpc>
                <a:spcPct val="90000"/>
              </a:lnSpc>
              <a:spcBef>
                <a:spcPts val="0"/>
              </a:spcBef>
              <a:spcAft>
                <a:spcPts val="0"/>
              </a:spcAft>
              <a:buClr>
                <a:schemeClr val="dk1"/>
              </a:buClr>
              <a:buSzPct val="100000"/>
              <a:buFont typeface="Arial"/>
              <a:buNone/>
            </a:pPr>
            <a:r>
              <a:rPr lang="en" sz="2100">
                <a:solidFill>
                  <a:schemeClr val="dk1"/>
                </a:solidFill>
                <a:latin typeface="Calibri"/>
                <a:ea typeface="Calibri"/>
                <a:cs typeface="Calibri"/>
                <a:sym typeface="Calibri"/>
              </a:rPr>
              <a:t>For the recursion, we need to call the length of the small array plus 1 of the first element at index 0.</a:t>
            </a:r>
            <a:endParaRPr sz="2100">
              <a:solidFill>
                <a:schemeClr val="dk1"/>
              </a:solidFill>
              <a:latin typeface="Calibri"/>
              <a:ea typeface="Calibri"/>
              <a:cs typeface="Calibri"/>
              <a:sym typeface="Calibri"/>
            </a:endParaRPr>
          </a:p>
          <a:p>
            <a:pPr indent="-38100" lvl="0" marL="177800" marR="0" rtl="0" algn="l">
              <a:lnSpc>
                <a:spcPct val="90000"/>
              </a:lnSpc>
              <a:spcBef>
                <a:spcPts val="0"/>
              </a:spcBef>
              <a:spcAft>
                <a:spcPts val="0"/>
              </a:spcAft>
              <a:buClr>
                <a:schemeClr val="dk1"/>
              </a:buClr>
              <a:buSzPct val="100000"/>
              <a:buFont typeface="Arial"/>
              <a:buNone/>
            </a:pPr>
            <a:r>
              <a:rPr lang="en" sz="2100">
                <a:solidFill>
                  <a:schemeClr val="dk1"/>
                </a:solidFill>
                <a:latin typeface="Calibri"/>
                <a:ea typeface="Calibri"/>
                <a:cs typeface="Calibri"/>
                <a:sym typeface="Calibri"/>
              </a:rPr>
              <a:t>The base case is when the array is empty, the function should return 0</a:t>
            </a:r>
            <a:endParaRPr sz="2100">
              <a:solidFill>
                <a:schemeClr val="dk1"/>
              </a:solidFill>
              <a:latin typeface="Calibri"/>
              <a:ea typeface="Calibri"/>
              <a:cs typeface="Calibri"/>
              <a:sym typeface="Calibri"/>
            </a:endParaRPr>
          </a:p>
          <a:p>
            <a:pPr indent="0" lvl="0" marL="139700" marR="0" rtl="0" algn="l">
              <a:lnSpc>
                <a:spcPct val="90000"/>
              </a:lnSpc>
              <a:spcBef>
                <a:spcPts val="0"/>
              </a:spcBef>
              <a:spcAft>
                <a:spcPts val="0"/>
              </a:spcAft>
              <a:buClr>
                <a:schemeClr val="dk1"/>
              </a:buClr>
              <a:buSzPct val="100000"/>
              <a:buFont typeface="Arial"/>
              <a:buNone/>
            </a:pPr>
            <a:r>
              <a:rPr lang="en" sz="2100">
                <a:solidFill>
                  <a:schemeClr val="dk1"/>
                </a:solidFill>
                <a:latin typeface="Calibri"/>
                <a:ea typeface="Calibri"/>
                <a:cs typeface="Calibri"/>
                <a:sym typeface="Calibri"/>
              </a:rPr>
              <a:t>If not, we calculate the value of  length of the small array plus 1</a:t>
            </a:r>
            <a:endParaRPr sz="2100">
              <a:solidFill>
                <a:schemeClr val="dk1"/>
              </a:solidFill>
              <a:latin typeface="Calibri"/>
              <a:ea typeface="Calibri"/>
              <a:cs typeface="Calibri"/>
              <a:sym typeface="Calibri"/>
            </a:endParaRPr>
          </a:p>
        </p:txBody>
      </p:sp>
      <p:graphicFrame>
        <p:nvGraphicFramePr>
          <p:cNvPr id="821" name="Google Shape;821;g283038813be_0_509"/>
          <p:cNvGraphicFramePr/>
          <p:nvPr/>
        </p:nvGraphicFramePr>
        <p:xfrm>
          <a:off x="819188" y="1983488"/>
          <a:ext cx="3000000" cy="3000000"/>
        </p:xfrm>
        <a:graphic>
          <a:graphicData uri="http://schemas.openxmlformats.org/drawingml/2006/table">
            <a:tbl>
              <a:tblPr>
                <a:noFill/>
                <a:tableStyleId>{BF383963-E0AA-4E9D-A898-146F2279B2C8}</a:tableStyleId>
              </a:tblPr>
              <a:tblGrid>
                <a:gridCol w="287150"/>
                <a:gridCol w="2350675"/>
              </a:tblGrid>
              <a:tr h="304725">
                <a:tc>
                  <a:txBody>
                    <a:bodyPr/>
                    <a:lstStyle/>
                    <a:p>
                      <a:pPr indent="0" lvl="0" marL="0" rtl="0" algn="l">
                        <a:spcBef>
                          <a:spcPts val="0"/>
                        </a:spcBef>
                        <a:spcAft>
                          <a:spcPts val="0"/>
                        </a:spcAft>
                        <a:buNone/>
                      </a:pPr>
                      <a:r>
                        <a:rPr lang="en" sz="1100"/>
                        <a:t>0</a:t>
                      </a:r>
                      <a:endParaRPr sz="1100"/>
                    </a:p>
                  </a:txBody>
                  <a:tcPr marT="68575" marB="68575" marR="68575" marL="68575">
                    <a:solidFill>
                      <a:srgbClr val="EFEFEF"/>
                    </a:solidFill>
                  </a:tcPr>
                </a:tc>
                <a:tc>
                  <a:txBody>
                    <a:bodyPr/>
                    <a:lstStyle/>
                    <a:p>
                      <a:pPr indent="0" lvl="0" marL="0" rtl="0" algn="l">
                        <a:spcBef>
                          <a:spcPts val="0"/>
                        </a:spcBef>
                        <a:spcAft>
                          <a:spcPts val="0"/>
                        </a:spcAft>
                        <a:buNone/>
                      </a:pPr>
                      <a:r>
                        <a:t/>
                      </a:r>
                      <a:endParaRPr/>
                    </a:p>
                  </a:txBody>
                  <a:tcPr marT="68575" marB="68575" marR="68575" marL="68575">
                    <a:solidFill>
                      <a:srgbClr val="6D9EEB"/>
                    </a:solidFill>
                  </a:tcPr>
                </a:tc>
              </a:tr>
            </a:tbl>
          </a:graphicData>
        </a:graphic>
      </p:graphicFrame>
      <p:graphicFrame>
        <p:nvGraphicFramePr>
          <p:cNvPr id="822" name="Google Shape;822;g283038813be_0_509"/>
          <p:cNvGraphicFramePr/>
          <p:nvPr/>
        </p:nvGraphicFramePr>
        <p:xfrm>
          <a:off x="3988388" y="853575"/>
          <a:ext cx="3000000" cy="3000000"/>
        </p:xfrm>
        <a:graphic>
          <a:graphicData uri="http://schemas.openxmlformats.org/drawingml/2006/table">
            <a:tbl>
              <a:tblPr>
                <a:noFill/>
                <a:tableStyleId>{BF383963-E0AA-4E9D-A898-146F2279B2C8}</a:tableStyleId>
              </a:tblPr>
              <a:tblGrid>
                <a:gridCol w="361400"/>
                <a:gridCol w="361400"/>
                <a:gridCol w="361400"/>
                <a:gridCol w="361400"/>
                <a:gridCol w="361400"/>
                <a:gridCol w="361400"/>
              </a:tblGrid>
              <a:tr h="285750">
                <a:tc>
                  <a:txBody>
                    <a:bodyPr/>
                    <a:lstStyle/>
                    <a:p>
                      <a:pPr indent="0" lvl="0" marL="0" rtl="0" algn="l">
                        <a:spcBef>
                          <a:spcPts val="0"/>
                        </a:spcBef>
                        <a:spcAft>
                          <a:spcPts val="0"/>
                        </a:spcAft>
                        <a:buNone/>
                      </a:pPr>
                      <a:r>
                        <a:rPr b="1" lang="en" sz="1100">
                          <a:solidFill>
                            <a:srgbClr val="FFFFFF"/>
                          </a:solidFill>
                        </a:rPr>
                        <a:t>a</a:t>
                      </a:r>
                      <a:endParaRPr b="1" sz="1100">
                        <a:solidFill>
                          <a:srgbClr val="FFFFFF"/>
                        </a:solidFill>
                      </a:endParaRPr>
                    </a:p>
                  </a:txBody>
                  <a:tcPr marT="68575" marB="68575" marR="68575" marL="68575">
                    <a:solidFill>
                      <a:srgbClr val="FF9900"/>
                    </a:solidFill>
                  </a:tcPr>
                </a:tc>
                <a:tc>
                  <a:txBody>
                    <a:bodyPr/>
                    <a:lstStyle/>
                    <a:p>
                      <a:pPr indent="0" lvl="0" marL="0" rtl="0" algn="l">
                        <a:spcBef>
                          <a:spcPts val="0"/>
                        </a:spcBef>
                        <a:spcAft>
                          <a:spcPts val="0"/>
                        </a:spcAft>
                        <a:buNone/>
                      </a:pPr>
                      <a:r>
                        <a:rPr b="1" lang="en" sz="1100">
                          <a:solidFill>
                            <a:srgbClr val="FFFFFF"/>
                          </a:solidFill>
                        </a:rPr>
                        <a:t>b</a:t>
                      </a:r>
                      <a:endParaRPr b="1" sz="1100">
                        <a:solidFill>
                          <a:srgbClr val="FFFFFF"/>
                        </a:solidFill>
                      </a:endParaRPr>
                    </a:p>
                  </a:txBody>
                  <a:tcPr marT="68575" marB="68575" marR="68575" marL="68575">
                    <a:solidFill>
                      <a:srgbClr val="FF9900"/>
                    </a:solidFill>
                  </a:tcPr>
                </a:tc>
                <a:tc>
                  <a:txBody>
                    <a:bodyPr/>
                    <a:lstStyle/>
                    <a:p>
                      <a:pPr indent="0" lvl="0" marL="0" rtl="0" algn="l">
                        <a:spcBef>
                          <a:spcPts val="0"/>
                        </a:spcBef>
                        <a:spcAft>
                          <a:spcPts val="0"/>
                        </a:spcAft>
                        <a:buNone/>
                      </a:pPr>
                      <a:r>
                        <a:rPr b="1" lang="en" sz="1100">
                          <a:solidFill>
                            <a:srgbClr val="FFFFFF"/>
                          </a:solidFill>
                        </a:rPr>
                        <a:t>c</a:t>
                      </a:r>
                      <a:endParaRPr b="1" sz="1100">
                        <a:solidFill>
                          <a:srgbClr val="FFFFFF"/>
                        </a:solidFill>
                      </a:endParaRPr>
                    </a:p>
                  </a:txBody>
                  <a:tcPr marT="68575" marB="68575" marR="68575" marL="68575">
                    <a:solidFill>
                      <a:srgbClr val="FF9900"/>
                    </a:solidFill>
                  </a:tcPr>
                </a:tc>
                <a:tc>
                  <a:txBody>
                    <a:bodyPr/>
                    <a:lstStyle/>
                    <a:p>
                      <a:pPr indent="0" lvl="0" marL="0" rtl="0" algn="l">
                        <a:spcBef>
                          <a:spcPts val="0"/>
                        </a:spcBef>
                        <a:spcAft>
                          <a:spcPts val="0"/>
                        </a:spcAft>
                        <a:buNone/>
                      </a:pPr>
                      <a:r>
                        <a:rPr b="1" lang="en" sz="1100">
                          <a:solidFill>
                            <a:srgbClr val="FFFFFF"/>
                          </a:solidFill>
                        </a:rPr>
                        <a:t>d</a:t>
                      </a:r>
                      <a:endParaRPr b="1" sz="1100">
                        <a:solidFill>
                          <a:srgbClr val="FFFFFF"/>
                        </a:solidFill>
                      </a:endParaRPr>
                    </a:p>
                  </a:txBody>
                  <a:tcPr marT="68575" marB="68575" marR="68575" marL="68575">
                    <a:solidFill>
                      <a:srgbClr val="FF9900"/>
                    </a:solidFill>
                  </a:tcPr>
                </a:tc>
                <a:tc>
                  <a:txBody>
                    <a:bodyPr/>
                    <a:lstStyle/>
                    <a:p>
                      <a:pPr indent="0" lvl="0" marL="0" rtl="0" algn="l">
                        <a:spcBef>
                          <a:spcPts val="0"/>
                        </a:spcBef>
                        <a:spcAft>
                          <a:spcPts val="0"/>
                        </a:spcAft>
                        <a:buNone/>
                      </a:pPr>
                      <a:r>
                        <a:rPr b="1" lang="en" sz="1100">
                          <a:solidFill>
                            <a:srgbClr val="FFFFFF"/>
                          </a:solidFill>
                        </a:rPr>
                        <a:t>e</a:t>
                      </a:r>
                      <a:endParaRPr b="1" sz="1100">
                        <a:solidFill>
                          <a:srgbClr val="FFFFFF"/>
                        </a:solidFill>
                      </a:endParaRPr>
                    </a:p>
                  </a:txBody>
                  <a:tcPr marT="68575" marB="68575" marR="68575" marL="68575">
                    <a:solidFill>
                      <a:srgbClr val="FF9900"/>
                    </a:solidFill>
                  </a:tcPr>
                </a:tc>
                <a:tc>
                  <a:txBody>
                    <a:bodyPr/>
                    <a:lstStyle/>
                    <a:p>
                      <a:pPr indent="0" lvl="0" marL="0" rtl="0" algn="l">
                        <a:spcBef>
                          <a:spcPts val="0"/>
                        </a:spcBef>
                        <a:spcAft>
                          <a:spcPts val="0"/>
                        </a:spcAft>
                        <a:buNone/>
                      </a:pPr>
                      <a:r>
                        <a:rPr b="1" lang="en" sz="1100">
                          <a:solidFill>
                            <a:srgbClr val="FFFFFF"/>
                          </a:solidFill>
                        </a:rPr>
                        <a:t>\0</a:t>
                      </a:r>
                      <a:endParaRPr b="1" sz="1100">
                        <a:solidFill>
                          <a:srgbClr val="FFFFFF"/>
                        </a:solidFill>
                      </a:endParaRPr>
                    </a:p>
                  </a:txBody>
                  <a:tcPr marT="68575" marB="68575" marR="68575" marL="68575">
                    <a:solidFill>
                      <a:srgbClr val="FF9900"/>
                    </a:solidFill>
                  </a:tcPr>
                </a:tc>
              </a:tr>
            </a:tbl>
          </a:graphicData>
        </a:graphic>
      </p:graphicFrame>
      <p:graphicFrame>
        <p:nvGraphicFramePr>
          <p:cNvPr id="823" name="Google Shape;823;g283038813be_0_509"/>
          <p:cNvGraphicFramePr/>
          <p:nvPr/>
        </p:nvGraphicFramePr>
        <p:xfrm>
          <a:off x="4313494" y="1368131"/>
          <a:ext cx="3000000" cy="3000000"/>
        </p:xfrm>
        <a:graphic>
          <a:graphicData uri="http://schemas.openxmlformats.org/drawingml/2006/table">
            <a:tbl>
              <a:tblPr>
                <a:noFill/>
                <a:tableStyleId>{BF383963-E0AA-4E9D-A898-146F2279B2C8}</a:tableStyleId>
              </a:tblPr>
              <a:tblGrid>
                <a:gridCol w="361400"/>
                <a:gridCol w="361400"/>
                <a:gridCol w="361400"/>
                <a:gridCol w="361400"/>
                <a:gridCol w="361400"/>
              </a:tblGrid>
              <a:tr h="285750">
                <a:tc>
                  <a:txBody>
                    <a:bodyPr/>
                    <a:lstStyle/>
                    <a:p>
                      <a:pPr indent="0" lvl="0" marL="0" rtl="0" algn="l">
                        <a:spcBef>
                          <a:spcPts val="0"/>
                        </a:spcBef>
                        <a:spcAft>
                          <a:spcPts val="0"/>
                        </a:spcAft>
                        <a:buNone/>
                      </a:pPr>
                      <a:r>
                        <a:rPr b="1" lang="en" sz="1100">
                          <a:solidFill>
                            <a:srgbClr val="FFFFFF"/>
                          </a:solidFill>
                        </a:rPr>
                        <a:t>b</a:t>
                      </a:r>
                      <a:endParaRPr b="1" sz="1100">
                        <a:solidFill>
                          <a:srgbClr val="FFFFFF"/>
                        </a:solidFill>
                      </a:endParaRPr>
                    </a:p>
                  </a:txBody>
                  <a:tcPr marT="68575" marB="68575" marR="68575" marL="68575">
                    <a:solidFill>
                      <a:srgbClr val="FF9900"/>
                    </a:solidFill>
                  </a:tcPr>
                </a:tc>
                <a:tc>
                  <a:txBody>
                    <a:bodyPr/>
                    <a:lstStyle/>
                    <a:p>
                      <a:pPr indent="0" lvl="0" marL="0" rtl="0" algn="l">
                        <a:spcBef>
                          <a:spcPts val="0"/>
                        </a:spcBef>
                        <a:spcAft>
                          <a:spcPts val="0"/>
                        </a:spcAft>
                        <a:buNone/>
                      </a:pPr>
                      <a:r>
                        <a:rPr b="1" lang="en" sz="1100">
                          <a:solidFill>
                            <a:srgbClr val="FFFFFF"/>
                          </a:solidFill>
                        </a:rPr>
                        <a:t>c</a:t>
                      </a:r>
                      <a:endParaRPr b="1" sz="1100">
                        <a:solidFill>
                          <a:srgbClr val="FFFFFF"/>
                        </a:solidFill>
                      </a:endParaRPr>
                    </a:p>
                  </a:txBody>
                  <a:tcPr marT="68575" marB="68575" marR="68575" marL="68575">
                    <a:solidFill>
                      <a:srgbClr val="FF9900"/>
                    </a:solidFill>
                  </a:tcPr>
                </a:tc>
                <a:tc>
                  <a:txBody>
                    <a:bodyPr/>
                    <a:lstStyle/>
                    <a:p>
                      <a:pPr indent="0" lvl="0" marL="0" rtl="0" algn="l">
                        <a:spcBef>
                          <a:spcPts val="0"/>
                        </a:spcBef>
                        <a:spcAft>
                          <a:spcPts val="0"/>
                        </a:spcAft>
                        <a:buNone/>
                      </a:pPr>
                      <a:r>
                        <a:rPr b="1" lang="en" sz="1100">
                          <a:solidFill>
                            <a:srgbClr val="FFFFFF"/>
                          </a:solidFill>
                        </a:rPr>
                        <a:t>d</a:t>
                      </a:r>
                      <a:endParaRPr b="1" sz="1100">
                        <a:solidFill>
                          <a:srgbClr val="FFFFFF"/>
                        </a:solidFill>
                      </a:endParaRPr>
                    </a:p>
                  </a:txBody>
                  <a:tcPr marT="68575" marB="68575" marR="68575" marL="68575">
                    <a:solidFill>
                      <a:srgbClr val="FF9900"/>
                    </a:solidFill>
                  </a:tcPr>
                </a:tc>
                <a:tc>
                  <a:txBody>
                    <a:bodyPr/>
                    <a:lstStyle/>
                    <a:p>
                      <a:pPr indent="0" lvl="0" marL="0" rtl="0" algn="l">
                        <a:spcBef>
                          <a:spcPts val="0"/>
                        </a:spcBef>
                        <a:spcAft>
                          <a:spcPts val="0"/>
                        </a:spcAft>
                        <a:buNone/>
                      </a:pPr>
                      <a:r>
                        <a:rPr b="1" lang="en" sz="1100">
                          <a:solidFill>
                            <a:srgbClr val="FFFFFF"/>
                          </a:solidFill>
                        </a:rPr>
                        <a:t>e</a:t>
                      </a:r>
                      <a:endParaRPr b="1" sz="1100">
                        <a:solidFill>
                          <a:srgbClr val="FFFFFF"/>
                        </a:solidFill>
                      </a:endParaRPr>
                    </a:p>
                  </a:txBody>
                  <a:tcPr marT="68575" marB="68575" marR="68575" marL="68575">
                    <a:solidFill>
                      <a:srgbClr val="FF9900"/>
                    </a:solidFill>
                  </a:tcPr>
                </a:tc>
                <a:tc>
                  <a:txBody>
                    <a:bodyPr/>
                    <a:lstStyle/>
                    <a:p>
                      <a:pPr indent="0" lvl="0" marL="0" rtl="0" algn="l">
                        <a:spcBef>
                          <a:spcPts val="0"/>
                        </a:spcBef>
                        <a:spcAft>
                          <a:spcPts val="0"/>
                        </a:spcAft>
                        <a:buNone/>
                      </a:pPr>
                      <a:r>
                        <a:rPr b="1" lang="en" sz="1100">
                          <a:solidFill>
                            <a:srgbClr val="FFFFFF"/>
                          </a:solidFill>
                        </a:rPr>
                        <a:t>\0</a:t>
                      </a:r>
                      <a:endParaRPr b="1" sz="1100">
                        <a:solidFill>
                          <a:srgbClr val="FFFFFF"/>
                        </a:solidFill>
                      </a:endParaRPr>
                    </a:p>
                  </a:txBody>
                  <a:tcPr marT="68575" marB="68575" marR="68575" marL="68575">
                    <a:solidFill>
                      <a:srgbClr val="FF9900"/>
                    </a:solidFill>
                  </a:tcPr>
                </a:tc>
              </a:tr>
            </a:tbl>
          </a:graphicData>
        </a:graphic>
      </p:graphicFrame>
      <p:graphicFrame>
        <p:nvGraphicFramePr>
          <p:cNvPr id="824" name="Google Shape;824;g283038813be_0_509"/>
          <p:cNvGraphicFramePr/>
          <p:nvPr/>
        </p:nvGraphicFramePr>
        <p:xfrm>
          <a:off x="4656394" y="1882481"/>
          <a:ext cx="3000000" cy="3000000"/>
        </p:xfrm>
        <a:graphic>
          <a:graphicData uri="http://schemas.openxmlformats.org/drawingml/2006/table">
            <a:tbl>
              <a:tblPr>
                <a:noFill/>
                <a:tableStyleId>{BF383963-E0AA-4E9D-A898-146F2279B2C8}</a:tableStyleId>
              </a:tblPr>
              <a:tblGrid>
                <a:gridCol w="361400"/>
                <a:gridCol w="361400"/>
                <a:gridCol w="361400"/>
                <a:gridCol w="361400"/>
              </a:tblGrid>
              <a:tr h="285750">
                <a:tc>
                  <a:txBody>
                    <a:bodyPr/>
                    <a:lstStyle/>
                    <a:p>
                      <a:pPr indent="0" lvl="0" marL="0" rtl="0" algn="l">
                        <a:spcBef>
                          <a:spcPts val="0"/>
                        </a:spcBef>
                        <a:spcAft>
                          <a:spcPts val="0"/>
                        </a:spcAft>
                        <a:buNone/>
                      </a:pPr>
                      <a:r>
                        <a:rPr b="1" lang="en" sz="1100">
                          <a:solidFill>
                            <a:srgbClr val="FFFFFF"/>
                          </a:solidFill>
                        </a:rPr>
                        <a:t>c</a:t>
                      </a:r>
                      <a:endParaRPr b="1" sz="1100">
                        <a:solidFill>
                          <a:srgbClr val="FFFFFF"/>
                        </a:solidFill>
                      </a:endParaRPr>
                    </a:p>
                  </a:txBody>
                  <a:tcPr marT="68575" marB="68575" marR="68575" marL="68575">
                    <a:solidFill>
                      <a:srgbClr val="FF9900"/>
                    </a:solidFill>
                  </a:tcPr>
                </a:tc>
                <a:tc>
                  <a:txBody>
                    <a:bodyPr/>
                    <a:lstStyle/>
                    <a:p>
                      <a:pPr indent="0" lvl="0" marL="0" rtl="0" algn="l">
                        <a:spcBef>
                          <a:spcPts val="0"/>
                        </a:spcBef>
                        <a:spcAft>
                          <a:spcPts val="0"/>
                        </a:spcAft>
                        <a:buNone/>
                      </a:pPr>
                      <a:r>
                        <a:rPr b="1" lang="en" sz="1100">
                          <a:solidFill>
                            <a:srgbClr val="FFFFFF"/>
                          </a:solidFill>
                        </a:rPr>
                        <a:t>d</a:t>
                      </a:r>
                      <a:endParaRPr b="1" sz="1100">
                        <a:solidFill>
                          <a:srgbClr val="FFFFFF"/>
                        </a:solidFill>
                      </a:endParaRPr>
                    </a:p>
                  </a:txBody>
                  <a:tcPr marT="68575" marB="68575" marR="68575" marL="68575">
                    <a:solidFill>
                      <a:srgbClr val="FF9900"/>
                    </a:solidFill>
                  </a:tcPr>
                </a:tc>
                <a:tc>
                  <a:txBody>
                    <a:bodyPr/>
                    <a:lstStyle/>
                    <a:p>
                      <a:pPr indent="0" lvl="0" marL="0" rtl="0" algn="l">
                        <a:spcBef>
                          <a:spcPts val="0"/>
                        </a:spcBef>
                        <a:spcAft>
                          <a:spcPts val="0"/>
                        </a:spcAft>
                        <a:buNone/>
                      </a:pPr>
                      <a:r>
                        <a:rPr b="1" lang="en" sz="1100">
                          <a:solidFill>
                            <a:srgbClr val="FFFFFF"/>
                          </a:solidFill>
                        </a:rPr>
                        <a:t>e</a:t>
                      </a:r>
                      <a:endParaRPr b="1" sz="1100">
                        <a:solidFill>
                          <a:srgbClr val="FFFFFF"/>
                        </a:solidFill>
                      </a:endParaRPr>
                    </a:p>
                  </a:txBody>
                  <a:tcPr marT="68575" marB="68575" marR="68575" marL="68575">
                    <a:solidFill>
                      <a:srgbClr val="FF9900"/>
                    </a:solidFill>
                  </a:tcPr>
                </a:tc>
                <a:tc>
                  <a:txBody>
                    <a:bodyPr/>
                    <a:lstStyle/>
                    <a:p>
                      <a:pPr indent="0" lvl="0" marL="0" rtl="0" algn="l">
                        <a:spcBef>
                          <a:spcPts val="0"/>
                        </a:spcBef>
                        <a:spcAft>
                          <a:spcPts val="0"/>
                        </a:spcAft>
                        <a:buNone/>
                      </a:pPr>
                      <a:r>
                        <a:rPr b="1" lang="en" sz="1100">
                          <a:solidFill>
                            <a:srgbClr val="FFFFFF"/>
                          </a:solidFill>
                        </a:rPr>
                        <a:t>\0</a:t>
                      </a:r>
                      <a:endParaRPr b="1" sz="1100">
                        <a:solidFill>
                          <a:srgbClr val="FFFFFF"/>
                        </a:solidFill>
                      </a:endParaRPr>
                    </a:p>
                  </a:txBody>
                  <a:tcPr marT="68575" marB="68575" marR="68575" marL="68575">
                    <a:solidFill>
                      <a:srgbClr val="FF9900"/>
                    </a:solidFill>
                  </a:tcPr>
                </a:tc>
              </a:tr>
            </a:tbl>
          </a:graphicData>
        </a:graphic>
      </p:graphicFrame>
      <p:graphicFrame>
        <p:nvGraphicFramePr>
          <p:cNvPr id="825" name="Google Shape;825;g283038813be_0_509"/>
          <p:cNvGraphicFramePr/>
          <p:nvPr/>
        </p:nvGraphicFramePr>
        <p:xfrm>
          <a:off x="4999294" y="2339681"/>
          <a:ext cx="3000000" cy="3000000"/>
        </p:xfrm>
        <a:graphic>
          <a:graphicData uri="http://schemas.openxmlformats.org/drawingml/2006/table">
            <a:tbl>
              <a:tblPr>
                <a:noFill/>
                <a:tableStyleId>{BF383963-E0AA-4E9D-A898-146F2279B2C8}</a:tableStyleId>
              </a:tblPr>
              <a:tblGrid>
                <a:gridCol w="361400"/>
                <a:gridCol w="361400"/>
                <a:gridCol w="361400"/>
              </a:tblGrid>
              <a:tr h="285750">
                <a:tc>
                  <a:txBody>
                    <a:bodyPr/>
                    <a:lstStyle/>
                    <a:p>
                      <a:pPr indent="0" lvl="0" marL="0" rtl="0" algn="l">
                        <a:spcBef>
                          <a:spcPts val="0"/>
                        </a:spcBef>
                        <a:spcAft>
                          <a:spcPts val="0"/>
                        </a:spcAft>
                        <a:buNone/>
                      </a:pPr>
                      <a:r>
                        <a:rPr b="1" lang="en" sz="1100">
                          <a:solidFill>
                            <a:srgbClr val="FFFFFF"/>
                          </a:solidFill>
                        </a:rPr>
                        <a:t>d</a:t>
                      </a:r>
                      <a:endParaRPr b="1" sz="1100">
                        <a:solidFill>
                          <a:srgbClr val="FFFFFF"/>
                        </a:solidFill>
                      </a:endParaRPr>
                    </a:p>
                  </a:txBody>
                  <a:tcPr marT="68575" marB="68575" marR="68575" marL="68575">
                    <a:solidFill>
                      <a:srgbClr val="FF9900"/>
                    </a:solidFill>
                  </a:tcPr>
                </a:tc>
                <a:tc>
                  <a:txBody>
                    <a:bodyPr/>
                    <a:lstStyle/>
                    <a:p>
                      <a:pPr indent="0" lvl="0" marL="0" rtl="0" algn="l">
                        <a:spcBef>
                          <a:spcPts val="0"/>
                        </a:spcBef>
                        <a:spcAft>
                          <a:spcPts val="0"/>
                        </a:spcAft>
                        <a:buNone/>
                      </a:pPr>
                      <a:r>
                        <a:rPr b="1" lang="en" sz="1100">
                          <a:solidFill>
                            <a:srgbClr val="FFFFFF"/>
                          </a:solidFill>
                        </a:rPr>
                        <a:t>e</a:t>
                      </a:r>
                      <a:endParaRPr b="1" sz="1100">
                        <a:solidFill>
                          <a:srgbClr val="FFFFFF"/>
                        </a:solidFill>
                      </a:endParaRPr>
                    </a:p>
                  </a:txBody>
                  <a:tcPr marT="68575" marB="68575" marR="68575" marL="68575">
                    <a:solidFill>
                      <a:srgbClr val="FF9900"/>
                    </a:solidFill>
                  </a:tcPr>
                </a:tc>
                <a:tc>
                  <a:txBody>
                    <a:bodyPr/>
                    <a:lstStyle/>
                    <a:p>
                      <a:pPr indent="0" lvl="0" marL="0" rtl="0" algn="l">
                        <a:spcBef>
                          <a:spcPts val="0"/>
                        </a:spcBef>
                        <a:spcAft>
                          <a:spcPts val="0"/>
                        </a:spcAft>
                        <a:buNone/>
                      </a:pPr>
                      <a:r>
                        <a:rPr b="1" lang="en" sz="1100">
                          <a:solidFill>
                            <a:srgbClr val="FFFFFF"/>
                          </a:solidFill>
                        </a:rPr>
                        <a:t>\0</a:t>
                      </a:r>
                      <a:endParaRPr b="1" sz="1100">
                        <a:solidFill>
                          <a:srgbClr val="FFFFFF"/>
                        </a:solidFill>
                      </a:endParaRPr>
                    </a:p>
                  </a:txBody>
                  <a:tcPr marT="68575" marB="68575" marR="68575" marL="68575">
                    <a:solidFill>
                      <a:srgbClr val="FF9900"/>
                    </a:solidFill>
                  </a:tcPr>
                </a:tc>
              </a:tr>
            </a:tbl>
          </a:graphicData>
        </a:graphic>
      </p:graphicFrame>
      <p:graphicFrame>
        <p:nvGraphicFramePr>
          <p:cNvPr id="826" name="Google Shape;826;g283038813be_0_509"/>
          <p:cNvGraphicFramePr/>
          <p:nvPr/>
        </p:nvGraphicFramePr>
        <p:xfrm>
          <a:off x="5399344" y="2796881"/>
          <a:ext cx="3000000" cy="3000000"/>
        </p:xfrm>
        <a:graphic>
          <a:graphicData uri="http://schemas.openxmlformats.org/drawingml/2006/table">
            <a:tbl>
              <a:tblPr>
                <a:noFill/>
                <a:tableStyleId>{BF383963-E0AA-4E9D-A898-146F2279B2C8}</a:tableStyleId>
              </a:tblPr>
              <a:tblGrid>
                <a:gridCol w="361400"/>
                <a:gridCol w="361400"/>
              </a:tblGrid>
              <a:tr h="285750">
                <a:tc>
                  <a:txBody>
                    <a:bodyPr/>
                    <a:lstStyle/>
                    <a:p>
                      <a:pPr indent="0" lvl="0" marL="0" rtl="0" algn="l">
                        <a:spcBef>
                          <a:spcPts val="0"/>
                        </a:spcBef>
                        <a:spcAft>
                          <a:spcPts val="0"/>
                        </a:spcAft>
                        <a:buNone/>
                      </a:pPr>
                      <a:r>
                        <a:rPr b="1" lang="en" sz="1100">
                          <a:solidFill>
                            <a:srgbClr val="FFFFFF"/>
                          </a:solidFill>
                        </a:rPr>
                        <a:t>e</a:t>
                      </a:r>
                      <a:endParaRPr b="1" sz="1100">
                        <a:solidFill>
                          <a:srgbClr val="FFFFFF"/>
                        </a:solidFill>
                      </a:endParaRPr>
                    </a:p>
                  </a:txBody>
                  <a:tcPr marT="68575" marB="68575" marR="68575" marL="68575">
                    <a:solidFill>
                      <a:srgbClr val="FF9900"/>
                    </a:solidFill>
                  </a:tcPr>
                </a:tc>
                <a:tc>
                  <a:txBody>
                    <a:bodyPr/>
                    <a:lstStyle/>
                    <a:p>
                      <a:pPr indent="0" lvl="0" marL="0" rtl="0" algn="l">
                        <a:spcBef>
                          <a:spcPts val="0"/>
                        </a:spcBef>
                        <a:spcAft>
                          <a:spcPts val="0"/>
                        </a:spcAft>
                        <a:buNone/>
                      </a:pPr>
                      <a:r>
                        <a:rPr b="1" lang="en" sz="1100">
                          <a:solidFill>
                            <a:srgbClr val="FFFFFF"/>
                          </a:solidFill>
                        </a:rPr>
                        <a:t>\0</a:t>
                      </a:r>
                      <a:endParaRPr b="1" sz="1100">
                        <a:solidFill>
                          <a:srgbClr val="FFFFFF"/>
                        </a:solidFill>
                      </a:endParaRPr>
                    </a:p>
                  </a:txBody>
                  <a:tcPr marT="68575" marB="68575" marR="68575" marL="68575">
                    <a:solidFill>
                      <a:srgbClr val="FF9900"/>
                    </a:solidFill>
                  </a:tcPr>
                </a:tc>
              </a:tr>
            </a:tbl>
          </a:graphicData>
        </a:graphic>
      </p:graphicFrame>
      <p:graphicFrame>
        <p:nvGraphicFramePr>
          <p:cNvPr id="827" name="Google Shape;827;g283038813be_0_509"/>
          <p:cNvGraphicFramePr/>
          <p:nvPr/>
        </p:nvGraphicFramePr>
        <p:xfrm>
          <a:off x="5722106" y="3254081"/>
          <a:ext cx="3000000" cy="3000000"/>
        </p:xfrm>
        <a:graphic>
          <a:graphicData uri="http://schemas.openxmlformats.org/drawingml/2006/table">
            <a:tbl>
              <a:tblPr>
                <a:noFill/>
                <a:tableStyleId>{BF383963-E0AA-4E9D-A898-146F2279B2C8}</a:tableStyleId>
              </a:tblPr>
              <a:tblGrid>
                <a:gridCol w="361400"/>
              </a:tblGrid>
              <a:tr h="285750">
                <a:tc>
                  <a:txBody>
                    <a:bodyPr/>
                    <a:lstStyle/>
                    <a:p>
                      <a:pPr indent="0" lvl="0" marL="0" rtl="0" algn="l">
                        <a:spcBef>
                          <a:spcPts val="0"/>
                        </a:spcBef>
                        <a:spcAft>
                          <a:spcPts val="0"/>
                        </a:spcAft>
                        <a:buNone/>
                      </a:pPr>
                      <a:r>
                        <a:rPr b="1" lang="en" sz="1100">
                          <a:solidFill>
                            <a:srgbClr val="FFFFFF"/>
                          </a:solidFill>
                        </a:rPr>
                        <a:t>\0</a:t>
                      </a:r>
                      <a:endParaRPr b="1" sz="1100">
                        <a:solidFill>
                          <a:srgbClr val="FFFFFF"/>
                        </a:solidFill>
                      </a:endParaRPr>
                    </a:p>
                  </a:txBody>
                  <a:tcPr marT="68575" marB="68575" marR="68575" marL="68575">
                    <a:solidFill>
                      <a:srgbClr val="FF9900"/>
                    </a:solidFill>
                  </a:tcPr>
                </a:tc>
              </a:tr>
            </a:tbl>
          </a:graphicData>
        </a:graphic>
      </p:graphicFrame>
      <p:sp>
        <p:nvSpPr>
          <p:cNvPr id="828" name="Google Shape;828;g283038813be_0_509"/>
          <p:cNvSpPr txBox="1"/>
          <p:nvPr/>
        </p:nvSpPr>
        <p:spPr>
          <a:xfrm>
            <a:off x="5333513" y="3226331"/>
            <a:ext cx="3615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b="1" lang="en" sz="1100">
                <a:latin typeface="Calibri"/>
                <a:ea typeface="Calibri"/>
                <a:cs typeface="Calibri"/>
                <a:sym typeface="Calibri"/>
              </a:rPr>
              <a:t>0</a:t>
            </a:r>
            <a:endParaRPr b="1" sz="1100">
              <a:latin typeface="Calibri"/>
              <a:ea typeface="Calibri"/>
              <a:cs typeface="Calibri"/>
              <a:sym typeface="Calibri"/>
            </a:endParaRPr>
          </a:p>
        </p:txBody>
      </p:sp>
      <p:sp>
        <p:nvSpPr>
          <p:cNvPr id="829" name="Google Shape;829;g283038813be_0_509"/>
          <p:cNvSpPr txBox="1"/>
          <p:nvPr/>
        </p:nvSpPr>
        <p:spPr>
          <a:xfrm>
            <a:off x="5047763" y="2769131"/>
            <a:ext cx="3615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b="1" lang="en" sz="1100">
                <a:latin typeface="Calibri"/>
                <a:ea typeface="Calibri"/>
                <a:cs typeface="Calibri"/>
                <a:sym typeface="Calibri"/>
              </a:rPr>
              <a:t>0+1</a:t>
            </a:r>
            <a:endParaRPr b="1" sz="1100">
              <a:latin typeface="Calibri"/>
              <a:ea typeface="Calibri"/>
              <a:cs typeface="Calibri"/>
              <a:sym typeface="Calibri"/>
            </a:endParaRPr>
          </a:p>
        </p:txBody>
      </p:sp>
      <p:sp>
        <p:nvSpPr>
          <p:cNvPr id="830" name="Google Shape;830;g283038813be_0_509"/>
          <p:cNvSpPr txBox="1"/>
          <p:nvPr/>
        </p:nvSpPr>
        <p:spPr>
          <a:xfrm>
            <a:off x="4484944" y="2225381"/>
            <a:ext cx="5346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b="1" lang="en" sz="1100">
                <a:latin typeface="Calibri"/>
                <a:ea typeface="Calibri"/>
                <a:cs typeface="Calibri"/>
                <a:sym typeface="Calibri"/>
              </a:rPr>
              <a:t>0+1+1</a:t>
            </a:r>
            <a:endParaRPr b="1" sz="1100">
              <a:latin typeface="Calibri"/>
              <a:ea typeface="Calibri"/>
              <a:cs typeface="Calibri"/>
              <a:sym typeface="Calibri"/>
            </a:endParaRPr>
          </a:p>
        </p:txBody>
      </p:sp>
      <p:sp>
        <p:nvSpPr>
          <p:cNvPr id="831" name="Google Shape;831;g283038813be_0_509"/>
          <p:cNvSpPr txBox="1"/>
          <p:nvPr/>
        </p:nvSpPr>
        <p:spPr>
          <a:xfrm>
            <a:off x="4102688" y="1711031"/>
            <a:ext cx="6882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b="1" lang="en" sz="1100">
                <a:latin typeface="Calibri"/>
                <a:ea typeface="Calibri"/>
                <a:cs typeface="Calibri"/>
                <a:sym typeface="Calibri"/>
              </a:rPr>
              <a:t>0+1+1+1</a:t>
            </a:r>
            <a:endParaRPr b="1" sz="1100">
              <a:latin typeface="Calibri"/>
              <a:ea typeface="Calibri"/>
              <a:cs typeface="Calibri"/>
              <a:sym typeface="Calibri"/>
            </a:endParaRPr>
          </a:p>
        </p:txBody>
      </p:sp>
      <p:sp>
        <p:nvSpPr>
          <p:cNvPr id="832" name="Google Shape;832;g283038813be_0_509"/>
          <p:cNvSpPr txBox="1"/>
          <p:nvPr/>
        </p:nvSpPr>
        <p:spPr>
          <a:xfrm>
            <a:off x="3653588" y="1110431"/>
            <a:ext cx="8022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b="1" lang="en" sz="1100">
                <a:latin typeface="Calibri"/>
                <a:ea typeface="Calibri"/>
                <a:cs typeface="Calibri"/>
                <a:sym typeface="Calibri"/>
              </a:rPr>
              <a:t>0+1+1+1+1</a:t>
            </a:r>
            <a:endParaRPr b="1" sz="1100">
              <a:latin typeface="Calibri"/>
              <a:ea typeface="Calibri"/>
              <a:cs typeface="Calibri"/>
              <a:sym typeface="Calibri"/>
            </a:endParaRPr>
          </a:p>
        </p:txBody>
      </p:sp>
      <p:sp>
        <p:nvSpPr>
          <p:cNvPr id="833" name="Google Shape;833;g283038813be_0_509"/>
          <p:cNvSpPr txBox="1"/>
          <p:nvPr/>
        </p:nvSpPr>
        <p:spPr>
          <a:xfrm>
            <a:off x="3644100" y="577931"/>
            <a:ext cx="929100" cy="3078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b="1" lang="en" sz="1100">
                <a:latin typeface="Calibri"/>
                <a:ea typeface="Calibri"/>
                <a:cs typeface="Calibri"/>
                <a:sym typeface="Calibri"/>
              </a:rPr>
              <a:t>0+1+1+1+1+1</a:t>
            </a:r>
            <a:endParaRPr b="1" sz="1100">
              <a:latin typeface="Calibri"/>
              <a:ea typeface="Calibri"/>
              <a:cs typeface="Calibri"/>
              <a:sym typeface="Calibri"/>
            </a:endParaRPr>
          </a:p>
        </p:txBody>
      </p:sp>
      <p:sp>
        <p:nvSpPr>
          <p:cNvPr id="834" name="Google Shape;834;g283038813be_0_509"/>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g283038813be_0_528"/>
          <p:cNvSpPr txBox="1"/>
          <p:nvPr>
            <p:ph type="title"/>
          </p:nvPr>
        </p:nvSpPr>
        <p:spPr>
          <a:xfrm>
            <a:off x="628650" y="216694"/>
            <a:ext cx="7886700" cy="324000"/>
          </a:xfrm>
          <a:prstGeom prst="rect">
            <a:avLst/>
          </a:prstGeom>
        </p:spPr>
        <p:txBody>
          <a:bodyPr anchorCtr="0" anchor="ctr" bIns="34275" lIns="68575" spcFirstLastPara="1" rIns="68575" wrap="square" tIns="34275">
            <a:normAutofit fontScale="90000"/>
          </a:bodyPr>
          <a:lstStyle/>
          <a:p>
            <a:pPr indent="0" lvl="0" marL="0" rtl="0" algn="l">
              <a:spcBef>
                <a:spcPts val="0"/>
              </a:spcBef>
              <a:spcAft>
                <a:spcPts val="0"/>
              </a:spcAft>
              <a:buNone/>
            </a:pPr>
            <a:r>
              <a:rPr b="1" lang="en"/>
              <a:t>Replace a character recursively</a:t>
            </a:r>
            <a:endParaRPr b="1"/>
          </a:p>
        </p:txBody>
      </p:sp>
      <p:sp>
        <p:nvSpPr>
          <p:cNvPr id="840" name="Google Shape;840;g283038813be_0_528"/>
          <p:cNvSpPr txBox="1"/>
          <p:nvPr>
            <p:ph idx="1" type="body"/>
          </p:nvPr>
        </p:nvSpPr>
        <p:spPr>
          <a:xfrm>
            <a:off x="114300" y="702244"/>
            <a:ext cx="3719100" cy="39303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en"/>
              <a:t>Basically, to replace  the character </a:t>
            </a:r>
            <a:r>
              <a:rPr b="1" lang="en"/>
              <a:t>a</a:t>
            </a:r>
            <a:r>
              <a:rPr lang="en"/>
              <a:t>  by </a:t>
            </a:r>
            <a:r>
              <a:rPr b="1" lang="en"/>
              <a:t>c</a:t>
            </a:r>
            <a:r>
              <a:rPr lang="en"/>
              <a:t> in ababa, means we need to modify the string  to have </a:t>
            </a:r>
            <a:r>
              <a:rPr b="1" lang="en"/>
              <a:t>c</a:t>
            </a:r>
            <a:r>
              <a:rPr lang="en"/>
              <a:t>b</a:t>
            </a:r>
            <a:r>
              <a:rPr b="1" lang="en"/>
              <a:t>c</a:t>
            </a:r>
            <a:r>
              <a:rPr lang="en"/>
              <a:t>b</a:t>
            </a:r>
            <a:r>
              <a:rPr b="1" lang="en"/>
              <a:t>c</a:t>
            </a:r>
            <a:endParaRPr b="1"/>
          </a:p>
          <a:p>
            <a:pPr indent="0" lvl="0" marL="0" rtl="0" algn="l">
              <a:spcBef>
                <a:spcPts val="800"/>
              </a:spcBef>
              <a:spcAft>
                <a:spcPts val="0"/>
              </a:spcAft>
              <a:buNone/>
            </a:pPr>
            <a:r>
              <a:rPr lang="en"/>
              <a:t>Simply, I need to :</a:t>
            </a:r>
            <a:endParaRPr/>
          </a:p>
          <a:p>
            <a:pPr indent="-254000" lvl="0" marL="342900" rtl="0" algn="l">
              <a:spcBef>
                <a:spcPts val="800"/>
              </a:spcBef>
              <a:spcAft>
                <a:spcPts val="0"/>
              </a:spcAft>
              <a:buSzPts val="1400"/>
              <a:buChar char="●"/>
            </a:pPr>
            <a:r>
              <a:rPr lang="en"/>
              <a:t>Check if the first character is</a:t>
            </a:r>
            <a:r>
              <a:rPr b="1" lang="en"/>
              <a:t> a</a:t>
            </a:r>
            <a:endParaRPr b="1"/>
          </a:p>
          <a:p>
            <a:pPr indent="-254000" lvl="0" marL="342900" rtl="0" algn="l">
              <a:spcBef>
                <a:spcPts val="0"/>
              </a:spcBef>
              <a:spcAft>
                <a:spcPts val="0"/>
              </a:spcAft>
              <a:buSzPts val="1400"/>
              <a:buChar char="●"/>
            </a:pPr>
            <a:r>
              <a:rPr lang="en"/>
              <a:t>Replace the character a with </a:t>
            </a:r>
            <a:r>
              <a:rPr b="1" lang="en"/>
              <a:t>x</a:t>
            </a:r>
            <a:endParaRPr b="1"/>
          </a:p>
          <a:p>
            <a:pPr indent="0" lvl="0" marL="342900" rtl="0" algn="l">
              <a:spcBef>
                <a:spcPts val="800"/>
              </a:spcBef>
              <a:spcAft>
                <a:spcPts val="0"/>
              </a:spcAft>
              <a:buNone/>
            </a:pPr>
            <a:r>
              <a:rPr b="1" lang="en"/>
              <a:t>input[0]=’a’</a:t>
            </a:r>
            <a:endParaRPr b="1"/>
          </a:p>
          <a:p>
            <a:pPr indent="0" lvl="0" marL="342900" rtl="0" algn="l">
              <a:spcBef>
                <a:spcPts val="800"/>
              </a:spcBef>
              <a:spcAft>
                <a:spcPts val="0"/>
              </a:spcAft>
              <a:buNone/>
            </a:pPr>
            <a:r>
              <a:rPr b="1" lang="en"/>
              <a:t>input[0]=’c’;</a:t>
            </a:r>
            <a:endParaRPr b="1"/>
          </a:p>
          <a:p>
            <a:pPr indent="0" lvl="0" marL="342900" rtl="0" algn="l">
              <a:spcBef>
                <a:spcPts val="800"/>
              </a:spcBef>
              <a:spcAft>
                <a:spcPts val="0"/>
              </a:spcAft>
              <a:buNone/>
            </a:pPr>
            <a:r>
              <a:rPr lang="en"/>
              <a:t>Then call the recursion for the small array by moving the pointer</a:t>
            </a:r>
            <a:endParaRPr/>
          </a:p>
        </p:txBody>
      </p:sp>
      <p:sp>
        <p:nvSpPr>
          <p:cNvPr id="841" name="Google Shape;841;g283038813be_0_528"/>
          <p:cNvSpPr txBox="1"/>
          <p:nvPr/>
        </p:nvSpPr>
        <p:spPr>
          <a:xfrm>
            <a:off x="3919313" y="702244"/>
            <a:ext cx="5224800" cy="2755200"/>
          </a:xfrm>
          <a:prstGeom prst="rect">
            <a:avLst/>
          </a:prstGeom>
          <a:solidFill>
            <a:srgbClr val="D9EAD3"/>
          </a:solid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n" sz="1700"/>
              <a:t>void replaceCharcter(char input[], char s, char e){</a:t>
            </a:r>
            <a:endParaRPr sz="1700"/>
          </a:p>
          <a:p>
            <a:pPr indent="0" lvl="0" marL="0" rtl="0" algn="l">
              <a:spcBef>
                <a:spcPts val="0"/>
              </a:spcBef>
              <a:spcAft>
                <a:spcPts val="0"/>
              </a:spcAft>
              <a:buNone/>
            </a:pPr>
            <a:r>
              <a:rPr lang="en" sz="1700"/>
              <a:t>    if(input[0]=='\0'){</a:t>
            </a:r>
            <a:endParaRPr sz="1700"/>
          </a:p>
          <a:p>
            <a:pPr indent="0" lvl="0" marL="0" rtl="0" algn="l">
              <a:spcBef>
                <a:spcPts val="0"/>
              </a:spcBef>
              <a:spcAft>
                <a:spcPts val="0"/>
              </a:spcAft>
              <a:buNone/>
            </a:pPr>
            <a:r>
              <a:rPr lang="en" sz="1700"/>
              <a:t>        return;</a:t>
            </a:r>
            <a:endParaRPr sz="1700"/>
          </a:p>
          <a:p>
            <a:pPr indent="0" lvl="0" marL="0" rtl="0" algn="l">
              <a:spcBef>
                <a:spcPts val="0"/>
              </a:spcBef>
              <a:spcAft>
                <a:spcPts val="0"/>
              </a:spcAft>
              <a:buNone/>
            </a:pPr>
            <a:r>
              <a:rPr lang="en" sz="1700"/>
              <a:t>    }</a:t>
            </a:r>
            <a:endParaRPr sz="1700"/>
          </a:p>
          <a:p>
            <a:pPr indent="0" lvl="0" marL="0" rtl="0" algn="l">
              <a:spcBef>
                <a:spcPts val="0"/>
              </a:spcBef>
              <a:spcAft>
                <a:spcPts val="0"/>
              </a:spcAft>
              <a:buNone/>
            </a:pPr>
            <a:r>
              <a:rPr lang="en" sz="1700"/>
              <a:t>    if(input[0]==s){</a:t>
            </a:r>
            <a:endParaRPr sz="1700"/>
          </a:p>
          <a:p>
            <a:pPr indent="0" lvl="0" marL="0" rtl="0" algn="l">
              <a:spcBef>
                <a:spcPts val="0"/>
              </a:spcBef>
              <a:spcAft>
                <a:spcPts val="0"/>
              </a:spcAft>
              <a:buNone/>
            </a:pPr>
            <a:r>
              <a:rPr lang="en" sz="1700"/>
              <a:t>        input[0] = e;</a:t>
            </a:r>
            <a:endParaRPr sz="1700"/>
          </a:p>
          <a:p>
            <a:pPr indent="0" lvl="0" marL="0" rtl="0" algn="l">
              <a:spcBef>
                <a:spcPts val="0"/>
              </a:spcBef>
              <a:spcAft>
                <a:spcPts val="0"/>
              </a:spcAft>
              <a:buNone/>
            </a:pPr>
            <a:r>
              <a:rPr lang="en" sz="1700"/>
              <a:t>    }</a:t>
            </a:r>
            <a:endParaRPr sz="1700"/>
          </a:p>
          <a:p>
            <a:pPr indent="0" lvl="0" marL="0" rtl="0" algn="l">
              <a:spcBef>
                <a:spcPts val="0"/>
              </a:spcBef>
              <a:spcAft>
                <a:spcPts val="0"/>
              </a:spcAft>
              <a:buNone/>
            </a:pPr>
            <a:r>
              <a:rPr lang="en" sz="1700"/>
              <a:t>    replaceCharcter(input + 1);</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a:t>
            </a:r>
            <a:endParaRPr sz="1700"/>
          </a:p>
        </p:txBody>
      </p:sp>
      <p:sp>
        <p:nvSpPr>
          <p:cNvPr id="842" name="Google Shape;842;g283038813be_0_528"/>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g283038813be_0_534"/>
          <p:cNvSpPr txBox="1"/>
          <p:nvPr>
            <p:ph type="title"/>
          </p:nvPr>
        </p:nvSpPr>
        <p:spPr>
          <a:xfrm>
            <a:off x="628650" y="45244"/>
            <a:ext cx="7886700" cy="419100"/>
          </a:xfrm>
          <a:prstGeom prst="rect">
            <a:avLst/>
          </a:prstGeom>
        </p:spPr>
        <p:txBody>
          <a:bodyPr anchorCtr="0" anchor="ctr" bIns="34275" lIns="68575" spcFirstLastPara="1" rIns="68575" wrap="square" tIns="34275">
            <a:normAutofit fontScale="90000"/>
          </a:bodyPr>
          <a:lstStyle/>
          <a:p>
            <a:pPr indent="0" lvl="0" marL="0" rtl="0" algn="l">
              <a:spcBef>
                <a:spcPts val="0"/>
              </a:spcBef>
              <a:spcAft>
                <a:spcPts val="0"/>
              </a:spcAft>
              <a:buNone/>
            </a:pPr>
            <a:r>
              <a:rPr b="1" lang="en"/>
              <a:t>Remove a character in array Recursively</a:t>
            </a:r>
            <a:endParaRPr b="1"/>
          </a:p>
        </p:txBody>
      </p:sp>
      <p:sp>
        <p:nvSpPr>
          <p:cNvPr id="848" name="Google Shape;848;g283038813be_0_534"/>
          <p:cNvSpPr txBox="1"/>
          <p:nvPr>
            <p:ph idx="1" type="body"/>
          </p:nvPr>
        </p:nvSpPr>
        <p:spPr>
          <a:xfrm>
            <a:off x="303675" y="588356"/>
            <a:ext cx="3463800" cy="44889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en"/>
              <a:t>The next problem is to remove a character in the array. The array is </a:t>
            </a:r>
            <a:r>
              <a:rPr b="1" lang="en"/>
              <a:t>abacada</a:t>
            </a:r>
            <a:r>
              <a:rPr lang="en"/>
              <a:t>, then we want to remove the character </a:t>
            </a:r>
            <a:r>
              <a:rPr b="1" lang="en"/>
              <a:t>a</a:t>
            </a:r>
            <a:r>
              <a:rPr lang="en"/>
              <a:t> in the array to have </a:t>
            </a:r>
            <a:r>
              <a:rPr b="1" lang="en"/>
              <a:t>bcd</a:t>
            </a:r>
            <a:r>
              <a:rPr lang="en"/>
              <a:t>. </a:t>
            </a:r>
            <a:endParaRPr/>
          </a:p>
          <a:p>
            <a:pPr indent="0" lvl="0" marL="0" rtl="0" algn="l">
              <a:spcBef>
                <a:spcPts val="800"/>
              </a:spcBef>
              <a:spcAft>
                <a:spcPts val="0"/>
              </a:spcAft>
              <a:buNone/>
            </a:pPr>
            <a:r>
              <a:rPr b="1" lang="en"/>
              <a:t>abacada\0=&gt; bcd\0</a:t>
            </a:r>
            <a:endParaRPr b="1"/>
          </a:p>
          <a:p>
            <a:pPr indent="0" lvl="0" marL="0" rtl="0" algn="l">
              <a:spcBef>
                <a:spcPts val="800"/>
              </a:spcBef>
              <a:spcAft>
                <a:spcPts val="0"/>
              </a:spcAft>
              <a:buNone/>
            </a:pPr>
            <a:r>
              <a:rPr lang="en"/>
              <a:t>if the first character is the target, we will shift the elements, otherwise we will do the recursion</a:t>
            </a:r>
            <a:endParaRPr/>
          </a:p>
        </p:txBody>
      </p:sp>
      <p:sp>
        <p:nvSpPr>
          <p:cNvPr id="849" name="Google Shape;849;g283038813be_0_534"/>
          <p:cNvSpPr txBox="1"/>
          <p:nvPr/>
        </p:nvSpPr>
        <p:spPr>
          <a:xfrm>
            <a:off x="3909825" y="654788"/>
            <a:ext cx="4792500" cy="4140600"/>
          </a:xfrm>
          <a:prstGeom prst="rect">
            <a:avLst/>
          </a:prstGeom>
          <a:solidFill>
            <a:srgbClr val="D9EAD3"/>
          </a:solid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n" sz="2000"/>
              <a:t>void removeC(char input[], char c){</a:t>
            </a:r>
            <a:endParaRPr sz="2000"/>
          </a:p>
          <a:p>
            <a:pPr indent="0" lvl="0" marL="0" rtl="0" algn="l">
              <a:spcBef>
                <a:spcPts val="0"/>
              </a:spcBef>
              <a:spcAft>
                <a:spcPts val="0"/>
              </a:spcAft>
              <a:buNone/>
            </a:pPr>
            <a:r>
              <a:rPr lang="en" sz="2000"/>
              <a:t>   if(input[0]=='\0'){</a:t>
            </a:r>
            <a:endParaRPr sz="2000"/>
          </a:p>
          <a:p>
            <a:pPr indent="0" lvl="0" marL="0" rtl="0" algn="l">
              <a:spcBef>
                <a:spcPts val="0"/>
              </a:spcBef>
              <a:spcAft>
                <a:spcPts val="0"/>
              </a:spcAft>
              <a:buNone/>
            </a:pPr>
            <a:r>
              <a:rPr lang="en" sz="2000"/>
              <a:t>    return ;</a:t>
            </a:r>
            <a:endParaRPr sz="2000"/>
          </a:p>
          <a:p>
            <a:pPr indent="0" lvl="0" marL="0" rtl="0" algn="l">
              <a:spcBef>
                <a:spcPts val="0"/>
              </a:spcBef>
              <a:spcAft>
                <a:spcPts val="0"/>
              </a:spcAft>
              <a:buNone/>
            </a:pPr>
            <a:r>
              <a:rPr lang="en" sz="2000"/>
              <a:t>   }</a:t>
            </a:r>
            <a:endParaRPr sz="2000"/>
          </a:p>
          <a:p>
            <a:pPr indent="0" lvl="0" marL="0" rtl="0" algn="l">
              <a:spcBef>
                <a:spcPts val="0"/>
              </a:spcBef>
              <a:spcAft>
                <a:spcPts val="0"/>
              </a:spcAft>
              <a:buNone/>
            </a:pPr>
            <a:r>
              <a:rPr lang="en" sz="2000"/>
              <a:t>   if(input[0]!= c){</a:t>
            </a:r>
            <a:endParaRPr sz="2000"/>
          </a:p>
          <a:p>
            <a:pPr indent="0" lvl="0" marL="0" rtl="0" algn="l">
              <a:spcBef>
                <a:spcPts val="0"/>
              </a:spcBef>
              <a:spcAft>
                <a:spcPts val="0"/>
              </a:spcAft>
              <a:buNone/>
            </a:pPr>
            <a:r>
              <a:rPr lang="en" sz="2000"/>
              <a:t>    removeC(input + 1);</a:t>
            </a:r>
            <a:endParaRPr sz="2000"/>
          </a:p>
          <a:p>
            <a:pPr indent="0" lvl="0" marL="0" rtl="0" algn="l">
              <a:spcBef>
                <a:spcPts val="0"/>
              </a:spcBef>
              <a:spcAft>
                <a:spcPts val="0"/>
              </a:spcAft>
              <a:buNone/>
            </a:pPr>
            <a:r>
              <a:rPr lang="en" sz="2000"/>
              <a:t>   }else{</a:t>
            </a:r>
            <a:endParaRPr sz="2000"/>
          </a:p>
          <a:p>
            <a:pPr indent="0" lvl="0" marL="0" rtl="0" algn="l">
              <a:spcBef>
                <a:spcPts val="0"/>
              </a:spcBef>
              <a:spcAft>
                <a:spcPts val="0"/>
              </a:spcAft>
              <a:buNone/>
            </a:pPr>
            <a:r>
              <a:rPr lang="en" sz="2000"/>
              <a:t>      for(int i=0;input[i]!='\0';i++){</a:t>
            </a:r>
            <a:endParaRPr sz="2000"/>
          </a:p>
          <a:p>
            <a:pPr indent="0" lvl="0" marL="0" rtl="0" algn="l">
              <a:spcBef>
                <a:spcPts val="0"/>
              </a:spcBef>
              <a:spcAft>
                <a:spcPts val="0"/>
              </a:spcAft>
              <a:buNone/>
            </a:pPr>
            <a:r>
              <a:rPr lang="en" sz="2000"/>
              <a:t>        input[i] = input[i+1];</a:t>
            </a:r>
            <a:endParaRPr sz="2000"/>
          </a:p>
          <a:p>
            <a:pPr indent="0" lvl="0" marL="0" rtl="0" algn="l">
              <a:spcBef>
                <a:spcPts val="0"/>
              </a:spcBef>
              <a:spcAft>
                <a:spcPts val="0"/>
              </a:spcAft>
              <a:buNone/>
            </a:pPr>
            <a:r>
              <a:rPr lang="en" sz="2000"/>
              <a:t>      }</a:t>
            </a:r>
            <a:endParaRPr sz="2000"/>
          </a:p>
          <a:p>
            <a:pPr indent="0" lvl="0" marL="0" rtl="0" algn="l">
              <a:spcBef>
                <a:spcPts val="0"/>
              </a:spcBef>
              <a:spcAft>
                <a:spcPts val="0"/>
              </a:spcAft>
              <a:buNone/>
            </a:pPr>
            <a:r>
              <a:rPr lang="en" sz="2000"/>
              <a:t>      removeC(input);</a:t>
            </a:r>
            <a:endParaRPr sz="2000"/>
          </a:p>
          <a:p>
            <a:pPr indent="0" lvl="0" marL="0" rtl="0" algn="l">
              <a:spcBef>
                <a:spcPts val="0"/>
              </a:spcBef>
              <a:spcAft>
                <a:spcPts val="0"/>
              </a:spcAft>
              <a:buNone/>
            </a:pPr>
            <a:r>
              <a:rPr lang="en" sz="2000"/>
              <a:t>   }</a:t>
            </a:r>
            <a:endParaRPr sz="2000"/>
          </a:p>
          <a:p>
            <a:pPr indent="0" lvl="0" marL="0" rtl="0" algn="l">
              <a:spcBef>
                <a:spcPts val="0"/>
              </a:spcBef>
              <a:spcAft>
                <a:spcPts val="0"/>
              </a:spcAft>
              <a:buNone/>
            </a:pPr>
            <a:r>
              <a:rPr lang="en" sz="2000"/>
              <a:t>}</a:t>
            </a:r>
            <a:endParaRPr sz="2000"/>
          </a:p>
        </p:txBody>
      </p:sp>
      <p:sp>
        <p:nvSpPr>
          <p:cNvPr id="850" name="Google Shape;850;g283038813be_0_534"/>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g283038813be_0_540"/>
          <p:cNvSpPr txBox="1"/>
          <p:nvPr>
            <p:ph type="title"/>
          </p:nvPr>
        </p:nvSpPr>
        <p:spPr>
          <a:xfrm>
            <a:off x="0" y="55575"/>
            <a:ext cx="7886700" cy="399900"/>
          </a:xfrm>
          <a:prstGeom prst="rect">
            <a:avLst/>
          </a:prstGeom>
        </p:spPr>
        <p:txBody>
          <a:bodyPr anchorCtr="0" anchor="ctr" bIns="34275" lIns="68575" spcFirstLastPara="1" rIns="68575" wrap="square" tIns="34275">
            <a:normAutofit fontScale="90000"/>
          </a:bodyPr>
          <a:lstStyle/>
          <a:p>
            <a:pPr indent="0" lvl="0" marL="0" rtl="0" algn="l">
              <a:spcBef>
                <a:spcPts val="0"/>
              </a:spcBef>
              <a:spcAft>
                <a:spcPts val="0"/>
              </a:spcAft>
              <a:buNone/>
            </a:pPr>
            <a:r>
              <a:rPr b="1" lang="en"/>
              <a:t>Convert a string digits to Integer</a:t>
            </a:r>
            <a:endParaRPr b="1"/>
          </a:p>
        </p:txBody>
      </p:sp>
      <p:sp>
        <p:nvSpPr>
          <p:cNvPr id="856" name="Google Shape;856;g283038813be_0_540"/>
          <p:cNvSpPr txBox="1"/>
          <p:nvPr>
            <p:ph idx="1" type="body"/>
          </p:nvPr>
        </p:nvSpPr>
        <p:spPr>
          <a:xfrm>
            <a:off x="306000" y="591056"/>
            <a:ext cx="3936000" cy="4312500"/>
          </a:xfrm>
          <a:prstGeom prst="rect">
            <a:avLst/>
          </a:prstGeom>
        </p:spPr>
        <p:txBody>
          <a:bodyPr anchorCtr="0" anchor="t" bIns="34275" lIns="68575" spcFirstLastPara="1" rIns="68575" wrap="square" tIns="34275">
            <a:normAutofit fontScale="55000" lnSpcReduction="20000"/>
          </a:bodyPr>
          <a:lstStyle/>
          <a:p>
            <a:pPr indent="0" lvl="0" marL="0" rtl="0" algn="l">
              <a:spcBef>
                <a:spcPts val="800"/>
              </a:spcBef>
              <a:spcAft>
                <a:spcPts val="0"/>
              </a:spcAft>
              <a:buNone/>
            </a:pPr>
            <a:r>
              <a:rPr lang="en" sz="3400"/>
              <a:t>Convert  a string “12345” to 12345.  This can be achieved using loops but the current target is the use of recursion with the following: </a:t>
            </a:r>
            <a:endParaRPr sz="3400"/>
          </a:p>
          <a:p>
            <a:pPr indent="-283845" lvl="0" marL="342900" rtl="0" algn="l">
              <a:spcBef>
                <a:spcPts val="800"/>
              </a:spcBef>
              <a:spcAft>
                <a:spcPts val="0"/>
              </a:spcAft>
              <a:buSzPct val="100000"/>
              <a:buAutoNum type="arabicPeriod"/>
            </a:pPr>
            <a:r>
              <a:rPr lang="en" sz="3400"/>
              <a:t>if n is 0, then return 0.</a:t>
            </a:r>
            <a:endParaRPr sz="3400"/>
          </a:p>
          <a:p>
            <a:pPr indent="0" lvl="0" marL="342900" rtl="0" algn="l">
              <a:spcBef>
                <a:spcPts val="800"/>
              </a:spcBef>
              <a:spcAft>
                <a:spcPts val="0"/>
              </a:spcAft>
              <a:buNone/>
            </a:pPr>
            <a:r>
              <a:t/>
            </a:r>
            <a:endParaRPr sz="3400"/>
          </a:p>
          <a:p>
            <a:pPr indent="-283845" lvl="0" marL="342900" rtl="0" algn="l">
              <a:spcBef>
                <a:spcPts val="800"/>
              </a:spcBef>
              <a:spcAft>
                <a:spcPts val="0"/>
              </a:spcAft>
              <a:buSzPct val="100000"/>
              <a:buAutoNum type="arabicPeriod"/>
            </a:pPr>
            <a:r>
              <a:rPr lang="en" sz="3400"/>
              <a:t>Calculate the small answer by calling a function on small string by moving the last index.</a:t>
            </a:r>
            <a:endParaRPr sz="3400"/>
          </a:p>
          <a:p>
            <a:pPr indent="0" lvl="0" marL="342900" rtl="0" algn="l">
              <a:spcBef>
                <a:spcPts val="800"/>
              </a:spcBef>
              <a:spcAft>
                <a:spcPts val="0"/>
              </a:spcAft>
              <a:buNone/>
            </a:pPr>
            <a:r>
              <a:rPr lang="en" sz="3400"/>
              <a:t>convertStrToInt(str,n-1);</a:t>
            </a:r>
            <a:endParaRPr sz="3400"/>
          </a:p>
          <a:p>
            <a:pPr indent="-283845" lvl="0" marL="342900" rtl="0" algn="l">
              <a:spcBef>
                <a:spcPts val="800"/>
              </a:spcBef>
              <a:spcAft>
                <a:spcPts val="0"/>
              </a:spcAft>
              <a:buSzPct val="100000"/>
              <a:buAutoNum type="arabicPeriod"/>
            </a:pPr>
            <a:r>
              <a:rPr lang="en" sz="3400"/>
              <a:t>Calculate the last digit</a:t>
            </a:r>
            <a:endParaRPr sz="3400"/>
          </a:p>
          <a:p>
            <a:pPr indent="0" lvl="0" marL="342900" rtl="0" algn="l">
              <a:spcBef>
                <a:spcPts val="800"/>
              </a:spcBef>
              <a:spcAft>
                <a:spcPts val="0"/>
              </a:spcAft>
              <a:buNone/>
            </a:pPr>
            <a:r>
              <a:rPr lang="en" sz="3400"/>
              <a:t>lastDigit=str[n-1]-’\0’</a:t>
            </a:r>
            <a:endParaRPr sz="3400"/>
          </a:p>
          <a:p>
            <a:pPr indent="-283845" lvl="0" marL="342900" rtl="0" algn="l">
              <a:spcBef>
                <a:spcPts val="800"/>
              </a:spcBef>
              <a:spcAft>
                <a:spcPts val="0"/>
              </a:spcAft>
              <a:buSzPct val="100000"/>
              <a:buAutoNum type="arabicPeriod"/>
            </a:pPr>
            <a:r>
              <a:rPr lang="en" sz="3400"/>
              <a:t>Multiply the smallAnswer by 10 and add last dit to find the answer.</a:t>
            </a:r>
            <a:endParaRPr sz="3400"/>
          </a:p>
          <a:p>
            <a:pPr indent="-283845" lvl="0" marL="342900" rtl="0" algn="l">
              <a:spcBef>
                <a:spcPts val="0"/>
              </a:spcBef>
              <a:spcAft>
                <a:spcPts val="0"/>
              </a:spcAft>
              <a:buSzPct val="100000"/>
              <a:buAutoNum type="arabicPeriod"/>
            </a:pPr>
            <a:r>
              <a:rPr lang="en" sz="3400"/>
              <a:t>smallAnswer*10+lastDigit</a:t>
            </a:r>
            <a:endParaRPr sz="3400"/>
          </a:p>
        </p:txBody>
      </p:sp>
      <p:sp>
        <p:nvSpPr>
          <p:cNvPr id="857" name="Google Shape;857;g283038813be_0_540"/>
          <p:cNvSpPr txBox="1"/>
          <p:nvPr/>
        </p:nvSpPr>
        <p:spPr>
          <a:xfrm>
            <a:off x="4261219" y="598706"/>
            <a:ext cx="4802100" cy="3186300"/>
          </a:xfrm>
          <a:prstGeom prst="rect">
            <a:avLst/>
          </a:prstGeom>
          <a:solidFill>
            <a:srgbClr val="D9EAD3"/>
          </a:solid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n" sz="1800"/>
              <a:t>int convertStringToInt(char str[], int n){</a:t>
            </a:r>
            <a:endParaRPr sz="1800"/>
          </a:p>
          <a:p>
            <a:pPr indent="0" lvl="0" marL="0" rtl="0" algn="l">
              <a:spcBef>
                <a:spcPts val="0"/>
              </a:spcBef>
              <a:spcAft>
                <a:spcPts val="0"/>
              </a:spcAft>
              <a:buNone/>
            </a:pPr>
            <a:r>
              <a:rPr lang="en" sz="1800"/>
              <a:t>     if(n==0){</a:t>
            </a:r>
            <a:endParaRPr sz="1800"/>
          </a:p>
          <a:p>
            <a:pPr indent="0" lvl="0" marL="0" rtl="0" algn="l">
              <a:spcBef>
                <a:spcPts val="0"/>
              </a:spcBef>
              <a:spcAft>
                <a:spcPts val="0"/>
              </a:spcAft>
              <a:buNone/>
            </a:pPr>
            <a:r>
              <a:rPr lang="en" sz="1800"/>
              <a:t>        return 0;</a:t>
            </a:r>
            <a:endParaRPr sz="1800"/>
          </a:p>
          <a:p>
            <a:pPr indent="0" lvl="0" marL="0" rtl="0" algn="l">
              <a:spcBef>
                <a:spcPts val="0"/>
              </a:spcBef>
              <a:spcAft>
                <a:spcPts val="0"/>
              </a:spcAft>
              <a:buNone/>
            </a:pPr>
            <a:r>
              <a:rPr lang="en" sz="1800"/>
              <a:t>     }</a:t>
            </a:r>
            <a:endParaRPr sz="1800"/>
          </a:p>
          <a:p>
            <a:pPr indent="0" lvl="0" marL="0" rtl="0" algn="l">
              <a:spcBef>
                <a:spcPts val="0"/>
              </a:spcBef>
              <a:spcAft>
                <a:spcPts val="0"/>
              </a:spcAft>
              <a:buNone/>
            </a:pPr>
            <a:r>
              <a:rPr lang="en" sz="1800"/>
              <a:t>     int smallAns = convertStringToInt(str, n-1);</a:t>
            </a:r>
            <a:endParaRPr sz="1800"/>
          </a:p>
          <a:p>
            <a:pPr indent="0" lvl="0" marL="0" rtl="0" algn="l">
              <a:spcBef>
                <a:spcPts val="0"/>
              </a:spcBef>
              <a:spcAft>
                <a:spcPts val="0"/>
              </a:spcAft>
              <a:buNone/>
            </a:pPr>
            <a:r>
              <a:rPr b="1" i="1" lang="en" sz="1800"/>
              <a:t>//Character minus a character equal integer</a:t>
            </a:r>
            <a:endParaRPr b="1" i="1" sz="1800"/>
          </a:p>
          <a:p>
            <a:pPr indent="0" lvl="0" marL="0" rtl="0" algn="l">
              <a:spcBef>
                <a:spcPts val="0"/>
              </a:spcBef>
              <a:spcAft>
                <a:spcPts val="0"/>
              </a:spcAft>
              <a:buNone/>
            </a:pPr>
            <a:r>
              <a:rPr lang="en" sz="1800"/>
              <a:t>    </a:t>
            </a:r>
            <a:r>
              <a:rPr lang="en" sz="1800">
                <a:solidFill>
                  <a:srgbClr val="FF9900"/>
                </a:solidFill>
              </a:rPr>
              <a:t> int lastDigit = str[n-1] - '0';</a:t>
            </a:r>
            <a:endParaRPr sz="1800">
              <a:solidFill>
                <a:srgbClr val="FF9900"/>
              </a:solidFill>
            </a:endParaRPr>
          </a:p>
          <a:p>
            <a:pPr indent="0" lvl="0" marL="0" rtl="0" algn="l">
              <a:spcBef>
                <a:spcPts val="0"/>
              </a:spcBef>
              <a:spcAft>
                <a:spcPts val="0"/>
              </a:spcAft>
              <a:buNone/>
            </a:pPr>
            <a:r>
              <a:rPr lang="en" sz="1800"/>
              <a:t>     int ans = smallAns*10 + lastDigit;</a:t>
            </a:r>
            <a:endParaRPr sz="1800"/>
          </a:p>
          <a:p>
            <a:pPr indent="0" lvl="0" marL="0" rtl="0" algn="l">
              <a:spcBef>
                <a:spcPts val="0"/>
              </a:spcBef>
              <a:spcAft>
                <a:spcPts val="0"/>
              </a:spcAft>
              <a:buNone/>
            </a:pPr>
            <a:r>
              <a:rPr lang="en" sz="1800"/>
              <a:t>     return ans;</a:t>
            </a:r>
            <a:endParaRPr sz="1800"/>
          </a:p>
          <a:p>
            <a:pPr indent="0" lvl="0" marL="0" rtl="0" algn="l">
              <a:spcBef>
                <a:spcPts val="0"/>
              </a:spcBef>
              <a:spcAft>
                <a:spcPts val="0"/>
              </a:spcAft>
              <a:buNone/>
            </a:pPr>
            <a:r>
              <a:rPr lang="en" sz="1800"/>
              <a:t>}</a:t>
            </a:r>
            <a:endParaRPr sz="1800"/>
          </a:p>
        </p:txBody>
      </p:sp>
      <p:sp>
        <p:nvSpPr>
          <p:cNvPr id="858" name="Google Shape;858;g283038813be_0_540"/>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g283038813be_0_546"/>
          <p:cNvSpPr txBox="1"/>
          <p:nvPr>
            <p:ph type="title"/>
          </p:nvPr>
        </p:nvSpPr>
        <p:spPr>
          <a:xfrm>
            <a:off x="228600" y="-11906"/>
            <a:ext cx="6219000" cy="653400"/>
          </a:xfrm>
          <a:prstGeom prst="rect">
            <a:avLst/>
          </a:prstGeom>
        </p:spPr>
        <p:txBody>
          <a:bodyPr anchorCtr="0" anchor="ctr" bIns="34275" lIns="68575" spcFirstLastPara="1" rIns="68575" wrap="square" tIns="34275">
            <a:normAutofit fontScale="90000"/>
          </a:bodyPr>
          <a:lstStyle/>
          <a:p>
            <a:pPr indent="0" lvl="0" marL="0" rtl="0" algn="l">
              <a:spcBef>
                <a:spcPts val="0"/>
              </a:spcBef>
              <a:spcAft>
                <a:spcPts val="0"/>
              </a:spcAft>
              <a:buSzPts val="630"/>
              <a:buNone/>
            </a:pPr>
            <a:r>
              <a:rPr lang="en" sz="2800"/>
              <a:t>String to Integer: Let us analyse our code</a:t>
            </a:r>
            <a:endParaRPr sz="2800"/>
          </a:p>
        </p:txBody>
      </p:sp>
      <p:sp>
        <p:nvSpPr>
          <p:cNvPr id="864" name="Google Shape;864;g283038813be_0_546"/>
          <p:cNvSpPr txBox="1"/>
          <p:nvPr>
            <p:ph idx="1" type="body"/>
          </p:nvPr>
        </p:nvSpPr>
        <p:spPr>
          <a:xfrm>
            <a:off x="228600" y="927244"/>
            <a:ext cx="3964500" cy="3981300"/>
          </a:xfrm>
          <a:prstGeom prst="rect">
            <a:avLst/>
          </a:prstGeom>
        </p:spPr>
        <p:txBody>
          <a:bodyPr anchorCtr="0" anchor="t" bIns="34275" lIns="68575" spcFirstLastPara="1" rIns="68575" wrap="square" tIns="34275">
            <a:normAutofit/>
          </a:bodyPr>
          <a:lstStyle/>
          <a:p>
            <a:pPr indent="0" lvl="0" marL="0" rtl="0" algn="l">
              <a:lnSpc>
                <a:spcPct val="80000"/>
              </a:lnSpc>
              <a:spcBef>
                <a:spcPts val="800"/>
              </a:spcBef>
              <a:spcAft>
                <a:spcPts val="0"/>
              </a:spcAft>
              <a:buNone/>
            </a:pPr>
            <a:r>
              <a:rPr lang="en" sz="2000"/>
              <a:t> If we have “12345” , Then call the recursion on “1234”, then call the recursion on “123”, then call the recursion on “12”, then call the recursion on “1”,  now n=1, then call the recursion on empty array.</a:t>
            </a:r>
            <a:endParaRPr sz="2000"/>
          </a:p>
          <a:p>
            <a:pPr indent="-247650" lvl="0" marL="342900" rtl="0" algn="l">
              <a:lnSpc>
                <a:spcPct val="80000"/>
              </a:lnSpc>
              <a:spcBef>
                <a:spcPts val="800"/>
              </a:spcBef>
              <a:spcAft>
                <a:spcPts val="0"/>
              </a:spcAft>
              <a:buSzPts val="1300"/>
              <a:buAutoNum type="arabicPeriod"/>
            </a:pPr>
            <a:r>
              <a:rPr lang="en" sz="2000"/>
              <a:t>if n=0, then return 0;</a:t>
            </a:r>
            <a:endParaRPr sz="2000"/>
          </a:p>
          <a:p>
            <a:pPr indent="-247650" lvl="0" marL="342900" rtl="0" algn="l">
              <a:lnSpc>
                <a:spcPct val="80000"/>
              </a:lnSpc>
              <a:spcBef>
                <a:spcPts val="0"/>
              </a:spcBef>
              <a:spcAft>
                <a:spcPts val="0"/>
              </a:spcAft>
              <a:buSzPts val="1300"/>
              <a:buAutoNum type="arabicPeriod"/>
            </a:pPr>
            <a:r>
              <a:rPr lang="en" sz="2000"/>
              <a:t>The small answer is 0, then 0*10+1 as the last digit which is 1</a:t>
            </a:r>
            <a:endParaRPr sz="2000"/>
          </a:p>
          <a:p>
            <a:pPr indent="-247650" lvl="0" marL="342900" rtl="0" algn="l">
              <a:lnSpc>
                <a:spcPct val="80000"/>
              </a:lnSpc>
              <a:spcBef>
                <a:spcPts val="0"/>
              </a:spcBef>
              <a:spcAft>
                <a:spcPts val="0"/>
              </a:spcAft>
              <a:buSzPts val="1300"/>
              <a:buAutoNum type="arabicPeriod"/>
            </a:pPr>
            <a:r>
              <a:rPr lang="en" sz="2000"/>
              <a:t>Then 1*10+2 as the last digit</a:t>
            </a:r>
            <a:endParaRPr sz="2000"/>
          </a:p>
          <a:p>
            <a:pPr indent="-247650" lvl="0" marL="342900" rtl="0" algn="l">
              <a:lnSpc>
                <a:spcPct val="80000"/>
              </a:lnSpc>
              <a:spcBef>
                <a:spcPts val="0"/>
              </a:spcBef>
              <a:spcAft>
                <a:spcPts val="0"/>
              </a:spcAft>
              <a:buSzPts val="1300"/>
              <a:buAutoNum type="arabicPeriod"/>
            </a:pPr>
            <a:r>
              <a:rPr lang="en" sz="2000"/>
              <a:t>Then 12*10+3 </a:t>
            </a:r>
            <a:endParaRPr sz="2000"/>
          </a:p>
          <a:p>
            <a:pPr indent="-247650" lvl="0" marL="342900" rtl="0" algn="l">
              <a:lnSpc>
                <a:spcPct val="80000"/>
              </a:lnSpc>
              <a:spcBef>
                <a:spcPts val="0"/>
              </a:spcBef>
              <a:spcAft>
                <a:spcPts val="0"/>
              </a:spcAft>
              <a:buSzPts val="1300"/>
              <a:buAutoNum type="arabicPeriod"/>
            </a:pPr>
            <a:r>
              <a:rPr lang="en" sz="2000"/>
              <a:t>Then 123*10+4</a:t>
            </a:r>
            <a:endParaRPr sz="2000"/>
          </a:p>
          <a:p>
            <a:pPr indent="-247650" lvl="0" marL="342900" rtl="0" algn="l">
              <a:lnSpc>
                <a:spcPct val="80000"/>
              </a:lnSpc>
              <a:spcBef>
                <a:spcPts val="0"/>
              </a:spcBef>
              <a:spcAft>
                <a:spcPts val="0"/>
              </a:spcAft>
              <a:buSzPts val="1300"/>
              <a:buAutoNum type="arabicPeriod"/>
            </a:pPr>
            <a:r>
              <a:rPr lang="en" sz="2000"/>
              <a:t>Finally 1234*10+5</a:t>
            </a:r>
            <a:endParaRPr sz="2000"/>
          </a:p>
        </p:txBody>
      </p:sp>
      <p:graphicFrame>
        <p:nvGraphicFramePr>
          <p:cNvPr id="865" name="Google Shape;865;g283038813be_0_546"/>
          <p:cNvGraphicFramePr/>
          <p:nvPr/>
        </p:nvGraphicFramePr>
        <p:xfrm>
          <a:off x="4736363" y="525750"/>
          <a:ext cx="3000000" cy="3000000"/>
        </p:xfrm>
        <a:graphic>
          <a:graphicData uri="http://schemas.openxmlformats.org/drawingml/2006/table">
            <a:tbl>
              <a:tblPr>
                <a:noFill/>
                <a:tableStyleId>{BF383963-E0AA-4E9D-A898-146F2279B2C8}</a:tableStyleId>
              </a:tblPr>
              <a:tblGrid>
                <a:gridCol w="949175"/>
                <a:gridCol w="594900"/>
                <a:gridCol w="594725"/>
                <a:gridCol w="636425"/>
                <a:gridCol w="626000"/>
                <a:gridCol w="563375"/>
              </a:tblGrid>
              <a:tr h="525750">
                <a:tc>
                  <a:txBody>
                    <a:bodyPr/>
                    <a:lstStyle/>
                    <a:p>
                      <a:pPr indent="0" lvl="0" marL="0" rtl="0" algn="l">
                        <a:spcBef>
                          <a:spcPts val="0"/>
                        </a:spcBef>
                        <a:spcAft>
                          <a:spcPts val="0"/>
                        </a:spcAft>
                        <a:buNone/>
                      </a:pPr>
                      <a:r>
                        <a:rPr lang="en" sz="1300"/>
                        <a:t>1234*10+5</a:t>
                      </a:r>
                      <a:endParaRPr sz="1300"/>
                    </a:p>
                  </a:txBody>
                  <a:tcPr marT="68575" marB="68575" marR="68575" marL="68575"/>
                </a:tc>
                <a:tc>
                  <a:txBody>
                    <a:bodyPr/>
                    <a:lstStyle/>
                    <a:p>
                      <a:pPr indent="0" lvl="0" marL="0" rtl="0" algn="l">
                        <a:spcBef>
                          <a:spcPts val="0"/>
                        </a:spcBef>
                        <a:spcAft>
                          <a:spcPts val="0"/>
                        </a:spcAft>
                        <a:buNone/>
                      </a:pPr>
                      <a:r>
                        <a:rPr lang="en" sz="1300"/>
                        <a:t>1</a:t>
                      </a:r>
                      <a:endParaRPr sz="1300"/>
                    </a:p>
                  </a:txBody>
                  <a:tcPr marT="68575" marB="68575" marR="68575" marL="68575">
                    <a:solidFill>
                      <a:srgbClr val="FFF2CC"/>
                    </a:solidFill>
                  </a:tcPr>
                </a:tc>
                <a:tc>
                  <a:txBody>
                    <a:bodyPr/>
                    <a:lstStyle/>
                    <a:p>
                      <a:pPr indent="0" lvl="0" marL="0" rtl="0" algn="l">
                        <a:spcBef>
                          <a:spcPts val="0"/>
                        </a:spcBef>
                        <a:spcAft>
                          <a:spcPts val="0"/>
                        </a:spcAft>
                        <a:buNone/>
                      </a:pPr>
                      <a:r>
                        <a:rPr lang="en" sz="1300"/>
                        <a:t>2</a:t>
                      </a:r>
                      <a:endParaRPr sz="1300"/>
                    </a:p>
                  </a:txBody>
                  <a:tcPr marT="68575" marB="68575" marR="68575" marL="68575">
                    <a:solidFill>
                      <a:srgbClr val="FFF2CC"/>
                    </a:solidFill>
                  </a:tcPr>
                </a:tc>
                <a:tc>
                  <a:txBody>
                    <a:bodyPr/>
                    <a:lstStyle/>
                    <a:p>
                      <a:pPr indent="0" lvl="0" marL="0" rtl="0" algn="l">
                        <a:spcBef>
                          <a:spcPts val="0"/>
                        </a:spcBef>
                        <a:spcAft>
                          <a:spcPts val="0"/>
                        </a:spcAft>
                        <a:buNone/>
                      </a:pPr>
                      <a:r>
                        <a:rPr lang="en" sz="1300"/>
                        <a:t>3</a:t>
                      </a:r>
                      <a:endParaRPr sz="1300"/>
                    </a:p>
                  </a:txBody>
                  <a:tcPr marT="68575" marB="68575" marR="68575" marL="68575">
                    <a:solidFill>
                      <a:srgbClr val="FFF2CC"/>
                    </a:solidFill>
                  </a:tcPr>
                </a:tc>
                <a:tc>
                  <a:txBody>
                    <a:bodyPr/>
                    <a:lstStyle/>
                    <a:p>
                      <a:pPr indent="0" lvl="0" marL="0" rtl="0" algn="l">
                        <a:spcBef>
                          <a:spcPts val="0"/>
                        </a:spcBef>
                        <a:spcAft>
                          <a:spcPts val="0"/>
                        </a:spcAft>
                        <a:buNone/>
                      </a:pPr>
                      <a:r>
                        <a:rPr lang="en" sz="1300"/>
                        <a:t>4</a:t>
                      </a:r>
                      <a:endParaRPr sz="1300"/>
                    </a:p>
                  </a:txBody>
                  <a:tcPr marT="68575" marB="68575" marR="68575" marL="68575">
                    <a:solidFill>
                      <a:srgbClr val="FFF2CC"/>
                    </a:solidFill>
                  </a:tcPr>
                </a:tc>
                <a:tc>
                  <a:txBody>
                    <a:bodyPr/>
                    <a:lstStyle/>
                    <a:p>
                      <a:pPr indent="0" lvl="0" marL="0" rtl="0" algn="l">
                        <a:spcBef>
                          <a:spcPts val="0"/>
                        </a:spcBef>
                        <a:spcAft>
                          <a:spcPts val="0"/>
                        </a:spcAft>
                        <a:buNone/>
                      </a:pPr>
                      <a:r>
                        <a:rPr lang="en" sz="1300"/>
                        <a:t>5</a:t>
                      </a:r>
                      <a:endParaRPr sz="1300"/>
                    </a:p>
                  </a:txBody>
                  <a:tcPr marT="68575" marB="68575" marR="68575" marL="68575">
                    <a:solidFill>
                      <a:srgbClr val="FFF2CC"/>
                    </a:solidFill>
                  </a:tcPr>
                </a:tc>
              </a:tr>
              <a:tr h="424975">
                <a:tc>
                  <a:txBody>
                    <a:bodyPr/>
                    <a:lstStyle/>
                    <a:p>
                      <a:pPr indent="0" lvl="0" marL="0" rtl="0" algn="l">
                        <a:spcBef>
                          <a:spcPts val="0"/>
                        </a:spcBef>
                        <a:spcAft>
                          <a:spcPts val="0"/>
                        </a:spcAft>
                        <a:buNone/>
                      </a:pPr>
                      <a:r>
                        <a:rPr lang="en" sz="1300"/>
                        <a:t>123*10+4</a:t>
                      </a:r>
                      <a:endParaRPr sz="1300"/>
                    </a:p>
                  </a:txBody>
                  <a:tcPr marT="68575" marB="68575" marR="68575" marL="68575"/>
                </a:tc>
                <a:tc>
                  <a:txBody>
                    <a:bodyPr/>
                    <a:lstStyle/>
                    <a:p>
                      <a:pPr indent="0" lvl="0" marL="0" rtl="0" algn="l">
                        <a:spcBef>
                          <a:spcPts val="0"/>
                        </a:spcBef>
                        <a:spcAft>
                          <a:spcPts val="0"/>
                        </a:spcAft>
                        <a:buNone/>
                      </a:pPr>
                      <a:r>
                        <a:rPr lang="en" sz="1300"/>
                        <a:t>1</a:t>
                      </a:r>
                      <a:endParaRPr sz="1300"/>
                    </a:p>
                  </a:txBody>
                  <a:tcPr marT="68575" marB="68575" marR="68575" marL="68575">
                    <a:solidFill>
                      <a:srgbClr val="FFF2CC"/>
                    </a:solidFill>
                  </a:tcPr>
                </a:tc>
                <a:tc>
                  <a:txBody>
                    <a:bodyPr/>
                    <a:lstStyle/>
                    <a:p>
                      <a:pPr indent="0" lvl="0" marL="0" rtl="0" algn="l">
                        <a:spcBef>
                          <a:spcPts val="0"/>
                        </a:spcBef>
                        <a:spcAft>
                          <a:spcPts val="0"/>
                        </a:spcAft>
                        <a:buNone/>
                      </a:pPr>
                      <a:r>
                        <a:rPr lang="en" sz="1300"/>
                        <a:t>2</a:t>
                      </a:r>
                      <a:endParaRPr sz="1300"/>
                    </a:p>
                  </a:txBody>
                  <a:tcPr marT="68575" marB="68575" marR="68575" marL="68575">
                    <a:solidFill>
                      <a:srgbClr val="FFF2CC"/>
                    </a:solidFill>
                  </a:tcPr>
                </a:tc>
                <a:tc>
                  <a:txBody>
                    <a:bodyPr/>
                    <a:lstStyle/>
                    <a:p>
                      <a:pPr indent="0" lvl="0" marL="0" rtl="0" algn="l">
                        <a:spcBef>
                          <a:spcPts val="0"/>
                        </a:spcBef>
                        <a:spcAft>
                          <a:spcPts val="0"/>
                        </a:spcAft>
                        <a:buNone/>
                      </a:pPr>
                      <a:r>
                        <a:rPr lang="en" sz="1300"/>
                        <a:t>3</a:t>
                      </a:r>
                      <a:endParaRPr sz="1300"/>
                    </a:p>
                  </a:txBody>
                  <a:tcPr marT="68575" marB="68575" marR="68575" marL="68575">
                    <a:solidFill>
                      <a:srgbClr val="FFF2CC"/>
                    </a:solidFill>
                  </a:tcPr>
                </a:tc>
                <a:tc>
                  <a:txBody>
                    <a:bodyPr/>
                    <a:lstStyle/>
                    <a:p>
                      <a:pPr indent="0" lvl="0" marL="0" rtl="0" algn="l">
                        <a:spcBef>
                          <a:spcPts val="0"/>
                        </a:spcBef>
                        <a:spcAft>
                          <a:spcPts val="0"/>
                        </a:spcAft>
                        <a:buNone/>
                      </a:pPr>
                      <a:r>
                        <a:rPr lang="en" sz="1300"/>
                        <a:t>4</a:t>
                      </a:r>
                      <a:endParaRPr sz="1300"/>
                    </a:p>
                  </a:txBody>
                  <a:tcPr marT="68575" marB="68575" marR="68575" marL="68575">
                    <a:solidFill>
                      <a:srgbClr val="FFF2CC"/>
                    </a:solidFill>
                  </a:tcPr>
                </a:tc>
                <a:tc>
                  <a:txBody>
                    <a:bodyPr/>
                    <a:lstStyle/>
                    <a:p>
                      <a:pPr indent="0" lvl="0" marL="0" rtl="0" algn="l">
                        <a:spcBef>
                          <a:spcPts val="0"/>
                        </a:spcBef>
                        <a:spcAft>
                          <a:spcPts val="0"/>
                        </a:spcAft>
                        <a:buNone/>
                      </a:pPr>
                      <a:r>
                        <a:t/>
                      </a:r>
                      <a:endParaRPr sz="1300"/>
                    </a:p>
                  </a:txBody>
                  <a:tcPr marT="68575" marB="68575" marR="68575" marL="68575"/>
                </a:tc>
              </a:tr>
              <a:tr h="424975">
                <a:tc>
                  <a:txBody>
                    <a:bodyPr/>
                    <a:lstStyle/>
                    <a:p>
                      <a:pPr indent="0" lvl="0" marL="0" rtl="0" algn="l">
                        <a:spcBef>
                          <a:spcPts val="0"/>
                        </a:spcBef>
                        <a:spcAft>
                          <a:spcPts val="0"/>
                        </a:spcAft>
                        <a:buNone/>
                      </a:pPr>
                      <a:r>
                        <a:rPr lang="en" sz="1300"/>
                        <a:t>12*10+3</a:t>
                      </a:r>
                      <a:endParaRPr sz="1300"/>
                    </a:p>
                  </a:txBody>
                  <a:tcPr marT="68575" marB="68575" marR="68575" marL="68575"/>
                </a:tc>
                <a:tc>
                  <a:txBody>
                    <a:bodyPr/>
                    <a:lstStyle/>
                    <a:p>
                      <a:pPr indent="0" lvl="0" marL="0" rtl="0" algn="l">
                        <a:spcBef>
                          <a:spcPts val="0"/>
                        </a:spcBef>
                        <a:spcAft>
                          <a:spcPts val="0"/>
                        </a:spcAft>
                        <a:buNone/>
                      </a:pPr>
                      <a:r>
                        <a:rPr lang="en" sz="1300"/>
                        <a:t>1</a:t>
                      </a:r>
                      <a:endParaRPr sz="1300"/>
                    </a:p>
                  </a:txBody>
                  <a:tcPr marT="68575" marB="68575" marR="68575" marL="68575">
                    <a:solidFill>
                      <a:srgbClr val="FFF2CC"/>
                    </a:solidFill>
                  </a:tcPr>
                </a:tc>
                <a:tc>
                  <a:txBody>
                    <a:bodyPr/>
                    <a:lstStyle/>
                    <a:p>
                      <a:pPr indent="0" lvl="0" marL="0" rtl="0" algn="l">
                        <a:spcBef>
                          <a:spcPts val="0"/>
                        </a:spcBef>
                        <a:spcAft>
                          <a:spcPts val="0"/>
                        </a:spcAft>
                        <a:buNone/>
                      </a:pPr>
                      <a:r>
                        <a:rPr lang="en" sz="1300"/>
                        <a:t>2</a:t>
                      </a:r>
                      <a:endParaRPr sz="1300"/>
                    </a:p>
                  </a:txBody>
                  <a:tcPr marT="68575" marB="68575" marR="68575" marL="68575">
                    <a:solidFill>
                      <a:srgbClr val="FFF2CC"/>
                    </a:solidFill>
                  </a:tcPr>
                </a:tc>
                <a:tc>
                  <a:txBody>
                    <a:bodyPr/>
                    <a:lstStyle/>
                    <a:p>
                      <a:pPr indent="0" lvl="0" marL="0" rtl="0" algn="l">
                        <a:spcBef>
                          <a:spcPts val="0"/>
                        </a:spcBef>
                        <a:spcAft>
                          <a:spcPts val="0"/>
                        </a:spcAft>
                        <a:buNone/>
                      </a:pPr>
                      <a:r>
                        <a:rPr lang="en" sz="1300"/>
                        <a:t>3</a:t>
                      </a:r>
                      <a:endParaRPr sz="1300"/>
                    </a:p>
                  </a:txBody>
                  <a:tcPr marT="68575" marB="68575" marR="68575" marL="68575">
                    <a:solidFill>
                      <a:srgbClr val="FFF2CC"/>
                    </a:solidFill>
                  </a:tcPr>
                </a:tc>
                <a:tc>
                  <a:txBody>
                    <a:bodyPr/>
                    <a:lstStyle/>
                    <a:p>
                      <a:pPr indent="0" lvl="0" marL="0" rtl="0" algn="l">
                        <a:spcBef>
                          <a:spcPts val="0"/>
                        </a:spcBef>
                        <a:spcAft>
                          <a:spcPts val="0"/>
                        </a:spcAft>
                        <a:buNone/>
                      </a:pPr>
                      <a:r>
                        <a:t/>
                      </a:r>
                      <a:endParaRPr sz="1300"/>
                    </a:p>
                  </a:txBody>
                  <a:tcPr marT="68575" marB="68575" marR="68575" marL="68575"/>
                </a:tc>
                <a:tc>
                  <a:txBody>
                    <a:bodyPr/>
                    <a:lstStyle/>
                    <a:p>
                      <a:pPr indent="0" lvl="0" marL="0" rtl="0" algn="l">
                        <a:spcBef>
                          <a:spcPts val="0"/>
                        </a:spcBef>
                        <a:spcAft>
                          <a:spcPts val="0"/>
                        </a:spcAft>
                        <a:buNone/>
                      </a:pPr>
                      <a:r>
                        <a:t/>
                      </a:r>
                      <a:endParaRPr sz="1300"/>
                    </a:p>
                  </a:txBody>
                  <a:tcPr marT="68575" marB="68575" marR="68575" marL="68575"/>
                </a:tc>
              </a:tr>
              <a:tr h="424975">
                <a:tc>
                  <a:txBody>
                    <a:bodyPr/>
                    <a:lstStyle/>
                    <a:p>
                      <a:pPr indent="0" lvl="0" marL="0" rtl="0" algn="l">
                        <a:spcBef>
                          <a:spcPts val="0"/>
                        </a:spcBef>
                        <a:spcAft>
                          <a:spcPts val="0"/>
                        </a:spcAft>
                        <a:buNone/>
                      </a:pPr>
                      <a:r>
                        <a:rPr lang="en" sz="1300"/>
                        <a:t>1*10+2</a:t>
                      </a:r>
                      <a:endParaRPr sz="1300"/>
                    </a:p>
                  </a:txBody>
                  <a:tcPr marT="68575" marB="68575" marR="68575" marL="68575"/>
                </a:tc>
                <a:tc>
                  <a:txBody>
                    <a:bodyPr/>
                    <a:lstStyle/>
                    <a:p>
                      <a:pPr indent="0" lvl="0" marL="0" rtl="0" algn="l">
                        <a:spcBef>
                          <a:spcPts val="0"/>
                        </a:spcBef>
                        <a:spcAft>
                          <a:spcPts val="0"/>
                        </a:spcAft>
                        <a:buNone/>
                      </a:pPr>
                      <a:r>
                        <a:rPr lang="en" sz="1300"/>
                        <a:t>1</a:t>
                      </a:r>
                      <a:endParaRPr sz="1300"/>
                    </a:p>
                  </a:txBody>
                  <a:tcPr marT="68575" marB="68575" marR="68575" marL="68575">
                    <a:solidFill>
                      <a:srgbClr val="FFF2CC"/>
                    </a:solidFill>
                  </a:tcPr>
                </a:tc>
                <a:tc>
                  <a:txBody>
                    <a:bodyPr/>
                    <a:lstStyle/>
                    <a:p>
                      <a:pPr indent="0" lvl="0" marL="0" rtl="0" algn="l">
                        <a:spcBef>
                          <a:spcPts val="0"/>
                        </a:spcBef>
                        <a:spcAft>
                          <a:spcPts val="0"/>
                        </a:spcAft>
                        <a:buNone/>
                      </a:pPr>
                      <a:r>
                        <a:rPr lang="en" sz="1300"/>
                        <a:t>2</a:t>
                      </a:r>
                      <a:endParaRPr sz="1300"/>
                    </a:p>
                  </a:txBody>
                  <a:tcPr marT="68575" marB="68575" marR="68575" marL="68575">
                    <a:solidFill>
                      <a:srgbClr val="FFF2CC"/>
                    </a:solidFill>
                  </a:tcPr>
                </a:tc>
                <a:tc>
                  <a:txBody>
                    <a:bodyPr/>
                    <a:lstStyle/>
                    <a:p>
                      <a:pPr indent="0" lvl="0" marL="0" rtl="0" algn="l">
                        <a:spcBef>
                          <a:spcPts val="0"/>
                        </a:spcBef>
                        <a:spcAft>
                          <a:spcPts val="0"/>
                        </a:spcAft>
                        <a:buNone/>
                      </a:pPr>
                      <a:r>
                        <a:t/>
                      </a:r>
                      <a:endParaRPr sz="1300"/>
                    </a:p>
                  </a:txBody>
                  <a:tcPr marT="68575" marB="68575" marR="68575" marL="68575"/>
                </a:tc>
                <a:tc>
                  <a:txBody>
                    <a:bodyPr/>
                    <a:lstStyle/>
                    <a:p>
                      <a:pPr indent="0" lvl="0" marL="0" rtl="0" algn="l">
                        <a:spcBef>
                          <a:spcPts val="0"/>
                        </a:spcBef>
                        <a:spcAft>
                          <a:spcPts val="0"/>
                        </a:spcAft>
                        <a:buNone/>
                      </a:pPr>
                      <a:r>
                        <a:t/>
                      </a:r>
                      <a:endParaRPr sz="1300"/>
                    </a:p>
                  </a:txBody>
                  <a:tcPr marT="68575" marB="68575" marR="68575" marL="68575"/>
                </a:tc>
                <a:tc>
                  <a:txBody>
                    <a:bodyPr/>
                    <a:lstStyle/>
                    <a:p>
                      <a:pPr indent="0" lvl="0" marL="0" rtl="0" algn="l">
                        <a:spcBef>
                          <a:spcPts val="0"/>
                        </a:spcBef>
                        <a:spcAft>
                          <a:spcPts val="0"/>
                        </a:spcAft>
                        <a:buNone/>
                      </a:pPr>
                      <a:r>
                        <a:t/>
                      </a:r>
                      <a:endParaRPr sz="1300"/>
                    </a:p>
                  </a:txBody>
                  <a:tcPr marT="68575" marB="68575" marR="68575" marL="68575"/>
                </a:tc>
              </a:tr>
              <a:tr h="424975">
                <a:tc>
                  <a:txBody>
                    <a:bodyPr/>
                    <a:lstStyle/>
                    <a:p>
                      <a:pPr indent="0" lvl="0" marL="0" rtl="0" algn="l">
                        <a:spcBef>
                          <a:spcPts val="0"/>
                        </a:spcBef>
                        <a:spcAft>
                          <a:spcPts val="0"/>
                        </a:spcAft>
                        <a:buNone/>
                      </a:pPr>
                      <a:r>
                        <a:rPr lang="en" sz="1300"/>
                        <a:t>0*10+1</a:t>
                      </a:r>
                      <a:endParaRPr sz="1300"/>
                    </a:p>
                  </a:txBody>
                  <a:tcPr marT="68575" marB="68575" marR="68575" marL="68575"/>
                </a:tc>
                <a:tc>
                  <a:txBody>
                    <a:bodyPr/>
                    <a:lstStyle/>
                    <a:p>
                      <a:pPr indent="0" lvl="0" marL="0" rtl="0" algn="l">
                        <a:spcBef>
                          <a:spcPts val="0"/>
                        </a:spcBef>
                        <a:spcAft>
                          <a:spcPts val="0"/>
                        </a:spcAft>
                        <a:buNone/>
                      </a:pPr>
                      <a:r>
                        <a:rPr lang="en" sz="1300"/>
                        <a:t>1</a:t>
                      </a:r>
                      <a:endParaRPr sz="1300"/>
                    </a:p>
                  </a:txBody>
                  <a:tcPr marT="68575" marB="68575" marR="68575" marL="68575">
                    <a:solidFill>
                      <a:srgbClr val="FFF2CC"/>
                    </a:solidFill>
                  </a:tcPr>
                </a:tc>
                <a:tc>
                  <a:txBody>
                    <a:bodyPr/>
                    <a:lstStyle/>
                    <a:p>
                      <a:pPr indent="0" lvl="0" marL="0" rtl="0" algn="l">
                        <a:spcBef>
                          <a:spcPts val="0"/>
                        </a:spcBef>
                        <a:spcAft>
                          <a:spcPts val="0"/>
                        </a:spcAft>
                        <a:buNone/>
                      </a:pPr>
                      <a:r>
                        <a:t/>
                      </a:r>
                      <a:endParaRPr sz="1300"/>
                    </a:p>
                  </a:txBody>
                  <a:tcPr marT="68575" marB="68575" marR="68575" marL="68575"/>
                </a:tc>
                <a:tc>
                  <a:txBody>
                    <a:bodyPr/>
                    <a:lstStyle/>
                    <a:p>
                      <a:pPr indent="0" lvl="0" marL="0" rtl="0" algn="l">
                        <a:spcBef>
                          <a:spcPts val="0"/>
                        </a:spcBef>
                        <a:spcAft>
                          <a:spcPts val="0"/>
                        </a:spcAft>
                        <a:buNone/>
                      </a:pPr>
                      <a:r>
                        <a:t/>
                      </a:r>
                      <a:endParaRPr sz="1300"/>
                    </a:p>
                  </a:txBody>
                  <a:tcPr marT="68575" marB="68575" marR="68575" marL="68575"/>
                </a:tc>
                <a:tc>
                  <a:txBody>
                    <a:bodyPr/>
                    <a:lstStyle/>
                    <a:p>
                      <a:pPr indent="0" lvl="0" marL="0" rtl="0" algn="l">
                        <a:spcBef>
                          <a:spcPts val="0"/>
                        </a:spcBef>
                        <a:spcAft>
                          <a:spcPts val="0"/>
                        </a:spcAft>
                        <a:buNone/>
                      </a:pPr>
                      <a:r>
                        <a:t/>
                      </a:r>
                      <a:endParaRPr sz="1300"/>
                    </a:p>
                  </a:txBody>
                  <a:tcPr marT="68575" marB="68575" marR="68575" marL="68575"/>
                </a:tc>
                <a:tc>
                  <a:txBody>
                    <a:bodyPr/>
                    <a:lstStyle/>
                    <a:p>
                      <a:pPr indent="0" lvl="0" marL="0" rtl="0" algn="l">
                        <a:spcBef>
                          <a:spcPts val="0"/>
                        </a:spcBef>
                        <a:spcAft>
                          <a:spcPts val="0"/>
                        </a:spcAft>
                        <a:buNone/>
                      </a:pPr>
                      <a:r>
                        <a:t/>
                      </a:r>
                      <a:endParaRPr sz="1300"/>
                    </a:p>
                  </a:txBody>
                  <a:tcPr marT="68575" marB="68575" marR="68575" marL="68575"/>
                </a:tc>
              </a:tr>
              <a:tr h="424975">
                <a:tc>
                  <a:txBody>
                    <a:bodyPr/>
                    <a:lstStyle/>
                    <a:p>
                      <a:pPr indent="0" lvl="0" marL="0" rtl="0" algn="l">
                        <a:spcBef>
                          <a:spcPts val="0"/>
                        </a:spcBef>
                        <a:spcAft>
                          <a:spcPts val="0"/>
                        </a:spcAft>
                        <a:buNone/>
                      </a:pPr>
                      <a:r>
                        <a:t/>
                      </a:r>
                      <a:endParaRPr sz="1300"/>
                    </a:p>
                  </a:txBody>
                  <a:tcPr marT="68575" marB="68575" marR="68575" marL="68575"/>
                </a:tc>
                <a:tc>
                  <a:txBody>
                    <a:bodyPr/>
                    <a:lstStyle/>
                    <a:p>
                      <a:pPr indent="0" lvl="0" marL="0" rtl="0" algn="l">
                        <a:spcBef>
                          <a:spcPts val="0"/>
                        </a:spcBef>
                        <a:spcAft>
                          <a:spcPts val="0"/>
                        </a:spcAft>
                        <a:buNone/>
                      </a:pPr>
                      <a:r>
                        <a:rPr lang="en" sz="1300"/>
                        <a:t>0</a:t>
                      </a:r>
                      <a:endParaRPr sz="1300"/>
                    </a:p>
                  </a:txBody>
                  <a:tcPr marT="68575" marB="68575" marR="68575" marL="68575"/>
                </a:tc>
                <a:tc>
                  <a:txBody>
                    <a:bodyPr/>
                    <a:lstStyle/>
                    <a:p>
                      <a:pPr indent="0" lvl="0" marL="0" rtl="0" algn="l">
                        <a:spcBef>
                          <a:spcPts val="0"/>
                        </a:spcBef>
                        <a:spcAft>
                          <a:spcPts val="0"/>
                        </a:spcAft>
                        <a:buNone/>
                      </a:pPr>
                      <a:r>
                        <a:t/>
                      </a:r>
                      <a:endParaRPr sz="1300"/>
                    </a:p>
                  </a:txBody>
                  <a:tcPr marT="68575" marB="68575" marR="68575" marL="68575"/>
                </a:tc>
                <a:tc>
                  <a:txBody>
                    <a:bodyPr/>
                    <a:lstStyle/>
                    <a:p>
                      <a:pPr indent="0" lvl="0" marL="0" rtl="0" algn="l">
                        <a:spcBef>
                          <a:spcPts val="0"/>
                        </a:spcBef>
                        <a:spcAft>
                          <a:spcPts val="0"/>
                        </a:spcAft>
                        <a:buNone/>
                      </a:pPr>
                      <a:r>
                        <a:t/>
                      </a:r>
                      <a:endParaRPr sz="1300"/>
                    </a:p>
                  </a:txBody>
                  <a:tcPr marT="68575" marB="68575" marR="68575" marL="68575"/>
                </a:tc>
                <a:tc>
                  <a:txBody>
                    <a:bodyPr/>
                    <a:lstStyle/>
                    <a:p>
                      <a:pPr indent="0" lvl="0" marL="0" rtl="0" algn="l">
                        <a:spcBef>
                          <a:spcPts val="0"/>
                        </a:spcBef>
                        <a:spcAft>
                          <a:spcPts val="0"/>
                        </a:spcAft>
                        <a:buNone/>
                      </a:pPr>
                      <a:r>
                        <a:t/>
                      </a:r>
                      <a:endParaRPr sz="1300"/>
                    </a:p>
                  </a:txBody>
                  <a:tcPr marT="68575" marB="68575" marR="68575" marL="68575"/>
                </a:tc>
                <a:tc>
                  <a:txBody>
                    <a:bodyPr/>
                    <a:lstStyle/>
                    <a:p>
                      <a:pPr indent="0" lvl="0" marL="0" rtl="0" algn="l">
                        <a:spcBef>
                          <a:spcPts val="0"/>
                        </a:spcBef>
                        <a:spcAft>
                          <a:spcPts val="0"/>
                        </a:spcAft>
                        <a:buNone/>
                      </a:pPr>
                      <a:r>
                        <a:t/>
                      </a:r>
                      <a:endParaRPr sz="1300"/>
                    </a:p>
                  </a:txBody>
                  <a:tcPr marT="68575" marB="68575" marR="68575" marL="68575"/>
                </a:tc>
              </a:tr>
            </a:tbl>
          </a:graphicData>
        </a:graphic>
      </p:graphicFrame>
      <p:cxnSp>
        <p:nvCxnSpPr>
          <p:cNvPr id="866" name="Google Shape;866;g283038813be_0_546"/>
          <p:cNvCxnSpPr/>
          <p:nvPr/>
        </p:nvCxnSpPr>
        <p:spPr>
          <a:xfrm flipH="1" rot="5400000">
            <a:off x="5394131" y="2631694"/>
            <a:ext cx="260700" cy="166800"/>
          </a:xfrm>
          <a:prstGeom prst="curvedConnector3">
            <a:avLst>
              <a:gd fmla="val 50000" name="adj1"/>
            </a:avLst>
          </a:prstGeom>
          <a:noFill/>
          <a:ln cap="flat" cmpd="sng" w="19050">
            <a:solidFill>
              <a:schemeClr val="dk2"/>
            </a:solidFill>
            <a:prstDash val="solid"/>
            <a:round/>
            <a:headEnd len="med" w="med" type="none"/>
            <a:tailEnd len="med" w="med" type="triangle"/>
          </a:ln>
        </p:spPr>
      </p:cxnSp>
      <p:cxnSp>
        <p:nvCxnSpPr>
          <p:cNvPr id="867" name="Google Shape;867;g283038813be_0_546"/>
          <p:cNvCxnSpPr/>
          <p:nvPr/>
        </p:nvCxnSpPr>
        <p:spPr>
          <a:xfrm flipH="1" rot="5400000">
            <a:off x="5451281" y="2174494"/>
            <a:ext cx="260700" cy="166800"/>
          </a:xfrm>
          <a:prstGeom prst="curvedConnector3">
            <a:avLst>
              <a:gd fmla="val 50000" name="adj1"/>
            </a:avLst>
          </a:prstGeom>
          <a:noFill/>
          <a:ln cap="flat" cmpd="sng" w="19050">
            <a:solidFill>
              <a:schemeClr val="dk2"/>
            </a:solidFill>
            <a:prstDash val="solid"/>
            <a:round/>
            <a:headEnd len="med" w="med" type="none"/>
            <a:tailEnd len="med" w="med" type="triangle"/>
          </a:ln>
        </p:spPr>
      </p:cxnSp>
      <p:cxnSp>
        <p:nvCxnSpPr>
          <p:cNvPr id="868" name="Google Shape;868;g283038813be_0_546"/>
          <p:cNvCxnSpPr/>
          <p:nvPr/>
        </p:nvCxnSpPr>
        <p:spPr>
          <a:xfrm flipH="1" rot="5400000">
            <a:off x="5451281" y="1774444"/>
            <a:ext cx="260700" cy="166800"/>
          </a:xfrm>
          <a:prstGeom prst="curvedConnector3">
            <a:avLst>
              <a:gd fmla="val 50000" name="adj1"/>
            </a:avLst>
          </a:prstGeom>
          <a:noFill/>
          <a:ln cap="flat" cmpd="sng" w="19050">
            <a:solidFill>
              <a:schemeClr val="dk2"/>
            </a:solidFill>
            <a:prstDash val="solid"/>
            <a:round/>
            <a:headEnd len="med" w="med" type="none"/>
            <a:tailEnd len="med" w="med" type="triangle"/>
          </a:ln>
        </p:spPr>
      </p:cxnSp>
      <p:cxnSp>
        <p:nvCxnSpPr>
          <p:cNvPr id="869" name="Google Shape;869;g283038813be_0_546"/>
          <p:cNvCxnSpPr/>
          <p:nvPr/>
        </p:nvCxnSpPr>
        <p:spPr>
          <a:xfrm flipH="1" rot="5400000">
            <a:off x="5451281" y="1431544"/>
            <a:ext cx="260700" cy="166800"/>
          </a:xfrm>
          <a:prstGeom prst="curvedConnector3">
            <a:avLst>
              <a:gd fmla="val 50000" name="adj1"/>
            </a:avLst>
          </a:prstGeom>
          <a:noFill/>
          <a:ln cap="flat" cmpd="sng" w="19050">
            <a:solidFill>
              <a:schemeClr val="dk2"/>
            </a:solidFill>
            <a:prstDash val="solid"/>
            <a:round/>
            <a:headEnd len="med" w="med" type="none"/>
            <a:tailEnd len="med" w="med" type="triangle"/>
          </a:ln>
        </p:spPr>
      </p:cxnSp>
      <p:cxnSp>
        <p:nvCxnSpPr>
          <p:cNvPr id="870" name="Google Shape;870;g283038813be_0_546"/>
          <p:cNvCxnSpPr/>
          <p:nvPr/>
        </p:nvCxnSpPr>
        <p:spPr>
          <a:xfrm flipH="1" rot="5400000">
            <a:off x="5394131" y="974344"/>
            <a:ext cx="260700" cy="166800"/>
          </a:xfrm>
          <a:prstGeom prst="curvedConnector3">
            <a:avLst>
              <a:gd fmla="val 50000" name="adj1"/>
            </a:avLst>
          </a:prstGeom>
          <a:noFill/>
          <a:ln cap="flat" cmpd="sng" w="19050">
            <a:solidFill>
              <a:schemeClr val="dk2"/>
            </a:solidFill>
            <a:prstDash val="solid"/>
            <a:round/>
            <a:headEnd len="med" w="med" type="none"/>
            <a:tailEnd len="med" w="med" type="triangle"/>
          </a:ln>
        </p:spPr>
      </p:cxnSp>
      <p:cxnSp>
        <p:nvCxnSpPr>
          <p:cNvPr id="871" name="Google Shape;871;g283038813be_0_546"/>
          <p:cNvCxnSpPr/>
          <p:nvPr/>
        </p:nvCxnSpPr>
        <p:spPr>
          <a:xfrm flipH="1" rot="5400000">
            <a:off x="3462525" y="1868944"/>
            <a:ext cx="2237100" cy="606900"/>
          </a:xfrm>
          <a:prstGeom prst="curvedConnector3">
            <a:avLst>
              <a:gd fmla="val 50000" name="adj1"/>
            </a:avLst>
          </a:prstGeom>
          <a:noFill/>
          <a:ln cap="flat" cmpd="sng" w="38100">
            <a:solidFill>
              <a:srgbClr val="FF9900"/>
            </a:solidFill>
            <a:prstDash val="solid"/>
            <a:round/>
            <a:headEnd len="med" w="med" type="none"/>
            <a:tailEnd len="med" w="med" type="stealth"/>
          </a:ln>
        </p:spPr>
      </p:cxnSp>
      <p:sp>
        <p:nvSpPr>
          <p:cNvPr id="872" name="Google Shape;872;g283038813be_0_546"/>
          <p:cNvSpPr txBox="1"/>
          <p:nvPr/>
        </p:nvSpPr>
        <p:spPr>
          <a:xfrm>
            <a:off x="4423613" y="3630713"/>
            <a:ext cx="3714000" cy="10620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b="1" lang="en" sz="1500">
                <a:solidFill>
                  <a:srgbClr val="4A86E8"/>
                </a:solidFill>
                <a:latin typeface="Calibri"/>
                <a:ea typeface="Calibri"/>
                <a:cs typeface="Calibri"/>
                <a:sym typeface="Calibri"/>
              </a:rPr>
              <a:t>Note that the code will  work for specific input like the example provided but not string like “123abc56”  as well as  string with no more 9 digits.</a:t>
            </a:r>
            <a:endParaRPr b="1" sz="1500">
              <a:solidFill>
                <a:srgbClr val="4A86E8"/>
              </a:solidFill>
              <a:latin typeface="Calibri"/>
              <a:ea typeface="Calibri"/>
              <a:cs typeface="Calibri"/>
              <a:sym typeface="Calibri"/>
            </a:endParaRPr>
          </a:p>
        </p:txBody>
      </p:sp>
      <p:sp>
        <p:nvSpPr>
          <p:cNvPr id="873" name="Google Shape;873;g283038813be_0_546"/>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g283038813be_0_945"/>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b="1" lang="en" sz="4200"/>
              <a:t>Exercises on Functions</a:t>
            </a:r>
            <a:endParaRPr b="1" sz="4200"/>
          </a:p>
        </p:txBody>
      </p:sp>
      <p:sp>
        <p:nvSpPr>
          <p:cNvPr id="879" name="Google Shape;879;g283038813be_0_945"/>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en" sz="3500"/>
              <a:t>Using Functions solve the problems in the below file.</a:t>
            </a:r>
            <a:endParaRPr sz="3500"/>
          </a:p>
          <a:p>
            <a:pPr indent="0" lvl="0" marL="0" rtl="0" algn="l">
              <a:spcBef>
                <a:spcPts val="800"/>
              </a:spcBef>
              <a:spcAft>
                <a:spcPts val="0"/>
              </a:spcAft>
              <a:buNone/>
            </a:pPr>
            <a:r>
              <a:t/>
            </a:r>
            <a:endParaRPr sz="3500"/>
          </a:p>
          <a:p>
            <a:pPr indent="0" lvl="0" marL="0" rtl="0" algn="l">
              <a:spcBef>
                <a:spcPts val="800"/>
              </a:spcBef>
              <a:spcAft>
                <a:spcPts val="0"/>
              </a:spcAft>
              <a:buNone/>
            </a:pPr>
            <a:r>
              <a:rPr b="1" lang="en" sz="3500"/>
              <a:t>https://shorturl.at/ACDPW</a:t>
            </a:r>
            <a:endParaRPr b="1" sz="3500"/>
          </a:p>
        </p:txBody>
      </p:sp>
      <p:sp>
        <p:nvSpPr>
          <p:cNvPr id="880" name="Google Shape;880;g283038813be_0_945"/>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g283038813be_0_627"/>
          <p:cNvSpPr txBox="1"/>
          <p:nvPr>
            <p:ph type="title"/>
          </p:nvPr>
        </p:nvSpPr>
        <p:spPr>
          <a:xfrm>
            <a:off x="311700" y="2150850"/>
            <a:ext cx="8520600" cy="114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Review of </a:t>
            </a:r>
            <a:r>
              <a:rPr b="1" lang="en"/>
              <a:t>Object Oriented Programming using C++</a:t>
            </a:r>
            <a:endParaRPr b="1"/>
          </a:p>
        </p:txBody>
      </p:sp>
      <p:sp>
        <p:nvSpPr>
          <p:cNvPr id="886" name="Google Shape;886;g283038813be_0_6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g283038813be_0_63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SzPts val="990"/>
              <a:buNone/>
            </a:pPr>
            <a:r>
              <a:rPr lang="en" sz="3020">
                <a:solidFill>
                  <a:srgbClr val="FF9900"/>
                </a:solidFill>
              </a:rPr>
              <a:t>Review</a:t>
            </a:r>
            <a:r>
              <a:rPr lang="en" sz="3020">
                <a:solidFill>
                  <a:srgbClr val="FF9900"/>
                </a:solidFill>
              </a:rPr>
              <a:t> of OOP </a:t>
            </a:r>
            <a:endParaRPr sz="3020">
              <a:solidFill>
                <a:srgbClr val="FF9900"/>
              </a:solidFill>
            </a:endParaRPr>
          </a:p>
        </p:txBody>
      </p:sp>
      <p:sp>
        <p:nvSpPr>
          <p:cNvPr id="892" name="Google Shape;892;g283038813be_0_632"/>
          <p:cNvSpPr txBox="1"/>
          <p:nvPr>
            <p:ph idx="1" type="body"/>
          </p:nvPr>
        </p:nvSpPr>
        <p:spPr>
          <a:xfrm>
            <a:off x="311700" y="636725"/>
            <a:ext cx="8520600" cy="4344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sz="2000"/>
              <a:t>OOP(Object Oriented Programming)</a:t>
            </a:r>
            <a:r>
              <a:rPr lang="en" sz="2000"/>
              <a:t> is a programming style that involves class and object. An object is a basic entity that possess some properties and functions. In real world, we are surrounded with Objects.</a:t>
            </a:r>
            <a:endParaRPr sz="2000"/>
          </a:p>
          <a:p>
            <a:pPr indent="0" lvl="0" marL="0" rtl="0" algn="just">
              <a:spcBef>
                <a:spcPts val="0"/>
              </a:spcBef>
              <a:spcAft>
                <a:spcPts val="0"/>
              </a:spcAft>
              <a:buNone/>
            </a:pPr>
            <a:r>
              <a:rPr lang="en" sz="2000"/>
              <a:t> For example laptop is an object, chair is an object, table is an object. </a:t>
            </a:r>
            <a:endParaRPr sz="2000"/>
          </a:p>
          <a:p>
            <a:pPr indent="0" lvl="0" marL="0" rtl="0" algn="just">
              <a:spcBef>
                <a:spcPts val="0"/>
              </a:spcBef>
              <a:spcAft>
                <a:spcPts val="0"/>
              </a:spcAft>
              <a:buNone/>
            </a:pPr>
            <a:r>
              <a:rPr lang="en" sz="2000"/>
              <a:t>We wants to involve object in our code because we want our code to be close to the real world.  </a:t>
            </a:r>
            <a:endParaRPr sz="2000"/>
          </a:p>
          <a:p>
            <a:pPr indent="0" lvl="0" marL="0" rtl="0" algn="just">
              <a:spcBef>
                <a:spcPts val="0"/>
              </a:spcBef>
              <a:spcAft>
                <a:spcPts val="0"/>
              </a:spcAft>
              <a:buNone/>
            </a:pPr>
            <a:r>
              <a:rPr lang="en" sz="2000"/>
              <a:t> </a:t>
            </a:r>
            <a:r>
              <a:rPr b="1" lang="en" sz="2000"/>
              <a:t>Object-oriented programming </a:t>
            </a:r>
            <a:r>
              <a:rPr lang="en" sz="2000"/>
              <a:t>aims to implement real-world entities like inheritance, hiding, polymorphism,abstraction. </a:t>
            </a:r>
            <a:r>
              <a:rPr lang="en" sz="2000">
                <a:solidFill>
                  <a:srgbClr val="273239"/>
                </a:solidFill>
                <a:highlight>
                  <a:srgbClr val="FFFFFF"/>
                </a:highlight>
              </a:rPr>
              <a:t>The main aim of OOP is to bind together the data and the functions that operate on them so that no other part of the code can access this data except that function.</a:t>
            </a:r>
            <a:endParaRPr sz="2000"/>
          </a:p>
        </p:txBody>
      </p:sp>
      <p:sp>
        <p:nvSpPr>
          <p:cNvPr id="893" name="Google Shape;893;g283038813be_0_63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g283038813be_0_637"/>
          <p:cNvSpPr txBox="1"/>
          <p:nvPr>
            <p:ph type="title"/>
          </p:nvPr>
        </p:nvSpPr>
        <p:spPr>
          <a:xfrm>
            <a:off x="150375" y="1318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9900"/>
                </a:solidFill>
              </a:rPr>
              <a:t>A class</a:t>
            </a:r>
            <a:endParaRPr>
              <a:solidFill>
                <a:srgbClr val="FF9900"/>
              </a:solidFill>
            </a:endParaRPr>
          </a:p>
        </p:txBody>
      </p:sp>
      <p:sp>
        <p:nvSpPr>
          <p:cNvPr id="899" name="Google Shape;899;g283038813be_0_637"/>
          <p:cNvSpPr txBox="1"/>
          <p:nvPr>
            <p:ph idx="1" type="body"/>
          </p:nvPr>
        </p:nvSpPr>
        <p:spPr>
          <a:xfrm>
            <a:off x="311700" y="692475"/>
            <a:ext cx="8520600" cy="42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A  class is a user-defined type which holds its own data members and member functions, which can be accessed and used by creating an instance of that class.  A class is defined also as  blueprint or a </a:t>
            </a:r>
            <a:r>
              <a:rPr b="1" lang="en" sz="1600"/>
              <a:t>template</a:t>
            </a:r>
            <a:r>
              <a:rPr lang="en" sz="1600"/>
              <a:t> for </a:t>
            </a:r>
            <a:r>
              <a:rPr b="1" lang="en" sz="1600"/>
              <a:t>creating object.</a:t>
            </a:r>
            <a:endParaRPr b="1" sz="1600"/>
          </a:p>
          <a:p>
            <a:pPr indent="0" lvl="0" marL="0" rtl="0" algn="l">
              <a:spcBef>
                <a:spcPts val="0"/>
              </a:spcBef>
              <a:spcAft>
                <a:spcPts val="0"/>
              </a:spcAft>
              <a:buClr>
                <a:schemeClr val="dk1"/>
              </a:buClr>
              <a:buSzPts val="1100"/>
              <a:buFont typeface="Arial"/>
              <a:buNone/>
            </a:pPr>
            <a:r>
              <a:rPr lang="en" sz="1600"/>
              <a:t>It is composed of built  in types, other user defined types and functions.  The parts used to define class are called members. A class has zero or more members. For example</a:t>
            </a:r>
            <a:endParaRPr sz="1600"/>
          </a:p>
          <a:p>
            <a:pPr indent="0" lvl="0" marL="0" rtl="0" algn="l">
              <a:spcBef>
                <a:spcPts val="0"/>
              </a:spcBef>
              <a:spcAft>
                <a:spcPts val="0"/>
              </a:spcAft>
              <a:buNone/>
            </a:pPr>
            <a:r>
              <a:rPr lang="en" sz="1600">
                <a:solidFill>
                  <a:srgbClr val="4A86E8"/>
                </a:solidFill>
              </a:rPr>
              <a:t>class X{</a:t>
            </a:r>
            <a:endParaRPr sz="1600">
              <a:solidFill>
                <a:srgbClr val="4A86E8"/>
              </a:solidFill>
            </a:endParaRPr>
          </a:p>
          <a:p>
            <a:pPr indent="0" lvl="0" marL="0" rtl="0" algn="l">
              <a:spcBef>
                <a:spcPts val="0"/>
              </a:spcBef>
              <a:spcAft>
                <a:spcPts val="0"/>
              </a:spcAft>
              <a:buClr>
                <a:schemeClr val="dk1"/>
              </a:buClr>
              <a:buSzPts val="1100"/>
              <a:buFont typeface="Arial"/>
              <a:buNone/>
            </a:pPr>
            <a:r>
              <a:rPr lang="en" sz="1600">
                <a:solidFill>
                  <a:srgbClr val="4A86E8"/>
                </a:solidFill>
              </a:rPr>
              <a:t>public:</a:t>
            </a:r>
            <a:endParaRPr sz="1600">
              <a:solidFill>
                <a:srgbClr val="4A86E8"/>
              </a:solidFill>
            </a:endParaRPr>
          </a:p>
          <a:p>
            <a:pPr indent="0" lvl="0" marL="0" rtl="0" algn="l">
              <a:spcBef>
                <a:spcPts val="0"/>
              </a:spcBef>
              <a:spcAft>
                <a:spcPts val="0"/>
              </a:spcAft>
              <a:buClr>
                <a:schemeClr val="dk1"/>
              </a:buClr>
              <a:buSzPts val="1100"/>
              <a:buFont typeface="Arial"/>
              <a:buNone/>
            </a:pPr>
            <a:r>
              <a:rPr lang="en" sz="1600">
                <a:solidFill>
                  <a:srgbClr val="4A86E8"/>
                </a:solidFill>
              </a:rPr>
              <a:t>Int m; // </a:t>
            </a:r>
            <a:r>
              <a:rPr i="1" lang="en" sz="1600">
                <a:solidFill>
                  <a:srgbClr val="4A86E8"/>
                </a:solidFill>
              </a:rPr>
              <a:t>data member</a:t>
            </a:r>
            <a:endParaRPr i="1" sz="1600">
              <a:solidFill>
                <a:srgbClr val="4A86E8"/>
              </a:solidFill>
            </a:endParaRPr>
          </a:p>
          <a:p>
            <a:pPr indent="0" lvl="0" marL="0" rtl="0" algn="l">
              <a:spcBef>
                <a:spcPts val="0"/>
              </a:spcBef>
              <a:spcAft>
                <a:spcPts val="0"/>
              </a:spcAft>
              <a:buNone/>
            </a:pPr>
            <a:r>
              <a:rPr lang="en" sz="1600">
                <a:solidFill>
                  <a:srgbClr val="4A86E8"/>
                </a:solidFill>
              </a:rPr>
              <a:t>Int mf(int v){ // </a:t>
            </a:r>
            <a:r>
              <a:rPr i="1" lang="en" sz="1600">
                <a:solidFill>
                  <a:srgbClr val="4A86E8"/>
                </a:solidFill>
              </a:rPr>
              <a:t>function member</a:t>
            </a:r>
            <a:endParaRPr i="1" sz="1600">
              <a:solidFill>
                <a:srgbClr val="4A86E8"/>
              </a:solidFill>
            </a:endParaRPr>
          </a:p>
          <a:p>
            <a:pPr indent="0" lvl="0" marL="0" rtl="0" algn="l">
              <a:spcBef>
                <a:spcPts val="0"/>
              </a:spcBef>
              <a:spcAft>
                <a:spcPts val="0"/>
              </a:spcAft>
              <a:buNone/>
            </a:pPr>
            <a:r>
              <a:rPr lang="en" sz="1600">
                <a:solidFill>
                  <a:srgbClr val="4A86E8"/>
                </a:solidFill>
              </a:rPr>
              <a:t>Int  d=m;</a:t>
            </a:r>
            <a:endParaRPr sz="1600">
              <a:solidFill>
                <a:srgbClr val="4A86E8"/>
              </a:solidFill>
            </a:endParaRPr>
          </a:p>
          <a:p>
            <a:pPr indent="0" lvl="0" marL="0" rtl="0" algn="l">
              <a:spcBef>
                <a:spcPts val="0"/>
              </a:spcBef>
              <a:spcAft>
                <a:spcPts val="0"/>
              </a:spcAft>
              <a:buNone/>
            </a:pPr>
            <a:r>
              <a:rPr lang="en" sz="1600">
                <a:solidFill>
                  <a:srgbClr val="4A86E8"/>
                </a:solidFill>
              </a:rPr>
              <a:t>m=v;</a:t>
            </a:r>
            <a:endParaRPr sz="1600">
              <a:solidFill>
                <a:srgbClr val="4A86E8"/>
              </a:solidFill>
            </a:endParaRPr>
          </a:p>
          <a:p>
            <a:pPr indent="0" lvl="0" marL="0" rtl="0" algn="l">
              <a:spcBef>
                <a:spcPts val="0"/>
              </a:spcBef>
              <a:spcAft>
                <a:spcPts val="0"/>
              </a:spcAft>
              <a:buClr>
                <a:schemeClr val="dk1"/>
              </a:buClr>
              <a:buSzPts val="1100"/>
              <a:buFont typeface="Arial"/>
              <a:buNone/>
            </a:pPr>
            <a:r>
              <a:rPr lang="en" sz="1600">
                <a:solidFill>
                  <a:srgbClr val="4A86E8"/>
                </a:solidFill>
              </a:rPr>
              <a:t>return d;</a:t>
            </a:r>
            <a:endParaRPr sz="1600">
              <a:solidFill>
                <a:srgbClr val="4A86E8"/>
              </a:solidFill>
            </a:endParaRPr>
          </a:p>
          <a:p>
            <a:pPr indent="0" lvl="0" marL="0" rtl="0" algn="l">
              <a:spcBef>
                <a:spcPts val="0"/>
              </a:spcBef>
              <a:spcAft>
                <a:spcPts val="0"/>
              </a:spcAft>
              <a:buNone/>
            </a:pPr>
            <a:r>
              <a:rPr lang="en" sz="1600">
                <a:solidFill>
                  <a:srgbClr val="4A86E8"/>
                </a:solidFill>
              </a:rPr>
              <a:t>};</a:t>
            </a:r>
            <a:endParaRPr sz="1600">
              <a:solidFill>
                <a:srgbClr val="4A86E8"/>
              </a:solidFill>
            </a:endParaRPr>
          </a:p>
        </p:txBody>
      </p:sp>
      <p:sp>
        <p:nvSpPr>
          <p:cNvPr id="900" name="Google Shape;900;g283038813be_0_637"/>
          <p:cNvSpPr txBox="1"/>
          <p:nvPr/>
        </p:nvSpPr>
        <p:spPr>
          <a:xfrm>
            <a:off x="4425925" y="2210575"/>
            <a:ext cx="4668900" cy="1923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200">
                <a:solidFill>
                  <a:srgbClr val="273239"/>
                </a:solidFill>
                <a:highlight>
                  <a:srgbClr val="FFFFFF"/>
                </a:highlight>
              </a:rPr>
              <a:t>Members are</a:t>
            </a:r>
            <a:r>
              <a:rPr b="1" lang="en" sz="1200">
                <a:solidFill>
                  <a:srgbClr val="273239"/>
                </a:solidFill>
                <a:highlight>
                  <a:srgbClr val="FFFFFF"/>
                </a:highlight>
              </a:rPr>
              <a:t> data members and member Functions</a:t>
            </a:r>
            <a:r>
              <a:rPr lang="en" sz="1200">
                <a:solidFill>
                  <a:srgbClr val="273239"/>
                </a:solidFill>
                <a:highlight>
                  <a:srgbClr val="FFFFFF"/>
                </a:highlight>
              </a:rPr>
              <a:t>. Data members are the data variables and member functions are the functions used to manipulate these variables and together these data members and member functions define the properties and behaviour of the objects in a Class.</a:t>
            </a:r>
            <a:r>
              <a:rPr lang="en" sz="1300"/>
              <a:t>. We access members using </a:t>
            </a:r>
            <a:r>
              <a:rPr b="1" lang="en" sz="1300"/>
              <a:t>object.member</a:t>
            </a:r>
            <a:r>
              <a:rPr lang="en" sz="1300"/>
              <a:t> notation. For example:</a:t>
            </a:r>
            <a:endParaRPr sz="1300"/>
          </a:p>
          <a:p>
            <a:pPr indent="0" lvl="0" marL="0" rtl="0" algn="l">
              <a:spcBef>
                <a:spcPts val="0"/>
              </a:spcBef>
              <a:spcAft>
                <a:spcPts val="0"/>
              </a:spcAft>
              <a:buNone/>
            </a:pPr>
            <a:r>
              <a:rPr lang="en" sz="1300">
                <a:solidFill>
                  <a:srgbClr val="4A86E8"/>
                </a:solidFill>
              </a:rPr>
              <a:t>X var; </a:t>
            </a:r>
            <a:r>
              <a:rPr i="1" lang="en" sz="1300">
                <a:solidFill>
                  <a:srgbClr val="4A86E8"/>
                </a:solidFill>
              </a:rPr>
              <a:t>//var is a variable of type x</a:t>
            </a:r>
            <a:endParaRPr i="1" sz="1300">
              <a:solidFill>
                <a:srgbClr val="4A86E8"/>
              </a:solidFill>
            </a:endParaRPr>
          </a:p>
          <a:p>
            <a:pPr indent="0" lvl="0" marL="0" rtl="0" algn="l">
              <a:spcBef>
                <a:spcPts val="0"/>
              </a:spcBef>
              <a:spcAft>
                <a:spcPts val="0"/>
              </a:spcAft>
              <a:buNone/>
            </a:pPr>
            <a:r>
              <a:rPr lang="en" sz="1300">
                <a:solidFill>
                  <a:srgbClr val="4A86E8"/>
                </a:solidFill>
              </a:rPr>
              <a:t>var.m=7;</a:t>
            </a:r>
            <a:r>
              <a:rPr i="1" lang="en" sz="1300">
                <a:solidFill>
                  <a:srgbClr val="4A86E8"/>
                </a:solidFill>
              </a:rPr>
              <a:t> //assign to var’s data member to m</a:t>
            </a:r>
            <a:endParaRPr i="1" sz="1300">
              <a:solidFill>
                <a:srgbClr val="4A86E8"/>
              </a:solidFill>
            </a:endParaRPr>
          </a:p>
          <a:p>
            <a:pPr indent="0" lvl="0" marL="0" rtl="0" algn="l">
              <a:spcBef>
                <a:spcPts val="0"/>
              </a:spcBef>
              <a:spcAft>
                <a:spcPts val="0"/>
              </a:spcAft>
              <a:buNone/>
            </a:pPr>
            <a:r>
              <a:rPr lang="en" sz="1300">
                <a:solidFill>
                  <a:srgbClr val="4A86E8"/>
                </a:solidFill>
              </a:rPr>
              <a:t>Int x=var.mf(9);</a:t>
            </a:r>
            <a:r>
              <a:rPr i="1" lang="en" sz="1300">
                <a:solidFill>
                  <a:srgbClr val="4A86E8"/>
                </a:solidFill>
              </a:rPr>
              <a:t>// call var’s member function mf()</a:t>
            </a:r>
            <a:endParaRPr i="1" sz="1300">
              <a:solidFill>
                <a:srgbClr val="4A86E8"/>
              </a:solidFill>
            </a:endParaRPr>
          </a:p>
        </p:txBody>
      </p:sp>
      <p:sp>
        <p:nvSpPr>
          <p:cNvPr id="901" name="Google Shape;901;g283038813be_0_637"/>
          <p:cNvSpPr txBox="1"/>
          <p:nvPr/>
        </p:nvSpPr>
        <p:spPr>
          <a:xfrm>
            <a:off x="2315525" y="4146225"/>
            <a:ext cx="6567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You can read </a:t>
            </a:r>
            <a:r>
              <a:rPr b="1" lang="en"/>
              <a:t>var.m </a:t>
            </a:r>
            <a:r>
              <a:rPr lang="en"/>
              <a:t>as</a:t>
            </a:r>
            <a:r>
              <a:rPr b="1" lang="en"/>
              <a:t> var’s m. </a:t>
            </a:r>
            <a:r>
              <a:rPr lang="en"/>
              <a:t>Most people pronounce var dot m or var’s m. A member function  </a:t>
            </a:r>
            <a:r>
              <a:rPr b="1" lang="en"/>
              <a:t>X’s mf() </a:t>
            </a:r>
            <a:r>
              <a:rPr lang="en"/>
              <a:t>does not need to use  the var.m notation, It can use the plain member m as per previous definition int mf(int v){int d=</a:t>
            </a:r>
            <a:r>
              <a:rPr b="1" lang="en"/>
              <a:t>m</a:t>
            </a:r>
            <a:r>
              <a:rPr lang="en"/>
              <a:t>;..}</a:t>
            </a:r>
            <a:endParaRPr/>
          </a:p>
        </p:txBody>
      </p:sp>
      <p:sp>
        <p:nvSpPr>
          <p:cNvPr id="902" name="Google Shape;902;g283038813be_0_63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g283038813be_0_64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Defining a class</a:t>
            </a:r>
            <a:endParaRPr/>
          </a:p>
        </p:txBody>
      </p:sp>
      <p:sp>
        <p:nvSpPr>
          <p:cNvPr id="908" name="Google Shape;908;g283038813be_0_644"/>
          <p:cNvSpPr txBox="1"/>
          <p:nvPr>
            <p:ph idx="1" type="body"/>
          </p:nvPr>
        </p:nvSpPr>
        <p:spPr>
          <a:xfrm>
            <a:off x="311700" y="573825"/>
            <a:ext cx="2766000" cy="2900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100">
                <a:solidFill>
                  <a:schemeClr val="dk1"/>
                </a:solidFill>
                <a:highlight>
                  <a:srgbClr val="FFFFFF"/>
                </a:highlight>
                <a:latin typeface="Roboto"/>
                <a:ea typeface="Roboto"/>
                <a:cs typeface="Roboto"/>
                <a:sym typeface="Roboto"/>
              </a:rPr>
              <a:t>Classes are defined using either keyword </a:t>
            </a:r>
            <a:r>
              <a:rPr b="1" lang="en" sz="1100">
                <a:solidFill>
                  <a:schemeClr val="dk1"/>
                </a:solidFill>
                <a:highlight>
                  <a:srgbClr val="FFFFFF"/>
                </a:highlight>
                <a:latin typeface="Courier New"/>
                <a:ea typeface="Courier New"/>
                <a:cs typeface="Courier New"/>
                <a:sym typeface="Courier New"/>
              </a:rPr>
              <a:t>class</a:t>
            </a:r>
            <a:r>
              <a:rPr b="1" lang="en" sz="1100">
                <a:solidFill>
                  <a:schemeClr val="dk1"/>
                </a:solidFill>
                <a:highlight>
                  <a:srgbClr val="FFFFFF"/>
                </a:highlight>
                <a:latin typeface="Roboto"/>
                <a:ea typeface="Roboto"/>
                <a:cs typeface="Roboto"/>
                <a:sym typeface="Roboto"/>
              </a:rPr>
              <a:t> or keyword </a:t>
            </a:r>
            <a:r>
              <a:rPr b="1" lang="en" sz="1100">
                <a:solidFill>
                  <a:schemeClr val="dk1"/>
                </a:solidFill>
                <a:highlight>
                  <a:srgbClr val="FFFFFF"/>
                </a:highlight>
                <a:latin typeface="Courier New"/>
                <a:ea typeface="Courier New"/>
                <a:cs typeface="Courier New"/>
                <a:sym typeface="Courier New"/>
              </a:rPr>
              <a:t>struct</a:t>
            </a:r>
            <a:r>
              <a:rPr b="1" lang="en" sz="1100">
                <a:solidFill>
                  <a:schemeClr val="dk1"/>
                </a:solidFill>
                <a:highlight>
                  <a:srgbClr val="FFFFFF"/>
                </a:highlight>
                <a:latin typeface="Roboto"/>
                <a:ea typeface="Roboto"/>
                <a:cs typeface="Roboto"/>
                <a:sym typeface="Roboto"/>
              </a:rPr>
              <a:t>, </a:t>
            </a:r>
            <a:endParaRPr b="1" sz="1100">
              <a:solidFill>
                <a:schemeClr val="dk1"/>
              </a:solidFill>
              <a:highlight>
                <a:srgbClr val="FFFFFF"/>
              </a:highlight>
              <a:latin typeface="Roboto"/>
              <a:ea typeface="Roboto"/>
              <a:cs typeface="Roboto"/>
              <a:sym typeface="Roboto"/>
            </a:endParaRPr>
          </a:p>
          <a:p>
            <a:pPr indent="0" lvl="0" marL="0" rtl="0" algn="l">
              <a:lnSpc>
                <a:spcPct val="100000"/>
              </a:lnSpc>
              <a:spcBef>
                <a:spcPts val="0"/>
              </a:spcBef>
              <a:spcAft>
                <a:spcPts val="0"/>
              </a:spcAft>
              <a:buNone/>
            </a:pPr>
            <a:r>
              <a:rPr b="1" lang="en" sz="1100">
                <a:solidFill>
                  <a:schemeClr val="dk1"/>
                </a:solidFill>
                <a:highlight>
                  <a:srgbClr val="FFFFFF"/>
                </a:highlight>
                <a:latin typeface="Roboto"/>
                <a:ea typeface="Roboto"/>
                <a:cs typeface="Roboto"/>
                <a:sym typeface="Roboto"/>
              </a:rPr>
              <a:t>with the following syntax:</a:t>
            </a:r>
            <a:endParaRPr b="1" sz="1100">
              <a:solidFill>
                <a:schemeClr val="dk1"/>
              </a:solidFill>
              <a:highlight>
                <a:srgbClr val="FFFFFF"/>
              </a:highlight>
              <a:latin typeface="Roboto"/>
              <a:ea typeface="Roboto"/>
              <a:cs typeface="Roboto"/>
              <a:sym typeface="Roboto"/>
            </a:endParaRPr>
          </a:p>
          <a:p>
            <a:pPr indent="0" lvl="0" marL="0" rtl="0" algn="l">
              <a:lnSpc>
                <a:spcPct val="100000"/>
              </a:lnSpc>
              <a:spcBef>
                <a:spcPts val="0"/>
              </a:spcBef>
              <a:spcAft>
                <a:spcPts val="0"/>
              </a:spcAft>
              <a:buNone/>
            </a:pPr>
            <a:r>
              <a:rPr lang="en" sz="1500">
                <a:solidFill>
                  <a:srgbClr val="4A86E8"/>
                </a:solidFill>
                <a:latin typeface="Courier New"/>
                <a:ea typeface="Courier New"/>
                <a:cs typeface="Courier New"/>
                <a:sym typeface="Courier New"/>
              </a:rPr>
              <a:t>class class_name {</a:t>
            </a:r>
            <a:endParaRPr sz="1500">
              <a:solidFill>
                <a:srgbClr val="4A86E8"/>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500">
                <a:solidFill>
                  <a:srgbClr val="4A86E8"/>
                </a:solidFill>
                <a:latin typeface="Courier New"/>
                <a:ea typeface="Courier New"/>
                <a:cs typeface="Courier New"/>
                <a:sym typeface="Courier New"/>
              </a:rPr>
              <a:t>  access_specifier_1:</a:t>
            </a:r>
            <a:endParaRPr sz="1500">
              <a:solidFill>
                <a:srgbClr val="4A86E8"/>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500">
                <a:solidFill>
                  <a:srgbClr val="4A86E8"/>
                </a:solidFill>
                <a:latin typeface="Courier New"/>
                <a:ea typeface="Courier New"/>
                <a:cs typeface="Courier New"/>
                <a:sym typeface="Courier New"/>
              </a:rPr>
              <a:t>    member1;</a:t>
            </a:r>
            <a:endParaRPr sz="1500">
              <a:solidFill>
                <a:srgbClr val="4A86E8"/>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500">
                <a:solidFill>
                  <a:srgbClr val="4A86E8"/>
                </a:solidFill>
                <a:latin typeface="Courier New"/>
                <a:ea typeface="Courier New"/>
                <a:cs typeface="Courier New"/>
                <a:sym typeface="Courier New"/>
              </a:rPr>
              <a:t>  access_specifier_2:</a:t>
            </a:r>
            <a:endParaRPr sz="1500">
              <a:solidFill>
                <a:srgbClr val="4A86E8"/>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500">
                <a:solidFill>
                  <a:srgbClr val="4A86E8"/>
                </a:solidFill>
                <a:latin typeface="Courier New"/>
                <a:ea typeface="Courier New"/>
                <a:cs typeface="Courier New"/>
                <a:sym typeface="Courier New"/>
              </a:rPr>
              <a:t>    member2;</a:t>
            </a:r>
            <a:endParaRPr sz="1500">
              <a:solidFill>
                <a:srgbClr val="4A86E8"/>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500">
                <a:solidFill>
                  <a:srgbClr val="4A86E8"/>
                </a:solidFill>
                <a:latin typeface="Courier New"/>
                <a:ea typeface="Courier New"/>
                <a:cs typeface="Courier New"/>
                <a:sym typeface="Courier New"/>
              </a:rPr>
              <a:t>  ...</a:t>
            </a:r>
            <a:endParaRPr sz="1500">
              <a:solidFill>
                <a:srgbClr val="4A86E8"/>
              </a:solidFill>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lang="en" sz="1500">
                <a:solidFill>
                  <a:srgbClr val="4A86E8"/>
                </a:solidFill>
                <a:latin typeface="Courier New"/>
                <a:ea typeface="Courier New"/>
                <a:cs typeface="Courier New"/>
                <a:sym typeface="Courier New"/>
              </a:rPr>
              <a:t>} object_names;</a:t>
            </a:r>
            <a:endParaRPr sz="1500">
              <a:solidFill>
                <a:srgbClr val="4A86E8"/>
              </a:solidFill>
              <a:latin typeface="Courier New"/>
              <a:ea typeface="Courier New"/>
              <a:cs typeface="Courier New"/>
              <a:sym typeface="Courier New"/>
            </a:endParaRPr>
          </a:p>
          <a:p>
            <a:pPr indent="0" lvl="0" marL="0" rtl="0" algn="l">
              <a:spcBef>
                <a:spcPts val="0"/>
              </a:spcBef>
              <a:spcAft>
                <a:spcPts val="0"/>
              </a:spcAft>
              <a:buNone/>
            </a:pPr>
            <a:r>
              <a:t/>
            </a:r>
            <a:endParaRPr sz="1100">
              <a:solidFill>
                <a:schemeClr val="dk1"/>
              </a:solidFill>
              <a:highlight>
                <a:srgbClr val="FFFFFF"/>
              </a:highlight>
              <a:latin typeface="Roboto"/>
              <a:ea typeface="Roboto"/>
              <a:cs typeface="Roboto"/>
              <a:sym typeface="Roboto"/>
            </a:endParaRPr>
          </a:p>
        </p:txBody>
      </p:sp>
      <p:sp>
        <p:nvSpPr>
          <p:cNvPr id="909" name="Google Shape;909;g283038813be_0_644"/>
          <p:cNvSpPr txBox="1"/>
          <p:nvPr/>
        </p:nvSpPr>
        <p:spPr>
          <a:xfrm>
            <a:off x="3213375" y="215325"/>
            <a:ext cx="5362500" cy="339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100">
                <a:solidFill>
                  <a:schemeClr val="dk1"/>
                </a:solidFill>
                <a:highlight>
                  <a:srgbClr val="FFFFFF"/>
                </a:highlight>
                <a:latin typeface="Roboto"/>
                <a:ea typeface="Roboto"/>
                <a:cs typeface="Roboto"/>
                <a:sym typeface="Roboto"/>
              </a:rPr>
              <a:t>Where </a:t>
            </a:r>
            <a:r>
              <a:rPr b="1" lang="en" sz="1100">
                <a:solidFill>
                  <a:schemeClr val="dk1"/>
                </a:solidFill>
                <a:highlight>
                  <a:srgbClr val="FFFFFF"/>
                </a:highlight>
                <a:latin typeface="Courier New"/>
                <a:ea typeface="Courier New"/>
                <a:cs typeface="Courier New"/>
                <a:sym typeface="Courier New"/>
              </a:rPr>
              <a:t>class_name</a:t>
            </a:r>
            <a:r>
              <a:rPr b="1" lang="en" sz="1100">
                <a:solidFill>
                  <a:schemeClr val="dk1"/>
                </a:solidFill>
                <a:highlight>
                  <a:srgbClr val="FFFFFF"/>
                </a:highlight>
                <a:latin typeface="Roboto"/>
                <a:ea typeface="Roboto"/>
                <a:cs typeface="Roboto"/>
                <a:sym typeface="Roboto"/>
              </a:rPr>
              <a:t> </a:t>
            </a:r>
            <a:r>
              <a:rPr lang="en" sz="1100">
                <a:solidFill>
                  <a:schemeClr val="dk1"/>
                </a:solidFill>
                <a:highlight>
                  <a:srgbClr val="FFFFFF"/>
                </a:highlight>
                <a:latin typeface="Roboto"/>
                <a:ea typeface="Roboto"/>
                <a:cs typeface="Roboto"/>
                <a:sym typeface="Roboto"/>
              </a:rPr>
              <a:t>is a valid identifier for the class, </a:t>
            </a:r>
            <a:r>
              <a:rPr b="1" lang="en" sz="1100">
                <a:solidFill>
                  <a:schemeClr val="dk1"/>
                </a:solidFill>
                <a:highlight>
                  <a:srgbClr val="FFFFFF"/>
                </a:highlight>
                <a:latin typeface="Courier New"/>
                <a:ea typeface="Courier New"/>
                <a:cs typeface="Courier New"/>
                <a:sym typeface="Courier New"/>
              </a:rPr>
              <a:t>object_names</a:t>
            </a:r>
            <a:r>
              <a:rPr lang="en" sz="1100">
                <a:solidFill>
                  <a:schemeClr val="dk1"/>
                </a:solidFill>
                <a:highlight>
                  <a:srgbClr val="FFFFFF"/>
                </a:highlight>
                <a:latin typeface="Roboto"/>
                <a:ea typeface="Roboto"/>
                <a:cs typeface="Roboto"/>
                <a:sym typeface="Roboto"/>
              </a:rPr>
              <a:t> is an optional list of names for objects of this class. The body of the declaration can contain </a:t>
            </a:r>
            <a:r>
              <a:rPr b="1" i="1" lang="en" sz="1100">
                <a:solidFill>
                  <a:schemeClr val="dk1"/>
                </a:solidFill>
                <a:highlight>
                  <a:srgbClr val="FFFFFF"/>
                </a:highlight>
                <a:latin typeface="Roboto"/>
                <a:ea typeface="Roboto"/>
                <a:cs typeface="Roboto"/>
                <a:sym typeface="Roboto"/>
              </a:rPr>
              <a:t>members</a:t>
            </a:r>
            <a:r>
              <a:rPr lang="en" sz="1100">
                <a:solidFill>
                  <a:schemeClr val="dk1"/>
                </a:solidFill>
                <a:highlight>
                  <a:srgbClr val="FFFFFF"/>
                </a:highlight>
                <a:latin typeface="Roboto"/>
                <a:ea typeface="Roboto"/>
                <a:cs typeface="Roboto"/>
                <a:sym typeface="Roboto"/>
              </a:rPr>
              <a:t>, which can either be </a:t>
            </a:r>
            <a:r>
              <a:rPr b="1" lang="en" sz="1100">
                <a:solidFill>
                  <a:schemeClr val="dk1"/>
                </a:solidFill>
                <a:highlight>
                  <a:srgbClr val="FFFFFF"/>
                </a:highlight>
                <a:latin typeface="Roboto"/>
                <a:ea typeface="Roboto"/>
                <a:cs typeface="Roboto"/>
                <a:sym typeface="Roboto"/>
              </a:rPr>
              <a:t>data</a:t>
            </a:r>
            <a:r>
              <a:rPr lang="en" sz="1100">
                <a:solidFill>
                  <a:schemeClr val="dk1"/>
                </a:solidFill>
                <a:highlight>
                  <a:srgbClr val="FFFFFF"/>
                </a:highlight>
                <a:latin typeface="Roboto"/>
                <a:ea typeface="Roboto"/>
                <a:cs typeface="Roboto"/>
                <a:sym typeface="Roboto"/>
              </a:rPr>
              <a:t> or </a:t>
            </a:r>
            <a:r>
              <a:rPr b="1" lang="en" sz="1100">
                <a:solidFill>
                  <a:schemeClr val="dk1"/>
                </a:solidFill>
                <a:highlight>
                  <a:srgbClr val="FFFFFF"/>
                </a:highlight>
                <a:latin typeface="Roboto"/>
                <a:ea typeface="Roboto"/>
                <a:cs typeface="Roboto"/>
                <a:sym typeface="Roboto"/>
              </a:rPr>
              <a:t>function</a:t>
            </a:r>
            <a:r>
              <a:rPr lang="en" sz="1100">
                <a:solidFill>
                  <a:schemeClr val="dk1"/>
                </a:solidFill>
                <a:highlight>
                  <a:srgbClr val="FFFFFF"/>
                </a:highlight>
                <a:latin typeface="Roboto"/>
                <a:ea typeface="Roboto"/>
                <a:cs typeface="Roboto"/>
                <a:sym typeface="Roboto"/>
              </a:rPr>
              <a:t> declarations, and optionally </a:t>
            </a:r>
            <a:r>
              <a:rPr i="1" lang="en" sz="1100">
                <a:solidFill>
                  <a:schemeClr val="dk1"/>
                </a:solidFill>
                <a:highlight>
                  <a:srgbClr val="FFFFFF"/>
                </a:highlight>
                <a:latin typeface="Roboto"/>
                <a:ea typeface="Roboto"/>
                <a:cs typeface="Roboto"/>
                <a:sym typeface="Roboto"/>
              </a:rPr>
              <a:t>access specifiers</a:t>
            </a:r>
            <a:r>
              <a:rPr lang="en" sz="1100">
                <a:solidFill>
                  <a:schemeClr val="dk1"/>
                </a:solidFill>
                <a:highlight>
                  <a:srgbClr val="FFFFFF"/>
                </a:highlight>
                <a:latin typeface="Roboto"/>
                <a:ea typeface="Roboto"/>
                <a:cs typeface="Roboto"/>
                <a:sym typeface="Roboto"/>
              </a:rPr>
              <a:t>.</a:t>
            </a:r>
            <a:endParaRPr sz="11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highlight>
                  <a:srgbClr val="FFFFFF"/>
                </a:highlight>
                <a:latin typeface="Roboto"/>
                <a:ea typeface="Roboto"/>
                <a:cs typeface="Roboto"/>
                <a:sym typeface="Roboto"/>
              </a:rPr>
              <a:t>Classes have the same format as </a:t>
            </a:r>
            <a:r>
              <a:rPr b="1" lang="en" sz="1100">
                <a:solidFill>
                  <a:schemeClr val="dk1"/>
                </a:solidFill>
                <a:highlight>
                  <a:srgbClr val="FFFFFF"/>
                </a:highlight>
                <a:latin typeface="Roboto"/>
                <a:ea typeface="Roboto"/>
                <a:cs typeface="Roboto"/>
                <a:sym typeface="Roboto"/>
              </a:rPr>
              <a:t>plain </a:t>
            </a:r>
            <a:r>
              <a:rPr b="1" i="1" lang="en" sz="1100">
                <a:solidFill>
                  <a:schemeClr val="dk1"/>
                </a:solidFill>
                <a:highlight>
                  <a:srgbClr val="FFFFFF"/>
                </a:highlight>
                <a:latin typeface="Roboto"/>
                <a:ea typeface="Roboto"/>
                <a:cs typeface="Roboto"/>
                <a:sym typeface="Roboto"/>
              </a:rPr>
              <a:t>data structures</a:t>
            </a:r>
            <a:r>
              <a:rPr lang="en" sz="1100">
                <a:solidFill>
                  <a:schemeClr val="dk1"/>
                </a:solidFill>
                <a:highlight>
                  <a:srgbClr val="FFFFFF"/>
                </a:highlight>
                <a:latin typeface="Roboto"/>
                <a:ea typeface="Roboto"/>
                <a:cs typeface="Roboto"/>
                <a:sym typeface="Roboto"/>
              </a:rPr>
              <a:t>, except that they can also include functions and have  </a:t>
            </a:r>
            <a:r>
              <a:rPr b="1" i="1" lang="en" sz="1100">
                <a:solidFill>
                  <a:schemeClr val="dk1"/>
                </a:solidFill>
                <a:highlight>
                  <a:srgbClr val="FFFFFF"/>
                </a:highlight>
                <a:latin typeface="Roboto"/>
                <a:ea typeface="Roboto"/>
                <a:cs typeface="Roboto"/>
                <a:sym typeface="Roboto"/>
              </a:rPr>
              <a:t>access specifiers</a:t>
            </a:r>
            <a:r>
              <a:rPr b="1" lang="en" sz="1100">
                <a:solidFill>
                  <a:schemeClr val="dk1"/>
                </a:solidFill>
                <a:highlight>
                  <a:srgbClr val="FFFFFF"/>
                </a:highlight>
                <a:latin typeface="Roboto"/>
                <a:ea typeface="Roboto"/>
                <a:cs typeface="Roboto"/>
                <a:sym typeface="Roboto"/>
              </a:rPr>
              <a:t>.</a:t>
            </a:r>
            <a:r>
              <a:rPr lang="en" sz="1100">
                <a:solidFill>
                  <a:schemeClr val="dk1"/>
                </a:solidFill>
                <a:highlight>
                  <a:srgbClr val="FFFFFF"/>
                </a:highlight>
                <a:latin typeface="Roboto"/>
                <a:ea typeface="Roboto"/>
                <a:cs typeface="Roboto"/>
                <a:sym typeface="Roboto"/>
              </a:rPr>
              <a:t> An </a:t>
            </a:r>
            <a:r>
              <a:rPr b="1" i="1" lang="en" sz="1100">
                <a:solidFill>
                  <a:schemeClr val="dk1"/>
                </a:solidFill>
                <a:highlight>
                  <a:srgbClr val="FFFFFF"/>
                </a:highlight>
                <a:latin typeface="Roboto"/>
                <a:ea typeface="Roboto"/>
                <a:cs typeface="Roboto"/>
                <a:sym typeface="Roboto"/>
              </a:rPr>
              <a:t>access specifier</a:t>
            </a:r>
            <a:r>
              <a:rPr lang="en" sz="1100">
                <a:solidFill>
                  <a:schemeClr val="dk1"/>
                </a:solidFill>
                <a:highlight>
                  <a:srgbClr val="FFFFFF"/>
                </a:highlight>
                <a:latin typeface="Roboto"/>
                <a:ea typeface="Roboto"/>
                <a:cs typeface="Roboto"/>
                <a:sym typeface="Roboto"/>
              </a:rPr>
              <a:t> is one of the following three keywords: </a:t>
            </a:r>
            <a:r>
              <a:rPr lang="en" sz="1100">
                <a:solidFill>
                  <a:schemeClr val="dk1"/>
                </a:solidFill>
                <a:highlight>
                  <a:srgbClr val="FFFFFF"/>
                </a:highlight>
                <a:latin typeface="Courier New"/>
                <a:ea typeface="Courier New"/>
                <a:cs typeface="Courier New"/>
                <a:sym typeface="Courier New"/>
              </a:rPr>
              <a:t>private</a:t>
            </a:r>
            <a:r>
              <a:rPr lang="en" sz="1100">
                <a:solidFill>
                  <a:schemeClr val="dk1"/>
                </a:solidFill>
                <a:highlight>
                  <a:srgbClr val="FFFFFF"/>
                </a:highlight>
                <a:latin typeface="Roboto"/>
                <a:ea typeface="Roboto"/>
                <a:cs typeface="Roboto"/>
                <a:sym typeface="Roboto"/>
              </a:rPr>
              <a:t>, </a:t>
            </a:r>
            <a:r>
              <a:rPr lang="en" sz="1100">
                <a:solidFill>
                  <a:schemeClr val="dk1"/>
                </a:solidFill>
                <a:highlight>
                  <a:srgbClr val="FFFFFF"/>
                </a:highlight>
                <a:latin typeface="Courier New"/>
                <a:ea typeface="Courier New"/>
                <a:cs typeface="Courier New"/>
                <a:sym typeface="Courier New"/>
              </a:rPr>
              <a:t>public</a:t>
            </a:r>
            <a:r>
              <a:rPr lang="en" sz="1100">
                <a:solidFill>
                  <a:schemeClr val="dk1"/>
                </a:solidFill>
                <a:highlight>
                  <a:srgbClr val="FFFFFF"/>
                </a:highlight>
                <a:latin typeface="Roboto"/>
                <a:ea typeface="Roboto"/>
                <a:cs typeface="Roboto"/>
                <a:sym typeface="Roboto"/>
              </a:rPr>
              <a:t> or </a:t>
            </a:r>
            <a:r>
              <a:rPr lang="en" sz="1100">
                <a:solidFill>
                  <a:schemeClr val="dk1"/>
                </a:solidFill>
                <a:highlight>
                  <a:srgbClr val="FFFFFF"/>
                </a:highlight>
                <a:latin typeface="Courier New"/>
                <a:ea typeface="Courier New"/>
                <a:cs typeface="Courier New"/>
                <a:sym typeface="Courier New"/>
              </a:rPr>
              <a:t>protected</a:t>
            </a:r>
            <a:r>
              <a:rPr lang="en" sz="1100">
                <a:solidFill>
                  <a:schemeClr val="dk1"/>
                </a:solidFill>
                <a:highlight>
                  <a:srgbClr val="FFFFFF"/>
                </a:highlight>
                <a:latin typeface="Roboto"/>
                <a:ea typeface="Roboto"/>
                <a:cs typeface="Roboto"/>
                <a:sym typeface="Roboto"/>
              </a:rPr>
              <a:t>. These specifiers modify the access rights for the members that follow them:</a:t>
            </a:r>
            <a:endParaRPr sz="1100">
              <a:solidFill>
                <a:schemeClr val="dk1"/>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highlight>
                  <a:srgbClr val="FFFFFF"/>
                </a:highlight>
                <a:latin typeface="Courier New"/>
                <a:ea typeface="Courier New"/>
                <a:cs typeface="Courier New"/>
                <a:sym typeface="Courier New"/>
              </a:rPr>
              <a:t>private</a:t>
            </a:r>
            <a:r>
              <a:rPr lang="en" sz="1200">
                <a:solidFill>
                  <a:schemeClr val="dk1"/>
                </a:solidFill>
                <a:highlight>
                  <a:srgbClr val="FFFFFF"/>
                </a:highlight>
                <a:latin typeface="Roboto"/>
                <a:ea typeface="Roboto"/>
                <a:cs typeface="Roboto"/>
                <a:sym typeface="Roboto"/>
              </a:rPr>
              <a:t> members of a class are accessible only from within other members of the same class (or from their </a:t>
            </a:r>
            <a:r>
              <a:rPr i="1" lang="en" sz="1200">
                <a:solidFill>
                  <a:schemeClr val="dk1"/>
                </a:solidFill>
                <a:highlight>
                  <a:srgbClr val="FFFFFF"/>
                </a:highlight>
                <a:latin typeface="Roboto"/>
                <a:ea typeface="Roboto"/>
                <a:cs typeface="Roboto"/>
                <a:sym typeface="Roboto"/>
              </a:rPr>
              <a:t>"friends"</a:t>
            </a:r>
            <a:r>
              <a:rPr lang="en" sz="1200">
                <a:solidFill>
                  <a:schemeClr val="dk1"/>
                </a:solidFill>
                <a:highlight>
                  <a:srgbClr val="FFFFFF"/>
                </a:highlight>
                <a:latin typeface="Roboto"/>
                <a:ea typeface="Roboto"/>
                <a:cs typeface="Roboto"/>
                <a:sym typeface="Roboto"/>
              </a:rPr>
              <a:t>).</a:t>
            </a:r>
            <a:endParaRPr sz="1200">
              <a:solidFill>
                <a:schemeClr val="dk1"/>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highlight>
                  <a:srgbClr val="FFFFFF"/>
                </a:highlight>
                <a:latin typeface="Courier New"/>
                <a:ea typeface="Courier New"/>
                <a:cs typeface="Courier New"/>
                <a:sym typeface="Courier New"/>
              </a:rPr>
              <a:t>protected</a:t>
            </a:r>
            <a:r>
              <a:rPr lang="en" sz="1200">
                <a:solidFill>
                  <a:schemeClr val="dk1"/>
                </a:solidFill>
                <a:highlight>
                  <a:srgbClr val="FFFFFF"/>
                </a:highlight>
                <a:latin typeface="Roboto"/>
                <a:ea typeface="Roboto"/>
                <a:cs typeface="Roboto"/>
                <a:sym typeface="Roboto"/>
              </a:rPr>
              <a:t> members are accessible from other members of the same class (or from their </a:t>
            </a:r>
            <a:r>
              <a:rPr i="1" lang="en" sz="1200">
                <a:solidFill>
                  <a:schemeClr val="dk1"/>
                </a:solidFill>
                <a:highlight>
                  <a:srgbClr val="FFFFFF"/>
                </a:highlight>
                <a:latin typeface="Roboto"/>
                <a:ea typeface="Roboto"/>
                <a:cs typeface="Roboto"/>
                <a:sym typeface="Roboto"/>
              </a:rPr>
              <a:t>"friends"</a:t>
            </a:r>
            <a:r>
              <a:rPr lang="en" sz="1200">
                <a:solidFill>
                  <a:schemeClr val="dk1"/>
                </a:solidFill>
                <a:highlight>
                  <a:srgbClr val="FFFFFF"/>
                </a:highlight>
                <a:latin typeface="Roboto"/>
                <a:ea typeface="Roboto"/>
                <a:cs typeface="Roboto"/>
                <a:sym typeface="Roboto"/>
              </a:rPr>
              <a:t>), but also from members of their derived classes.</a:t>
            </a:r>
            <a:endParaRPr sz="1200">
              <a:solidFill>
                <a:schemeClr val="dk1"/>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Finally, </a:t>
            </a:r>
            <a:r>
              <a:rPr lang="en" sz="1200">
                <a:solidFill>
                  <a:schemeClr val="dk1"/>
                </a:solidFill>
                <a:highlight>
                  <a:srgbClr val="FFFFFF"/>
                </a:highlight>
                <a:latin typeface="Courier New"/>
                <a:ea typeface="Courier New"/>
                <a:cs typeface="Courier New"/>
                <a:sym typeface="Courier New"/>
              </a:rPr>
              <a:t>public</a:t>
            </a:r>
            <a:r>
              <a:rPr lang="en" sz="1200">
                <a:solidFill>
                  <a:schemeClr val="dk1"/>
                </a:solidFill>
                <a:highlight>
                  <a:srgbClr val="FFFFFF"/>
                </a:highlight>
                <a:latin typeface="Roboto"/>
                <a:ea typeface="Roboto"/>
                <a:cs typeface="Roboto"/>
                <a:sym typeface="Roboto"/>
              </a:rPr>
              <a:t> members are accessible from anywhere where the object is visible.</a:t>
            </a:r>
            <a:endParaRPr sz="1100">
              <a:solidFill>
                <a:schemeClr val="dk1"/>
              </a:solidFill>
              <a:highlight>
                <a:srgbClr val="FFFFFF"/>
              </a:highlight>
              <a:latin typeface="Roboto"/>
              <a:ea typeface="Roboto"/>
              <a:cs typeface="Roboto"/>
              <a:sym typeface="Roboto"/>
            </a:endParaRPr>
          </a:p>
        </p:txBody>
      </p:sp>
      <p:sp>
        <p:nvSpPr>
          <p:cNvPr id="910" name="Google Shape;910;g283038813be_0_644"/>
          <p:cNvSpPr txBox="1"/>
          <p:nvPr/>
        </p:nvSpPr>
        <p:spPr>
          <a:xfrm>
            <a:off x="500800" y="3520975"/>
            <a:ext cx="80751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i="1">
              <a:solidFill>
                <a:srgbClr val="4A86E8"/>
              </a:solidFill>
            </a:endParaRPr>
          </a:p>
        </p:txBody>
      </p:sp>
      <p:sp>
        <p:nvSpPr>
          <p:cNvPr id="911" name="Google Shape;911;g283038813be_0_64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g283038813be_0_65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4A86E8"/>
                </a:solidFill>
              </a:rPr>
              <a:t>Class definition( next)</a:t>
            </a:r>
            <a:endParaRPr b="1">
              <a:solidFill>
                <a:srgbClr val="4A86E8"/>
              </a:solidFill>
            </a:endParaRPr>
          </a:p>
        </p:txBody>
      </p:sp>
      <p:sp>
        <p:nvSpPr>
          <p:cNvPr id="917" name="Google Shape;917;g283038813be_0_651"/>
          <p:cNvSpPr txBox="1"/>
          <p:nvPr>
            <p:ph idx="1" type="body"/>
          </p:nvPr>
        </p:nvSpPr>
        <p:spPr>
          <a:xfrm>
            <a:off x="235500" y="542875"/>
            <a:ext cx="8778600" cy="452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chemeClr val="dk1"/>
                </a:solidFill>
                <a:highlight>
                  <a:srgbClr val="FFFFFF"/>
                </a:highlight>
                <a:latin typeface="Roboto"/>
                <a:ea typeface="Roboto"/>
                <a:cs typeface="Roboto"/>
                <a:sym typeface="Roboto"/>
              </a:rPr>
              <a:t>By default, all members of a class declared with the </a:t>
            </a:r>
            <a:r>
              <a:rPr lang="en" sz="1000">
                <a:solidFill>
                  <a:schemeClr val="dk1"/>
                </a:solidFill>
                <a:highlight>
                  <a:srgbClr val="FFFFFF"/>
                </a:highlight>
                <a:latin typeface="Courier New"/>
                <a:ea typeface="Courier New"/>
                <a:cs typeface="Courier New"/>
                <a:sym typeface="Courier New"/>
              </a:rPr>
              <a:t>class</a:t>
            </a:r>
            <a:r>
              <a:rPr lang="en" sz="1000">
                <a:solidFill>
                  <a:schemeClr val="dk1"/>
                </a:solidFill>
                <a:highlight>
                  <a:srgbClr val="FFFFFF"/>
                </a:highlight>
                <a:latin typeface="Roboto"/>
                <a:ea typeface="Roboto"/>
                <a:cs typeface="Roboto"/>
                <a:sym typeface="Roboto"/>
              </a:rPr>
              <a:t> keyword have private access for all its members. Therefore, any member that is declared before any other </a:t>
            </a:r>
            <a:r>
              <a:rPr i="1" lang="en" sz="1000">
                <a:solidFill>
                  <a:schemeClr val="dk1"/>
                </a:solidFill>
                <a:highlight>
                  <a:srgbClr val="FFFFFF"/>
                </a:highlight>
                <a:latin typeface="Roboto"/>
                <a:ea typeface="Roboto"/>
                <a:cs typeface="Roboto"/>
                <a:sym typeface="Roboto"/>
              </a:rPr>
              <a:t>access specifier</a:t>
            </a:r>
            <a:r>
              <a:rPr lang="en" sz="1000">
                <a:solidFill>
                  <a:schemeClr val="dk1"/>
                </a:solidFill>
                <a:highlight>
                  <a:srgbClr val="FFFFFF"/>
                </a:highlight>
                <a:latin typeface="Roboto"/>
                <a:ea typeface="Roboto"/>
                <a:cs typeface="Roboto"/>
                <a:sym typeface="Roboto"/>
              </a:rPr>
              <a:t> has private access automatically. For example:</a:t>
            </a:r>
            <a:endParaRPr sz="1100">
              <a:solidFill>
                <a:srgbClr val="A0A0A0"/>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i="1" lang="en" sz="1100">
                <a:solidFill>
                  <a:srgbClr val="4A86E8"/>
                </a:solidFill>
                <a:highlight>
                  <a:srgbClr val="FFFFFF"/>
                </a:highlight>
                <a:latin typeface="Courier New"/>
                <a:ea typeface="Courier New"/>
                <a:cs typeface="Courier New"/>
                <a:sym typeface="Courier New"/>
              </a:rPr>
              <a:t>class Rectangle {</a:t>
            </a:r>
            <a:endParaRPr b="1" i="1" sz="1100">
              <a:solidFill>
                <a:srgbClr val="4A86E8"/>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i="1" lang="en" sz="1100">
                <a:solidFill>
                  <a:srgbClr val="4A86E8"/>
                </a:solidFill>
                <a:highlight>
                  <a:srgbClr val="FFFFFF"/>
                </a:highlight>
                <a:latin typeface="Courier New"/>
                <a:ea typeface="Courier New"/>
                <a:cs typeface="Courier New"/>
                <a:sym typeface="Courier New"/>
              </a:rPr>
              <a:t>    int width, height;</a:t>
            </a:r>
            <a:endParaRPr b="1" i="1" sz="1100">
              <a:solidFill>
                <a:srgbClr val="4A86E8"/>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i="1" lang="en" sz="1100">
                <a:solidFill>
                  <a:srgbClr val="4A86E8"/>
                </a:solidFill>
                <a:highlight>
                  <a:srgbClr val="FFFFFF"/>
                </a:highlight>
                <a:latin typeface="Courier New"/>
                <a:ea typeface="Courier New"/>
                <a:cs typeface="Courier New"/>
                <a:sym typeface="Courier New"/>
              </a:rPr>
              <a:t>  public:</a:t>
            </a:r>
            <a:endParaRPr b="1" i="1" sz="1100">
              <a:solidFill>
                <a:srgbClr val="4A86E8"/>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i="1" lang="en" sz="1100">
                <a:solidFill>
                  <a:srgbClr val="4A86E8"/>
                </a:solidFill>
                <a:highlight>
                  <a:srgbClr val="FFFFFF"/>
                </a:highlight>
                <a:latin typeface="Courier New"/>
                <a:ea typeface="Courier New"/>
                <a:cs typeface="Courier New"/>
                <a:sym typeface="Courier New"/>
              </a:rPr>
              <a:t>    void set_values (int,int);</a:t>
            </a:r>
            <a:endParaRPr b="1" i="1" sz="1100">
              <a:solidFill>
                <a:srgbClr val="4A86E8"/>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i="1" lang="en" sz="1100">
                <a:solidFill>
                  <a:srgbClr val="4A86E8"/>
                </a:solidFill>
                <a:highlight>
                  <a:srgbClr val="FFFFFF"/>
                </a:highlight>
                <a:latin typeface="Courier New"/>
                <a:ea typeface="Courier New"/>
                <a:cs typeface="Courier New"/>
                <a:sym typeface="Courier New"/>
              </a:rPr>
              <a:t>    int area (void);</a:t>
            </a:r>
            <a:endParaRPr b="1" i="1" sz="1100">
              <a:solidFill>
                <a:srgbClr val="4A86E8"/>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i="1" lang="en" sz="1100">
                <a:solidFill>
                  <a:srgbClr val="4A86E8"/>
                </a:solidFill>
                <a:highlight>
                  <a:srgbClr val="FFFFFF"/>
                </a:highlight>
                <a:latin typeface="Courier New"/>
                <a:ea typeface="Courier New"/>
                <a:cs typeface="Courier New"/>
                <a:sym typeface="Courier New"/>
              </a:rPr>
              <a:t>} rect;</a:t>
            </a:r>
            <a:endParaRPr b="1" i="1" sz="1100">
              <a:solidFill>
                <a:srgbClr val="4A86E8"/>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i="1" sz="1100">
              <a:solidFill>
                <a:srgbClr val="4A86E8"/>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highlight>
                  <a:srgbClr val="FFFFFF"/>
                </a:highlight>
                <a:latin typeface="Roboto"/>
                <a:ea typeface="Roboto"/>
                <a:cs typeface="Roboto"/>
                <a:sym typeface="Roboto"/>
              </a:rPr>
              <a:t>Declares a class (i.e., a type) called </a:t>
            </a:r>
            <a:r>
              <a:rPr b="1" lang="en" sz="1000">
                <a:solidFill>
                  <a:schemeClr val="dk1"/>
                </a:solidFill>
                <a:highlight>
                  <a:srgbClr val="FFFFFF"/>
                </a:highlight>
                <a:latin typeface="Courier New"/>
                <a:ea typeface="Courier New"/>
                <a:cs typeface="Courier New"/>
                <a:sym typeface="Courier New"/>
              </a:rPr>
              <a:t>Rectangle</a:t>
            </a:r>
            <a:r>
              <a:rPr lang="en" sz="1000">
                <a:solidFill>
                  <a:schemeClr val="dk1"/>
                </a:solidFill>
                <a:highlight>
                  <a:srgbClr val="FFFFFF"/>
                </a:highlight>
                <a:latin typeface="Roboto"/>
                <a:ea typeface="Roboto"/>
                <a:cs typeface="Roboto"/>
                <a:sym typeface="Roboto"/>
              </a:rPr>
              <a:t> and an object (i.e., a variable) of this class, called </a:t>
            </a:r>
            <a:r>
              <a:rPr b="1" lang="en" sz="1000">
                <a:solidFill>
                  <a:schemeClr val="dk1"/>
                </a:solidFill>
                <a:highlight>
                  <a:srgbClr val="FFFFFF"/>
                </a:highlight>
                <a:latin typeface="Courier New"/>
                <a:ea typeface="Courier New"/>
                <a:cs typeface="Courier New"/>
                <a:sym typeface="Courier New"/>
              </a:rPr>
              <a:t>rect</a:t>
            </a:r>
            <a:r>
              <a:rPr lang="en" sz="1000">
                <a:solidFill>
                  <a:schemeClr val="dk1"/>
                </a:solidFill>
                <a:highlight>
                  <a:srgbClr val="FFFFFF"/>
                </a:highlight>
                <a:latin typeface="Roboto"/>
                <a:ea typeface="Roboto"/>
                <a:cs typeface="Roboto"/>
                <a:sym typeface="Roboto"/>
              </a:rPr>
              <a:t>. This class contains </a:t>
            </a:r>
            <a:r>
              <a:rPr b="1" lang="en" sz="1000">
                <a:solidFill>
                  <a:schemeClr val="dk1"/>
                </a:solidFill>
                <a:highlight>
                  <a:srgbClr val="FFFFFF"/>
                </a:highlight>
                <a:latin typeface="Roboto"/>
                <a:ea typeface="Roboto"/>
                <a:cs typeface="Roboto"/>
                <a:sym typeface="Roboto"/>
              </a:rPr>
              <a:t>four</a:t>
            </a:r>
            <a:r>
              <a:rPr lang="en" sz="1000">
                <a:solidFill>
                  <a:schemeClr val="dk1"/>
                </a:solidFill>
                <a:highlight>
                  <a:srgbClr val="FFFFFF"/>
                </a:highlight>
                <a:latin typeface="Roboto"/>
                <a:ea typeface="Roboto"/>
                <a:cs typeface="Roboto"/>
                <a:sym typeface="Roboto"/>
              </a:rPr>
              <a:t> </a:t>
            </a:r>
            <a:r>
              <a:rPr b="1" lang="en" sz="1000">
                <a:solidFill>
                  <a:schemeClr val="dk1"/>
                </a:solidFill>
                <a:highlight>
                  <a:srgbClr val="FFFFFF"/>
                </a:highlight>
                <a:latin typeface="Roboto"/>
                <a:ea typeface="Roboto"/>
                <a:cs typeface="Roboto"/>
                <a:sym typeface="Roboto"/>
              </a:rPr>
              <a:t>members</a:t>
            </a:r>
            <a:r>
              <a:rPr lang="en" sz="1000">
                <a:solidFill>
                  <a:schemeClr val="dk1"/>
                </a:solidFill>
                <a:highlight>
                  <a:srgbClr val="FFFFFF"/>
                </a:highlight>
                <a:latin typeface="Roboto"/>
                <a:ea typeface="Roboto"/>
                <a:cs typeface="Roboto"/>
                <a:sym typeface="Roboto"/>
              </a:rPr>
              <a:t>: two data members of type </a:t>
            </a:r>
            <a:r>
              <a:rPr lang="en" sz="1000">
                <a:solidFill>
                  <a:schemeClr val="dk1"/>
                </a:solidFill>
                <a:highlight>
                  <a:srgbClr val="FFFFFF"/>
                </a:highlight>
                <a:latin typeface="Courier New"/>
                <a:ea typeface="Courier New"/>
                <a:cs typeface="Courier New"/>
                <a:sym typeface="Courier New"/>
              </a:rPr>
              <a:t>int</a:t>
            </a:r>
            <a:r>
              <a:rPr lang="en" sz="1000">
                <a:solidFill>
                  <a:schemeClr val="dk1"/>
                </a:solidFill>
                <a:highlight>
                  <a:srgbClr val="FFFFFF"/>
                </a:highlight>
                <a:latin typeface="Roboto"/>
                <a:ea typeface="Roboto"/>
                <a:cs typeface="Roboto"/>
                <a:sym typeface="Roboto"/>
              </a:rPr>
              <a:t> (member </a:t>
            </a:r>
            <a:r>
              <a:rPr lang="en" sz="1000">
                <a:solidFill>
                  <a:schemeClr val="dk1"/>
                </a:solidFill>
                <a:highlight>
                  <a:srgbClr val="FFFFFF"/>
                </a:highlight>
                <a:latin typeface="Courier New"/>
                <a:ea typeface="Courier New"/>
                <a:cs typeface="Courier New"/>
                <a:sym typeface="Courier New"/>
              </a:rPr>
              <a:t>width</a:t>
            </a:r>
            <a:r>
              <a:rPr lang="en" sz="1000">
                <a:solidFill>
                  <a:schemeClr val="dk1"/>
                </a:solidFill>
                <a:highlight>
                  <a:srgbClr val="FFFFFF"/>
                </a:highlight>
                <a:latin typeface="Roboto"/>
                <a:ea typeface="Roboto"/>
                <a:cs typeface="Roboto"/>
                <a:sym typeface="Roboto"/>
              </a:rPr>
              <a:t> and member </a:t>
            </a:r>
            <a:r>
              <a:rPr lang="en" sz="1000">
                <a:solidFill>
                  <a:schemeClr val="dk1"/>
                </a:solidFill>
                <a:highlight>
                  <a:srgbClr val="FFFFFF"/>
                </a:highlight>
                <a:latin typeface="Courier New"/>
                <a:ea typeface="Courier New"/>
                <a:cs typeface="Courier New"/>
                <a:sym typeface="Courier New"/>
              </a:rPr>
              <a:t>height</a:t>
            </a:r>
            <a:r>
              <a:rPr lang="en" sz="1000">
                <a:solidFill>
                  <a:schemeClr val="dk1"/>
                </a:solidFill>
                <a:highlight>
                  <a:srgbClr val="FFFFFF"/>
                </a:highlight>
                <a:latin typeface="Roboto"/>
                <a:ea typeface="Roboto"/>
                <a:cs typeface="Roboto"/>
                <a:sym typeface="Roboto"/>
              </a:rPr>
              <a:t>) with </a:t>
            </a:r>
            <a:r>
              <a:rPr i="1" lang="en" sz="1000">
                <a:solidFill>
                  <a:schemeClr val="dk1"/>
                </a:solidFill>
                <a:highlight>
                  <a:srgbClr val="FFFFFF"/>
                </a:highlight>
                <a:latin typeface="Roboto"/>
                <a:ea typeface="Roboto"/>
                <a:cs typeface="Roboto"/>
                <a:sym typeface="Roboto"/>
              </a:rPr>
              <a:t>private access</a:t>
            </a:r>
            <a:r>
              <a:rPr lang="en" sz="1000">
                <a:solidFill>
                  <a:schemeClr val="dk1"/>
                </a:solidFill>
                <a:highlight>
                  <a:srgbClr val="FFFFFF"/>
                </a:highlight>
                <a:latin typeface="Roboto"/>
                <a:ea typeface="Roboto"/>
                <a:cs typeface="Roboto"/>
                <a:sym typeface="Roboto"/>
              </a:rPr>
              <a:t> (because private is the default access level) and two member functions with </a:t>
            </a:r>
            <a:r>
              <a:rPr i="1" lang="en" sz="1000">
                <a:solidFill>
                  <a:schemeClr val="dk1"/>
                </a:solidFill>
                <a:highlight>
                  <a:srgbClr val="FFFFFF"/>
                </a:highlight>
                <a:latin typeface="Roboto"/>
                <a:ea typeface="Roboto"/>
                <a:cs typeface="Roboto"/>
                <a:sym typeface="Roboto"/>
              </a:rPr>
              <a:t>public access</a:t>
            </a:r>
            <a:r>
              <a:rPr lang="en" sz="1000">
                <a:solidFill>
                  <a:schemeClr val="dk1"/>
                </a:solidFill>
                <a:highlight>
                  <a:srgbClr val="FFFFFF"/>
                </a:highlight>
                <a:latin typeface="Roboto"/>
                <a:ea typeface="Roboto"/>
                <a:cs typeface="Roboto"/>
                <a:sym typeface="Roboto"/>
              </a:rPr>
              <a:t>: the functions </a:t>
            </a:r>
            <a:r>
              <a:rPr lang="en" sz="1000">
                <a:solidFill>
                  <a:schemeClr val="dk1"/>
                </a:solidFill>
                <a:highlight>
                  <a:srgbClr val="FFFFFF"/>
                </a:highlight>
                <a:latin typeface="Courier New"/>
                <a:ea typeface="Courier New"/>
                <a:cs typeface="Courier New"/>
                <a:sym typeface="Courier New"/>
              </a:rPr>
              <a:t>set_values</a:t>
            </a:r>
            <a:r>
              <a:rPr lang="en" sz="1000">
                <a:solidFill>
                  <a:schemeClr val="dk1"/>
                </a:solidFill>
                <a:highlight>
                  <a:srgbClr val="FFFFFF"/>
                </a:highlight>
                <a:latin typeface="Roboto"/>
                <a:ea typeface="Roboto"/>
                <a:cs typeface="Roboto"/>
                <a:sym typeface="Roboto"/>
              </a:rPr>
              <a:t> and </a:t>
            </a:r>
            <a:r>
              <a:rPr lang="en" sz="1000">
                <a:solidFill>
                  <a:schemeClr val="dk1"/>
                </a:solidFill>
                <a:highlight>
                  <a:srgbClr val="FFFFFF"/>
                </a:highlight>
                <a:latin typeface="Courier New"/>
                <a:ea typeface="Courier New"/>
                <a:cs typeface="Courier New"/>
                <a:sym typeface="Courier New"/>
              </a:rPr>
              <a:t>area</a:t>
            </a:r>
            <a:r>
              <a:rPr lang="en" sz="1000">
                <a:solidFill>
                  <a:schemeClr val="dk1"/>
                </a:solidFill>
                <a:highlight>
                  <a:srgbClr val="FFFFFF"/>
                </a:highlight>
                <a:latin typeface="Roboto"/>
                <a:ea typeface="Roboto"/>
                <a:cs typeface="Roboto"/>
                <a:sym typeface="Roboto"/>
              </a:rPr>
              <a:t>, of which for now we have only included their declaration, but not their definition.</a:t>
            </a:r>
            <a:endParaRPr sz="100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highlight>
                  <a:srgbClr val="FFFFFF"/>
                </a:highlight>
                <a:latin typeface="Roboto"/>
                <a:ea typeface="Roboto"/>
                <a:cs typeface="Roboto"/>
                <a:sym typeface="Roboto"/>
              </a:rPr>
              <a:t>Notice the difference between the </a:t>
            </a:r>
            <a:r>
              <a:rPr i="1" lang="en" sz="1000">
                <a:solidFill>
                  <a:schemeClr val="dk1"/>
                </a:solidFill>
                <a:highlight>
                  <a:srgbClr val="FFFFFF"/>
                </a:highlight>
                <a:latin typeface="Roboto"/>
                <a:ea typeface="Roboto"/>
                <a:cs typeface="Roboto"/>
                <a:sym typeface="Roboto"/>
              </a:rPr>
              <a:t>class name</a:t>
            </a:r>
            <a:r>
              <a:rPr lang="en" sz="1000">
                <a:solidFill>
                  <a:schemeClr val="dk1"/>
                </a:solidFill>
                <a:highlight>
                  <a:srgbClr val="FFFFFF"/>
                </a:highlight>
                <a:latin typeface="Roboto"/>
                <a:ea typeface="Roboto"/>
                <a:cs typeface="Roboto"/>
                <a:sym typeface="Roboto"/>
              </a:rPr>
              <a:t> and the </a:t>
            </a:r>
            <a:r>
              <a:rPr i="1" lang="en" sz="1000">
                <a:solidFill>
                  <a:schemeClr val="dk1"/>
                </a:solidFill>
                <a:highlight>
                  <a:srgbClr val="FFFFFF"/>
                </a:highlight>
                <a:latin typeface="Roboto"/>
                <a:ea typeface="Roboto"/>
                <a:cs typeface="Roboto"/>
                <a:sym typeface="Roboto"/>
              </a:rPr>
              <a:t>object name</a:t>
            </a:r>
            <a:r>
              <a:rPr lang="en" sz="1000">
                <a:solidFill>
                  <a:schemeClr val="dk1"/>
                </a:solidFill>
                <a:highlight>
                  <a:srgbClr val="FFFFFF"/>
                </a:highlight>
                <a:latin typeface="Roboto"/>
                <a:ea typeface="Roboto"/>
                <a:cs typeface="Roboto"/>
                <a:sym typeface="Roboto"/>
              </a:rPr>
              <a:t>: In the previous example, </a:t>
            </a:r>
            <a:r>
              <a:rPr lang="en" sz="1000">
                <a:solidFill>
                  <a:schemeClr val="dk1"/>
                </a:solidFill>
                <a:highlight>
                  <a:srgbClr val="FFFFFF"/>
                </a:highlight>
                <a:latin typeface="Courier New"/>
                <a:ea typeface="Courier New"/>
                <a:cs typeface="Courier New"/>
                <a:sym typeface="Courier New"/>
              </a:rPr>
              <a:t>Rectangle</a:t>
            </a:r>
            <a:r>
              <a:rPr lang="en" sz="1000">
                <a:solidFill>
                  <a:schemeClr val="dk1"/>
                </a:solidFill>
                <a:highlight>
                  <a:srgbClr val="FFFFFF"/>
                </a:highlight>
                <a:latin typeface="Roboto"/>
                <a:ea typeface="Roboto"/>
                <a:cs typeface="Roboto"/>
                <a:sym typeface="Roboto"/>
              </a:rPr>
              <a:t> was the </a:t>
            </a:r>
            <a:r>
              <a:rPr i="1" lang="en" sz="1000">
                <a:solidFill>
                  <a:schemeClr val="dk1"/>
                </a:solidFill>
                <a:highlight>
                  <a:srgbClr val="FFFFFF"/>
                </a:highlight>
                <a:latin typeface="Roboto"/>
                <a:ea typeface="Roboto"/>
                <a:cs typeface="Roboto"/>
                <a:sym typeface="Roboto"/>
              </a:rPr>
              <a:t>class name</a:t>
            </a:r>
            <a:r>
              <a:rPr lang="en" sz="1000">
                <a:solidFill>
                  <a:schemeClr val="dk1"/>
                </a:solidFill>
                <a:highlight>
                  <a:srgbClr val="FFFFFF"/>
                </a:highlight>
                <a:latin typeface="Roboto"/>
                <a:ea typeface="Roboto"/>
                <a:cs typeface="Roboto"/>
                <a:sym typeface="Roboto"/>
              </a:rPr>
              <a:t> (i.e., the type), whereas </a:t>
            </a:r>
            <a:r>
              <a:rPr lang="en" sz="1000">
                <a:solidFill>
                  <a:schemeClr val="dk1"/>
                </a:solidFill>
                <a:highlight>
                  <a:srgbClr val="FFFFFF"/>
                </a:highlight>
                <a:latin typeface="Courier New"/>
                <a:ea typeface="Courier New"/>
                <a:cs typeface="Courier New"/>
                <a:sym typeface="Courier New"/>
              </a:rPr>
              <a:t>rect</a:t>
            </a:r>
            <a:r>
              <a:rPr lang="en" sz="1000">
                <a:solidFill>
                  <a:schemeClr val="dk1"/>
                </a:solidFill>
                <a:highlight>
                  <a:srgbClr val="FFFFFF"/>
                </a:highlight>
                <a:latin typeface="Roboto"/>
                <a:ea typeface="Roboto"/>
                <a:cs typeface="Roboto"/>
                <a:sym typeface="Roboto"/>
              </a:rPr>
              <a:t> was an object of type </a:t>
            </a:r>
            <a:r>
              <a:rPr lang="en" sz="1000">
                <a:solidFill>
                  <a:schemeClr val="dk1"/>
                </a:solidFill>
                <a:highlight>
                  <a:srgbClr val="FFFFFF"/>
                </a:highlight>
                <a:latin typeface="Courier New"/>
                <a:ea typeface="Courier New"/>
                <a:cs typeface="Courier New"/>
                <a:sym typeface="Courier New"/>
              </a:rPr>
              <a:t>Rectangle</a:t>
            </a:r>
            <a:r>
              <a:rPr lang="en" sz="1000">
                <a:solidFill>
                  <a:schemeClr val="dk1"/>
                </a:solidFill>
                <a:highlight>
                  <a:srgbClr val="FFFFFF"/>
                </a:highlight>
                <a:latin typeface="Roboto"/>
                <a:ea typeface="Roboto"/>
                <a:cs typeface="Roboto"/>
                <a:sym typeface="Roboto"/>
              </a:rPr>
              <a:t>. It is the same relationship </a:t>
            </a:r>
            <a:r>
              <a:rPr lang="en" sz="1000">
                <a:solidFill>
                  <a:schemeClr val="dk1"/>
                </a:solidFill>
                <a:highlight>
                  <a:srgbClr val="FFFFFF"/>
                </a:highlight>
                <a:latin typeface="Courier New"/>
                <a:ea typeface="Courier New"/>
                <a:cs typeface="Courier New"/>
                <a:sym typeface="Courier New"/>
              </a:rPr>
              <a:t>int</a:t>
            </a:r>
            <a:r>
              <a:rPr lang="en" sz="1000">
                <a:solidFill>
                  <a:schemeClr val="dk1"/>
                </a:solidFill>
                <a:highlight>
                  <a:srgbClr val="FFFFFF"/>
                </a:highlight>
                <a:latin typeface="Roboto"/>
                <a:ea typeface="Roboto"/>
                <a:cs typeface="Roboto"/>
                <a:sym typeface="Roboto"/>
              </a:rPr>
              <a:t> and </a:t>
            </a:r>
            <a:r>
              <a:rPr lang="en" sz="1000">
                <a:solidFill>
                  <a:schemeClr val="dk1"/>
                </a:solidFill>
                <a:highlight>
                  <a:srgbClr val="FFFFFF"/>
                </a:highlight>
                <a:latin typeface="Courier New"/>
                <a:ea typeface="Courier New"/>
                <a:cs typeface="Courier New"/>
                <a:sym typeface="Courier New"/>
              </a:rPr>
              <a:t>a</a:t>
            </a:r>
            <a:r>
              <a:rPr lang="en" sz="1000">
                <a:solidFill>
                  <a:schemeClr val="dk1"/>
                </a:solidFill>
                <a:highlight>
                  <a:srgbClr val="FFFFFF"/>
                </a:highlight>
                <a:latin typeface="Roboto"/>
                <a:ea typeface="Roboto"/>
                <a:cs typeface="Roboto"/>
                <a:sym typeface="Roboto"/>
              </a:rPr>
              <a:t> have in the following declaration:</a:t>
            </a:r>
            <a:endParaRPr sz="100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rPr b="1" lang="en" sz="1100">
                <a:solidFill>
                  <a:srgbClr val="0000B0"/>
                </a:solidFill>
                <a:latin typeface="Courier New"/>
                <a:ea typeface="Courier New"/>
                <a:cs typeface="Courier New"/>
                <a:sym typeface="Courier New"/>
              </a:rPr>
              <a:t>int</a:t>
            </a:r>
            <a:r>
              <a:rPr b="1" lang="en" sz="1100">
                <a:solidFill>
                  <a:schemeClr val="dk1"/>
                </a:solidFill>
                <a:latin typeface="Courier New"/>
                <a:ea typeface="Courier New"/>
                <a:cs typeface="Courier New"/>
                <a:sym typeface="Courier New"/>
              </a:rPr>
              <a:t> a;</a:t>
            </a:r>
            <a:endParaRPr b="1"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highlight>
                  <a:srgbClr val="FFFFFF"/>
                </a:highlight>
                <a:latin typeface="Roboto"/>
                <a:ea typeface="Roboto"/>
                <a:cs typeface="Roboto"/>
                <a:sym typeface="Roboto"/>
              </a:rPr>
              <a:t>After the declarations of </a:t>
            </a:r>
            <a:r>
              <a:rPr lang="en" sz="1000">
                <a:solidFill>
                  <a:schemeClr val="dk1"/>
                </a:solidFill>
                <a:highlight>
                  <a:srgbClr val="FFFFFF"/>
                </a:highlight>
                <a:latin typeface="Courier New"/>
                <a:ea typeface="Courier New"/>
                <a:cs typeface="Courier New"/>
                <a:sym typeface="Courier New"/>
              </a:rPr>
              <a:t>Rectangle</a:t>
            </a:r>
            <a:r>
              <a:rPr lang="en" sz="1000">
                <a:solidFill>
                  <a:schemeClr val="dk1"/>
                </a:solidFill>
                <a:highlight>
                  <a:srgbClr val="FFFFFF"/>
                </a:highlight>
                <a:latin typeface="Roboto"/>
                <a:ea typeface="Roboto"/>
                <a:cs typeface="Roboto"/>
                <a:sym typeface="Roboto"/>
              </a:rPr>
              <a:t> and </a:t>
            </a:r>
            <a:r>
              <a:rPr b="1" lang="en" sz="1000">
                <a:solidFill>
                  <a:schemeClr val="dk1"/>
                </a:solidFill>
                <a:highlight>
                  <a:srgbClr val="FFFFFF"/>
                </a:highlight>
                <a:latin typeface="Courier New"/>
                <a:ea typeface="Courier New"/>
                <a:cs typeface="Courier New"/>
                <a:sym typeface="Courier New"/>
              </a:rPr>
              <a:t>rect</a:t>
            </a:r>
            <a:r>
              <a:rPr lang="en" sz="1000">
                <a:solidFill>
                  <a:schemeClr val="dk1"/>
                </a:solidFill>
                <a:highlight>
                  <a:srgbClr val="FFFFFF"/>
                </a:highlight>
                <a:latin typeface="Roboto"/>
                <a:ea typeface="Roboto"/>
                <a:cs typeface="Roboto"/>
                <a:sym typeface="Roboto"/>
              </a:rPr>
              <a:t>, any of the public members of object </a:t>
            </a:r>
            <a:r>
              <a:rPr b="1" lang="en" sz="1000">
                <a:solidFill>
                  <a:schemeClr val="dk1"/>
                </a:solidFill>
                <a:highlight>
                  <a:srgbClr val="FFFFFF"/>
                </a:highlight>
                <a:latin typeface="Courier New"/>
                <a:ea typeface="Courier New"/>
                <a:cs typeface="Courier New"/>
                <a:sym typeface="Courier New"/>
              </a:rPr>
              <a:t>rect</a:t>
            </a:r>
            <a:r>
              <a:rPr lang="en" sz="1000">
                <a:solidFill>
                  <a:schemeClr val="dk1"/>
                </a:solidFill>
                <a:highlight>
                  <a:srgbClr val="FFFFFF"/>
                </a:highlight>
                <a:latin typeface="Roboto"/>
                <a:ea typeface="Roboto"/>
                <a:cs typeface="Roboto"/>
                <a:sym typeface="Roboto"/>
              </a:rPr>
              <a:t> can be accessed as if they were normal functions or normal variables, by simply inserting a dot (</a:t>
            </a:r>
            <a:r>
              <a:rPr lang="en" sz="1000">
                <a:solidFill>
                  <a:schemeClr val="dk1"/>
                </a:solidFill>
                <a:highlight>
                  <a:srgbClr val="FFFFFF"/>
                </a:highlight>
                <a:latin typeface="Courier New"/>
                <a:ea typeface="Courier New"/>
                <a:cs typeface="Courier New"/>
                <a:sym typeface="Courier New"/>
              </a:rPr>
              <a:t>.</a:t>
            </a:r>
            <a:r>
              <a:rPr lang="en" sz="1000">
                <a:solidFill>
                  <a:schemeClr val="dk1"/>
                </a:solidFill>
                <a:highlight>
                  <a:srgbClr val="FFFFFF"/>
                </a:highlight>
                <a:latin typeface="Roboto"/>
                <a:ea typeface="Roboto"/>
                <a:cs typeface="Roboto"/>
                <a:sym typeface="Roboto"/>
              </a:rPr>
              <a:t>) between </a:t>
            </a:r>
            <a:r>
              <a:rPr b="1" i="1" lang="en" sz="1000">
                <a:solidFill>
                  <a:schemeClr val="dk1"/>
                </a:solidFill>
                <a:highlight>
                  <a:srgbClr val="FFFFFF"/>
                </a:highlight>
                <a:latin typeface="Roboto"/>
                <a:ea typeface="Roboto"/>
                <a:cs typeface="Roboto"/>
                <a:sym typeface="Roboto"/>
              </a:rPr>
              <a:t>object name</a:t>
            </a:r>
            <a:r>
              <a:rPr b="1" lang="en" sz="1000">
                <a:solidFill>
                  <a:schemeClr val="dk1"/>
                </a:solidFill>
                <a:highlight>
                  <a:srgbClr val="FFFFFF"/>
                </a:highlight>
                <a:latin typeface="Roboto"/>
                <a:ea typeface="Roboto"/>
                <a:cs typeface="Roboto"/>
                <a:sym typeface="Roboto"/>
              </a:rPr>
              <a:t> </a:t>
            </a:r>
            <a:r>
              <a:rPr lang="en" sz="1000">
                <a:solidFill>
                  <a:schemeClr val="dk1"/>
                </a:solidFill>
                <a:highlight>
                  <a:srgbClr val="FFFFFF"/>
                </a:highlight>
                <a:latin typeface="Roboto"/>
                <a:ea typeface="Roboto"/>
                <a:cs typeface="Roboto"/>
                <a:sym typeface="Roboto"/>
              </a:rPr>
              <a:t>and </a:t>
            </a:r>
            <a:r>
              <a:rPr b="1" i="1" lang="en" sz="1000">
                <a:solidFill>
                  <a:schemeClr val="dk1"/>
                </a:solidFill>
                <a:highlight>
                  <a:srgbClr val="FFFFFF"/>
                </a:highlight>
                <a:latin typeface="Roboto"/>
                <a:ea typeface="Roboto"/>
                <a:cs typeface="Roboto"/>
                <a:sym typeface="Roboto"/>
              </a:rPr>
              <a:t>member name</a:t>
            </a:r>
            <a:r>
              <a:rPr b="1" lang="en" sz="1000">
                <a:solidFill>
                  <a:schemeClr val="dk1"/>
                </a:solidFill>
                <a:highlight>
                  <a:srgbClr val="FFFFFF"/>
                </a:highlight>
                <a:latin typeface="Roboto"/>
                <a:ea typeface="Roboto"/>
                <a:cs typeface="Roboto"/>
                <a:sym typeface="Roboto"/>
              </a:rPr>
              <a:t>.</a:t>
            </a:r>
            <a:r>
              <a:rPr lang="en" sz="1000">
                <a:solidFill>
                  <a:schemeClr val="dk1"/>
                </a:solidFill>
                <a:highlight>
                  <a:srgbClr val="FFFFFF"/>
                </a:highlight>
                <a:latin typeface="Roboto"/>
                <a:ea typeface="Roboto"/>
                <a:cs typeface="Roboto"/>
                <a:sym typeface="Roboto"/>
              </a:rPr>
              <a:t> This follows the same syntax as accessing the members of plain data structures. For example:</a:t>
            </a:r>
            <a:endParaRPr sz="1000">
              <a:solidFill>
                <a:schemeClr val="dk1"/>
              </a:solidFill>
              <a:highlight>
                <a:srgbClr val="FFFFFF"/>
              </a:highlight>
              <a:latin typeface="Roboto"/>
              <a:ea typeface="Roboto"/>
              <a:cs typeface="Roboto"/>
              <a:sym typeface="Roboto"/>
            </a:endParaRPr>
          </a:p>
          <a:p>
            <a:pPr indent="0" lvl="0" marL="0" rtl="0" algn="l">
              <a:lnSpc>
                <a:spcPct val="100000"/>
              </a:lnSpc>
              <a:spcBef>
                <a:spcPts val="0"/>
              </a:spcBef>
              <a:spcAft>
                <a:spcPts val="0"/>
              </a:spcAft>
              <a:buNone/>
            </a:pPr>
            <a:r>
              <a:rPr lang="en" sz="1100">
                <a:solidFill>
                  <a:srgbClr val="4A86E8"/>
                </a:solidFill>
                <a:highlight>
                  <a:srgbClr val="FFFFFF"/>
                </a:highlight>
                <a:latin typeface="Courier New"/>
                <a:ea typeface="Courier New"/>
                <a:cs typeface="Courier New"/>
                <a:sym typeface="Courier New"/>
              </a:rPr>
              <a:t>rect.set_values (3,4);</a:t>
            </a:r>
            <a:endParaRPr sz="1100">
              <a:solidFill>
                <a:srgbClr val="4A86E8"/>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100">
                <a:solidFill>
                  <a:srgbClr val="4A86E8"/>
                </a:solidFill>
                <a:highlight>
                  <a:srgbClr val="FFFFFF"/>
                </a:highlight>
                <a:latin typeface="Courier New"/>
                <a:ea typeface="Courier New"/>
                <a:cs typeface="Courier New"/>
                <a:sym typeface="Courier New"/>
              </a:rPr>
              <a:t>myarea = rect.area();</a:t>
            </a:r>
            <a:endParaRPr sz="1100">
              <a:solidFill>
                <a:srgbClr val="4A86E8"/>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highlight>
                  <a:srgbClr val="FFFFFF"/>
                </a:highlight>
                <a:latin typeface="Roboto"/>
                <a:ea typeface="Roboto"/>
                <a:cs typeface="Roboto"/>
                <a:sym typeface="Roboto"/>
              </a:rPr>
              <a:t>The only members of </a:t>
            </a:r>
            <a:r>
              <a:rPr lang="en" sz="1000">
                <a:solidFill>
                  <a:schemeClr val="dk1"/>
                </a:solidFill>
                <a:highlight>
                  <a:srgbClr val="FFFFFF"/>
                </a:highlight>
                <a:latin typeface="Courier New"/>
                <a:ea typeface="Courier New"/>
                <a:cs typeface="Courier New"/>
                <a:sym typeface="Courier New"/>
              </a:rPr>
              <a:t>rect</a:t>
            </a:r>
            <a:r>
              <a:rPr lang="en" sz="1000">
                <a:solidFill>
                  <a:schemeClr val="dk1"/>
                </a:solidFill>
                <a:highlight>
                  <a:srgbClr val="FFFFFF"/>
                </a:highlight>
                <a:latin typeface="Roboto"/>
                <a:ea typeface="Roboto"/>
                <a:cs typeface="Roboto"/>
                <a:sym typeface="Roboto"/>
              </a:rPr>
              <a:t> that cannot be accessed from outside the class are </a:t>
            </a:r>
            <a:r>
              <a:rPr b="1" lang="en" sz="1000">
                <a:solidFill>
                  <a:schemeClr val="dk1"/>
                </a:solidFill>
                <a:highlight>
                  <a:srgbClr val="FFFFFF"/>
                </a:highlight>
                <a:latin typeface="Courier New"/>
                <a:ea typeface="Courier New"/>
                <a:cs typeface="Courier New"/>
                <a:sym typeface="Courier New"/>
              </a:rPr>
              <a:t>width</a:t>
            </a:r>
            <a:r>
              <a:rPr lang="en" sz="1000">
                <a:solidFill>
                  <a:schemeClr val="dk1"/>
                </a:solidFill>
                <a:highlight>
                  <a:srgbClr val="FFFFFF"/>
                </a:highlight>
                <a:latin typeface="Roboto"/>
                <a:ea typeface="Roboto"/>
                <a:cs typeface="Roboto"/>
                <a:sym typeface="Roboto"/>
              </a:rPr>
              <a:t> and </a:t>
            </a:r>
            <a:r>
              <a:rPr b="1" lang="en" sz="1000">
                <a:solidFill>
                  <a:schemeClr val="dk1"/>
                </a:solidFill>
                <a:highlight>
                  <a:srgbClr val="FFFFFF"/>
                </a:highlight>
                <a:latin typeface="Courier New"/>
                <a:ea typeface="Courier New"/>
                <a:cs typeface="Courier New"/>
                <a:sym typeface="Courier New"/>
              </a:rPr>
              <a:t>height</a:t>
            </a:r>
            <a:r>
              <a:rPr lang="en" sz="1000">
                <a:solidFill>
                  <a:schemeClr val="dk1"/>
                </a:solidFill>
                <a:highlight>
                  <a:srgbClr val="FFFFFF"/>
                </a:highlight>
                <a:latin typeface="Roboto"/>
                <a:ea typeface="Roboto"/>
                <a:cs typeface="Roboto"/>
                <a:sym typeface="Roboto"/>
              </a:rPr>
              <a:t>, since they have private access and they can only be referred to from within other members of that same class.</a:t>
            </a:r>
            <a:endParaRPr sz="1000">
              <a:solidFill>
                <a:schemeClr val="dk1"/>
              </a:solidFill>
              <a:highlight>
                <a:srgbClr val="FFFFFF"/>
              </a:highlight>
              <a:latin typeface="Roboto"/>
              <a:ea typeface="Roboto"/>
              <a:cs typeface="Roboto"/>
              <a:sym typeface="Roboto"/>
            </a:endParaRPr>
          </a:p>
        </p:txBody>
      </p:sp>
      <p:sp>
        <p:nvSpPr>
          <p:cNvPr id="918" name="Google Shape;918;g283038813be_0_65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g283038813be_0_65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Object</a:t>
            </a:r>
            <a:endParaRPr b="1"/>
          </a:p>
        </p:txBody>
      </p:sp>
      <p:sp>
        <p:nvSpPr>
          <p:cNvPr id="924" name="Google Shape;924;g283038813be_0_656"/>
          <p:cNvSpPr txBox="1"/>
          <p:nvPr>
            <p:ph idx="1" type="body"/>
          </p:nvPr>
        </p:nvSpPr>
        <p:spPr>
          <a:xfrm>
            <a:off x="311700" y="594675"/>
            <a:ext cx="8520600" cy="454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273239"/>
                </a:solidFill>
                <a:highlight>
                  <a:srgbClr val="FFFFFF"/>
                </a:highlight>
              </a:rPr>
              <a:t>An Object is an identifiable entity with some characteristics and behaviour. An Object is an instance of a Class. When a class is defined, no memory is allocated but when it is instantiated (i.e. an object is created) memory is allocated.  Classes are an expanded concept of data structures: like data structures, they can contain data members, but they can also contain functions as members. An object is an instantiation of a class. In terms of variables, a class would be the type, and an object would be the variable.</a:t>
            </a:r>
            <a:endParaRPr sz="110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rPr b="1" i="1" lang="en" sz="1300">
                <a:solidFill>
                  <a:srgbClr val="273239"/>
                </a:solidFill>
                <a:highlight>
                  <a:srgbClr val="FFFFFF"/>
                </a:highlight>
              </a:rPr>
              <a:t>For example: </a:t>
            </a:r>
            <a:endParaRPr b="1" i="1" sz="1300">
              <a:solidFill>
                <a:srgbClr val="273239"/>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rPr b="1" i="1" lang="en" sz="1400">
                <a:solidFill>
                  <a:srgbClr val="4A86E8"/>
                </a:solidFill>
                <a:highlight>
                  <a:srgbClr val="FFFFFF"/>
                </a:highlight>
                <a:latin typeface="Courier New"/>
                <a:ea typeface="Courier New"/>
                <a:cs typeface="Courier New"/>
                <a:sym typeface="Courier New"/>
              </a:rPr>
              <a:t>class Rectangle {</a:t>
            </a:r>
            <a:endParaRPr b="1" i="1" sz="1400">
              <a:solidFill>
                <a:srgbClr val="4A86E8"/>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i="1" lang="en" sz="1400">
                <a:solidFill>
                  <a:srgbClr val="4A86E8"/>
                </a:solidFill>
                <a:highlight>
                  <a:srgbClr val="FFFFFF"/>
                </a:highlight>
                <a:latin typeface="Courier New"/>
                <a:ea typeface="Courier New"/>
                <a:cs typeface="Courier New"/>
                <a:sym typeface="Courier New"/>
              </a:rPr>
              <a:t>    int width, height;</a:t>
            </a:r>
            <a:endParaRPr b="1" i="1" sz="1400">
              <a:solidFill>
                <a:srgbClr val="4A86E8"/>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i="1" lang="en" sz="1400">
                <a:solidFill>
                  <a:srgbClr val="4A86E8"/>
                </a:solidFill>
                <a:highlight>
                  <a:srgbClr val="FFFFFF"/>
                </a:highlight>
                <a:latin typeface="Courier New"/>
                <a:ea typeface="Courier New"/>
                <a:cs typeface="Courier New"/>
                <a:sym typeface="Courier New"/>
              </a:rPr>
              <a:t>  public:</a:t>
            </a:r>
            <a:endParaRPr b="1" i="1" sz="1400">
              <a:solidFill>
                <a:srgbClr val="4A86E8"/>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i="1" lang="en" sz="1400">
                <a:solidFill>
                  <a:srgbClr val="4A86E8"/>
                </a:solidFill>
                <a:highlight>
                  <a:srgbClr val="FFFFFF"/>
                </a:highlight>
                <a:latin typeface="Courier New"/>
                <a:ea typeface="Courier New"/>
                <a:cs typeface="Courier New"/>
                <a:sym typeface="Courier New"/>
              </a:rPr>
              <a:t>    void set_values (int,int);</a:t>
            </a:r>
            <a:endParaRPr b="1" i="1" sz="1400">
              <a:solidFill>
                <a:srgbClr val="4A86E8"/>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i="1" lang="en" sz="1400">
                <a:solidFill>
                  <a:srgbClr val="4A86E8"/>
                </a:solidFill>
                <a:highlight>
                  <a:srgbClr val="FFFFFF"/>
                </a:highlight>
                <a:latin typeface="Courier New"/>
                <a:ea typeface="Courier New"/>
                <a:cs typeface="Courier New"/>
                <a:sym typeface="Courier New"/>
              </a:rPr>
              <a:t>    int area (void);</a:t>
            </a:r>
            <a:endParaRPr b="1" i="1" sz="1400">
              <a:solidFill>
                <a:srgbClr val="4A86E8"/>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i="1" lang="en" sz="1400">
                <a:solidFill>
                  <a:srgbClr val="4A86E8"/>
                </a:solidFill>
                <a:highlight>
                  <a:srgbClr val="FFFFFF"/>
                </a:highlight>
                <a:latin typeface="Courier New"/>
                <a:ea typeface="Courier New"/>
                <a:cs typeface="Courier New"/>
                <a:sym typeface="Courier New"/>
              </a:rPr>
              <a:t>} rect; // rect is an object</a:t>
            </a:r>
            <a:endParaRPr b="1" i="1" sz="1400">
              <a:solidFill>
                <a:srgbClr val="4A86E8"/>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i="1" sz="1400">
              <a:solidFill>
                <a:srgbClr val="4A86E8"/>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i="1" sz="1200">
              <a:solidFill>
                <a:srgbClr val="4A86E8"/>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i="1" sz="1200">
              <a:solidFill>
                <a:srgbClr val="4A86E8"/>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300">
              <a:solidFill>
                <a:srgbClr val="273239"/>
              </a:solidFill>
              <a:highlight>
                <a:srgbClr val="FFFFFF"/>
              </a:highlight>
            </a:endParaRPr>
          </a:p>
          <a:p>
            <a:pPr indent="0" lvl="0" marL="0" rtl="0" algn="l">
              <a:spcBef>
                <a:spcPts val="0"/>
              </a:spcBef>
              <a:spcAft>
                <a:spcPts val="0"/>
              </a:spcAft>
              <a:buNone/>
            </a:pPr>
            <a:r>
              <a:t/>
            </a:r>
            <a:endParaRPr sz="1300">
              <a:solidFill>
                <a:srgbClr val="273239"/>
              </a:solidFill>
              <a:highlight>
                <a:srgbClr val="FFFFFF"/>
              </a:highlight>
            </a:endParaRPr>
          </a:p>
        </p:txBody>
      </p:sp>
      <p:sp>
        <p:nvSpPr>
          <p:cNvPr id="925" name="Google Shape;925;g283038813be_0_656"/>
          <p:cNvSpPr txBox="1"/>
          <p:nvPr/>
        </p:nvSpPr>
        <p:spPr>
          <a:xfrm>
            <a:off x="5070475" y="1940550"/>
            <a:ext cx="3000000" cy="2685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4A86E8"/>
                </a:solidFill>
                <a:highlight>
                  <a:srgbClr val="FFFFFF"/>
                </a:highlight>
              </a:rPr>
              <a:t>class Person</a:t>
            </a:r>
            <a:endParaRPr b="1" sz="1300">
              <a:solidFill>
                <a:srgbClr val="4A86E8"/>
              </a:solidFill>
              <a:highlight>
                <a:srgbClr val="FFFFFF"/>
              </a:highlight>
            </a:endParaRPr>
          </a:p>
          <a:p>
            <a:pPr indent="0" lvl="0" marL="0" rtl="0" algn="l">
              <a:lnSpc>
                <a:spcPct val="115000"/>
              </a:lnSpc>
              <a:spcBef>
                <a:spcPts val="0"/>
              </a:spcBef>
              <a:spcAft>
                <a:spcPts val="0"/>
              </a:spcAft>
              <a:buNone/>
            </a:pPr>
            <a:r>
              <a:rPr b="1" lang="en" sz="1300">
                <a:solidFill>
                  <a:srgbClr val="4A86E8"/>
                </a:solidFill>
                <a:highlight>
                  <a:srgbClr val="FFFFFF"/>
                </a:highlight>
              </a:rPr>
              <a:t>{</a:t>
            </a:r>
            <a:endParaRPr b="1" sz="1300">
              <a:solidFill>
                <a:srgbClr val="4A86E8"/>
              </a:solidFill>
              <a:highlight>
                <a:srgbClr val="FFFFFF"/>
              </a:highlight>
            </a:endParaRPr>
          </a:p>
          <a:p>
            <a:pPr indent="0" lvl="0" marL="0" rtl="0" algn="l">
              <a:lnSpc>
                <a:spcPct val="115000"/>
              </a:lnSpc>
              <a:spcBef>
                <a:spcPts val="0"/>
              </a:spcBef>
              <a:spcAft>
                <a:spcPts val="0"/>
              </a:spcAft>
              <a:buNone/>
            </a:pPr>
            <a:r>
              <a:rPr b="1" lang="en" sz="1300">
                <a:solidFill>
                  <a:srgbClr val="4A86E8"/>
                </a:solidFill>
                <a:highlight>
                  <a:srgbClr val="FFFFFF"/>
                </a:highlight>
              </a:rPr>
              <a:t>	char name[20];</a:t>
            </a:r>
            <a:endParaRPr b="1" sz="1300">
              <a:solidFill>
                <a:srgbClr val="4A86E8"/>
              </a:solidFill>
              <a:highlight>
                <a:srgbClr val="FFFFFF"/>
              </a:highlight>
            </a:endParaRPr>
          </a:p>
          <a:p>
            <a:pPr indent="0" lvl="0" marL="0" rtl="0" algn="l">
              <a:lnSpc>
                <a:spcPct val="115000"/>
              </a:lnSpc>
              <a:spcBef>
                <a:spcPts val="0"/>
              </a:spcBef>
              <a:spcAft>
                <a:spcPts val="0"/>
              </a:spcAft>
              <a:buNone/>
            </a:pPr>
            <a:r>
              <a:rPr b="1" lang="en" sz="1300">
                <a:solidFill>
                  <a:srgbClr val="4A86E8"/>
                </a:solidFill>
                <a:highlight>
                  <a:srgbClr val="FFFFFF"/>
                </a:highlight>
              </a:rPr>
              <a:t>	int id;</a:t>
            </a:r>
            <a:endParaRPr b="1" sz="1300">
              <a:solidFill>
                <a:srgbClr val="4A86E8"/>
              </a:solidFill>
              <a:highlight>
                <a:srgbClr val="FFFFFF"/>
              </a:highlight>
            </a:endParaRPr>
          </a:p>
          <a:p>
            <a:pPr indent="0" lvl="0" marL="0" rtl="0" algn="l">
              <a:lnSpc>
                <a:spcPct val="115000"/>
              </a:lnSpc>
              <a:spcBef>
                <a:spcPts val="0"/>
              </a:spcBef>
              <a:spcAft>
                <a:spcPts val="0"/>
              </a:spcAft>
              <a:buNone/>
            </a:pPr>
            <a:r>
              <a:rPr b="1" lang="en" sz="1300">
                <a:solidFill>
                  <a:srgbClr val="4A86E8"/>
                </a:solidFill>
                <a:highlight>
                  <a:srgbClr val="FFFFFF"/>
                </a:highlight>
              </a:rPr>
              <a:t>public:</a:t>
            </a:r>
            <a:endParaRPr b="1" sz="1300">
              <a:solidFill>
                <a:srgbClr val="4A86E8"/>
              </a:solidFill>
              <a:highlight>
                <a:srgbClr val="FFFFFF"/>
              </a:highlight>
            </a:endParaRPr>
          </a:p>
          <a:p>
            <a:pPr indent="0" lvl="0" marL="0" rtl="0" algn="l">
              <a:lnSpc>
                <a:spcPct val="115000"/>
              </a:lnSpc>
              <a:spcBef>
                <a:spcPts val="0"/>
              </a:spcBef>
              <a:spcAft>
                <a:spcPts val="0"/>
              </a:spcAft>
              <a:buNone/>
            </a:pPr>
            <a:r>
              <a:rPr b="1" lang="en" sz="1300">
                <a:solidFill>
                  <a:srgbClr val="4A86E8"/>
                </a:solidFill>
                <a:highlight>
                  <a:srgbClr val="FFFFFF"/>
                </a:highlight>
              </a:rPr>
              <a:t>	void getdetails(){}</a:t>
            </a:r>
            <a:endParaRPr b="1" sz="1300">
              <a:solidFill>
                <a:srgbClr val="4A86E8"/>
              </a:solidFill>
              <a:highlight>
                <a:srgbClr val="FFFFFF"/>
              </a:highlight>
            </a:endParaRPr>
          </a:p>
          <a:p>
            <a:pPr indent="0" lvl="0" marL="0" rtl="0" algn="l">
              <a:lnSpc>
                <a:spcPct val="115000"/>
              </a:lnSpc>
              <a:spcBef>
                <a:spcPts val="0"/>
              </a:spcBef>
              <a:spcAft>
                <a:spcPts val="0"/>
              </a:spcAft>
              <a:buNone/>
            </a:pPr>
            <a:r>
              <a:rPr b="1" lang="en" sz="1300">
                <a:solidFill>
                  <a:srgbClr val="4A86E8"/>
                </a:solidFill>
                <a:highlight>
                  <a:srgbClr val="FFFFFF"/>
                </a:highlight>
              </a:rPr>
              <a:t>};</a:t>
            </a:r>
            <a:endParaRPr b="1" sz="1300">
              <a:solidFill>
                <a:srgbClr val="4A86E8"/>
              </a:solidFill>
              <a:highlight>
                <a:srgbClr val="FFFFFF"/>
              </a:highlight>
            </a:endParaRPr>
          </a:p>
          <a:p>
            <a:pPr indent="0" lvl="0" marL="0" rtl="0" algn="l">
              <a:lnSpc>
                <a:spcPct val="115000"/>
              </a:lnSpc>
              <a:spcBef>
                <a:spcPts val="0"/>
              </a:spcBef>
              <a:spcAft>
                <a:spcPts val="0"/>
              </a:spcAft>
              <a:buNone/>
            </a:pPr>
            <a:r>
              <a:rPr b="1" lang="en" sz="1300">
                <a:solidFill>
                  <a:srgbClr val="4A86E8"/>
                </a:solidFill>
                <a:highlight>
                  <a:srgbClr val="FFFFFF"/>
                </a:highlight>
              </a:rPr>
              <a:t>int main()</a:t>
            </a:r>
            <a:endParaRPr b="1" sz="1300">
              <a:solidFill>
                <a:srgbClr val="4A86E8"/>
              </a:solidFill>
              <a:highlight>
                <a:srgbClr val="FFFFFF"/>
              </a:highlight>
            </a:endParaRPr>
          </a:p>
          <a:p>
            <a:pPr indent="0" lvl="0" marL="0" rtl="0" algn="l">
              <a:lnSpc>
                <a:spcPct val="115000"/>
              </a:lnSpc>
              <a:spcBef>
                <a:spcPts val="0"/>
              </a:spcBef>
              <a:spcAft>
                <a:spcPts val="0"/>
              </a:spcAft>
              <a:buNone/>
            </a:pPr>
            <a:r>
              <a:rPr b="1" lang="en" sz="1300">
                <a:solidFill>
                  <a:srgbClr val="4A86E8"/>
                </a:solidFill>
                <a:highlight>
                  <a:srgbClr val="FFFFFF"/>
                </a:highlight>
              </a:rPr>
              <a:t>{</a:t>
            </a:r>
            <a:endParaRPr b="1" sz="1300">
              <a:solidFill>
                <a:srgbClr val="4A86E8"/>
              </a:solidFill>
              <a:highlight>
                <a:srgbClr val="FFFFFF"/>
              </a:highlight>
            </a:endParaRPr>
          </a:p>
          <a:p>
            <a:pPr indent="0" lvl="0" marL="0" rtl="0" algn="l">
              <a:lnSpc>
                <a:spcPct val="115000"/>
              </a:lnSpc>
              <a:spcBef>
                <a:spcPts val="0"/>
              </a:spcBef>
              <a:spcAft>
                <a:spcPts val="0"/>
              </a:spcAft>
              <a:buNone/>
            </a:pPr>
            <a:r>
              <a:rPr b="1" lang="en" sz="1300">
                <a:solidFill>
                  <a:srgbClr val="4A86E8"/>
                </a:solidFill>
                <a:highlight>
                  <a:srgbClr val="FFFFFF"/>
                </a:highlight>
              </a:rPr>
              <a:t>Person p1; // p1 is a object</a:t>
            </a:r>
            <a:endParaRPr b="1" sz="1300">
              <a:solidFill>
                <a:srgbClr val="4A86E8"/>
              </a:solidFill>
              <a:highlight>
                <a:srgbClr val="FFFFFF"/>
              </a:highlight>
            </a:endParaRPr>
          </a:p>
          <a:p>
            <a:pPr indent="0" lvl="0" marL="0" rtl="0" algn="l">
              <a:lnSpc>
                <a:spcPct val="115000"/>
              </a:lnSpc>
              <a:spcBef>
                <a:spcPts val="0"/>
              </a:spcBef>
              <a:spcAft>
                <a:spcPts val="0"/>
              </a:spcAft>
              <a:buNone/>
            </a:pPr>
            <a:r>
              <a:rPr b="1" lang="en" sz="1300">
                <a:solidFill>
                  <a:srgbClr val="4A86E8"/>
                </a:solidFill>
                <a:highlight>
                  <a:srgbClr val="FFFFFF"/>
                </a:highlight>
              </a:rPr>
              <a:t>}</a:t>
            </a:r>
            <a:endParaRPr b="1" sz="1300">
              <a:solidFill>
                <a:srgbClr val="4A86E8"/>
              </a:solidFill>
              <a:highlight>
                <a:srgbClr val="FFFFFF"/>
              </a:highlight>
            </a:endParaRPr>
          </a:p>
        </p:txBody>
      </p:sp>
      <p:sp>
        <p:nvSpPr>
          <p:cNvPr id="926" name="Google Shape;926;g283038813be_0_65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g283038813be_0_662"/>
          <p:cNvSpPr txBox="1"/>
          <p:nvPr>
            <p:ph type="title"/>
          </p:nvPr>
        </p:nvSpPr>
        <p:spPr>
          <a:xfrm>
            <a:off x="311700" y="-12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Implementation of Rectangle class</a:t>
            </a:r>
            <a:endParaRPr b="1"/>
          </a:p>
        </p:txBody>
      </p:sp>
      <p:sp>
        <p:nvSpPr>
          <p:cNvPr id="932" name="Google Shape;932;g283038813be_0_662"/>
          <p:cNvSpPr txBox="1"/>
          <p:nvPr>
            <p:ph idx="1" type="body"/>
          </p:nvPr>
        </p:nvSpPr>
        <p:spPr>
          <a:xfrm>
            <a:off x="6900" y="560525"/>
            <a:ext cx="3486000" cy="40083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sz="1000">
                <a:solidFill>
                  <a:srgbClr val="500070"/>
                </a:solidFill>
                <a:latin typeface="Courier New"/>
                <a:ea typeface="Courier New"/>
                <a:cs typeface="Courier New"/>
                <a:sym typeface="Courier New"/>
              </a:rPr>
              <a:t>#include &lt;iostream&gt;</a:t>
            </a:r>
            <a:endParaRPr sz="10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 sz="1000">
                <a:solidFill>
                  <a:srgbClr val="0000B0"/>
                </a:solidFill>
                <a:latin typeface="Courier New"/>
                <a:ea typeface="Courier New"/>
                <a:cs typeface="Courier New"/>
                <a:sym typeface="Courier New"/>
              </a:rPr>
              <a:t>using</a:t>
            </a: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namespace</a:t>
            </a:r>
            <a:r>
              <a:rPr lang="en" sz="1000">
                <a:solidFill>
                  <a:schemeClr val="dk1"/>
                </a:solidFill>
                <a:latin typeface="Courier New"/>
                <a:ea typeface="Courier New"/>
                <a:cs typeface="Courier New"/>
                <a:sym typeface="Courier New"/>
              </a:rPr>
              <a:t> std;</a:t>
            </a:r>
            <a:endParaRPr sz="10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 sz="1000">
                <a:solidFill>
                  <a:srgbClr val="0000B0"/>
                </a:solidFill>
                <a:latin typeface="Courier New"/>
                <a:ea typeface="Courier New"/>
                <a:cs typeface="Courier New"/>
                <a:sym typeface="Courier New"/>
              </a:rPr>
              <a:t>class</a:t>
            </a:r>
            <a:r>
              <a:rPr lang="en" sz="1000">
                <a:solidFill>
                  <a:schemeClr val="dk1"/>
                </a:solidFill>
                <a:latin typeface="Courier New"/>
                <a:ea typeface="Courier New"/>
                <a:cs typeface="Courier New"/>
                <a:sym typeface="Courier New"/>
              </a:rPr>
              <a:t> Rectangle {</a:t>
            </a:r>
            <a:endParaRPr sz="10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int</a:t>
            </a:r>
            <a:r>
              <a:rPr lang="en" sz="1000">
                <a:solidFill>
                  <a:schemeClr val="dk1"/>
                </a:solidFill>
                <a:latin typeface="Courier New"/>
                <a:ea typeface="Courier New"/>
                <a:cs typeface="Courier New"/>
                <a:sym typeface="Courier New"/>
              </a:rPr>
              <a:t> width, height;</a:t>
            </a:r>
            <a:endParaRPr sz="10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public</a:t>
            </a: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void</a:t>
            </a:r>
            <a:r>
              <a:rPr lang="en" sz="1000">
                <a:solidFill>
                  <a:schemeClr val="dk1"/>
                </a:solidFill>
                <a:latin typeface="Courier New"/>
                <a:ea typeface="Courier New"/>
                <a:cs typeface="Courier New"/>
                <a:sym typeface="Courier New"/>
              </a:rPr>
              <a:t> set_values (</a:t>
            </a:r>
            <a:r>
              <a:rPr lang="en" sz="1000">
                <a:solidFill>
                  <a:srgbClr val="0000B0"/>
                </a:solidFill>
                <a:latin typeface="Courier New"/>
                <a:ea typeface="Courier New"/>
                <a:cs typeface="Courier New"/>
                <a:sym typeface="Courier New"/>
              </a:rPr>
              <a:t>int</a:t>
            </a:r>
            <a:r>
              <a:rPr lang="en" sz="1000">
                <a:solidFill>
                  <a:schemeClr val="dk1"/>
                </a:solidFill>
                <a:latin typeface="Courier New"/>
                <a:ea typeface="Courier New"/>
                <a:cs typeface="Courier New"/>
                <a:sym typeface="Courier New"/>
              </a:rPr>
              <a:t>,</a:t>
            </a:r>
            <a:r>
              <a:rPr lang="en" sz="1000">
                <a:solidFill>
                  <a:srgbClr val="0000B0"/>
                </a:solidFill>
                <a:latin typeface="Courier New"/>
                <a:ea typeface="Courier New"/>
                <a:cs typeface="Courier New"/>
                <a:sym typeface="Courier New"/>
              </a:rPr>
              <a:t>int</a:t>
            </a: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int</a:t>
            </a:r>
            <a:r>
              <a:rPr lang="en" sz="1000">
                <a:solidFill>
                  <a:schemeClr val="dk1"/>
                </a:solidFill>
                <a:latin typeface="Courier New"/>
                <a:ea typeface="Courier New"/>
                <a:cs typeface="Courier New"/>
                <a:sym typeface="Courier New"/>
              </a:rPr>
              <a:t> area() {</a:t>
            </a:r>
            <a:r>
              <a:rPr lang="en" sz="1000">
                <a:solidFill>
                  <a:srgbClr val="0000B0"/>
                </a:solidFill>
                <a:latin typeface="Courier New"/>
                <a:ea typeface="Courier New"/>
                <a:cs typeface="Courier New"/>
                <a:sym typeface="Courier New"/>
              </a:rPr>
              <a:t>return</a:t>
            </a:r>
            <a:r>
              <a:rPr lang="en" sz="1000">
                <a:solidFill>
                  <a:schemeClr val="dk1"/>
                </a:solidFill>
                <a:latin typeface="Courier New"/>
                <a:ea typeface="Courier New"/>
                <a:cs typeface="Courier New"/>
                <a:sym typeface="Courier New"/>
              </a:rPr>
              <a:t> width*height;}</a:t>
            </a:r>
            <a:endParaRPr sz="10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 sz="1000">
                <a:solidFill>
                  <a:srgbClr val="0000B0"/>
                </a:solidFill>
                <a:latin typeface="Courier New"/>
                <a:ea typeface="Courier New"/>
                <a:cs typeface="Courier New"/>
                <a:sym typeface="Courier New"/>
              </a:rPr>
              <a:t>void</a:t>
            </a:r>
            <a:r>
              <a:rPr lang="en" sz="1000">
                <a:solidFill>
                  <a:schemeClr val="dk1"/>
                </a:solidFill>
                <a:latin typeface="Courier New"/>
                <a:ea typeface="Courier New"/>
                <a:cs typeface="Courier New"/>
                <a:sym typeface="Courier New"/>
              </a:rPr>
              <a:t> Rectangle</a:t>
            </a:r>
            <a:r>
              <a:rPr lang="en" sz="1000">
                <a:solidFill>
                  <a:schemeClr val="dk1"/>
                </a:solidFill>
                <a:highlight>
                  <a:srgbClr val="00FF00"/>
                </a:highlight>
                <a:latin typeface="Courier New"/>
                <a:ea typeface="Courier New"/>
                <a:cs typeface="Courier New"/>
                <a:sym typeface="Courier New"/>
              </a:rPr>
              <a:t>::</a:t>
            </a:r>
            <a:r>
              <a:rPr lang="en" sz="1000">
                <a:solidFill>
                  <a:schemeClr val="dk1"/>
                </a:solidFill>
                <a:latin typeface="Courier New"/>
                <a:ea typeface="Courier New"/>
                <a:cs typeface="Courier New"/>
                <a:sym typeface="Courier New"/>
              </a:rPr>
              <a:t>set_values (</a:t>
            </a:r>
            <a:r>
              <a:rPr lang="en" sz="1000">
                <a:solidFill>
                  <a:srgbClr val="0000B0"/>
                </a:solidFill>
                <a:latin typeface="Courier New"/>
                <a:ea typeface="Courier New"/>
                <a:cs typeface="Courier New"/>
                <a:sym typeface="Courier New"/>
              </a:rPr>
              <a:t>int</a:t>
            </a:r>
            <a:r>
              <a:rPr lang="en" sz="1000">
                <a:solidFill>
                  <a:schemeClr val="dk1"/>
                </a:solidFill>
                <a:latin typeface="Courier New"/>
                <a:ea typeface="Courier New"/>
                <a:cs typeface="Courier New"/>
                <a:sym typeface="Courier New"/>
              </a:rPr>
              <a:t> x, </a:t>
            </a:r>
            <a:r>
              <a:rPr lang="en" sz="1000">
                <a:solidFill>
                  <a:srgbClr val="0000B0"/>
                </a:solidFill>
                <a:latin typeface="Courier New"/>
                <a:ea typeface="Courier New"/>
                <a:cs typeface="Courier New"/>
                <a:sym typeface="Courier New"/>
              </a:rPr>
              <a:t>int</a:t>
            </a:r>
            <a:r>
              <a:rPr lang="en" sz="1000">
                <a:solidFill>
                  <a:schemeClr val="dk1"/>
                </a:solidFill>
                <a:latin typeface="Courier New"/>
                <a:ea typeface="Courier New"/>
                <a:cs typeface="Courier New"/>
                <a:sym typeface="Courier New"/>
              </a:rPr>
              <a:t> y) {</a:t>
            </a:r>
            <a:endParaRPr sz="10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 sz="1000">
                <a:solidFill>
                  <a:schemeClr val="dk1"/>
                </a:solidFill>
                <a:latin typeface="Courier New"/>
                <a:ea typeface="Courier New"/>
                <a:cs typeface="Courier New"/>
                <a:sym typeface="Courier New"/>
              </a:rPr>
              <a:t>  width = x;</a:t>
            </a:r>
            <a:endParaRPr sz="10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 sz="1000">
                <a:solidFill>
                  <a:schemeClr val="dk1"/>
                </a:solidFill>
                <a:latin typeface="Courier New"/>
                <a:ea typeface="Courier New"/>
                <a:cs typeface="Courier New"/>
                <a:sym typeface="Courier New"/>
              </a:rPr>
              <a:t>  height = y;</a:t>
            </a:r>
            <a:endParaRPr sz="10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 sz="1000">
                <a:solidFill>
                  <a:srgbClr val="0000B0"/>
                </a:solidFill>
                <a:latin typeface="Courier New"/>
                <a:ea typeface="Courier New"/>
                <a:cs typeface="Courier New"/>
                <a:sym typeface="Courier New"/>
              </a:rPr>
              <a:t>int</a:t>
            </a:r>
            <a:r>
              <a:rPr lang="en" sz="1000">
                <a:solidFill>
                  <a:schemeClr val="dk1"/>
                </a:solidFill>
                <a:latin typeface="Courier New"/>
                <a:ea typeface="Courier New"/>
                <a:cs typeface="Courier New"/>
                <a:sym typeface="Courier New"/>
              </a:rPr>
              <a:t> main () {</a:t>
            </a:r>
            <a:endParaRPr sz="10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 sz="1000">
                <a:solidFill>
                  <a:schemeClr val="dk1"/>
                </a:solidFill>
                <a:latin typeface="Courier New"/>
                <a:ea typeface="Courier New"/>
                <a:cs typeface="Courier New"/>
                <a:sym typeface="Courier New"/>
              </a:rPr>
              <a:t>  Rectangle rect;</a:t>
            </a:r>
            <a:endParaRPr sz="10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 sz="1000">
                <a:solidFill>
                  <a:schemeClr val="dk1"/>
                </a:solidFill>
                <a:latin typeface="Courier New"/>
                <a:ea typeface="Courier New"/>
                <a:cs typeface="Courier New"/>
                <a:sym typeface="Courier New"/>
              </a:rPr>
              <a:t>  rect.set_values (3,4);</a:t>
            </a:r>
            <a:endParaRPr sz="10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 sz="1000">
                <a:solidFill>
                  <a:schemeClr val="dk1"/>
                </a:solidFill>
                <a:latin typeface="Courier New"/>
                <a:ea typeface="Courier New"/>
                <a:cs typeface="Courier New"/>
                <a:sym typeface="Courier New"/>
              </a:rPr>
              <a:t>  cout &lt;&lt; </a:t>
            </a:r>
            <a:r>
              <a:rPr lang="en" sz="1000">
                <a:solidFill>
                  <a:srgbClr val="600030"/>
                </a:solidFill>
                <a:latin typeface="Courier New"/>
                <a:ea typeface="Courier New"/>
                <a:cs typeface="Courier New"/>
                <a:sym typeface="Courier New"/>
              </a:rPr>
              <a:t>"area: "</a:t>
            </a:r>
            <a:r>
              <a:rPr lang="en" sz="1000">
                <a:solidFill>
                  <a:schemeClr val="dk1"/>
                </a:solidFill>
                <a:latin typeface="Courier New"/>
                <a:ea typeface="Courier New"/>
                <a:cs typeface="Courier New"/>
                <a:sym typeface="Courier New"/>
              </a:rPr>
              <a:t> &lt;&lt; rect.area();</a:t>
            </a:r>
            <a:endParaRPr sz="10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return</a:t>
            </a:r>
            <a:r>
              <a:rPr lang="en" sz="1000">
                <a:solidFill>
                  <a:schemeClr val="dk1"/>
                </a:solidFill>
                <a:latin typeface="Courier New"/>
                <a:ea typeface="Courier New"/>
                <a:cs typeface="Courier New"/>
                <a:sym typeface="Courier New"/>
              </a:rPr>
              <a:t> 0;</a:t>
            </a:r>
            <a:endParaRPr sz="10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lnSpc>
                <a:spcPct val="80000"/>
              </a:lnSpc>
              <a:spcBef>
                <a:spcPts val="0"/>
              </a:spcBef>
              <a:spcAft>
                <a:spcPts val="0"/>
              </a:spcAft>
              <a:buNone/>
            </a:pPr>
            <a:r>
              <a:t/>
            </a:r>
            <a:endParaRPr sz="1600"/>
          </a:p>
        </p:txBody>
      </p:sp>
      <p:sp>
        <p:nvSpPr>
          <p:cNvPr id="933" name="Google Shape;933;g283038813be_0_662"/>
          <p:cNvSpPr txBox="1"/>
          <p:nvPr>
            <p:ph idx="1" type="body"/>
          </p:nvPr>
        </p:nvSpPr>
        <p:spPr>
          <a:xfrm>
            <a:off x="78100" y="3613350"/>
            <a:ext cx="2550900" cy="758100"/>
          </a:xfrm>
          <a:prstGeom prst="rect">
            <a:avLst/>
          </a:prstGeom>
          <a:solidFill>
            <a:srgbClr val="B7B7B7"/>
          </a:solidFill>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area: 12</a:t>
            </a:r>
            <a:endParaRPr sz="12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a:p>
        </p:txBody>
      </p:sp>
      <p:sp>
        <p:nvSpPr>
          <p:cNvPr id="934" name="Google Shape;934;g283038813be_0_662"/>
          <p:cNvSpPr txBox="1"/>
          <p:nvPr/>
        </p:nvSpPr>
        <p:spPr>
          <a:xfrm>
            <a:off x="3568100" y="1094550"/>
            <a:ext cx="5487900" cy="376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highlight>
                  <a:srgbClr val="FFFFFF"/>
                </a:highlight>
                <a:latin typeface="Roboto"/>
                <a:ea typeface="Roboto"/>
                <a:cs typeface="Roboto"/>
                <a:sym typeface="Roboto"/>
              </a:rPr>
              <a:t>This example reintroduces the </a:t>
            </a:r>
            <a:r>
              <a:rPr i="1" lang="en" sz="1200">
                <a:solidFill>
                  <a:schemeClr val="dk1"/>
                </a:solidFill>
                <a:highlight>
                  <a:srgbClr val="FFFFFF"/>
                </a:highlight>
                <a:latin typeface="Roboto"/>
                <a:ea typeface="Roboto"/>
                <a:cs typeface="Roboto"/>
                <a:sym typeface="Roboto"/>
              </a:rPr>
              <a:t>scope operator</a:t>
            </a:r>
            <a:r>
              <a:rPr lang="en" sz="1200">
                <a:solidFill>
                  <a:schemeClr val="dk1"/>
                </a:solidFill>
                <a:highlight>
                  <a:srgbClr val="FFFFFF"/>
                </a:highlight>
                <a:latin typeface="Roboto"/>
                <a:ea typeface="Roboto"/>
                <a:cs typeface="Roboto"/>
                <a:sym typeface="Roboto"/>
              </a:rPr>
              <a:t> (</a:t>
            </a:r>
            <a:r>
              <a:rPr b="1" lang="en" sz="1200">
                <a:solidFill>
                  <a:schemeClr val="dk1"/>
                </a:solidFill>
                <a:highlight>
                  <a:srgbClr val="00FF00"/>
                </a:highlight>
                <a:latin typeface="Courier New"/>
                <a:ea typeface="Courier New"/>
                <a:cs typeface="Courier New"/>
                <a:sym typeface="Courier New"/>
              </a:rPr>
              <a:t>::</a:t>
            </a:r>
            <a:r>
              <a:rPr lang="en" sz="1200">
                <a:solidFill>
                  <a:schemeClr val="dk1"/>
                </a:solidFill>
                <a:highlight>
                  <a:srgbClr val="FFFFFF"/>
                </a:highlight>
                <a:latin typeface="Roboto"/>
                <a:ea typeface="Roboto"/>
                <a:cs typeface="Roboto"/>
                <a:sym typeface="Roboto"/>
              </a:rPr>
              <a:t>, two colons), seen in earlier chapters in relation to namespaces. Here it is used in the definition of function </a:t>
            </a:r>
            <a:r>
              <a:rPr b="1" lang="en" sz="1200">
                <a:solidFill>
                  <a:srgbClr val="273239"/>
                </a:solidFill>
                <a:highlight>
                  <a:srgbClr val="FFFFFF"/>
                </a:highlight>
                <a:latin typeface="Courier New"/>
                <a:ea typeface="Courier New"/>
                <a:cs typeface="Courier New"/>
                <a:sym typeface="Courier New"/>
              </a:rPr>
              <a:t>set_values</a:t>
            </a:r>
            <a:r>
              <a:rPr b="1" lang="en" sz="1200">
                <a:solidFill>
                  <a:srgbClr val="273239"/>
                </a:solidFill>
                <a:highlight>
                  <a:srgbClr val="FFFFFF"/>
                </a:highlight>
                <a:latin typeface="Roboto"/>
                <a:ea typeface="Roboto"/>
                <a:cs typeface="Roboto"/>
                <a:sym typeface="Roboto"/>
              </a:rPr>
              <a:t> </a:t>
            </a:r>
            <a:r>
              <a:rPr lang="en" sz="1200">
                <a:solidFill>
                  <a:schemeClr val="dk1"/>
                </a:solidFill>
                <a:highlight>
                  <a:srgbClr val="FFFFFF"/>
                </a:highlight>
                <a:latin typeface="Roboto"/>
                <a:ea typeface="Roboto"/>
                <a:cs typeface="Roboto"/>
                <a:sym typeface="Roboto"/>
              </a:rPr>
              <a:t>to define a member of a class outside the class itself.</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highlight>
                  <a:srgbClr val="FFFFFF"/>
                </a:highlight>
                <a:latin typeface="Roboto"/>
                <a:ea typeface="Roboto"/>
                <a:cs typeface="Roboto"/>
                <a:sym typeface="Roboto"/>
              </a:rPr>
              <a:t>Notice that the definition of the member function </a:t>
            </a:r>
            <a:r>
              <a:rPr b="1" lang="en" sz="1200">
                <a:solidFill>
                  <a:schemeClr val="dk1"/>
                </a:solidFill>
                <a:highlight>
                  <a:srgbClr val="FFFFFF"/>
                </a:highlight>
                <a:latin typeface="Courier New"/>
                <a:ea typeface="Courier New"/>
                <a:cs typeface="Courier New"/>
                <a:sym typeface="Courier New"/>
              </a:rPr>
              <a:t>area</a:t>
            </a:r>
            <a:r>
              <a:rPr lang="en" sz="1200">
                <a:solidFill>
                  <a:schemeClr val="dk1"/>
                </a:solidFill>
                <a:highlight>
                  <a:srgbClr val="FFFFFF"/>
                </a:highlight>
                <a:latin typeface="Roboto"/>
                <a:ea typeface="Roboto"/>
                <a:cs typeface="Roboto"/>
                <a:sym typeface="Roboto"/>
              </a:rPr>
              <a:t> has been included directly within the definition of class </a:t>
            </a:r>
            <a:r>
              <a:rPr b="1" lang="en" sz="1200">
                <a:solidFill>
                  <a:schemeClr val="dk1"/>
                </a:solidFill>
                <a:highlight>
                  <a:srgbClr val="FFFFFF"/>
                </a:highlight>
                <a:latin typeface="Courier New"/>
                <a:ea typeface="Courier New"/>
                <a:cs typeface="Courier New"/>
                <a:sym typeface="Courier New"/>
              </a:rPr>
              <a:t>Rectangle</a:t>
            </a:r>
            <a:r>
              <a:rPr lang="en" sz="1200">
                <a:solidFill>
                  <a:schemeClr val="dk1"/>
                </a:solidFill>
                <a:highlight>
                  <a:srgbClr val="FFFFFF"/>
                </a:highlight>
                <a:latin typeface="Roboto"/>
                <a:ea typeface="Roboto"/>
                <a:cs typeface="Roboto"/>
                <a:sym typeface="Roboto"/>
              </a:rPr>
              <a:t> given its extreme simplicity. Conversely, </a:t>
            </a:r>
            <a:r>
              <a:rPr b="1" lang="en" sz="1200">
                <a:solidFill>
                  <a:schemeClr val="dk1"/>
                </a:solidFill>
                <a:highlight>
                  <a:srgbClr val="FFFFFF"/>
                </a:highlight>
                <a:latin typeface="Courier New"/>
                <a:ea typeface="Courier New"/>
                <a:cs typeface="Courier New"/>
                <a:sym typeface="Courier New"/>
              </a:rPr>
              <a:t>set_values</a:t>
            </a:r>
            <a:r>
              <a:rPr lang="en" sz="1200">
                <a:solidFill>
                  <a:schemeClr val="dk1"/>
                </a:solidFill>
                <a:highlight>
                  <a:srgbClr val="FFFFFF"/>
                </a:highlight>
                <a:latin typeface="Roboto"/>
                <a:ea typeface="Roboto"/>
                <a:cs typeface="Roboto"/>
                <a:sym typeface="Roboto"/>
              </a:rPr>
              <a:t> it is merely declared with its prototype within the class, but its definition is outside it. In this outside definition, the operator of scope </a:t>
            </a:r>
            <a:r>
              <a:rPr lang="en" sz="1200">
                <a:solidFill>
                  <a:schemeClr val="dk1"/>
                </a:solidFill>
                <a:highlight>
                  <a:srgbClr val="00FF00"/>
                </a:highlight>
                <a:latin typeface="Roboto"/>
                <a:ea typeface="Roboto"/>
                <a:cs typeface="Roboto"/>
                <a:sym typeface="Roboto"/>
              </a:rPr>
              <a:t>(</a:t>
            </a:r>
            <a:r>
              <a:rPr lang="en" sz="1200">
                <a:solidFill>
                  <a:schemeClr val="dk1"/>
                </a:solidFill>
                <a:highlight>
                  <a:srgbClr val="00FF00"/>
                </a:highlight>
                <a:latin typeface="Courier New"/>
                <a:ea typeface="Courier New"/>
                <a:cs typeface="Courier New"/>
                <a:sym typeface="Courier New"/>
              </a:rPr>
              <a:t>::</a:t>
            </a:r>
            <a:r>
              <a:rPr lang="en" sz="1200">
                <a:solidFill>
                  <a:schemeClr val="dk1"/>
                </a:solidFill>
                <a:highlight>
                  <a:srgbClr val="00FF00"/>
                </a:highlight>
                <a:latin typeface="Roboto"/>
                <a:ea typeface="Roboto"/>
                <a:cs typeface="Roboto"/>
                <a:sym typeface="Roboto"/>
              </a:rPr>
              <a:t>)</a:t>
            </a:r>
            <a:r>
              <a:rPr lang="en" sz="1200">
                <a:solidFill>
                  <a:schemeClr val="dk1"/>
                </a:solidFill>
                <a:highlight>
                  <a:srgbClr val="FFFFFF"/>
                </a:highlight>
                <a:latin typeface="Roboto"/>
                <a:ea typeface="Roboto"/>
                <a:cs typeface="Roboto"/>
                <a:sym typeface="Roboto"/>
              </a:rPr>
              <a:t> is used to specify that the function being defined is a member of the class </a:t>
            </a:r>
            <a:r>
              <a:rPr lang="en" sz="1200">
                <a:solidFill>
                  <a:schemeClr val="dk1"/>
                </a:solidFill>
                <a:highlight>
                  <a:srgbClr val="FFFFFF"/>
                </a:highlight>
                <a:latin typeface="Courier New"/>
                <a:ea typeface="Courier New"/>
                <a:cs typeface="Courier New"/>
                <a:sym typeface="Courier New"/>
              </a:rPr>
              <a:t>Rectangle</a:t>
            </a:r>
            <a:r>
              <a:rPr lang="en" sz="1200">
                <a:solidFill>
                  <a:schemeClr val="dk1"/>
                </a:solidFill>
                <a:highlight>
                  <a:srgbClr val="FFFFFF"/>
                </a:highlight>
                <a:latin typeface="Roboto"/>
                <a:ea typeface="Roboto"/>
                <a:cs typeface="Roboto"/>
                <a:sym typeface="Roboto"/>
              </a:rPr>
              <a:t> and not a regular non-member function.</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highlight>
                  <a:srgbClr val="FFFFFF"/>
                </a:highlight>
                <a:latin typeface="Roboto"/>
                <a:ea typeface="Roboto"/>
                <a:cs typeface="Roboto"/>
                <a:sym typeface="Roboto"/>
              </a:rPr>
              <a:t>The scope operator </a:t>
            </a:r>
            <a:r>
              <a:rPr lang="en" sz="1200">
                <a:solidFill>
                  <a:schemeClr val="dk1"/>
                </a:solidFill>
                <a:highlight>
                  <a:srgbClr val="00FF00"/>
                </a:highlight>
                <a:latin typeface="Roboto"/>
                <a:ea typeface="Roboto"/>
                <a:cs typeface="Roboto"/>
                <a:sym typeface="Roboto"/>
              </a:rPr>
              <a:t>(</a:t>
            </a:r>
            <a:r>
              <a:rPr lang="en" sz="1200">
                <a:solidFill>
                  <a:schemeClr val="dk1"/>
                </a:solidFill>
                <a:highlight>
                  <a:srgbClr val="00FF00"/>
                </a:highlight>
                <a:latin typeface="Courier New"/>
                <a:ea typeface="Courier New"/>
                <a:cs typeface="Courier New"/>
                <a:sym typeface="Courier New"/>
              </a:rPr>
              <a:t>::</a:t>
            </a:r>
            <a:r>
              <a:rPr lang="en" sz="1200">
                <a:solidFill>
                  <a:schemeClr val="dk1"/>
                </a:solidFill>
                <a:highlight>
                  <a:srgbClr val="00FF00"/>
                </a:highlight>
                <a:latin typeface="Roboto"/>
                <a:ea typeface="Roboto"/>
                <a:cs typeface="Roboto"/>
                <a:sym typeface="Roboto"/>
              </a:rPr>
              <a:t>) </a:t>
            </a:r>
            <a:r>
              <a:rPr lang="en" sz="1200">
                <a:solidFill>
                  <a:schemeClr val="dk1"/>
                </a:solidFill>
                <a:highlight>
                  <a:srgbClr val="FFFFFF"/>
                </a:highlight>
                <a:latin typeface="Roboto"/>
                <a:ea typeface="Roboto"/>
                <a:cs typeface="Roboto"/>
                <a:sym typeface="Roboto"/>
              </a:rPr>
              <a:t>specifies the class to which the member being defined belongs, granting exactly the same scope properties as if this function definition was directly included within the class definition. For example, the function </a:t>
            </a:r>
            <a:r>
              <a:rPr b="1" lang="en" sz="1200">
                <a:solidFill>
                  <a:schemeClr val="dk1"/>
                </a:solidFill>
                <a:highlight>
                  <a:srgbClr val="FFFFFF"/>
                </a:highlight>
                <a:latin typeface="Courier New"/>
                <a:ea typeface="Courier New"/>
                <a:cs typeface="Courier New"/>
                <a:sym typeface="Courier New"/>
              </a:rPr>
              <a:t>set_values</a:t>
            </a:r>
            <a:r>
              <a:rPr lang="en" sz="1200">
                <a:solidFill>
                  <a:schemeClr val="dk1"/>
                </a:solidFill>
                <a:highlight>
                  <a:srgbClr val="FFFFFF"/>
                </a:highlight>
                <a:latin typeface="Roboto"/>
                <a:ea typeface="Roboto"/>
                <a:cs typeface="Roboto"/>
                <a:sym typeface="Roboto"/>
              </a:rPr>
              <a:t> in the previous example has access to the variables </a:t>
            </a:r>
            <a:r>
              <a:rPr lang="en" sz="1200">
                <a:solidFill>
                  <a:schemeClr val="dk1"/>
                </a:solidFill>
                <a:highlight>
                  <a:srgbClr val="FFFFFF"/>
                </a:highlight>
                <a:latin typeface="Courier New"/>
                <a:ea typeface="Courier New"/>
                <a:cs typeface="Courier New"/>
                <a:sym typeface="Courier New"/>
              </a:rPr>
              <a:t>width</a:t>
            </a:r>
            <a:r>
              <a:rPr lang="en" sz="1200">
                <a:solidFill>
                  <a:schemeClr val="dk1"/>
                </a:solidFill>
                <a:highlight>
                  <a:srgbClr val="FFFFFF"/>
                </a:highlight>
                <a:latin typeface="Roboto"/>
                <a:ea typeface="Roboto"/>
                <a:cs typeface="Roboto"/>
                <a:sym typeface="Roboto"/>
              </a:rPr>
              <a:t> and </a:t>
            </a:r>
            <a:r>
              <a:rPr lang="en" sz="1200">
                <a:solidFill>
                  <a:schemeClr val="dk1"/>
                </a:solidFill>
                <a:highlight>
                  <a:srgbClr val="FFFFFF"/>
                </a:highlight>
                <a:latin typeface="Courier New"/>
                <a:ea typeface="Courier New"/>
                <a:cs typeface="Courier New"/>
                <a:sym typeface="Courier New"/>
              </a:rPr>
              <a:t>height</a:t>
            </a:r>
            <a:r>
              <a:rPr lang="en" sz="1200">
                <a:solidFill>
                  <a:schemeClr val="dk1"/>
                </a:solidFill>
                <a:highlight>
                  <a:srgbClr val="FFFFFF"/>
                </a:highlight>
                <a:latin typeface="Roboto"/>
                <a:ea typeface="Roboto"/>
                <a:cs typeface="Roboto"/>
                <a:sym typeface="Roboto"/>
              </a:rPr>
              <a:t>, which are private members of class </a:t>
            </a:r>
            <a:r>
              <a:rPr lang="en" sz="1200">
                <a:solidFill>
                  <a:schemeClr val="dk1"/>
                </a:solidFill>
                <a:highlight>
                  <a:srgbClr val="FFFFFF"/>
                </a:highlight>
                <a:latin typeface="Courier New"/>
                <a:ea typeface="Courier New"/>
                <a:cs typeface="Courier New"/>
                <a:sym typeface="Courier New"/>
              </a:rPr>
              <a:t>Rectangle</a:t>
            </a:r>
            <a:r>
              <a:rPr lang="en" sz="1200">
                <a:solidFill>
                  <a:schemeClr val="dk1"/>
                </a:solidFill>
                <a:highlight>
                  <a:srgbClr val="FFFFFF"/>
                </a:highlight>
                <a:latin typeface="Roboto"/>
                <a:ea typeface="Roboto"/>
                <a:cs typeface="Roboto"/>
                <a:sym typeface="Roboto"/>
              </a:rPr>
              <a:t>, and thus only accessible from other members of the class, such as this.</a:t>
            </a:r>
            <a:endParaRPr sz="1500"/>
          </a:p>
        </p:txBody>
      </p:sp>
      <p:sp>
        <p:nvSpPr>
          <p:cNvPr id="935" name="Google Shape;935;g283038813be_0_662"/>
          <p:cNvSpPr txBox="1"/>
          <p:nvPr/>
        </p:nvSpPr>
        <p:spPr>
          <a:xfrm>
            <a:off x="4955700" y="667725"/>
            <a:ext cx="232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Explained:</a:t>
            </a:r>
            <a:endParaRPr b="1"/>
          </a:p>
        </p:txBody>
      </p:sp>
      <p:sp>
        <p:nvSpPr>
          <p:cNvPr id="936" name="Google Shape;936;g283038813be_0_66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g283038813be_0_670"/>
          <p:cNvSpPr txBox="1"/>
          <p:nvPr>
            <p:ph idx="1" type="body"/>
          </p:nvPr>
        </p:nvSpPr>
        <p:spPr>
          <a:xfrm>
            <a:off x="311700" y="250400"/>
            <a:ext cx="8520600" cy="4653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solidFill>
                  <a:schemeClr val="dk1"/>
                </a:solidFill>
                <a:highlight>
                  <a:srgbClr val="FFFFFF"/>
                </a:highlight>
                <a:latin typeface="Roboto"/>
                <a:ea typeface="Roboto"/>
                <a:cs typeface="Roboto"/>
                <a:sym typeface="Roboto"/>
              </a:rPr>
              <a:t>The only difference between </a:t>
            </a:r>
            <a:r>
              <a:rPr b="1" i="1" lang="en">
                <a:solidFill>
                  <a:schemeClr val="dk1"/>
                </a:solidFill>
                <a:highlight>
                  <a:srgbClr val="FFFFFF"/>
                </a:highlight>
                <a:latin typeface="Roboto"/>
                <a:ea typeface="Roboto"/>
                <a:cs typeface="Roboto"/>
                <a:sym typeface="Roboto"/>
              </a:rPr>
              <a:t>defining a member function completely within the class definition or to just include its declaration in the function and define it later outside the class</a:t>
            </a:r>
            <a:r>
              <a:rPr lang="en">
                <a:solidFill>
                  <a:schemeClr val="dk1"/>
                </a:solidFill>
                <a:highlight>
                  <a:srgbClr val="FFFFFF"/>
                </a:highlight>
                <a:latin typeface="Roboto"/>
                <a:ea typeface="Roboto"/>
                <a:cs typeface="Roboto"/>
                <a:sym typeface="Roboto"/>
              </a:rPr>
              <a:t>, </a:t>
            </a:r>
            <a:r>
              <a:rPr lang="en">
                <a:solidFill>
                  <a:srgbClr val="4A86E8"/>
                </a:solidFill>
                <a:highlight>
                  <a:srgbClr val="FFFFFF"/>
                </a:highlight>
                <a:latin typeface="Roboto"/>
                <a:ea typeface="Roboto"/>
                <a:cs typeface="Roboto"/>
                <a:sym typeface="Roboto"/>
              </a:rPr>
              <a:t>is that in the first case the function is automatically considered an </a:t>
            </a:r>
            <a:r>
              <a:rPr i="1" lang="en">
                <a:solidFill>
                  <a:srgbClr val="4A86E8"/>
                </a:solidFill>
                <a:highlight>
                  <a:srgbClr val="FFFFFF"/>
                </a:highlight>
                <a:latin typeface="Roboto"/>
                <a:ea typeface="Roboto"/>
                <a:cs typeface="Roboto"/>
                <a:sym typeface="Roboto"/>
              </a:rPr>
              <a:t>inline</a:t>
            </a:r>
            <a:r>
              <a:rPr lang="en">
                <a:solidFill>
                  <a:srgbClr val="4A86E8"/>
                </a:solidFill>
                <a:highlight>
                  <a:srgbClr val="FFFFFF"/>
                </a:highlight>
                <a:latin typeface="Roboto"/>
                <a:ea typeface="Roboto"/>
                <a:cs typeface="Roboto"/>
                <a:sym typeface="Roboto"/>
              </a:rPr>
              <a:t> member function by the compiler, while in the second it is a normal </a:t>
            </a:r>
            <a:r>
              <a:rPr lang="en">
                <a:solidFill>
                  <a:schemeClr val="dk1"/>
                </a:solidFill>
                <a:highlight>
                  <a:srgbClr val="FFFFFF"/>
                </a:highlight>
                <a:latin typeface="Roboto"/>
                <a:ea typeface="Roboto"/>
                <a:cs typeface="Roboto"/>
                <a:sym typeface="Roboto"/>
              </a:rPr>
              <a:t>(not-inline) class member function. This causes no differences in behavior, but only on possible compiler optimizations.</a:t>
            </a:r>
            <a:endParaRPr>
              <a:solidFill>
                <a:schemeClr val="dk1"/>
              </a:solidFill>
              <a:highlight>
                <a:srgbClr val="FFFFFF"/>
              </a:highlight>
              <a:latin typeface="Roboto"/>
              <a:ea typeface="Roboto"/>
              <a:cs typeface="Roboto"/>
              <a:sym typeface="Roboto"/>
            </a:endParaRPr>
          </a:p>
          <a:p>
            <a:pPr indent="0" lvl="0" marL="0" rtl="0" algn="just">
              <a:spcBef>
                <a:spcPts val="0"/>
              </a:spcBef>
              <a:spcAft>
                <a:spcPts val="0"/>
              </a:spcAft>
              <a:buNone/>
            </a:pPr>
            <a:r>
              <a:rPr lang="en">
                <a:solidFill>
                  <a:schemeClr val="dk1"/>
                </a:solidFill>
                <a:highlight>
                  <a:srgbClr val="FFFFFF"/>
                </a:highlight>
                <a:latin typeface="Roboto"/>
                <a:ea typeface="Roboto"/>
                <a:cs typeface="Roboto"/>
                <a:sym typeface="Roboto"/>
              </a:rPr>
              <a:t>Members </a:t>
            </a:r>
            <a:r>
              <a:rPr b="1" lang="en">
                <a:solidFill>
                  <a:schemeClr val="dk1"/>
                </a:solidFill>
                <a:highlight>
                  <a:srgbClr val="FFFFFF"/>
                </a:highlight>
                <a:latin typeface="Courier New"/>
                <a:ea typeface="Courier New"/>
                <a:cs typeface="Courier New"/>
                <a:sym typeface="Courier New"/>
              </a:rPr>
              <a:t>width</a:t>
            </a:r>
            <a:r>
              <a:rPr lang="en">
                <a:solidFill>
                  <a:schemeClr val="dk1"/>
                </a:solidFill>
                <a:highlight>
                  <a:srgbClr val="FFFFFF"/>
                </a:highlight>
                <a:latin typeface="Roboto"/>
                <a:ea typeface="Roboto"/>
                <a:cs typeface="Roboto"/>
                <a:sym typeface="Roboto"/>
              </a:rPr>
              <a:t> and </a:t>
            </a:r>
            <a:r>
              <a:rPr b="1" lang="en">
                <a:solidFill>
                  <a:schemeClr val="dk1"/>
                </a:solidFill>
                <a:highlight>
                  <a:srgbClr val="FFFFFF"/>
                </a:highlight>
                <a:latin typeface="Courier New"/>
                <a:ea typeface="Courier New"/>
                <a:cs typeface="Courier New"/>
                <a:sym typeface="Courier New"/>
              </a:rPr>
              <a:t>height</a:t>
            </a:r>
            <a:r>
              <a:rPr lang="en">
                <a:solidFill>
                  <a:schemeClr val="dk1"/>
                </a:solidFill>
                <a:highlight>
                  <a:srgbClr val="FFFFFF"/>
                </a:highlight>
                <a:latin typeface="Roboto"/>
                <a:ea typeface="Roboto"/>
                <a:cs typeface="Roboto"/>
                <a:sym typeface="Roboto"/>
              </a:rPr>
              <a:t> have private access (remember that if nothing else is specified, all members of a class defined with keyword </a:t>
            </a:r>
            <a:r>
              <a:rPr lang="en">
                <a:solidFill>
                  <a:schemeClr val="dk1"/>
                </a:solidFill>
                <a:highlight>
                  <a:srgbClr val="FFFFFF"/>
                </a:highlight>
                <a:latin typeface="Courier New"/>
                <a:ea typeface="Courier New"/>
                <a:cs typeface="Courier New"/>
                <a:sym typeface="Courier New"/>
              </a:rPr>
              <a:t>class</a:t>
            </a:r>
            <a:r>
              <a:rPr lang="en">
                <a:solidFill>
                  <a:schemeClr val="dk1"/>
                </a:solidFill>
                <a:highlight>
                  <a:srgbClr val="FFFFFF"/>
                </a:highlight>
                <a:latin typeface="Roboto"/>
                <a:ea typeface="Roboto"/>
                <a:cs typeface="Roboto"/>
                <a:sym typeface="Roboto"/>
              </a:rPr>
              <a:t> have </a:t>
            </a:r>
            <a:r>
              <a:rPr b="1" lang="en">
                <a:solidFill>
                  <a:schemeClr val="dk1"/>
                </a:solidFill>
                <a:highlight>
                  <a:srgbClr val="FFFFFF"/>
                </a:highlight>
                <a:latin typeface="Roboto"/>
                <a:ea typeface="Roboto"/>
                <a:cs typeface="Roboto"/>
                <a:sym typeface="Roboto"/>
              </a:rPr>
              <a:t>private</a:t>
            </a:r>
            <a:r>
              <a:rPr lang="en">
                <a:solidFill>
                  <a:schemeClr val="dk1"/>
                </a:solidFill>
                <a:highlight>
                  <a:srgbClr val="FFFFFF"/>
                </a:highlight>
                <a:latin typeface="Roboto"/>
                <a:ea typeface="Roboto"/>
                <a:cs typeface="Roboto"/>
                <a:sym typeface="Roboto"/>
              </a:rPr>
              <a:t> access). By declaring them private, access from outside the class is not allowed.</a:t>
            </a:r>
            <a:endParaRPr>
              <a:solidFill>
                <a:schemeClr val="dk1"/>
              </a:solidFill>
              <a:highlight>
                <a:srgbClr val="FFFFFF"/>
              </a:highlight>
              <a:latin typeface="Roboto"/>
              <a:ea typeface="Roboto"/>
              <a:cs typeface="Roboto"/>
              <a:sym typeface="Roboto"/>
            </a:endParaRPr>
          </a:p>
          <a:p>
            <a:pPr indent="0" lvl="0" marL="0" rtl="0" algn="just">
              <a:spcBef>
                <a:spcPts val="0"/>
              </a:spcBef>
              <a:spcAft>
                <a:spcPts val="0"/>
              </a:spcAft>
              <a:buNone/>
            </a:pPr>
            <a:r>
              <a:rPr lang="en">
                <a:solidFill>
                  <a:schemeClr val="dk1"/>
                </a:solidFill>
                <a:highlight>
                  <a:srgbClr val="FFFFFF"/>
                </a:highlight>
                <a:latin typeface="Roboto"/>
                <a:ea typeface="Roboto"/>
                <a:cs typeface="Roboto"/>
                <a:sym typeface="Roboto"/>
              </a:rPr>
              <a:t> This makes sense, since we have already defined a member function to set values for those members within the object: the member function </a:t>
            </a:r>
            <a:r>
              <a:rPr b="1" lang="en">
                <a:solidFill>
                  <a:schemeClr val="dk1"/>
                </a:solidFill>
                <a:highlight>
                  <a:srgbClr val="FFFFFF"/>
                </a:highlight>
                <a:latin typeface="Courier New"/>
                <a:ea typeface="Courier New"/>
                <a:cs typeface="Courier New"/>
                <a:sym typeface="Courier New"/>
              </a:rPr>
              <a:t>set_values</a:t>
            </a:r>
            <a:r>
              <a:rPr lang="en">
                <a:solidFill>
                  <a:schemeClr val="dk1"/>
                </a:solidFill>
                <a:highlight>
                  <a:srgbClr val="FFFFFF"/>
                </a:highlight>
                <a:latin typeface="Roboto"/>
                <a:ea typeface="Roboto"/>
                <a:cs typeface="Roboto"/>
                <a:sym typeface="Roboto"/>
              </a:rPr>
              <a:t>. Therefore, the rest of the program does not need to have direct access to them. </a:t>
            </a:r>
            <a:endParaRPr>
              <a:solidFill>
                <a:schemeClr val="dk1"/>
              </a:solidFill>
              <a:highlight>
                <a:srgbClr val="FFFFFF"/>
              </a:highlight>
              <a:latin typeface="Roboto"/>
              <a:ea typeface="Roboto"/>
              <a:cs typeface="Roboto"/>
              <a:sym typeface="Roboto"/>
            </a:endParaRPr>
          </a:p>
        </p:txBody>
      </p:sp>
      <p:sp>
        <p:nvSpPr>
          <p:cNvPr id="942" name="Google Shape;942;g283038813be_0_67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g283038813be_0_674"/>
          <p:cNvSpPr txBox="1"/>
          <p:nvPr>
            <p:ph type="title"/>
          </p:nvPr>
        </p:nvSpPr>
        <p:spPr>
          <a:xfrm>
            <a:off x="2355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Multiple objects</a:t>
            </a:r>
            <a:endParaRPr/>
          </a:p>
        </p:txBody>
      </p:sp>
      <p:sp>
        <p:nvSpPr>
          <p:cNvPr id="948" name="Google Shape;948;g283038813be_0_674"/>
          <p:cNvSpPr txBox="1"/>
          <p:nvPr>
            <p:ph idx="1" type="body"/>
          </p:nvPr>
        </p:nvSpPr>
        <p:spPr>
          <a:xfrm>
            <a:off x="311700" y="594675"/>
            <a:ext cx="8520600" cy="428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87">
                <a:solidFill>
                  <a:schemeClr val="dk1"/>
                </a:solidFill>
                <a:highlight>
                  <a:srgbClr val="FFFFFF"/>
                </a:highlight>
                <a:latin typeface="Roboto"/>
                <a:ea typeface="Roboto"/>
                <a:cs typeface="Roboto"/>
                <a:sym typeface="Roboto"/>
              </a:rPr>
              <a:t>The most important property of a class is that it is a type, and as such, we can declare multiple objects of it. For example, following with the previous example of class </a:t>
            </a:r>
            <a:r>
              <a:rPr lang="en" sz="1087">
                <a:solidFill>
                  <a:schemeClr val="dk1"/>
                </a:solidFill>
                <a:highlight>
                  <a:srgbClr val="FFFFFF"/>
                </a:highlight>
                <a:latin typeface="Courier New"/>
                <a:ea typeface="Courier New"/>
                <a:cs typeface="Courier New"/>
                <a:sym typeface="Courier New"/>
              </a:rPr>
              <a:t>Rectangle</a:t>
            </a:r>
            <a:r>
              <a:rPr lang="en" sz="1087">
                <a:solidFill>
                  <a:schemeClr val="dk1"/>
                </a:solidFill>
                <a:highlight>
                  <a:srgbClr val="FFFFFF"/>
                </a:highlight>
                <a:latin typeface="Roboto"/>
                <a:ea typeface="Roboto"/>
                <a:cs typeface="Roboto"/>
                <a:sym typeface="Roboto"/>
              </a:rPr>
              <a:t>, we could have declared the object </a:t>
            </a:r>
            <a:r>
              <a:rPr lang="en" sz="1087">
                <a:solidFill>
                  <a:schemeClr val="dk1"/>
                </a:solidFill>
                <a:highlight>
                  <a:srgbClr val="FFFFFF"/>
                </a:highlight>
                <a:latin typeface="Courier New"/>
                <a:ea typeface="Courier New"/>
                <a:cs typeface="Courier New"/>
                <a:sym typeface="Courier New"/>
              </a:rPr>
              <a:t>rectb</a:t>
            </a:r>
            <a:r>
              <a:rPr lang="en" sz="1087">
                <a:solidFill>
                  <a:schemeClr val="dk1"/>
                </a:solidFill>
                <a:highlight>
                  <a:srgbClr val="FFFFFF"/>
                </a:highlight>
                <a:latin typeface="Roboto"/>
                <a:ea typeface="Roboto"/>
                <a:cs typeface="Roboto"/>
                <a:sym typeface="Roboto"/>
              </a:rPr>
              <a:t> in addition to object </a:t>
            </a:r>
            <a:r>
              <a:rPr lang="en" sz="1087">
                <a:solidFill>
                  <a:schemeClr val="dk1"/>
                </a:solidFill>
                <a:highlight>
                  <a:srgbClr val="FFFFFF"/>
                </a:highlight>
                <a:latin typeface="Courier New"/>
                <a:ea typeface="Courier New"/>
                <a:cs typeface="Courier New"/>
                <a:sym typeface="Courier New"/>
              </a:rPr>
              <a:t>rect</a:t>
            </a:r>
            <a:r>
              <a:rPr lang="en" sz="1087">
                <a:solidFill>
                  <a:schemeClr val="dk1"/>
                </a:solidFill>
                <a:highlight>
                  <a:srgbClr val="FFFFFF"/>
                </a:highlight>
                <a:latin typeface="Roboto"/>
                <a:ea typeface="Roboto"/>
                <a:cs typeface="Roboto"/>
                <a:sym typeface="Roboto"/>
              </a:rPr>
              <a:t>:</a:t>
            </a:r>
            <a:endParaRPr sz="1087">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rPr lang="en" sz="800">
                <a:solidFill>
                  <a:srgbClr val="007000"/>
                </a:solidFill>
                <a:latin typeface="Courier New"/>
                <a:ea typeface="Courier New"/>
                <a:cs typeface="Courier New"/>
                <a:sym typeface="Courier New"/>
              </a:rPr>
              <a:t>// example: one class, two objects</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rgbClr val="500070"/>
                </a:solidFill>
                <a:latin typeface="Courier New"/>
                <a:ea typeface="Courier New"/>
                <a:cs typeface="Courier New"/>
                <a:sym typeface="Courier New"/>
              </a:rPr>
              <a:t>#include &lt;iostream&gt;</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rgbClr val="0000B0"/>
                </a:solidFill>
                <a:latin typeface="Courier New"/>
                <a:ea typeface="Courier New"/>
                <a:cs typeface="Courier New"/>
                <a:sym typeface="Courier New"/>
              </a:rPr>
              <a:t>using</a:t>
            </a:r>
            <a:r>
              <a:rPr lang="en" sz="800">
                <a:solidFill>
                  <a:schemeClr val="dk1"/>
                </a:solidFill>
                <a:latin typeface="Courier New"/>
                <a:ea typeface="Courier New"/>
                <a:cs typeface="Courier New"/>
                <a:sym typeface="Courier New"/>
              </a:rPr>
              <a:t> </a:t>
            </a:r>
            <a:r>
              <a:rPr lang="en" sz="800">
                <a:solidFill>
                  <a:srgbClr val="0000B0"/>
                </a:solidFill>
                <a:latin typeface="Courier New"/>
                <a:ea typeface="Courier New"/>
                <a:cs typeface="Courier New"/>
                <a:sym typeface="Courier New"/>
              </a:rPr>
              <a:t>namespace</a:t>
            </a:r>
            <a:r>
              <a:rPr lang="en" sz="800">
                <a:solidFill>
                  <a:schemeClr val="dk1"/>
                </a:solidFill>
                <a:latin typeface="Courier New"/>
                <a:ea typeface="Courier New"/>
                <a:cs typeface="Courier New"/>
                <a:sym typeface="Courier New"/>
              </a:rPr>
              <a:t> std;</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rgbClr val="0000B0"/>
                </a:solidFill>
                <a:latin typeface="Courier New"/>
                <a:ea typeface="Courier New"/>
                <a:cs typeface="Courier New"/>
                <a:sym typeface="Courier New"/>
              </a:rPr>
              <a:t>class</a:t>
            </a:r>
            <a:r>
              <a:rPr lang="en" sz="800">
                <a:solidFill>
                  <a:schemeClr val="dk1"/>
                </a:solidFill>
                <a:latin typeface="Courier New"/>
                <a:ea typeface="Courier New"/>
                <a:cs typeface="Courier New"/>
                <a:sym typeface="Courier New"/>
              </a:rPr>
              <a:t> Rectangle {</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a:t>
            </a:r>
            <a:r>
              <a:rPr lang="en" sz="800">
                <a:solidFill>
                  <a:srgbClr val="0000B0"/>
                </a:solidFill>
                <a:latin typeface="Courier New"/>
                <a:ea typeface="Courier New"/>
                <a:cs typeface="Courier New"/>
                <a:sym typeface="Courier New"/>
              </a:rPr>
              <a:t>int</a:t>
            </a:r>
            <a:r>
              <a:rPr lang="en" sz="800">
                <a:solidFill>
                  <a:schemeClr val="dk1"/>
                </a:solidFill>
                <a:latin typeface="Courier New"/>
                <a:ea typeface="Courier New"/>
                <a:cs typeface="Courier New"/>
                <a:sym typeface="Courier New"/>
              </a:rPr>
              <a:t> width, height;</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a:t>
            </a:r>
            <a:r>
              <a:rPr lang="en" sz="800">
                <a:solidFill>
                  <a:srgbClr val="0000B0"/>
                </a:solidFill>
                <a:latin typeface="Courier New"/>
                <a:ea typeface="Courier New"/>
                <a:cs typeface="Courier New"/>
                <a:sym typeface="Courier New"/>
              </a:rPr>
              <a:t>public</a:t>
            </a:r>
            <a:r>
              <a:rPr lang="en" sz="800">
                <a:solidFill>
                  <a:schemeClr val="dk1"/>
                </a:solidFill>
                <a:latin typeface="Courier New"/>
                <a:ea typeface="Courier New"/>
                <a:cs typeface="Courier New"/>
                <a:sym typeface="Courier New"/>
              </a:rPr>
              <a:t>:</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a:t>
            </a:r>
            <a:r>
              <a:rPr lang="en" sz="800">
                <a:solidFill>
                  <a:srgbClr val="0000B0"/>
                </a:solidFill>
                <a:latin typeface="Courier New"/>
                <a:ea typeface="Courier New"/>
                <a:cs typeface="Courier New"/>
                <a:sym typeface="Courier New"/>
              </a:rPr>
              <a:t>void</a:t>
            </a:r>
            <a:r>
              <a:rPr lang="en" sz="800">
                <a:solidFill>
                  <a:schemeClr val="dk1"/>
                </a:solidFill>
                <a:latin typeface="Courier New"/>
                <a:ea typeface="Courier New"/>
                <a:cs typeface="Courier New"/>
                <a:sym typeface="Courier New"/>
              </a:rPr>
              <a:t> set_values (</a:t>
            </a:r>
            <a:r>
              <a:rPr lang="en" sz="800">
                <a:solidFill>
                  <a:srgbClr val="0000B0"/>
                </a:solidFill>
                <a:latin typeface="Courier New"/>
                <a:ea typeface="Courier New"/>
                <a:cs typeface="Courier New"/>
                <a:sym typeface="Courier New"/>
              </a:rPr>
              <a:t>int</a:t>
            </a:r>
            <a:r>
              <a:rPr lang="en" sz="800">
                <a:solidFill>
                  <a:schemeClr val="dk1"/>
                </a:solidFill>
                <a:latin typeface="Courier New"/>
                <a:ea typeface="Courier New"/>
                <a:cs typeface="Courier New"/>
                <a:sym typeface="Courier New"/>
              </a:rPr>
              <a:t>,</a:t>
            </a:r>
            <a:r>
              <a:rPr lang="en" sz="800">
                <a:solidFill>
                  <a:srgbClr val="0000B0"/>
                </a:solidFill>
                <a:latin typeface="Courier New"/>
                <a:ea typeface="Courier New"/>
                <a:cs typeface="Courier New"/>
                <a:sym typeface="Courier New"/>
              </a:rPr>
              <a:t>int</a:t>
            </a:r>
            <a:r>
              <a:rPr lang="en" sz="800">
                <a:solidFill>
                  <a:schemeClr val="dk1"/>
                </a:solidFill>
                <a:latin typeface="Courier New"/>
                <a:ea typeface="Courier New"/>
                <a:cs typeface="Courier New"/>
                <a:sym typeface="Courier New"/>
              </a:rPr>
              <a:t>);</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a:t>
            </a:r>
            <a:r>
              <a:rPr lang="en" sz="800">
                <a:solidFill>
                  <a:srgbClr val="0000B0"/>
                </a:solidFill>
                <a:latin typeface="Courier New"/>
                <a:ea typeface="Courier New"/>
                <a:cs typeface="Courier New"/>
                <a:sym typeface="Courier New"/>
              </a:rPr>
              <a:t>int</a:t>
            </a:r>
            <a:r>
              <a:rPr lang="en" sz="800">
                <a:solidFill>
                  <a:schemeClr val="dk1"/>
                </a:solidFill>
                <a:latin typeface="Courier New"/>
                <a:ea typeface="Courier New"/>
                <a:cs typeface="Courier New"/>
                <a:sym typeface="Courier New"/>
              </a:rPr>
              <a:t> area () {</a:t>
            </a:r>
            <a:r>
              <a:rPr lang="en" sz="800">
                <a:solidFill>
                  <a:srgbClr val="0000B0"/>
                </a:solidFill>
                <a:latin typeface="Courier New"/>
                <a:ea typeface="Courier New"/>
                <a:cs typeface="Courier New"/>
                <a:sym typeface="Courier New"/>
              </a:rPr>
              <a:t>return</a:t>
            </a:r>
            <a:r>
              <a:rPr lang="en" sz="800">
                <a:solidFill>
                  <a:schemeClr val="dk1"/>
                </a:solidFill>
                <a:latin typeface="Courier New"/>
                <a:ea typeface="Courier New"/>
                <a:cs typeface="Courier New"/>
                <a:sym typeface="Courier New"/>
              </a:rPr>
              <a:t> width*height;}</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rgbClr val="0000B0"/>
                </a:solidFill>
                <a:latin typeface="Courier New"/>
                <a:ea typeface="Courier New"/>
                <a:cs typeface="Courier New"/>
                <a:sym typeface="Courier New"/>
              </a:rPr>
              <a:t>void</a:t>
            </a:r>
            <a:r>
              <a:rPr lang="en" sz="800">
                <a:solidFill>
                  <a:schemeClr val="dk1"/>
                </a:solidFill>
                <a:latin typeface="Courier New"/>
                <a:ea typeface="Courier New"/>
                <a:cs typeface="Courier New"/>
                <a:sym typeface="Courier New"/>
              </a:rPr>
              <a:t> Rectangle::set_values (</a:t>
            </a:r>
            <a:r>
              <a:rPr lang="en" sz="800">
                <a:solidFill>
                  <a:srgbClr val="0000B0"/>
                </a:solidFill>
                <a:latin typeface="Courier New"/>
                <a:ea typeface="Courier New"/>
                <a:cs typeface="Courier New"/>
                <a:sym typeface="Courier New"/>
              </a:rPr>
              <a:t>int</a:t>
            </a:r>
            <a:r>
              <a:rPr lang="en" sz="800">
                <a:solidFill>
                  <a:schemeClr val="dk1"/>
                </a:solidFill>
                <a:latin typeface="Courier New"/>
                <a:ea typeface="Courier New"/>
                <a:cs typeface="Courier New"/>
                <a:sym typeface="Courier New"/>
              </a:rPr>
              <a:t> x, </a:t>
            </a:r>
            <a:r>
              <a:rPr lang="en" sz="800">
                <a:solidFill>
                  <a:srgbClr val="0000B0"/>
                </a:solidFill>
                <a:latin typeface="Courier New"/>
                <a:ea typeface="Courier New"/>
                <a:cs typeface="Courier New"/>
                <a:sym typeface="Courier New"/>
              </a:rPr>
              <a:t>int</a:t>
            </a:r>
            <a:r>
              <a:rPr lang="en" sz="800">
                <a:solidFill>
                  <a:schemeClr val="dk1"/>
                </a:solidFill>
                <a:latin typeface="Courier New"/>
                <a:ea typeface="Courier New"/>
                <a:cs typeface="Courier New"/>
                <a:sym typeface="Courier New"/>
              </a:rPr>
              <a:t> y) {</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width = x;</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height = y;</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rgbClr val="0000B0"/>
                </a:solidFill>
                <a:latin typeface="Courier New"/>
                <a:ea typeface="Courier New"/>
                <a:cs typeface="Courier New"/>
                <a:sym typeface="Courier New"/>
              </a:rPr>
              <a:t>int</a:t>
            </a:r>
            <a:r>
              <a:rPr lang="en" sz="800">
                <a:solidFill>
                  <a:schemeClr val="dk1"/>
                </a:solidFill>
                <a:latin typeface="Courier New"/>
                <a:ea typeface="Courier New"/>
                <a:cs typeface="Courier New"/>
                <a:sym typeface="Courier New"/>
              </a:rPr>
              <a:t> main () {</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Rectangle rect, rectb;</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rect.set_values (3,4);</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rectb.set_values (5,6);</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cout &lt;&lt; </a:t>
            </a:r>
            <a:r>
              <a:rPr lang="en" sz="800">
                <a:solidFill>
                  <a:srgbClr val="600030"/>
                </a:solidFill>
                <a:latin typeface="Courier New"/>
                <a:ea typeface="Courier New"/>
                <a:cs typeface="Courier New"/>
                <a:sym typeface="Courier New"/>
              </a:rPr>
              <a:t>"rect area: "</a:t>
            </a:r>
            <a:r>
              <a:rPr lang="en" sz="800">
                <a:solidFill>
                  <a:schemeClr val="dk1"/>
                </a:solidFill>
                <a:latin typeface="Courier New"/>
                <a:ea typeface="Courier New"/>
                <a:cs typeface="Courier New"/>
                <a:sym typeface="Courier New"/>
              </a:rPr>
              <a:t> &lt;&lt; rect.area() &lt;&lt; endl;</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cout &lt;&lt; </a:t>
            </a:r>
            <a:r>
              <a:rPr lang="en" sz="800">
                <a:solidFill>
                  <a:srgbClr val="600030"/>
                </a:solidFill>
                <a:latin typeface="Courier New"/>
                <a:ea typeface="Courier New"/>
                <a:cs typeface="Courier New"/>
                <a:sym typeface="Courier New"/>
              </a:rPr>
              <a:t>"rectb area: "</a:t>
            </a:r>
            <a:r>
              <a:rPr lang="en" sz="800">
                <a:solidFill>
                  <a:schemeClr val="dk1"/>
                </a:solidFill>
                <a:latin typeface="Courier New"/>
                <a:ea typeface="Courier New"/>
                <a:cs typeface="Courier New"/>
                <a:sym typeface="Courier New"/>
              </a:rPr>
              <a:t> &lt;&lt; rectb.area() &lt;&lt; endl;</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a:t>
            </a:r>
            <a:r>
              <a:rPr lang="en" sz="800">
                <a:solidFill>
                  <a:srgbClr val="0000B0"/>
                </a:solidFill>
                <a:latin typeface="Courier New"/>
                <a:ea typeface="Courier New"/>
                <a:cs typeface="Courier New"/>
                <a:sym typeface="Courier New"/>
              </a:rPr>
              <a:t>return</a:t>
            </a:r>
            <a:r>
              <a:rPr lang="en" sz="800">
                <a:solidFill>
                  <a:schemeClr val="dk1"/>
                </a:solidFill>
                <a:latin typeface="Courier New"/>
                <a:ea typeface="Courier New"/>
                <a:cs typeface="Courier New"/>
                <a:sym typeface="Courier New"/>
              </a:rPr>
              <a:t> 0;</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800">
                <a:solidFill>
                  <a:schemeClr val="dk1"/>
                </a:solidFill>
                <a:latin typeface="Courier New"/>
                <a:ea typeface="Courier New"/>
                <a:cs typeface="Courier New"/>
                <a:sym typeface="Courier New"/>
              </a:rPr>
              <a:t>}</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400"/>
          </a:p>
        </p:txBody>
      </p:sp>
      <p:sp>
        <p:nvSpPr>
          <p:cNvPr id="949" name="Google Shape;949;g283038813be_0_674"/>
          <p:cNvSpPr txBox="1"/>
          <p:nvPr/>
        </p:nvSpPr>
        <p:spPr>
          <a:xfrm>
            <a:off x="761625" y="4507100"/>
            <a:ext cx="3000000" cy="554100"/>
          </a:xfrm>
          <a:prstGeom prst="rect">
            <a:avLst/>
          </a:prstGeom>
          <a:solidFill>
            <a:srgbClr val="B7B7B7"/>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ourier New"/>
                <a:ea typeface="Courier New"/>
                <a:cs typeface="Courier New"/>
                <a:sym typeface="Courier New"/>
              </a:rPr>
              <a:t>rect area: 12</a:t>
            </a:r>
            <a:endParaRPr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200">
                <a:solidFill>
                  <a:schemeClr val="dk1"/>
                </a:solidFill>
                <a:latin typeface="Courier New"/>
                <a:ea typeface="Courier New"/>
                <a:cs typeface="Courier New"/>
                <a:sym typeface="Courier New"/>
              </a:rPr>
              <a:t>rectb area: 30 </a:t>
            </a:r>
            <a:endParaRPr sz="1200">
              <a:solidFill>
                <a:schemeClr val="dk1"/>
              </a:solidFill>
              <a:latin typeface="Courier New"/>
              <a:ea typeface="Courier New"/>
              <a:cs typeface="Courier New"/>
              <a:sym typeface="Courier New"/>
            </a:endParaRPr>
          </a:p>
        </p:txBody>
      </p:sp>
      <p:sp>
        <p:nvSpPr>
          <p:cNvPr id="950" name="Google Shape;950;g283038813be_0_674"/>
          <p:cNvSpPr txBox="1"/>
          <p:nvPr/>
        </p:nvSpPr>
        <p:spPr>
          <a:xfrm>
            <a:off x="3881100" y="1231100"/>
            <a:ext cx="5028600" cy="332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highlight>
                  <a:srgbClr val="FFFFFF"/>
                </a:highlight>
                <a:latin typeface="Roboto"/>
                <a:ea typeface="Roboto"/>
                <a:cs typeface="Roboto"/>
                <a:sym typeface="Roboto"/>
              </a:rPr>
              <a:t>The class (type of the objects) is </a:t>
            </a:r>
            <a:r>
              <a:rPr lang="en" sz="1200">
                <a:solidFill>
                  <a:schemeClr val="dk1"/>
                </a:solidFill>
                <a:highlight>
                  <a:srgbClr val="FFFFFF"/>
                </a:highlight>
                <a:latin typeface="Courier New"/>
                <a:ea typeface="Courier New"/>
                <a:cs typeface="Courier New"/>
                <a:sym typeface="Courier New"/>
              </a:rPr>
              <a:t>Rectangle</a:t>
            </a:r>
            <a:r>
              <a:rPr lang="en" sz="1200">
                <a:solidFill>
                  <a:schemeClr val="dk1"/>
                </a:solidFill>
                <a:highlight>
                  <a:srgbClr val="FFFFFF"/>
                </a:highlight>
                <a:latin typeface="Roboto"/>
                <a:ea typeface="Roboto"/>
                <a:cs typeface="Roboto"/>
                <a:sym typeface="Roboto"/>
              </a:rPr>
              <a:t>, of which there are two instances (i.e., objects): </a:t>
            </a:r>
            <a:r>
              <a:rPr lang="en" sz="1200">
                <a:solidFill>
                  <a:schemeClr val="dk1"/>
                </a:solidFill>
                <a:highlight>
                  <a:srgbClr val="FFFFFF"/>
                </a:highlight>
                <a:latin typeface="Courier New"/>
                <a:ea typeface="Courier New"/>
                <a:cs typeface="Courier New"/>
                <a:sym typeface="Courier New"/>
              </a:rPr>
              <a:t>rect</a:t>
            </a:r>
            <a:r>
              <a:rPr lang="en" sz="1200">
                <a:solidFill>
                  <a:schemeClr val="dk1"/>
                </a:solidFill>
                <a:highlight>
                  <a:srgbClr val="FFFFFF"/>
                </a:highlight>
                <a:latin typeface="Roboto"/>
                <a:ea typeface="Roboto"/>
                <a:cs typeface="Roboto"/>
                <a:sym typeface="Roboto"/>
              </a:rPr>
              <a:t> and </a:t>
            </a:r>
            <a:r>
              <a:rPr lang="en" sz="1200">
                <a:solidFill>
                  <a:schemeClr val="dk1"/>
                </a:solidFill>
                <a:highlight>
                  <a:srgbClr val="FFFFFF"/>
                </a:highlight>
                <a:latin typeface="Courier New"/>
                <a:ea typeface="Courier New"/>
                <a:cs typeface="Courier New"/>
                <a:sym typeface="Courier New"/>
              </a:rPr>
              <a:t>rectb</a:t>
            </a:r>
            <a:r>
              <a:rPr lang="en" sz="1200">
                <a:solidFill>
                  <a:schemeClr val="dk1"/>
                </a:solidFill>
                <a:highlight>
                  <a:srgbClr val="FFFFFF"/>
                </a:highlight>
                <a:latin typeface="Roboto"/>
                <a:ea typeface="Roboto"/>
                <a:cs typeface="Roboto"/>
                <a:sym typeface="Roboto"/>
              </a:rPr>
              <a:t>. Each one of them has its own member variables and member functions.</a:t>
            </a:r>
            <a:endParaRPr sz="120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highlight>
                  <a:srgbClr val="FFFFFF"/>
                </a:highlight>
                <a:latin typeface="Roboto"/>
                <a:ea typeface="Roboto"/>
                <a:cs typeface="Roboto"/>
                <a:sym typeface="Roboto"/>
              </a:rPr>
              <a:t>Notice that the call to </a:t>
            </a:r>
            <a:r>
              <a:rPr b="1" lang="en" sz="1200">
                <a:solidFill>
                  <a:schemeClr val="dk1"/>
                </a:solidFill>
                <a:highlight>
                  <a:srgbClr val="FFFFFF"/>
                </a:highlight>
                <a:latin typeface="Courier New"/>
                <a:ea typeface="Courier New"/>
                <a:cs typeface="Courier New"/>
                <a:sym typeface="Courier New"/>
              </a:rPr>
              <a:t>rect.area()</a:t>
            </a:r>
            <a:r>
              <a:rPr lang="en" sz="1200">
                <a:solidFill>
                  <a:schemeClr val="dk1"/>
                </a:solidFill>
                <a:highlight>
                  <a:srgbClr val="FFFFFF"/>
                </a:highlight>
                <a:latin typeface="Roboto"/>
                <a:ea typeface="Roboto"/>
                <a:cs typeface="Roboto"/>
                <a:sym typeface="Roboto"/>
              </a:rPr>
              <a:t> does not give the same result as the call to </a:t>
            </a:r>
            <a:r>
              <a:rPr b="1" lang="en" sz="1200">
                <a:solidFill>
                  <a:schemeClr val="dk1"/>
                </a:solidFill>
                <a:highlight>
                  <a:srgbClr val="FFFFFF"/>
                </a:highlight>
                <a:latin typeface="Courier New"/>
                <a:ea typeface="Courier New"/>
                <a:cs typeface="Courier New"/>
                <a:sym typeface="Courier New"/>
              </a:rPr>
              <a:t>rectb.area()</a:t>
            </a:r>
            <a:r>
              <a:rPr b="1" lang="en" sz="1200">
                <a:solidFill>
                  <a:schemeClr val="dk1"/>
                </a:solidFill>
                <a:highlight>
                  <a:srgbClr val="FFFFFF"/>
                </a:highlight>
                <a:latin typeface="Roboto"/>
                <a:ea typeface="Roboto"/>
                <a:cs typeface="Roboto"/>
                <a:sym typeface="Roboto"/>
              </a:rPr>
              <a:t>.</a:t>
            </a:r>
            <a:r>
              <a:rPr lang="en" sz="1200">
                <a:solidFill>
                  <a:schemeClr val="dk1"/>
                </a:solidFill>
                <a:highlight>
                  <a:srgbClr val="FFFFFF"/>
                </a:highlight>
                <a:latin typeface="Roboto"/>
                <a:ea typeface="Roboto"/>
                <a:cs typeface="Roboto"/>
                <a:sym typeface="Roboto"/>
              </a:rPr>
              <a:t> This is because</a:t>
            </a:r>
            <a:r>
              <a:rPr b="1" lang="en" sz="1200">
                <a:solidFill>
                  <a:schemeClr val="dk1"/>
                </a:solidFill>
                <a:highlight>
                  <a:srgbClr val="FFFFFF"/>
                </a:highlight>
                <a:latin typeface="Roboto"/>
                <a:ea typeface="Roboto"/>
                <a:cs typeface="Roboto"/>
                <a:sym typeface="Roboto"/>
              </a:rPr>
              <a:t> each object of class </a:t>
            </a:r>
            <a:r>
              <a:rPr b="1" lang="en" sz="1200">
                <a:solidFill>
                  <a:schemeClr val="dk1"/>
                </a:solidFill>
                <a:highlight>
                  <a:srgbClr val="FFFFFF"/>
                </a:highlight>
                <a:latin typeface="Courier New"/>
                <a:ea typeface="Courier New"/>
                <a:cs typeface="Courier New"/>
                <a:sym typeface="Courier New"/>
              </a:rPr>
              <a:t>Rectangle</a:t>
            </a:r>
            <a:r>
              <a:rPr b="1" lang="en" sz="1200">
                <a:solidFill>
                  <a:schemeClr val="dk1"/>
                </a:solidFill>
                <a:highlight>
                  <a:srgbClr val="FFFFFF"/>
                </a:highlight>
                <a:latin typeface="Roboto"/>
                <a:ea typeface="Roboto"/>
                <a:cs typeface="Roboto"/>
                <a:sym typeface="Roboto"/>
              </a:rPr>
              <a:t> has its own variables </a:t>
            </a:r>
            <a:r>
              <a:rPr b="1" lang="en" sz="1200">
                <a:solidFill>
                  <a:schemeClr val="dk1"/>
                </a:solidFill>
                <a:highlight>
                  <a:srgbClr val="FFFFFF"/>
                </a:highlight>
                <a:latin typeface="Courier New"/>
                <a:ea typeface="Courier New"/>
                <a:cs typeface="Courier New"/>
                <a:sym typeface="Courier New"/>
              </a:rPr>
              <a:t>width</a:t>
            </a:r>
            <a:r>
              <a:rPr b="1" lang="en" sz="1200">
                <a:solidFill>
                  <a:schemeClr val="dk1"/>
                </a:solidFill>
                <a:highlight>
                  <a:srgbClr val="FFFFFF"/>
                </a:highlight>
                <a:latin typeface="Roboto"/>
                <a:ea typeface="Roboto"/>
                <a:cs typeface="Roboto"/>
                <a:sym typeface="Roboto"/>
              </a:rPr>
              <a:t> and </a:t>
            </a:r>
            <a:r>
              <a:rPr b="1" lang="en" sz="1200">
                <a:solidFill>
                  <a:schemeClr val="dk1"/>
                </a:solidFill>
                <a:highlight>
                  <a:srgbClr val="FFFFFF"/>
                </a:highlight>
                <a:latin typeface="Courier New"/>
                <a:ea typeface="Courier New"/>
                <a:cs typeface="Courier New"/>
                <a:sym typeface="Courier New"/>
              </a:rPr>
              <a:t>height</a:t>
            </a:r>
            <a:r>
              <a:rPr lang="en" sz="1200">
                <a:solidFill>
                  <a:schemeClr val="dk1"/>
                </a:solidFill>
                <a:highlight>
                  <a:srgbClr val="FFFFFF"/>
                </a:highlight>
                <a:latin typeface="Roboto"/>
                <a:ea typeface="Roboto"/>
                <a:cs typeface="Roboto"/>
                <a:sym typeface="Roboto"/>
              </a:rPr>
              <a:t>, as they -in some way- have also their own function members </a:t>
            </a:r>
            <a:r>
              <a:rPr lang="en" sz="1200">
                <a:solidFill>
                  <a:schemeClr val="dk1"/>
                </a:solidFill>
                <a:highlight>
                  <a:srgbClr val="FFFFFF"/>
                </a:highlight>
                <a:latin typeface="Courier New"/>
                <a:ea typeface="Courier New"/>
                <a:cs typeface="Courier New"/>
                <a:sym typeface="Courier New"/>
              </a:rPr>
              <a:t>set_value</a:t>
            </a:r>
            <a:r>
              <a:rPr lang="en" sz="1200">
                <a:solidFill>
                  <a:schemeClr val="dk1"/>
                </a:solidFill>
                <a:highlight>
                  <a:srgbClr val="FFFFFF"/>
                </a:highlight>
                <a:latin typeface="Roboto"/>
                <a:ea typeface="Roboto"/>
                <a:cs typeface="Roboto"/>
                <a:sym typeface="Roboto"/>
              </a:rPr>
              <a:t> and </a:t>
            </a:r>
            <a:r>
              <a:rPr lang="en" sz="1200">
                <a:solidFill>
                  <a:schemeClr val="dk1"/>
                </a:solidFill>
                <a:highlight>
                  <a:srgbClr val="FFFFFF"/>
                </a:highlight>
                <a:latin typeface="Courier New"/>
                <a:ea typeface="Courier New"/>
                <a:cs typeface="Courier New"/>
                <a:sym typeface="Courier New"/>
              </a:rPr>
              <a:t>area</a:t>
            </a:r>
            <a:r>
              <a:rPr lang="en" sz="1200">
                <a:solidFill>
                  <a:schemeClr val="dk1"/>
                </a:solidFill>
                <a:highlight>
                  <a:srgbClr val="FFFFFF"/>
                </a:highlight>
                <a:latin typeface="Roboto"/>
                <a:ea typeface="Roboto"/>
                <a:cs typeface="Roboto"/>
                <a:sym typeface="Roboto"/>
              </a:rPr>
              <a:t> that operate on the object's own member variables.</a:t>
            </a:r>
            <a:endParaRPr sz="120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highlight>
                  <a:srgbClr val="FFFFFF"/>
                </a:highlight>
                <a:latin typeface="Roboto"/>
                <a:ea typeface="Roboto"/>
                <a:cs typeface="Roboto"/>
                <a:sym typeface="Roboto"/>
              </a:rPr>
              <a:t>Classes allow programming using object-oriented paradigms: </a:t>
            </a:r>
            <a:r>
              <a:rPr b="1" lang="en" sz="1200">
                <a:solidFill>
                  <a:schemeClr val="dk1"/>
                </a:solidFill>
                <a:highlight>
                  <a:srgbClr val="FFFFFF"/>
                </a:highlight>
                <a:latin typeface="Roboto"/>
                <a:ea typeface="Roboto"/>
                <a:cs typeface="Roboto"/>
                <a:sym typeface="Roboto"/>
              </a:rPr>
              <a:t>Data and functions are both members </a:t>
            </a:r>
            <a:r>
              <a:rPr lang="en" sz="1200">
                <a:solidFill>
                  <a:schemeClr val="dk1"/>
                </a:solidFill>
                <a:highlight>
                  <a:srgbClr val="FFFFFF"/>
                </a:highlight>
                <a:latin typeface="Roboto"/>
                <a:ea typeface="Roboto"/>
                <a:cs typeface="Roboto"/>
                <a:sym typeface="Roboto"/>
              </a:rPr>
              <a:t>of the object, reducing the need to pass and carry handlers or other state variables as arguments to functions, because they are part of the object whose member is called. Notice that </a:t>
            </a:r>
            <a:r>
              <a:rPr b="1" lang="en" sz="1200">
                <a:solidFill>
                  <a:schemeClr val="dk1"/>
                </a:solidFill>
                <a:highlight>
                  <a:srgbClr val="FFFFFF"/>
                </a:highlight>
                <a:latin typeface="Roboto"/>
                <a:ea typeface="Roboto"/>
                <a:cs typeface="Roboto"/>
                <a:sym typeface="Roboto"/>
              </a:rPr>
              <a:t>no arguments were passed on the calls to </a:t>
            </a:r>
            <a:r>
              <a:rPr b="1" lang="en" sz="1200">
                <a:solidFill>
                  <a:schemeClr val="dk1"/>
                </a:solidFill>
                <a:highlight>
                  <a:srgbClr val="FFFFFF"/>
                </a:highlight>
                <a:latin typeface="Courier New"/>
                <a:ea typeface="Courier New"/>
                <a:cs typeface="Courier New"/>
                <a:sym typeface="Courier New"/>
              </a:rPr>
              <a:t>rect.area</a:t>
            </a:r>
            <a:r>
              <a:rPr b="1" lang="en" sz="1200">
                <a:solidFill>
                  <a:schemeClr val="dk1"/>
                </a:solidFill>
                <a:highlight>
                  <a:srgbClr val="FFFFFF"/>
                </a:highlight>
                <a:latin typeface="Roboto"/>
                <a:ea typeface="Roboto"/>
                <a:cs typeface="Roboto"/>
                <a:sym typeface="Roboto"/>
              </a:rPr>
              <a:t> or </a:t>
            </a:r>
            <a:r>
              <a:rPr b="1" lang="en" sz="1200">
                <a:solidFill>
                  <a:schemeClr val="dk1"/>
                </a:solidFill>
                <a:highlight>
                  <a:srgbClr val="FFFFFF"/>
                </a:highlight>
                <a:latin typeface="Courier New"/>
                <a:ea typeface="Courier New"/>
                <a:cs typeface="Courier New"/>
                <a:sym typeface="Courier New"/>
              </a:rPr>
              <a:t>rectb.area</a:t>
            </a:r>
            <a:r>
              <a:rPr lang="en" sz="1200">
                <a:solidFill>
                  <a:schemeClr val="dk1"/>
                </a:solidFill>
                <a:highlight>
                  <a:srgbClr val="FFFFFF"/>
                </a:highlight>
                <a:latin typeface="Roboto"/>
                <a:ea typeface="Roboto"/>
                <a:cs typeface="Roboto"/>
                <a:sym typeface="Roboto"/>
              </a:rPr>
              <a:t>. Those member functions directly used the data members of their respective objects </a:t>
            </a:r>
            <a:r>
              <a:rPr lang="en" sz="1200">
                <a:solidFill>
                  <a:schemeClr val="dk1"/>
                </a:solidFill>
                <a:highlight>
                  <a:srgbClr val="FFFFFF"/>
                </a:highlight>
                <a:latin typeface="Courier New"/>
                <a:ea typeface="Courier New"/>
                <a:cs typeface="Courier New"/>
                <a:sym typeface="Courier New"/>
              </a:rPr>
              <a:t>rect</a:t>
            </a:r>
            <a:r>
              <a:rPr lang="en" sz="1200">
                <a:solidFill>
                  <a:schemeClr val="dk1"/>
                </a:solidFill>
                <a:highlight>
                  <a:srgbClr val="FFFFFF"/>
                </a:highlight>
                <a:latin typeface="Roboto"/>
                <a:ea typeface="Roboto"/>
                <a:cs typeface="Roboto"/>
                <a:sym typeface="Roboto"/>
              </a:rPr>
              <a:t> and </a:t>
            </a:r>
            <a:r>
              <a:rPr lang="en" sz="1200">
                <a:solidFill>
                  <a:schemeClr val="dk1"/>
                </a:solidFill>
                <a:highlight>
                  <a:srgbClr val="FFFFFF"/>
                </a:highlight>
                <a:latin typeface="Courier New"/>
                <a:ea typeface="Courier New"/>
                <a:cs typeface="Courier New"/>
                <a:sym typeface="Courier New"/>
              </a:rPr>
              <a:t>rectb</a:t>
            </a:r>
            <a:r>
              <a:rPr lang="en" sz="1200">
                <a:solidFill>
                  <a:schemeClr val="dk1"/>
                </a:solidFill>
                <a:highlight>
                  <a:srgbClr val="FFFFFF"/>
                </a:highlight>
                <a:latin typeface="Roboto"/>
                <a:ea typeface="Roboto"/>
                <a:cs typeface="Roboto"/>
                <a:sym typeface="Roboto"/>
              </a:rPr>
              <a:t>.</a:t>
            </a:r>
            <a:endParaRPr sz="1500"/>
          </a:p>
        </p:txBody>
      </p:sp>
      <p:sp>
        <p:nvSpPr>
          <p:cNvPr id="951" name="Google Shape;951;g283038813be_0_67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g283038813be_0_681"/>
          <p:cNvSpPr txBox="1"/>
          <p:nvPr>
            <p:ph type="title"/>
          </p:nvPr>
        </p:nvSpPr>
        <p:spPr>
          <a:xfrm>
            <a:off x="268375" y="56550"/>
            <a:ext cx="8520600" cy="5727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250">
                <a:solidFill>
                  <a:srgbClr val="2E3D49"/>
                </a:solidFill>
                <a:highlight>
                  <a:srgbClr val="FFFFFF"/>
                </a:highlight>
              </a:rPr>
              <a:t>Encapsulation</a:t>
            </a:r>
            <a:endParaRPr/>
          </a:p>
        </p:txBody>
      </p:sp>
      <p:sp>
        <p:nvSpPr>
          <p:cNvPr id="957" name="Google Shape;957;g283038813be_0_681"/>
          <p:cNvSpPr txBox="1"/>
          <p:nvPr>
            <p:ph idx="1" type="body"/>
          </p:nvPr>
        </p:nvSpPr>
        <p:spPr>
          <a:xfrm>
            <a:off x="311700" y="559425"/>
            <a:ext cx="8520600" cy="440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525C65"/>
                </a:solidFill>
                <a:highlight>
                  <a:srgbClr val="FFFFFF"/>
                </a:highlight>
              </a:rPr>
              <a:t>In C++, encapsulation involves combining similar data and functions into a single unit called a class. By encapsulating these functions and data, we protect that data from change. This concept is also known as data or information hiding.</a:t>
            </a:r>
            <a:endParaRPr sz="1200">
              <a:solidFill>
                <a:srgbClr val="525C65"/>
              </a:solidFill>
              <a:highlight>
                <a:srgbClr val="FFFFFF"/>
              </a:highlight>
            </a:endParaRPr>
          </a:p>
          <a:p>
            <a:pPr indent="0" lvl="0" marL="0" rtl="0" algn="l">
              <a:spcBef>
                <a:spcPts val="0"/>
              </a:spcBef>
              <a:spcAft>
                <a:spcPts val="0"/>
              </a:spcAft>
              <a:buNone/>
            </a:pPr>
            <a:r>
              <a:rPr lang="en" sz="1200">
                <a:solidFill>
                  <a:srgbClr val="525C65"/>
                </a:solidFill>
                <a:highlight>
                  <a:srgbClr val="FFFFFF"/>
                </a:highlight>
              </a:rPr>
              <a:t>Let’s look at an example of C++ class encapsulation:</a:t>
            </a:r>
            <a:endParaRPr sz="1200">
              <a:solidFill>
                <a:srgbClr val="525C65"/>
              </a:solidFill>
              <a:highlight>
                <a:srgbClr val="FFFFFF"/>
              </a:highlight>
            </a:endParaRPr>
          </a:p>
          <a:p>
            <a:pPr indent="0" lvl="0" marL="0" rtl="0" algn="l">
              <a:lnSpc>
                <a:spcPct val="110000"/>
              </a:lnSpc>
              <a:spcBef>
                <a:spcPts val="0"/>
              </a:spcBef>
              <a:spcAft>
                <a:spcPts val="0"/>
              </a:spcAft>
              <a:buNone/>
            </a:pPr>
            <a:r>
              <a:rPr lang="en" sz="1200">
                <a:solidFill>
                  <a:srgbClr val="D1EDFF"/>
                </a:solidFill>
                <a:highlight>
                  <a:srgbClr val="0F192A"/>
                </a:highlight>
                <a:latin typeface="Courier New"/>
                <a:ea typeface="Courier New"/>
                <a:cs typeface="Courier New"/>
                <a:sym typeface="Courier New"/>
              </a:rPr>
              <a:t>...</a:t>
            </a:r>
            <a:endParaRPr sz="12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b="1" lang="en" sz="1200">
                <a:solidFill>
                  <a:srgbClr val="B43D3D"/>
                </a:solidFill>
                <a:highlight>
                  <a:srgbClr val="0F192A"/>
                </a:highlight>
                <a:latin typeface="Courier New"/>
                <a:ea typeface="Courier New"/>
                <a:cs typeface="Courier New"/>
                <a:sym typeface="Courier New"/>
              </a:rPr>
              <a:t>class</a:t>
            </a:r>
            <a:r>
              <a:rPr lang="en" sz="1200">
                <a:solidFill>
                  <a:srgbClr val="525C65"/>
                </a:solidFill>
                <a:highlight>
                  <a:srgbClr val="0F192A"/>
                </a:highlight>
                <a:latin typeface="Courier New"/>
                <a:ea typeface="Courier New"/>
                <a:cs typeface="Courier New"/>
                <a:sym typeface="Courier New"/>
              </a:rPr>
              <a:t> </a:t>
            </a:r>
            <a:r>
              <a:rPr lang="en" sz="1200">
                <a:solidFill>
                  <a:srgbClr val="D1EDFF"/>
                </a:solidFill>
                <a:highlight>
                  <a:srgbClr val="0F192A"/>
                </a:highlight>
                <a:latin typeface="Courier New"/>
                <a:ea typeface="Courier New"/>
                <a:cs typeface="Courier New"/>
                <a:sym typeface="Courier New"/>
              </a:rPr>
              <a:t>Passport {</a:t>
            </a:r>
            <a:endParaRPr sz="12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1200">
                <a:solidFill>
                  <a:srgbClr val="D1EDFF"/>
                </a:solidFill>
                <a:highlight>
                  <a:srgbClr val="0F192A"/>
                </a:highlight>
                <a:latin typeface="Courier New"/>
                <a:ea typeface="Courier New"/>
                <a:cs typeface="Courier New"/>
                <a:sym typeface="Courier New"/>
              </a:rPr>
              <a:t>string country_of_origin;</a:t>
            </a:r>
            <a:endParaRPr sz="12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b="1" lang="en" sz="1200">
                <a:solidFill>
                  <a:srgbClr val="F8BB00"/>
                </a:solidFill>
                <a:highlight>
                  <a:srgbClr val="0F192A"/>
                </a:highlight>
                <a:latin typeface="Courier New"/>
                <a:ea typeface="Courier New"/>
                <a:cs typeface="Courier New"/>
                <a:sym typeface="Courier New"/>
              </a:rPr>
              <a:t>int</a:t>
            </a:r>
            <a:r>
              <a:rPr lang="en" sz="1200">
                <a:solidFill>
                  <a:srgbClr val="525C65"/>
                </a:solidFill>
                <a:highlight>
                  <a:srgbClr val="0F192A"/>
                </a:highlight>
                <a:latin typeface="Courier New"/>
                <a:ea typeface="Courier New"/>
                <a:cs typeface="Courier New"/>
                <a:sym typeface="Courier New"/>
              </a:rPr>
              <a:t> </a:t>
            </a:r>
            <a:r>
              <a:rPr lang="en" sz="1200">
                <a:solidFill>
                  <a:srgbClr val="D1EDFF"/>
                </a:solidFill>
                <a:highlight>
                  <a:srgbClr val="0F192A"/>
                </a:highlight>
                <a:latin typeface="Courier New"/>
                <a:ea typeface="Courier New"/>
                <a:cs typeface="Courier New"/>
                <a:sym typeface="Courier New"/>
              </a:rPr>
              <a:t>passport_number;</a:t>
            </a:r>
            <a:endParaRPr sz="12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1200">
                <a:solidFill>
                  <a:srgbClr val="D1EDFF"/>
                </a:solidFill>
                <a:highlight>
                  <a:srgbClr val="0F192A"/>
                </a:highlight>
                <a:latin typeface="Courier New"/>
                <a:ea typeface="Courier New"/>
                <a:cs typeface="Courier New"/>
                <a:sym typeface="Courier New"/>
              </a:rPr>
              <a:t>string passport_name;</a:t>
            </a:r>
            <a:endParaRPr sz="12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b="1" lang="en" sz="1200">
                <a:solidFill>
                  <a:srgbClr val="B43D3D"/>
                </a:solidFill>
                <a:highlight>
                  <a:srgbClr val="0F192A"/>
                </a:highlight>
                <a:latin typeface="Courier New"/>
                <a:ea typeface="Courier New"/>
                <a:cs typeface="Courier New"/>
                <a:sym typeface="Courier New"/>
              </a:rPr>
              <a:t>void</a:t>
            </a:r>
            <a:r>
              <a:rPr lang="en" sz="1200">
                <a:solidFill>
                  <a:srgbClr val="525C65"/>
                </a:solidFill>
                <a:highlight>
                  <a:srgbClr val="0F192A"/>
                </a:highlight>
                <a:latin typeface="Courier New"/>
                <a:ea typeface="Courier New"/>
                <a:cs typeface="Courier New"/>
                <a:sym typeface="Courier New"/>
              </a:rPr>
              <a:t> </a:t>
            </a:r>
            <a:r>
              <a:rPr lang="en" sz="1200">
                <a:solidFill>
                  <a:srgbClr val="D1EDFF"/>
                </a:solidFill>
                <a:highlight>
                  <a:srgbClr val="0F192A"/>
                </a:highlight>
                <a:latin typeface="Courier New"/>
                <a:ea typeface="Courier New"/>
                <a:cs typeface="Courier New"/>
                <a:sym typeface="Courier New"/>
              </a:rPr>
              <a:t>dothis() {</a:t>
            </a:r>
            <a:endParaRPr sz="12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1200">
                <a:solidFill>
                  <a:srgbClr val="525C65"/>
                </a:solidFill>
                <a:highlight>
                  <a:srgbClr val="0F192A"/>
                </a:highlight>
                <a:latin typeface="Courier New"/>
                <a:ea typeface="Courier New"/>
                <a:cs typeface="Courier New"/>
                <a:sym typeface="Courier New"/>
              </a:rPr>
              <a:t>    </a:t>
            </a:r>
            <a:r>
              <a:rPr lang="en" sz="1200">
                <a:solidFill>
                  <a:srgbClr val="D1EDFF"/>
                </a:solidFill>
                <a:highlight>
                  <a:srgbClr val="0F192A"/>
                </a:highlight>
                <a:latin typeface="Courier New"/>
                <a:ea typeface="Courier New"/>
                <a:cs typeface="Courier New"/>
                <a:sym typeface="Courier New"/>
              </a:rPr>
              <a:t>cout &lt;&lt; passport_name &lt;&lt; </a:t>
            </a:r>
            <a:r>
              <a:rPr lang="en" sz="1200">
                <a:solidFill>
                  <a:srgbClr val="1DC116"/>
                </a:solidFill>
                <a:highlight>
                  <a:srgbClr val="0F192A"/>
                </a:highlight>
                <a:latin typeface="Courier New"/>
                <a:ea typeface="Courier New"/>
                <a:cs typeface="Courier New"/>
                <a:sym typeface="Courier New"/>
              </a:rPr>
              <a:t>"'s "</a:t>
            </a:r>
            <a:r>
              <a:rPr lang="en" sz="1200">
                <a:solidFill>
                  <a:srgbClr val="525C65"/>
                </a:solidFill>
                <a:highlight>
                  <a:srgbClr val="0F192A"/>
                </a:highlight>
                <a:latin typeface="Courier New"/>
                <a:ea typeface="Courier New"/>
                <a:cs typeface="Courier New"/>
                <a:sym typeface="Courier New"/>
              </a:rPr>
              <a:t> </a:t>
            </a:r>
            <a:r>
              <a:rPr lang="en" sz="1200">
                <a:solidFill>
                  <a:srgbClr val="D1EDFF"/>
                </a:solidFill>
                <a:highlight>
                  <a:srgbClr val="0F192A"/>
                </a:highlight>
                <a:latin typeface="Courier New"/>
                <a:ea typeface="Courier New"/>
                <a:cs typeface="Courier New"/>
                <a:sym typeface="Courier New"/>
              </a:rPr>
              <a:t>&lt;&lt; country_of_origin &lt;&lt; </a:t>
            </a:r>
            <a:r>
              <a:rPr lang="en" sz="1200">
                <a:solidFill>
                  <a:srgbClr val="1DC116"/>
                </a:solidFill>
                <a:highlight>
                  <a:srgbClr val="0F192A"/>
                </a:highlight>
                <a:latin typeface="Courier New"/>
                <a:ea typeface="Courier New"/>
                <a:cs typeface="Courier New"/>
                <a:sym typeface="Courier New"/>
              </a:rPr>
              <a:t>" passport number is "</a:t>
            </a:r>
            <a:r>
              <a:rPr lang="en" sz="1200">
                <a:solidFill>
                  <a:srgbClr val="525C65"/>
                </a:solidFill>
                <a:highlight>
                  <a:srgbClr val="0F192A"/>
                </a:highlight>
                <a:latin typeface="Courier New"/>
                <a:ea typeface="Courier New"/>
                <a:cs typeface="Courier New"/>
                <a:sym typeface="Courier New"/>
              </a:rPr>
              <a:t> </a:t>
            </a:r>
            <a:r>
              <a:rPr lang="en" sz="1200">
                <a:solidFill>
                  <a:srgbClr val="D1EDFF"/>
                </a:solidFill>
                <a:highlight>
                  <a:srgbClr val="0F192A"/>
                </a:highlight>
                <a:latin typeface="Courier New"/>
                <a:ea typeface="Courier New"/>
                <a:cs typeface="Courier New"/>
                <a:sym typeface="Courier New"/>
              </a:rPr>
              <a:t>&lt;&lt; passport_number;</a:t>
            </a:r>
            <a:endParaRPr sz="12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1200">
                <a:solidFill>
                  <a:srgbClr val="D1EDFF"/>
                </a:solidFill>
                <a:highlight>
                  <a:srgbClr val="0F192A"/>
                </a:highlight>
                <a:latin typeface="Courier New"/>
                <a:ea typeface="Courier New"/>
                <a:cs typeface="Courier New"/>
                <a:sym typeface="Courier New"/>
              </a:rPr>
              <a:t>}</a:t>
            </a:r>
            <a:endParaRPr sz="12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1200">
                <a:solidFill>
                  <a:srgbClr val="D1EDFF"/>
                </a:solidFill>
                <a:highlight>
                  <a:srgbClr val="0F192A"/>
                </a:highlight>
                <a:latin typeface="Courier New"/>
                <a:ea typeface="Courier New"/>
                <a:cs typeface="Courier New"/>
                <a:sym typeface="Courier New"/>
              </a:rPr>
              <a:t>};...</a:t>
            </a:r>
            <a:endParaRPr sz="1200">
              <a:solidFill>
                <a:srgbClr val="D1EDFF"/>
              </a:solidFill>
              <a:highlight>
                <a:srgbClr val="0F192A"/>
              </a:highlight>
              <a:latin typeface="Courier New"/>
              <a:ea typeface="Courier New"/>
              <a:cs typeface="Courier New"/>
              <a:sym typeface="Courier New"/>
            </a:endParaRPr>
          </a:p>
          <a:p>
            <a:pPr indent="0" lvl="0" marL="0" rtl="0" algn="l">
              <a:spcBef>
                <a:spcPts val="0"/>
              </a:spcBef>
              <a:spcAft>
                <a:spcPts val="0"/>
              </a:spcAft>
              <a:buNone/>
            </a:pPr>
            <a:r>
              <a:t/>
            </a:r>
            <a:endParaRPr/>
          </a:p>
          <a:p>
            <a:pPr indent="0" lvl="0" marL="0" rtl="0" algn="l">
              <a:spcBef>
                <a:spcPts val="0"/>
              </a:spcBef>
              <a:spcAft>
                <a:spcPts val="0"/>
              </a:spcAft>
              <a:buNone/>
            </a:pPr>
            <a:r>
              <a:rPr lang="en" sz="1200">
                <a:solidFill>
                  <a:srgbClr val="525C65"/>
                </a:solidFill>
                <a:highlight>
                  <a:srgbClr val="FFFFFF"/>
                </a:highlight>
              </a:rPr>
              <a:t>Within the class </a:t>
            </a:r>
            <a:r>
              <a:rPr lang="en" sz="1200">
                <a:solidFill>
                  <a:srgbClr val="525C65"/>
                </a:solidFill>
                <a:highlight>
                  <a:srgbClr val="FFFFFF"/>
                </a:highlight>
                <a:latin typeface="Courier New"/>
                <a:ea typeface="Courier New"/>
                <a:cs typeface="Courier New"/>
                <a:sym typeface="Courier New"/>
              </a:rPr>
              <a:t>Passport</a:t>
            </a:r>
            <a:r>
              <a:rPr lang="en" sz="1200">
                <a:solidFill>
                  <a:srgbClr val="525C65"/>
                </a:solidFill>
                <a:highlight>
                  <a:srgbClr val="FFFFFF"/>
                </a:highlight>
              </a:rPr>
              <a:t>, we declared the variables and methods that we wanted to include. Note that we can only use </a:t>
            </a:r>
            <a:r>
              <a:rPr lang="en" sz="1200">
                <a:solidFill>
                  <a:srgbClr val="525C65"/>
                </a:solidFill>
                <a:highlight>
                  <a:srgbClr val="FFFFFF"/>
                </a:highlight>
                <a:latin typeface="Courier New"/>
                <a:ea typeface="Courier New"/>
                <a:cs typeface="Courier New"/>
                <a:sym typeface="Courier New"/>
              </a:rPr>
              <a:t>cout() </a:t>
            </a:r>
            <a:r>
              <a:rPr lang="en" sz="1200">
                <a:solidFill>
                  <a:srgbClr val="525C65"/>
                </a:solidFill>
                <a:highlight>
                  <a:srgbClr val="FFFFFF"/>
                </a:highlight>
              </a:rPr>
              <a:t>if we wrap it in a function, as classes can execute </a:t>
            </a:r>
            <a:r>
              <a:rPr lang="en" sz="1200">
                <a:solidFill>
                  <a:srgbClr val="017D9F"/>
                </a:solidFill>
                <a:highlight>
                  <a:srgbClr val="FFFFFF"/>
                </a:highlight>
                <a:uFill>
                  <a:noFill/>
                </a:uFill>
                <a:hlinkClick r:id="rId3">
                  <a:extLst>
                    <a:ext uri="{A12FA001-AC4F-418D-AE19-62706E023703}">
                      <ahyp:hlinkClr val="tx"/>
                    </a:ext>
                  </a:extLst>
                </a:hlinkClick>
              </a:rPr>
              <a:t>member functions</a:t>
            </a:r>
            <a:r>
              <a:rPr lang="en" sz="1200">
                <a:solidFill>
                  <a:srgbClr val="525C65"/>
                </a:solidFill>
                <a:highlight>
                  <a:srgbClr val="FFFFFF"/>
                </a:highlight>
              </a:rPr>
              <a:t> but not objects.</a:t>
            </a:r>
            <a:endParaRPr/>
          </a:p>
        </p:txBody>
      </p:sp>
      <p:sp>
        <p:nvSpPr>
          <p:cNvPr id="958" name="Google Shape;958;g283038813be_0_68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g283038813be_0_686"/>
          <p:cNvSpPr txBox="1"/>
          <p:nvPr>
            <p:ph type="title"/>
          </p:nvPr>
        </p:nvSpPr>
        <p:spPr>
          <a:xfrm>
            <a:off x="311700" y="1402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120"/>
              <a:t>Advantages of Encapsulation</a:t>
            </a:r>
            <a:endParaRPr b="1" sz="2120"/>
          </a:p>
        </p:txBody>
      </p:sp>
      <p:sp>
        <p:nvSpPr>
          <p:cNvPr id="964" name="Google Shape;964;g283038813be_0_686"/>
          <p:cNvSpPr txBox="1"/>
          <p:nvPr>
            <p:ph idx="1" type="body"/>
          </p:nvPr>
        </p:nvSpPr>
        <p:spPr>
          <a:xfrm>
            <a:off x="311700" y="745875"/>
            <a:ext cx="6105900" cy="4141200"/>
          </a:xfrm>
          <a:prstGeom prst="rect">
            <a:avLst/>
          </a:prstGeom>
          <a:ln cap="flat" cmpd="sng" w="9525">
            <a:solidFill>
              <a:srgbClr val="000000"/>
            </a:solidFill>
            <a:prstDash val="dashDot"/>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525C65"/>
                </a:solidFill>
                <a:highlight>
                  <a:srgbClr val="FFFFFF"/>
                </a:highlight>
              </a:rPr>
              <a:t>Keeping pertinent code encapsulated within a class helps streamline your program. You can contain your code in one location so your code is easier to follow.</a:t>
            </a:r>
            <a:endParaRPr sz="1100">
              <a:solidFill>
                <a:srgbClr val="525C65"/>
              </a:solidFill>
              <a:highlight>
                <a:srgbClr val="FFFFFF"/>
              </a:highlight>
            </a:endParaRPr>
          </a:p>
          <a:p>
            <a:pPr indent="0" lvl="0" marL="0" rtl="0" algn="l">
              <a:spcBef>
                <a:spcPts val="0"/>
              </a:spcBef>
              <a:spcAft>
                <a:spcPts val="0"/>
              </a:spcAft>
              <a:buNone/>
            </a:pPr>
            <a:r>
              <a:t/>
            </a:r>
            <a:endParaRPr sz="1100">
              <a:solidFill>
                <a:srgbClr val="525C65"/>
              </a:solidFill>
              <a:highlight>
                <a:srgbClr val="FFFFFF"/>
              </a:highlight>
            </a:endParaRPr>
          </a:p>
          <a:p>
            <a:pPr indent="0" lvl="0" marL="0" rtl="0" algn="l">
              <a:spcBef>
                <a:spcPts val="0"/>
              </a:spcBef>
              <a:spcAft>
                <a:spcPts val="0"/>
              </a:spcAft>
              <a:buNone/>
            </a:pPr>
            <a:r>
              <a:rPr lang="en" sz="1100">
                <a:solidFill>
                  <a:srgbClr val="525C65"/>
                </a:solidFill>
                <a:highlight>
                  <a:srgbClr val="FFFFFF"/>
                </a:highlight>
              </a:rPr>
              <a:t>This, in turn, makes your program easier to debug. If a function within your encapsulated class is not working correctly, you’ll likely be able to pinpoint the problem to the class instead of having to comb through your code.</a:t>
            </a:r>
            <a:endParaRPr sz="1100">
              <a:solidFill>
                <a:srgbClr val="525C65"/>
              </a:solidFill>
              <a:highlight>
                <a:srgbClr val="FFFFFF"/>
              </a:highlight>
            </a:endParaRPr>
          </a:p>
          <a:p>
            <a:pPr indent="0" lvl="0" marL="0" rtl="0" algn="l">
              <a:spcBef>
                <a:spcPts val="0"/>
              </a:spcBef>
              <a:spcAft>
                <a:spcPts val="0"/>
              </a:spcAft>
              <a:buNone/>
            </a:pPr>
            <a:r>
              <a:t/>
            </a:r>
            <a:endParaRPr sz="1100">
              <a:solidFill>
                <a:srgbClr val="525C65"/>
              </a:solidFill>
              <a:highlight>
                <a:srgbClr val="FFFFFF"/>
              </a:highlight>
            </a:endParaRPr>
          </a:p>
          <a:p>
            <a:pPr indent="0" lvl="0" marL="0" rtl="0" algn="l">
              <a:spcBef>
                <a:spcPts val="0"/>
              </a:spcBef>
              <a:spcAft>
                <a:spcPts val="0"/>
              </a:spcAft>
              <a:buNone/>
            </a:pPr>
            <a:r>
              <a:rPr lang="en" sz="1100">
                <a:solidFill>
                  <a:srgbClr val="525C65"/>
                </a:solidFill>
                <a:highlight>
                  <a:srgbClr val="FFFFFF"/>
                </a:highlight>
              </a:rPr>
              <a:t>When you encapsulate, you can control the flow of data into and out of a class. Classes allow you to make certain functions or variables inaccessible to protect them from being used or changed outside of the class. You can also make specific components accessible to use elsewhere in your code.</a:t>
            </a:r>
            <a:endParaRPr sz="1100">
              <a:solidFill>
                <a:srgbClr val="525C65"/>
              </a:solidFill>
              <a:highlight>
                <a:srgbClr val="FFFFFF"/>
              </a:highlight>
            </a:endParaRPr>
          </a:p>
          <a:p>
            <a:pPr indent="0" lvl="0" marL="0" rtl="0" algn="l">
              <a:spcBef>
                <a:spcPts val="0"/>
              </a:spcBef>
              <a:spcAft>
                <a:spcPts val="0"/>
              </a:spcAft>
              <a:buNone/>
            </a:pPr>
            <a:r>
              <a:t/>
            </a:r>
            <a:endParaRPr sz="1100">
              <a:solidFill>
                <a:srgbClr val="525C65"/>
              </a:solidFill>
              <a:highlight>
                <a:srgbClr val="FFFFFF"/>
              </a:highlight>
            </a:endParaRPr>
          </a:p>
          <a:p>
            <a:pPr indent="0" lvl="0" marL="0" rtl="0" algn="l">
              <a:spcBef>
                <a:spcPts val="0"/>
              </a:spcBef>
              <a:spcAft>
                <a:spcPts val="0"/>
              </a:spcAft>
              <a:buNone/>
            </a:pPr>
            <a:r>
              <a:rPr lang="en" sz="1100">
                <a:solidFill>
                  <a:srgbClr val="525C65"/>
                </a:solidFill>
                <a:highlight>
                  <a:srgbClr val="FFFFFF"/>
                </a:highlight>
              </a:rPr>
              <a:t>Let’s look at the tools that allow you to protect or enable access to a class’s variables or functions.</a:t>
            </a:r>
            <a:endParaRPr sz="1100">
              <a:solidFill>
                <a:srgbClr val="525C65"/>
              </a:solidFill>
              <a:highlight>
                <a:srgbClr val="FFFFFF"/>
              </a:highlight>
            </a:endParaRPr>
          </a:p>
          <a:p>
            <a:pPr indent="0" lvl="0" marL="0" rtl="0" algn="l">
              <a:lnSpc>
                <a:spcPct val="110000"/>
              </a:lnSpc>
              <a:spcBef>
                <a:spcPts val="0"/>
              </a:spcBef>
              <a:spcAft>
                <a:spcPts val="0"/>
              </a:spcAft>
              <a:buNone/>
            </a:pPr>
            <a:r>
              <a:rPr lang="en" sz="700">
                <a:solidFill>
                  <a:srgbClr val="D1EDFF"/>
                </a:solidFill>
                <a:highlight>
                  <a:srgbClr val="0F192A"/>
                </a:highlight>
                <a:latin typeface="Courier New"/>
                <a:ea typeface="Courier New"/>
                <a:cs typeface="Courier New"/>
                <a:sym typeface="Courier New"/>
              </a:rPr>
              <a:t>..</a:t>
            </a:r>
            <a:r>
              <a:rPr b="1" lang="en" sz="700">
                <a:solidFill>
                  <a:srgbClr val="B43D3D"/>
                </a:solidFill>
                <a:highlight>
                  <a:srgbClr val="0F192A"/>
                </a:highlight>
                <a:latin typeface="Courier New"/>
                <a:ea typeface="Courier New"/>
                <a:cs typeface="Courier New"/>
                <a:sym typeface="Courier New"/>
              </a:rPr>
              <a:t>class</a:t>
            </a:r>
            <a:r>
              <a:rPr lang="en" sz="700">
                <a:solidFill>
                  <a:srgbClr val="525C65"/>
                </a:solidFill>
                <a:highlight>
                  <a:srgbClr val="0F192A"/>
                </a:highlight>
                <a:latin typeface="Courier New"/>
                <a:ea typeface="Courier New"/>
                <a:cs typeface="Courier New"/>
                <a:sym typeface="Courier New"/>
              </a:rPr>
              <a:t> </a:t>
            </a:r>
            <a:r>
              <a:rPr lang="en" sz="700">
                <a:solidFill>
                  <a:srgbClr val="D1EDFF"/>
                </a:solidFill>
                <a:highlight>
                  <a:srgbClr val="0F192A"/>
                </a:highlight>
                <a:latin typeface="Courier New"/>
                <a:ea typeface="Courier New"/>
                <a:cs typeface="Courier New"/>
                <a:sym typeface="Courier New"/>
              </a:rPr>
              <a:t>Passport {</a:t>
            </a:r>
            <a:endParaRPr sz="7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b="1" lang="en" sz="700">
                <a:solidFill>
                  <a:srgbClr val="B43D3D"/>
                </a:solidFill>
                <a:highlight>
                  <a:srgbClr val="0F192A"/>
                </a:highlight>
                <a:latin typeface="Courier New"/>
                <a:ea typeface="Courier New"/>
                <a:cs typeface="Courier New"/>
                <a:sym typeface="Courier New"/>
              </a:rPr>
              <a:t>private</a:t>
            </a:r>
            <a:r>
              <a:rPr lang="en" sz="700">
                <a:solidFill>
                  <a:srgbClr val="D1EDFF"/>
                </a:solidFill>
                <a:highlight>
                  <a:srgbClr val="0F192A"/>
                </a:highlight>
                <a:latin typeface="Courier New"/>
                <a:ea typeface="Courier New"/>
                <a:cs typeface="Courier New"/>
                <a:sym typeface="Courier New"/>
              </a:rPr>
              <a:t>:</a:t>
            </a:r>
            <a:endParaRPr sz="7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700">
                <a:solidFill>
                  <a:srgbClr val="525C65"/>
                </a:solidFill>
                <a:highlight>
                  <a:srgbClr val="0F192A"/>
                </a:highlight>
                <a:latin typeface="Courier New"/>
                <a:ea typeface="Courier New"/>
                <a:cs typeface="Courier New"/>
                <a:sym typeface="Courier New"/>
              </a:rPr>
              <a:t>  </a:t>
            </a:r>
            <a:r>
              <a:rPr lang="en" sz="700">
                <a:solidFill>
                  <a:srgbClr val="D1EDFF"/>
                </a:solidFill>
                <a:highlight>
                  <a:srgbClr val="0F192A"/>
                </a:highlight>
                <a:latin typeface="Courier New"/>
                <a:ea typeface="Courier New"/>
                <a:cs typeface="Courier New"/>
                <a:sym typeface="Courier New"/>
              </a:rPr>
              <a:t>string country_of_origin;</a:t>
            </a:r>
            <a:endParaRPr sz="7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b="1" lang="en" sz="700">
                <a:solidFill>
                  <a:srgbClr val="B43D3D"/>
                </a:solidFill>
                <a:highlight>
                  <a:srgbClr val="0F192A"/>
                </a:highlight>
                <a:latin typeface="Courier New"/>
                <a:ea typeface="Courier New"/>
                <a:cs typeface="Courier New"/>
                <a:sym typeface="Courier New"/>
              </a:rPr>
              <a:t>public</a:t>
            </a:r>
            <a:r>
              <a:rPr lang="en" sz="700">
                <a:solidFill>
                  <a:srgbClr val="D1EDFF"/>
                </a:solidFill>
                <a:highlight>
                  <a:srgbClr val="0F192A"/>
                </a:highlight>
                <a:latin typeface="Courier New"/>
                <a:ea typeface="Courier New"/>
                <a:cs typeface="Courier New"/>
                <a:sym typeface="Courier New"/>
              </a:rPr>
              <a:t>:</a:t>
            </a:r>
            <a:endParaRPr sz="7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700">
                <a:solidFill>
                  <a:srgbClr val="525C65"/>
                </a:solidFill>
                <a:highlight>
                  <a:srgbClr val="0F192A"/>
                </a:highlight>
                <a:latin typeface="Courier New"/>
                <a:ea typeface="Courier New"/>
                <a:cs typeface="Courier New"/>
                <a:sym typeface="Courier New"/>
              </a:rPr>
              <a:t>  </a:t>
            </a:r>
            <a:r>
              <a:rPr b="1" lang="en" sz="700">
                <a:solidFill>
                  <a:srgbClr val="F8BB00"/>
                </a:solidFill>
                <a:highlight>
                  <a:srgbClr val="0F192A"/>
                </a:highlight>
                <a:latin typeface="Courier New"/>
                <a:ea typeface="Courier New"/>
                <a:cs typeface="Courier New"/>
                <a:sym typeface="Courier New"/>
              </a:rPr>
              <a:t>int</a:t>
            </a:r>
            <a:r>
              <a:rPr lang="en" sz="700">
                <a:solidFill>
                  <a:srgbClr val="525C65"/>
                </a:solidFill>
                <a:highlight>
                  <a:srgbClr val="0F192A"/>
                </a:highlight>
                <a:latin typeface="Courier New"/>
                <a:ea typeface="Courier New"/>
                <a:cs typeface="Courier New"/>
                <a:sym typeface="Courier New"/>
              </a:rPr>
              <a:t> </a:t>
            </a:r>
            <a:r>
              <a:rPr lang="en" sz="700">
                <a:solidFill>
                  <a:srgbClr val="D1EDFF"/>
                </a:solidFill>
                <a:highlight>
                  <a:srgbClr val="0F192A"/>
                </a:highlight>
                <a:latin typeface="Courier New"/>
                <a:ea typeface="Courier New"/>
                <a:cs typeface="Courier New"/>
                <a:sym typeface="Courier New"/>
              </a:rPr>
              <a:t>passport_number;</a:t>
            </a:r>
            <a:endParaRPr sz="7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700">
                <a:solidFill>
                  <a:srgbClr val="525C65"/>
                </a:solidFill>
                <a:highlight>
                  <a:srgbClr val="0F192A"/>
                </a:highlight>
                <a:latin typeface="Courier New"/>
                <a:ea typeface="Courier New"/>
                <a:cs typeface="Courier New"/>
                <a:sym typeface="Courier New"/>
              </a:rPr>
              <a:t>  </a:t>
            </a:r>
            <a:r>
              <a:rPr lang="en" sz="700">
                <a:solidFill>
                  <a:srgbClr val="D1EDFF"/>
                </a:solidFill>
                <a:highlight>
                  <a:srgbClr val="0F192A"/>
                </a:highlight>
                <a:latin typeface="Courier New"/>
                <a:ea typeface="Courier New"/>
                <a:cs typeface="Courier New"/>
                <a:sym typeface="Courier New"/>
              </a:rPr>
              <a:t>string passport_name;</a:t>
            </a:r>
            <a:endParaRPr sz="7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700">
                <a:solidFill>
                  <a:srgbClr val="525C65"/>
                </a:solidFill>
                <a:highlight>
                  <a:srgbClr val="0F192A"/>
                </a:highlight>
                <a:latin typeface="Courier New"/>
                <a:ea typeface="Courier New"/>
                <a:cs typeface="Courier New"/>
                <a:sym typeface="Courier New"/>
              </a:rPr>
              <a:t>  </a:t>
            </a:r>
            <a:r>
              <a:rPr b="1" lang="en" sz="700">
                <a:solidFill>
                  <a:srgbClr val="B43D3D"/>
                </a:solidFill>
                <a:highlight>
                  <a:srgbClr val="0F192A"/>
                </a:highlight>
                <a:latin typeface="Courier New"/>
                <a:ea typeface="Courier New"/>
                <a:cs typeface="Courier New"/>
                <a:sym typeface="Courier New"/>
              </a:rPr>
              <a:t>void</a:t>
            </a:r>
            <a:r>
              <a:rPr lang="en" sz="700">
                <a:solidFill>
                  <a:srgbClr val="525C65"/>
                </a:solidFill>
                <a:highlight>
                  <a:srgbClr val="0F192A"/>
                </a:highlight>
                <a:latin typeface="Courier New"/>
                <a:ea typeface="Courier New"/>
                <a:cs typeface="Courier New"/>
                <a:sym typeface="Courier New"/>
              </a:rPr>
              <a:t> </a:t>
            </a:r>
            <a:r>
              <a:rPr lang="en" sz="700">
                <a:solidFill>
                  <a:srgbClr val="D1EDFF"/>
                </a:solidFill>
                <a:highlight>
                  <a:srgbClr val="0F192A"/>
                </a:highlight>
                <a:latin typeface="Courier New"/>
                <a:ea typeface="Courier New"/>
                <a:cs typeface="Courier New"/>
                <a:sym typeface="Courier New"/>
              </a:rPr>
              <a:t>dothis() {</a:t>
            </a:r>
            <a:endParaRPr sz="7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700">
                <a:solidFill>
                  <a:srgbClr val="525C65"/>
                </a:solidFill>
                <a:highlight>
                  <a:srgbClr val="0F192A"/>
                </a:highlight>
                <a:latin typeface="Courier New"/>
                <a:ea typeface="Courier New"/>
                <a:cs typeface="Courier New"/>
                <a:sym typeface="Courier New"/>
              </a:rPr>
              <a:t>        </a:t>
            </a:r>
            <a:r>
              <a:rPr lang="en" sz="700">
                <a:solidFill>
                  <a:srgbClr val="D1EDFF"/>
                </a:solidFill>
                <a:highlight>
                  <a:srgbClr val="0F192A"/>
                </a:highlight>
                <a:latin typeface="Courier New"/>
                <a:ea typeface="Courier New"/>
                <a:cs typeface="Courier New"/>
                <a:sym typeface="Courier New"/>
              </a:rPr>
              <a:t>cout &lt;&lt; passport_name &lt;&lt; </a:t>
            </a:r>
            <a:r>
              <a:rPr lang="en" sz="700">
                <a:solidFill>
                  <a:srgbClr val="1DC116"/>
                </a:solidFill>
                <a:highlight>
                  <a:srgbClr val="0F192A"/>
                </a:highlight>
                <a:latin typeface="Courier New"/>
                <a:ea typeface="Courier New"/>
                <a:cs typeface="Courier New"/>
                <a:sym typeface="Courier New"/>
              </a:rPr>
              <a:t>"'s "</a:t>
            </a:r>
            <a:r>
              <a:rPr lang="en" sz="700">
                <a:solidFill>
                  <a:srgbClr val="525C65"/>
                </a:solidFill>
                <a:highlight>
                  <a:srgbClr val="0F192A"/>
                </a:highlight>
                <a:latin typeface="Courier New"/>
                <a:ea typeface="Courier New"/>
                <a:cs typeface="Courier New"/>
                <a:sym typeface="Courier New"/>
              </a:rPr>
              <a:t> </a:t>
            </a:r>
            <a:r>
              <a:rPr lang="en" sz="700">
                <a:solidFill>
                  <a:srgbClr val="D1EDFF"/>
                </a:solidFill>
                <a:highlight>
                  <a:srgbClr val="0F192A"/>
                </a:highlight>
                <a:latin typeface="Courier New"/>
                <a:ea typeface="Courier New"/>
                <a:cs typeface="Courier New"/>
                <a:sym typeface="Courier New"/>
              </a:rPr>
              <a:t>&lt;&lt; country_of_origin &lt;&lt; </a:t>
            </a:r>
            <a:r>
              <a:rPr lang="en" sz="700">
                <a:solidFill>
                  <a:srgbClr val="1DC116"/>
                </a:solidFill>
                <a:highlight>
                  <a:srgbClr val="0F192A"/>
                </a:highlight>
                <a:latin typeface="Courier New"/>
                <a:ea typeface="Courier New"/>
                <a:cs typeface="Courier New"/>
                <a:sym typeface="Courier New"/>
              </a:rPr>
              <a:t>" passport number is "</a:t>
            </a:r>
            <a:r>
              <a:rPr lang="en" sz="700">
                <a:solidFill>
                  <a:srgbClr val="525C65"/>
                </a:solidFill>
                <a:highlight>
                  <a:srgbClr val="0F192A"/>
                </a:highlight>
                <a:latin typeface="Courier New"/>
                <a:ea typeface="Courier New"/>
                <a:cs typeface="Courier New"/>
                <a:sym typeface="Courier New"/>
              </a:rPr>
              <a:t> </a:t>
            </a:r>
            <a:r>
              <a:rPr lang="en" sz="700">
                <a:solidFill>
                  <a:srgbClr val="D1EDFF"/>
                </a:solidFill>
                <a:highlight>
                  <a:srgbClr val="0F192A"/>
                </a:highlight>
                <a:latin typeface="Courier New"/>
                <a:ea typeface="Courier New"/>
                <a:cs typeface="Courier New"/>
                <a:sym typeface="Courier New"/>
              </a:rPr>
              <a:t>&lt;&lt; passport_number;</a:t>
            </a:r>
            <a:endParaRPr sz="7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700">
                <a:solidFill>
                  <a:srgbClr val="525C65"/>
                </a:solidFill>
                <a:highlight>
                  <a:srgbClr val="0F192A"/>
                </a:highlight>
                <a:latin typeface="Courier New"/>
                <a:ea typeface="Courier New"/>
                <a:cs typeface="Courier New"/>
                <a:sym typeface="Courier New"/>
              </a:rPr>
              <a:t>  </a:t>
            </a:r>
            <a:r>
              <a:rPr lang="en" sz="700">
                <a:solidFill>
                  <a:srgbClr val="D1EDFF"/>
                </a:solidFill>
                <a:highlight>
                  <a:srgbClr val="0F192A"/>
                </a:highlight>
                <a:latin typeface="Courier New"/>
                <a:ea typeface="Courier New"/>
                <a:cs typeface="Courier New"/>
                <a:sym typeface="Courier New"/>
              </a:rPr>
              <a:t>}</a:t>
            </a:r>
            <a:endParaRPr sz="7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700">
                <a:solidFill>
                  <a:srgbClr val="D1EDFF"/>
                </a:solidFill>
                <a:highlight>
                  <a:srgbClr val="0F192A"/>
                </a:highlight>
                <a:latin typeface="Courier New"/>
                <a:ea typeface="Courier New"/>
                <a:cs typeface="Courier New"/>
                <a:sym typeface="Courier New"/>
              </a:rPr>
              <a:t>};...</a:t>
            </a:r>
            <a:endParaRPr sz="700">
              <a:solidFill>
                <a:srgbClr val="D1EDFF"/>
              </a:solidFill>
              <a:highlight>
                <a:srgbClr val="0F192A"/>
              </a:highlight>
              <a:latin typeface="Courier New"/>
              <a:ea typeface="Courier New"/>
              <a:cs typeface="Courier New"/>
              <a:sym typeface="Courier New"/>
            </a:endParaRPr>
          </a:p>
          <a:p>
            <a:pPr indent="0" lvl="0" marL="0" rtl="0" algn="l">
              <a:spcBef>
                <a:spcPts val="0"/>
              </a:spcBef>
              <a:spcAft>
                <a:spcPts val="0"/>
              </a:spcAft>
              <a:buNone/>
            </a:pPr>
            <a:r>
              <a:t/>
            </a:r>
            <a:endParaRPr sz="1300"/>
          </a:p>
        </p:txBody>
      </p:sp>
      <p:sp>
        <p:nvSpPr>
          <p:cNvPr id="965" name="Google Shape;965;g283038813be_0_686"/>
          <p:cNvSpPr txBox="1"/>
          <p:nvPr/>
        </p:nvSpPr>
        <p:spPr>
          <a:xfrm>
            <a:off x="6417600" y="745875"/>
            <a:ext cx="2525400" cy="44052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525C65"/>
                </a:solidFill>
              </a:rPr>
              <a:t>Building on our example, we declare </a:t>
            </a:r>
            <a:r>
              <a:rPr lang="en" sz="1200">
                <a:solidFill>
                  <a:srgbClr val="525C65"/>
                </a:solidFill>
                <a:latin typeface="Courier New"/>
                <a:ea typeface="Courier New"/>
                <a:cs typeface="Courier New"/>
                <a:sym typeface="Courier New"/>
              </a:rPr>
              <a:t>country_of_origin</a:t>
            </a:r>
            <a:r>
              <a:rPr lang="en" sz="1200">
                <a:solidFill>
                  <a:srgbClr val="525C65"/>
                </a:solidFill>
              </a:rPr>
              <a:t> as a private string. This means we cannot view or access this string from outside of our </a:t>
            </a:r>
            <a:r>
              <a:rPr lang="en" sz="1200">
                <a:solidFill>
                  <a:srgbClr val="525C65"/>
                </a:solidFill>
                <a:latin typeface="Courier New"/>
                <a:ea typeface="Courier New"/>
                <a:cs typeface="Courier New"/>
                <a:sym typeface="Courier New"/>
              </a:rPr>
              <a:t>Passport</a:t>
            </a:r>
            <a:r>
              <a:rPr lang="en" sz="1200">
                <a:solidFill>
                  <a:srgbClr val="525C65"/>
                </a:solidFill>
              </a:rPr>
              <a:t> class.</a:t>
            </a:r>
            <a:endParaRPr sz="1200">
              <a:solidFill>
                <a:srgbClr val="525C65"/>
              </a:solidFill>
            </a:endParaRPr>
          </a:p>
          <a:p>
            <a:pPr indent="0" lvl="0" marL="0" rtl="0" algn="l">
              <a:lnSpc>
                <a:spcPct val="115000"/>
              </a:lnSpc>
              <a:spcBef>
                <a:spcPts val="0"/>
              </a:spcBef>
              <a:spcAft>
                <a:spcPts val="0"/>
              </a:spcAft>
              <a:buNone/>
            </a:pPr>
            <a:r>
              <a:t/>
            </a:r>
            <a:endParaRPr sz="1200">
              <a:solidFill>
                <a:srgbClr val="525C65"/>
              </a:solidFill>
            </a:endParaRPr>
          </a:p>
          <a:p>
            <a:pPr indent="0" lvl="0" marL="0" rtl="0" algn="l">
              <a:lnSpc>
                <a:spcPct val="115000"/>
              </a:lnSpc>
              <a:spcBef>
                <a:spcPts val="0"/>
              </a:spcBef>
              <a:spcAft>
                <a:spcPts val="0"/>
              </a:spcAft>
              <a:buNone/>
            </a:pPr>
            <a:r>
              <a:rPr lang="en" sz="1200">
                <a:solidFill>
                  <a:srgbClr val="525C65"/>
                </a:solidFill>
              </a:rPr>
              <a:t>However, we have made both </a:t>
            </a:r>
            <a:r>
              <a:rPr lang="en" sz="1200">
                <a:solidFill>
                  <a:srgbClr val="525C65"/>
                </a:solidFill>
                <a:latin typeface="Courier New"/>
                <a:ea typeface="Courier New"/>
                <a:cs typeface="Courier New"/>
                <a:sym typeface="Courier New"/>
              </a:rPr>
              <a:t>passport_number</a:t>
            </a:r>
            <a:r>
              <a:rPr lang="en" sz="1200">
                <a:solidFill>
                  <a:srgbClr val="525C65"/>
                </a:solidFill>
              </a:rPr>
              <a:t> and </a:t>
            </a:r>
            <a:r>
              <a:rPr lang="en" sz="1200">
                <a:solidFill>
                  <a:srgbClr val="525C65"/>
                </a:solidFill>
                <a:latin typeface="Courier New"/>
                <a:ea typeface="Courier New"/>
                <a:cs typeface="Courier New"/>
                <a:sym typeface="Courier New"/>
              </a:rPr>
              <a:t>passport_name</a:t>
            </a:r>
            <a:r>
              <a:rPr lang="en" sz="1200">
                <a:solidFill>
                  <a:srgbClr val="525C65"/>
                </a:solidFill>
              </a:rPr>
              <a:t> public so we can interact with those two variables outside of our class. We’ll look at how to do this in just a bit.</a:t>
            </a:r>
            <a:endParaRPr sz="1200">
              <a:solidFill>
                <a:srgbClr val="525C65"/>
              </a:solidFill>
            </a:endParaRPr>
          </a:p>
          <a:p>
            <a:pPr indent="0" lvl="0" marL="0" rtl="0" algn="l">
              <a:lnSpc>
                <a:spcPct val="115000"/>
              </a:lnSpc>
              <a:spcBef>
                <a:spcPts val="0"/>
              </a:spcBef>
              <a:spcAft>
                <a:spcPts val="0"/>
              </a:spcAft>
              <a:buNone/>
            </a:pPr>
            <a:r>
              <a:t/>
            </a:r>
            <a:endParaRPr sz="1200">
              <a:solidFill>
                <a:srgbClr val="525C65"/>
              </a:solidFill>
            </a:endParaRPr>
          </a:p>
          <a:p>
            <a:pPr indent="0" lvl="0" marL="0" rtl="0" algn="l">
              <a:lnSpc>
                <a:spcPct val="115000"/>
              </a:lnSpc>
              <a:spcBef>
                <a:spcPts val="0"/>
              </a:spcBef>
              <a:spcAft>
                <a:spcPts val="0"/>
              </a:spcAft>
              <a:buNone/>
            </a:pPr>
            <a:r>
              <a:rPr lang="en" sz="1200">
                <a:solidFill>
                  <a:srgbClr val="525C65"/>
                </a:solidFill>
              </a:rPr>
              <a:t>If you don’t assign an access modifier to your data members or functions inside your class, C++ will assume those data members and functions are private.</a:t>
            </a:r>
            <a:endParaRPr sz="1200">
              <a:solidFill>
                <a:srgbClr val="525C65"/>
              </a:solidFill>
            </a:endParaRPr>
          </a:p>
        </p:txBody>
      </p:sp>
      <p:sp>
        <p:nvSpPr>
          <p:cNvPr id="966" name="Google Shape;966;g283038813be_0_68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g283038813be_0_692"/>
          <p:cNvSpPr txBox="1"/>
          <p:nvPr>
            <p:ph type="title"/>
          </p:nvPr>
        </p:nvSpPr>
        <p:spPr>
          <a:xfrm>
            <a:off x="311700" y="1402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 Class Access Modifiers</a:t>
            </a:r>
            <a:endParaRPr b="1"/>
          </a:p>
        </p:txBody>
      </p:sp>
      <p:sp>
        <p:nvSpPr>
          <p:cNvPr id="972" name="Google Shape;972;g283038813be_0_692"/>
          <p:cNvSpPr txBox="1"/>
          <p:nvPr>
            <p:ph idx="1" type="body"/>
          </p:nvPr>
        </p:nvSpPr>
        <p:spPr>
          <a:xfrm>
            <a:off x="311700" y="831350"/>
            <a:ext cx="8520600" cy="373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525C65"/>
                </a:solidFill>
                <a:highlight>
                  <a:srgbClr val="FFFFFF"/>
                </a:highlight>
              </a:rPr>
              <a:t>When adding data members or functions to a class, we can use one of three keywords to control their access:</a:t>
            </a:r>
            <a:endParaRPr>
              <a:solidFill>
                <a:srgbClr val="525C65"/>
              </a:solidFill>
              <a:highlight>
                <a:srgbClr val="FFFFFF"/>
              </a:highlight>
            </a:endParaRPr>
          </a:p>
          <a:p>
            <a:pPr indent="0" lvl="0" marL="0" rtl="0" algn="l">
              <a:spcBef>
                <a:spcPts val="0"/>
              </a:spcBef>
              <a:spcAft>
                <a:spcPts val="0"/>
              </a:spcAft>
              <a:buNone/>
            </a:pPr>
            <a:r>
              <a:rPr b="1" lang="en">
                <a:solidFill>
                  <a:srgbClr val="525C65"/>
                </a:solidFill>
                <a:highlight>
                  <a:srgbClr val="FFFFFF"/>
                </a:highlight>
              </a:rPr>
              <a:t>Private:</a:t>
            </a:r>
            <a:r>
              <a:rPr lang="en">
                <a:solidFill>
                  <a:srgbClr val="525C65"/>
                </a:solidFill>
                <a:highlight>
                  <a:srgbClr val="FFFFFF"/>
                </a:highlight>
              </a:rPr>
              <a:t> We can only use any class member or function listed as private within the class they belong to. Trying to access or view private data outside of their respective class results in an error.</a:t>
            </a:r>
            <a:endParaRPr>
              <a:solidFill>
                <a:srgbClr val="525C65"/>
              </a:solidFill>
              <a:highlight>
                <a:srgbClr val="FFFFFF"/>
              </a:highlight>
            </a:endParaRPr>
          </a:p>
          <a:p>
            <a:pPr indent="0" lvl="0" marL="0" rtl="0" algn="l">
              <a:spcBef>
                <a:spcPts val="0"/>
              </a:spcBef>
              <a:spcAft>
                <a:spcPts val="0"/>
              </a:spcAft>
              <a:buNone/>
            </a:pPr>
            <a:r>
              <a:rPr b="1" lang="en">
                <a:solidFill>
                  <a:srgbClr val="525C65"/>
                </a:solidFill>
                <a:highlight>
                  <a:srgbClr val="FFFFFF"/>
                </a:highlight>
              </a:rPr>
              <a:t>Protected:</a:t>
            </a:r>
            <a:r>
              <a:rPr lang="en">
                <a:solidFill>
                  <a:srgbClr val="525C65"/>
                </a:solidFill>
                <a:highlight>
                  <a:srgbClr val="FFFFFF"/>
                </a:highlight>
              </a:rPr>
              <a:t> Protected members or functions are limited in their use as well. In addition to using protected members or functions within their class, we can also access protected information from within inherited classes.</a:t>
            </a:r>
            <a:endParaRPr>
              <a:solidFill>
                <a:srgbClr val="525C65"/>
              </a:solidFill>
              <a:highlight>
                <a:srgbClr val="FFFFFF"/>
              </a:highlight>
            </a:endParaRPr>
          </a:p>
          <a:p>
            <a:pPr indent="0" lvl="0" marL="0" rtl="0" algn="l">
              <a:spcBef>
                <a:spcPts val="0"/>
              </a:spcBef>
              <a:spcAft>
                <a:spcPts val="0"/>
              </a:spcAft>
              <a:buNone/>
            </a:pPr>
            <a:r>
              <a:rPr b="1" lang="en">
                <a:solidFill>
                  <a:srgbClr val="525C65"/>
                </a:solidFill>
                <a:highlight>
                  <a:srgbClr val="FFFFFF"/>
                </a:highlight>
              </a:rPr>
              <a:t>Public: </a:t>
            </a:r>
            <a:r>
              <a:rPr lang="en">
                <a:solidFill>
                  <a:srgbClr val="525C65"/>
                </a:solidFill>
                <a:highlight>
                  <a:srgbClr val="FFFFFF"/>
                </a:highlight>
              </a:rPr>
              <a:t>We can use public members and functions anywhere else in our code.</a:t>
            </a:r>
            <a:endParaRPr>
              <a:solidFill>
                <a:srgbClr val="525C65"/>
              </a:solidFill>
              <a:highlight>
                <a:srgbClr val="FFFFFF"/>
              </a:highlight>
            </a:endParaRPr>
          </a:p>
          <a:p>
            <a:pPr indent="0" lvl="0" marL="0" rtl="0" algn="l">
              <a:spcBef>
                <a:spcPts val="0"/>
              </a:spcBef>
              <a:spcAft>
                <a:spcPts val="0"/>
              </a:spcAft>
              <a:buNone/>
            </a:pPr>
            <a:r>
              <a:rPr lang="en">
                <a:solidFill>
                  <a:srgbClr val="525C65"/>
                </a:solidFill>
                <a:highlight>
                  <a:srgbClr val="FFFFFF"/>
                </a:highlight>
              </a:rPr>
              <a:t>While we don’t cover inherited classes that use the protected keyword here, below is an example of how public and private access modifiers work:</a:t>
            </a:r>
            <a:endParaRPr>
              <a:solidFill>
                <a:srgbClr val="525C65"/>
              </a:solidFill>
              <a:highlight>
                <a:srgbClr val="FFFFFF"/>
              </a:highlight>
            </a:endParaRPr>
          </a:p>
          <a:p>
            <a:pPr indent="0" lvl="0" marL="0" rtl="0" algn="l">
              <a:spcBef>
                <a:spcPts val="0"/>
              </a:spcBef>
              <a:spcAft>
                <a:spcPts val="0"/>
              </a:spcAft>
              <a:buNone/>
            </a:pPr>
            <a:r>
              <a:t/>
            </a:r>
            <a:endParaRPr/>
          </a:p>
        </p:txBody>
      </p:sp>
      <p:sp>
        <p:nvSpPr>
          <p:cNvPr id="973" name="Google Shape;973;g283038813be_0_69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g283038813be_0_697"/>
          <p:cNvSpPr txBox="1"/>
          <p:nvPr>
            <p:ph type="title"/>
          </p:nvPr>
        </p:nvSpPr>
        <p:spPr>
          <a:xfrm>
            <a:off x="187400" y="126475"/>
            <a:ext cx="8520600" cy="5727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250">
                <a:solidFill>
                  <a:srgbClr val="2E3D49"/>
                </a:solidFill>
                <a:highlight>
                  <a:srgbClr val="FFFFFF"/>
                </a:highlight>
              </a:rPr>
              <a:t>Printing From an Encapsulated Class in C++</a:t>
            </a:r>
            <a:endParaRPr b="1" sz="2250">
              <a:solidFill>
                <a:srgbClr val="2E3D49"/>
              </a:solidFill>
              <a:highlight>
                <a:srgbClr val="FFFFFF"/>
              </a:highlight>
            </a:endParaRPr>
          </a:p>
          <a:p>
            <a:pPr indent="0" lvl="0" marL="0" rtl="0" algn="l">
              <a:spcBef>
                <a:spcPts val="0"/>
              </a:spcBef>
              <a:spcAft>
                <a:spcPts val="0"/>
              </a:spcAft>
              <a:buNone/>
            </a:pPr>
            <a:r>
              <a:t/>
            </a:r>
            <a:endParaRPr/>
          </a:p>
        </p:txBody>
      </p:sp>
      <p:sp>
        <p:nvSpPr>
          <p:cNvPr id="979" name="Google Shape;979;g283038813be_0_697"/>
          <p:cNvSpPr txBox="1"/>
          <p:nvPr>
            <p:ph idx="1" type="body"/>
          </p:nvPr>
        </p:nvSpPr>
        <p:spPr>
          <a:xfrm>
            <a:off x="187400" y="663000"/>
            <a:ext cx="8520600" cy="416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525C65"/>
                </a:solidFill>
                <a:highlight>
                  <a:srgbClr val="FFFFFF"/>
                </a:highlight>
              </a:rPr>
              <a:t>The above example is a valid class, but it has some limitations. We are free to use or assign values to</a:t>
            </a:r>
            <a:r>
              <a:rPr lang="en" sz="1000">
                <a:solidFill>
                  <a:srgbClr val="525C65"/>
                </a:solidFill>
                <a:highlight>
                  <a:srgbClr val="FFFFFF"/>
                </a:highlight>
                <a:latin typeface="Courier New"/>
                <a:ea typeface="Courier New"/>
                <a:cs typeface="Courier New"/>
                <a:sym typeface="Courier New"/>
              </a:rPr>
              <a:t> passport_number</a:t>
            </a:r>
            <a:r>
              <a:rPr lang="en" sz="1000">
                <a:solidFill>
                  <a:srgbClr val="525C65"/>
                </a:solidFill>
                <a:highlight>
                  <a:srgbClr val="FFFFFF"/>
                </a:highlight>
              </a:rPr>
              <a:t> and </a:t>
            </a:r>
            <a:r>
              <a:rPr lang="en" sz="1000">
                <a:solidFill>
                  <a:srgbClr val="525C65"/>
                </a:solidFill>
                <a:highlight>
                  <a:srgbClr val="FFFFFF"/>
                </a:highlight>
                <a:latin typeface="Courier New"/>
                <a:ea typeface="Courier New"/>
                <a:cs typeface="Courier New"/>
                <a:sym typeface="Courier New"/>
              </a:rPr>
              <a:t>passport_name</a:t>
            </a:r>
            <a:r>
              <a:rPr lang="en" sz="1000">
                <a:solidFill>
                  <a:srgbClr val="525C65"/>
                </a:solidFill>
                <a:highlight>
                  <a:srgbClr val="FFFFFF"/>
                </a:highlight>
              </a:rPr>
              <a:t> in an instance of the </a:t>
            </a:r>
            <a:r>
              <a:rPr lang="en" sz="1000">
                <a:solidFill>
                  <a:srgbClr val="525C65"/>
                </a:solidFill>
                <a:highlight>
                  <a:srgbClr val="FFFFFF"/>
                </a:highlight>
                <a:latin typeface="Courier New"/>
                <a:ea typeface="Courier New"/>
                <a:cs typeface="Courier New"/>
                <a:sym typeface="Courier New"/>
              </a:rPr>
              <a:t>Passport</a:t>
            </a:r>
            <a:r>
              <a:rPr lang="en" sz="1000">
                <a:solidFill>
                  <a:srgbClr val="525C65"/>
                </a:solidFill>
                <a:highlight>
                  <a:srgbClr val="FFFFFF"/>
                </a:highlight>
              </a:rPr>
              <a:t> class anywhere else in our code. This also leaves these variables exposed, allowing other parts of the codebase to manipulate them in a way we had not intended.</a:t>
            </a:r>
            <a:endParaRPr sz="1000">
              <a:solidFill>
                <a:srgbClr val="525C65"/>
              </a:solidFill>
              <a:highlight>
                <a:srgbClr val="FFFFFF"/>
              </a:highlight>
            </a:endParaRPr>
          </a:p>
          <a:p>
            <a:pPr indent="0" lvl="0" marL="0" rtl="0" algn="l">
              <a:spcBef>
                <a:spcPts val="0"/>
              </a:spcBef>
              <a:spcAft>
                <a:spcPts val="0"/>
              </a:spcAft>
              <a:buNone/>
            </a:pPr>
            <a:r>
              <a:rPr lang="en" sz="1000">
                <a:solidFill>
                  <a:srgbClr val="525C65"/>
                </a:solidFill>
                <a:highlight>
                  <a:srgbClr val="FFFFFF"/>
                </a:highlight>
              </a:rPr>
              <a:t>However, the </a:t>
            </a:r>
            <a:r>
              <a:rPr lang="en" sz="1000">
                <a:solidFill>
                  <a:srgbClr val="525C65"/>
                </a:solidFill>
                <a:highlight>
                  <a:srgbClr val="FFFFFF"/>
                </a:highlight>
                <a:latin typeface="Courier New"/>
                <a:ea typeface="Courier New"/>
                <a:cs typeface="Courier New"/>
                <a:sym typeface="Courier New"/>
              </a:rPr>
              <a:t>country_of_origin</a:t>
            </a:r>
            <a:r>
              <a:rPr i="1" lang="en" sz="1000">
                <a:solidFill>
                  <a:srgbClr val="525C65"/>
                </a:solidFill>
                <a:highlight>
                  <a:srgbClr val="FFFFFF"/>
                </a:highlight>
              </a:rPr>
              <a:t> </a:t>
            </a:r>
            <a:r>
              <a:rPr lang="en" sz="1000">
                <a:solidFill>
                  <a:srgbClr val="525C65"/>
                </a:solidFill>
                <a:highlight>
                  <a:srgbClr val="FFFFFF"/>
                </a:highlight>
              </a:rPr>
              <a:t>string is private and therefore inaccessible by the rest of our program. We can assign </a:t>
            </a:r>
            <a:r>
              <a:rPr lang="en" sz="1000">
                <a:solidFill>
                  <a:srgbClr val="525C65"/>
                </a:solidFill>
                <a:highlight>
                  <a:srgbClr val="FFFFFF"/>
                </a:highlight>
                <a:latin typeface="Courier New"/>
                <a:ea typeface="Courier New"/>
                <a:cs typeface="Courier New"/>
                <a:sym typeface="Courier New"/>
              </a:rPr>
              <a:t>country_of_origin</a:t>
            </a:r>
            <a:r>
              <a:rPr i="1" lang="en" sz="1000">
                <a:solidFill>
                  <a:srgbClr val="525C65"/>
                </a:solidFill>
                <a:highlight>
                  <a:srgbClr val="FFFFFF"/>
                </a:highlight>
              </a:rPr>
              <a:t> </a:t>
            </a:r>
            <a:r>
              <a:rPr lang="en" sz="1000">
                <a:solidFill>
                  <a:srgbClr val="525C65"/>
                </a:solidFill>
                <a:highlight>
                  <a:srgbClr val="FFFFFF"/>
                </a:highlight>
              </a:rPr>
              <a:t>a value as we declare it, but this means we cannot change it elsewhere:</a:t>
            </a:r>
            <a:endParaRPr sz="1000">
              <a:solidFill>
                <a:srgbClr val="525C65"/>
              </a:solidFill>
              <a:highlight>
                <a:srgbClr val="FFFFFF"/>
              </a:highlight>
            </a:endParaRPr>
          </a:p>
          <a:p>
            <a:pPr indent="0" lvl="0" marL="0" rtl="0" algn="l">
              <a:spcBef>
                <a:spcPts val="0"/>
              </a:spcBef>
              <a:spcAft>
                <a:spcPts val="0"/>
              </a:spcAft>
              <a:buNone/>
            </a:pPr>
            <a:r>
              <a:t/>
            </a:r>
            <a:endParaRPr sz="1000">
              <a:solidFill>
                <a:srgbClr val="525C65"/>
              </a:solidFill>
              <a:highlight>
                <a:srgbClr val="FFFFFF"/>
              </a:highlight>
            </a:endParaRPr>
          </a:p>
          <a:p>
            <a:pPr indent="0" lvl="0" marL="0" rtl="0" algn="l">
              <a:lnSpc>
                <a:spcPct val="110000"/>
              </a:lnSpc>
              <a:spcBef>
                <a:spcPts val="0"/>
              </a:spcBef>
              <a:spcAft>
                <a:spcPts val="0"/>
              </a:spcAft>
              <a:buNone/>
            </a:pPr>
            <a:r>
              <a:rPr lang="en" sz="1000">
                <a:solidFill>
                  <a:srgbClr val="8AA6C1"/>
                </a:solidFill>
                <a:highlight>
                  <a:srgbClr val="0F192A"/>
                </a:highlight>
                <a:latin typeface="Courier New"/>
                <a:ea typeface="Courier New"/>
                <a:cs typeface="Courier New"/>
                <a:sym typeface="Courier New"/>
              </a:rPr>
              <a:t>#include &lt;iostream&gt;</a:t>
            </a:r>
            <a:endParaRPr sz="1000">
              <a:solidFill>
                <a:srgbClr val="8AA6C1"/>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b="1" lang="en" sz="1000">
                <a:solidFill>
                  <a:srgbClr val="B43D3D"/>
                </a:solidFill>
                <a:highlight>
                  <a:srgbClr val="0F192A"/>
                </a:highlight>
                <a:latin typeface="Courier New"/>
                <a:ea typeface="Courier New"/>
                <a:cs typeface="Courier New"/>
                <a:sym typeface="Courier New"/>
              </a:rPr>
              <a:t>using</a:t>
            </a:r>
            <a:r>
              <a:rPr lang="en" sz="1000">
                <a:solidFill>
                  <a:srgbClr val="525C65"/>
                </a:solidFill>
                <a:highlight>
                  <a:srgbClr val="0F192A"/>
                </a:highlight>
                <a:latin typeface="Courier New"/>
                <a:ea typeface="Courier New"/>
                <a:cs typeface="Courier New"/>
                <a:sym typeface="Courier New"/>
              </a:rPr>
              <a:t> </a:t>
            </a:r>
            <a:r>
              <a:rPr b="1" lang="en" sz="1000">
                <a:solidFill>
                  <a:srgbClr val="B43D3D"/>
                </a:solidFill>
                <a:highlight>
                  <a:srgbClr val="0F192A"/>
                </a:highlight>
                <a:latin typeface="Courier New"/>
                <a:ea typeface="Courier New"/>
                <a:cs typeface="Courier New"/>
                <a:sym typeface="Courier New"/>
              </a:rPr>
              <a:t>namespace</a:t>
            </a:r>
            <a:r>
              <a:rPr lang="en" sz="1000">
                <a:solidFill>
                  <a:srgbClr val="525C65"/>
                </a:solidFill>
                <a:highlight>
                  <a:srgbClr val="0F192A"/>
                </a:highlight>
                <a:latin typeface="Courier New"/>
                <a:ea typeface="Courier New"/>
                <a:cs typeface="Courier New"/>
                <a:sym typeface="Courier New"/>
              </a:rPr>
              <a:t> </a:t>
            </a:r>
            <a:r>
              <a:rPr lang="en" sz="1000">
                <a:solidFill>
                  <a:srgbClr val="D1EDFF"/>
                </a:solidFill>
                <a:highlight>
                  <a:srgbClr val="0F192A"/>
                </a:highlight>
                <a:latin typeface="Courier New"/>
                <a:ea typeface="Courier New"/>
                <a:cs typeface="Courier New"/>
                <a:sym typeface="Courier New"/>
              </a:rPr>
              <a:t>std;</a:t>
            </a:r>
            <a:endParaRPr sz="1000">
              <a:solidFill>
                <a:srgbClr val="525C65"/>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b="1" lang="en" sz="1000">
                <a:solidFill>
                  <a:srgbClr val="B43D3D"/>
                </a:solidFill>
                <a:highlight>
                  <a:srgbClr val="0F192A"/>
                </a:highlight>
                <a:latin typeface="Courier New"/>
                <a:ea typeface="Courier New"/>
                <a:cs typeface="Courier New"/>
                <a:sym typeface="Courier New"/>
              </a:rPr>
              <a:t>class</a:t>
            </a:r>
            <a:r>
              <a:rPr lang="en" sz="1000">
                <a:solidFill>
                  <a:srgbClr val="525C65"/>
                </a:solidFill>
                <a:highlight>
                  <a:srgbClr val="0F192A"/>
                </a:highlight>
                <a:latin typeface="Courier New"/>
                <a:ea typeface="Courier New"/>
                <a:cs typeface="Courier New"/>
                <a:sym typeface="Courier New"/>
              </a:rPr>
              <a:t> </a:t>
            </a:r>
            <a:r>
              <a:rPr lang="en" sz="1000">
                <a:solidFill>
                  <a:srgbClr val="D1EDFF"/>
                </a:solidFill>
                <a:highlight>
                  <a:srgbClr val="0F192A"/>
                </a:highlight>
                <a:latin typeface="Courier New"/>
                <a:ea typeface="Courier New"/>
                <a:cs typeface="Courier New"/>
                <a:sym typeface="Courier New"/>
              </a:rPr>
              <a:t>Passport {</a:t>
            </a:r>
            <a:endParaRPr sz="9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b="1" lang="en" sz="1000">
                <a:solidFill>
                  <a:srgbClr val="B43D3D"/>
                </a:solidFill>
                <a:highlight>
                  <a:srgbClr val="0F192A"/>
                </a:highlight>
                <a:latin typeface="Courier New"/>
                <a:ea typeface="Courier New"/>
                <a:cs typeface="Courier New"/>
                <a:sym typeface="Courier New"/>
              </a:rPr>
              <a:t>private</a:t>
            </a:r>
            <a:r>
              <a:rPr lang="en" sz="1000">
                <a:solidFill>
                  <a:srgbClr val="D1EDFF"/>
                </a:solidFill>
                <a:highlight>
                  <a:srgbClr val="0F192A"/>
                </a:highlight>
                <a:latin typeface="Courier New"/>
                <a:ea typeface="Courier New"/>
                <a:cs typeface="Courier New"/>
                <a:sym typeface="Courier New"/>
              </a:rPr>
              <a:t>:</a:t>
            </a:r>
            <a:endParaRPr sz="10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1000">
                <a:solidFill>
                  <a:srgbClr val="525C65"/>
                </a:solidFill>
                <a:highlight>
                  <a:srgbClr val="0F192A"/>
                </a:highlight>
                <a:latin typeface="Courier New"/>
                <a:ea typeface="Courier New"/>
                <a:cs typeface="Courier New"/>
                <a:sym typeface="Courier New"/>
              </a:rPr>
              <a:t>  </a:t>
            </a:r>
            <a:r>
              <a:rPr lang="en" sz="1000">
                <a:solidFill>
                  <a:srgbClr val="D1EDFF"/>
                </a:solidFill>
                <a:highlight>
                  <a:srgbClr val="0F192A"/>
                </a:highlight>
                <a:latin typeface="Courier New"/>
                <a:ea typeface="Courier New"/>
                <a:cs typeface="Courier New"/>
                <a:sym typeface="Courier New"/>
              </a:rPr>
              <a:t>string country_of_origin = </a:t>
            </a:r>
            <a:r>
              <a:rPr lang="en" sz="1000">
                <a:solidFill>
                  <a:srgbClr val="1DC116"/>
                </a:solidFill>
                <a:highlight>
                  <a:srgbClr val="0F192A"/>
                </a:highlight>
                <a:latin typeface="Courier New"/>
                <a:ea typeface="Courier New"/>
                <a:cs typeface="Courier New"/>
                <a:sym typeface="Courier New"/>
              </a:rPr>
              <a:t>"Rwanda"</a:t>
            </a:r>
            <a:r>
              <a:rPr lang="en" sz="1000">
                <a:solidFill>
                  <a:srgbClr val="D1EDFF"/>
                </a:solidFill>
                <a:highlight>
                  <a:srgbClr val="0F192A"/>
                </a:highlight>
                <a:latin typeface="Courier New"/>
                <a:ea typeface="Courier New"/>
                <a:cs typeface="Courier New"/>
                <a:sym typeface="Courier New"/>
              </a:rPr>
              <a:t>;</a:t>
            </a:r>
            <a:endParaRPr sz="10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b="1" lang="en" sz="1000">
                <a:solidFill>
                  <a:srgbClr val="B43D3D"/>
                </a:solidFill>
                <a:highlight>
                  <a:srgbClr val="0F192A"/>
                </a:highlight>
                <a:latin typeface="Courier New"/>
                <a:ea typeface="Courier New"/>
                <a:cs typeface="Courier New"/>
                <a:sym typeface="Courier New"/>
              </a:rPr>
              <a:t>public</a:t>
            </a:r>
            <a:r>
              <a:rPr lang="en" sz="1000">
                <a:solidFill>
                  <a:srgbClr val="D1EDFF"/>
                </a:solidFill>
                <a:highlight>
                  <a:srgbClr val="0F192A"/>
                </a:highlight>
                <a:latin typeface="Courier New"/>
                <a:ea typeface="Courier New"/>
                <a:cs typeface="Courier New"/>
                <a:sym typeface="Courier New"/>
              </a:rPr>
              <a:t>:</a:t>
            </a:r>
            <a:endParaRPr sz="10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1000">
                <a:solidFill>
                  <a:srgbClr val="525C65"/>
                </a:solidFill>
                <a:highlight>
                  <a:srgbClr val="0F192A"/>
                </a:highlight>
                <a:latin typeface="Courier New"/>
                <a:ea typeface="Courier New"/>
                <a:cs typeface="Courier New"/>
                <a:sym typeface="Courier New"/>
              </a:rPr>
              <a:t>  </a:t>
            </a:r>
            <a:r>
              <a:rPr b="1" lang="en" sz="1000">
                <a:solidFill>
                  <a:srgbClr val="F8BB00"/>
                </a:solidFill>
                <a:highlight>
                  <a:srgbClr val="0F192A"/>
                </a:highlight>
                <a:latin typeface="Courier New"/>
                <a:ea typeface="Courier New"/>
                <a:cs typeface="Courier New"/>
                <a:sym typeface="Courier New"/>
              </a:rPr>
              <a:t>int</a:t>
            </a:r>
            <a:r>
              <a:rPr lang="en" sz="1000">
                <a:solidFill>
                  <a:srgbClr val="525C65"/>
                </a:solidFill>
                <a:highlight>
                  <a:srgbClr val="0F192A"/>
                </a:highlight>
                <a:latin typeface="Courier New"/>
                <a:ea typeface="Courier New"/>
                <a:cs typeface="Courier New"/>
                <a:sym typeface="Courier New"/>
              </a:rPr>
              <a:t> </a:t>
            </a:r>
            <a:r>
              <a:rPr lang="en" sz="1000">
                <a:solidFill>
                  <a:srgbClr val="D1EDFF"/>
                </a:solidFill>
                <a:highlight>
                  <a:srgbClr val="0F192A"/>
                </a:highlight>
                <a:latin typeface="Courier New"/>
                <a:ea typeface="Courier New"/>
                <a:cs typeface="Courier New"/>
                <a:sym typeface="Courier New"/>
              </a:rPr>
              <a:t>passport_number;</a:t>
            </a:r>
            <a:endParaRPr sz="10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1000">
                <a:solidFill>
                  <a:srgbClr val="525C65"/>
                </a:solidFill>
                <a:highlight>
                  <a:srgbClr val="0F192A"/>
                </a:highlight>
                <a:latin typeface="Courier New"/>
                <a:ea typeface="Courier New"/>
                <a:cs typeface="Courier New"/>
                <a:sym typeface="Courier New"/>
              </a:rPr>
              <a:t>  </a:t>
            </a:r>
            <a:r>
              <a:rPr lang="en" sz="1000">
                <a:solidFill>
                  <a:srgbClr val="D1EDFF"/>
                </a:solidFill>
                <a:highlight>
                  <a:srgbClr val="0F192A"/>
                </a:highlight>
                <a:latin typeface="Courier New"/>
                <a:ea typeface="Courier New"/>
                <a:cs typeface="Courier New"/>
                <a:sym typeface="Courier New"/>
              </a:rPr>
              <a:t>string passport_name;</a:t>
            </a:r>
            <a:endParaRPr sz="10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1000">
                <a:solidFill>
                  <a:srgbClr val="525C65"/>
                </a:solidFill>
                <a:highlight>
                  <a:srgbClr val="0F192A"/>
                </a:highlight>
                <a:latin typeface="Courier New"/>
                <a:ea typeface="Courier New"/>
                <a:cs typeface="Courier New"/>
                <a:sym typeface="Courier New"/>
              </a:rPr>
              <a:t>  </a:t>
            </a:r>
            <a:r>
              <a:rPr b="1" lang="en" sz="1000">
                <a:solidFill>
                  <a:srgbClr val="B43D3D"/>
                </a:solidFill>
                <a:highlight>
                  <a:srgbClr val="0F192A"/>
                </a:highlight>
                <a:latin typeface="Courier New"/>
                <a:ea typeface="Courier New"/>
                <a:cs typeface="Courier New"/>
                <a:sym typeface="Courier New"/>
              </a:rPr>
              <a:t>void</a:t>
            </a:r>
            <a:r>
              <a:rPr lang="en" sz="1000">
                <a:solidFill>
                  <a:srgbClr val="525C65"/>
                </a:solidFill>
                <a:highlight>
                  <a:srgbClr val="0F192A"/>
                </a:highlight>
                <a:latin typeface="Courier New"/>
                <a:ea typeface="Courier New"/>
                <a:cs typeface="Courier New"/>
                <a:sym typeface="Courier New"/>
              </a:rPr>
              <a:t> </a:t>
            </a:r>
            <a:r>
              <a:rPr lang="en" sz="1000">
                <a:solidFill>
                  <a:srgbClr val="D1EDFF"/>
                </a:solidFill>
                <a:highlight>
                  <a:srgbClr val="0F192A"/>
                </a:highlight>
                <a:latin typeface="Courier New"/>
                <a:ea typeface="Courier New"/>
                <a:cs typeface="Courier New"/>
                <a:sym typeface="Courier New"/>
              </a:rPr>
              <a:t>dothis() {</a:t>
            </a:r>
            <a:endParaRPr sz="10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1000">
                <a:solidFill>
                  <a:srgbClr val="525C65"/>
                </a:solidFill>
                <a:highlight>
                  <a:srgbClr val="0F192A"/>
                </a:highlight>
                <a:latin typeface="Courier New"/>
                <a:ea typeface="Courier New"/>
                <a:cs typeface="Courier New"/>
                <a:sym typeface="Courier New"/>
              </a:rPr>
              <a:t>        </a:t>
            </a:r>
            <a:r>
              <a:rPr lang="en" sz="1000">
                <a:solidFill>
                  <a:srgbClr val="D1EDFF"/>
                </a:solidFill>
                <a:highlight>
                  <a:srgbClr val="0F192A"/>
                </a:highlight>
                <a:latin typeface="Courier New"/>
                <a:ea typeface="Courier New"/>
                <a:cs typeface="Courier New"/>
                <a:sym typeface="Courier New"/>
              </a:rPr>
              <a:t>cout &lt;&lt; passport_name &lt;&lt; </a:t>
            </a:r>
            <a:r>
              <a:rPr lang="en" sz="1000">
                <a:solidFill>
                  <a:srgbClr val="1DC116"/>
                </a:solidFill>
                <a:highlight>
                  <a:srgbClr val="0F192A"/>
                </a:highlight>
                <a:latin typeface="Courier New"/>
                <a:ea typeface="Courier New"/>
                <a:cs typeface="Courier New"/>
                <a:sym typeface="Courier New"/>
              </a:rPr>
              <a:t>"'s "</a:t>
            </a:r>
            <a:r>
              <a:rPr lang="en" sz="1000">
                <a:solidFill>
                  <a:srgbClr val="525C65"/>
                </a:solidFill>
                <a:highlight>
                  <a:srgbClr val="0F192A"/>
                </a:highlight>
                <a:latin typeface="Courier New"/>
                <a:ea typeface="Courier New"/>
                <a:cs typeface="Courier New"/>
                <a:sym typeface="Courier New"/>
              </a:rPr>
              <a:t> </a:t>
            </a:r>
            <a:r>
              <a:rPr lang="en" sz="1000">
                <a:solidFill>
                  <a:srgbClr val="D1EDFF"/>
                </a:solidFill>
                <a:highlight>
                  <a:srgbClr val="0F192A"/>
                </a:highlight>
                <a:latin typeface="Courier New"/>
                <a:ea typeface="Courier New"/>
                <a:cs typeface="Courier New"/>
                <a:sym typeface="Courier New"/>
              </a:rPr>
              <a:t>&lt;&lt; country_of_origin &lt;&lt; </a:t>
            </a:r>
            <a:r>
              <a:rPr lang="en" sz="1000">
                <a:solidFill>
                  <a:srgbClr val="1DC116"/>
                </a:solidFill>
                <a:highlight>
                  <a:srgbClr val="0F192A"/>
                </a:highlight>
                <a:latin typeface="Courier New"/>
                <a:ea typeface="Courier New"/>
                <a:cs typeface="Courier New"/>
                <a:sym typeface="Courier New"/>
              </a:rPr>
              <a:t>" passport number is "</a:t>
            </a:r>
            <a:r>
              <a:rPr lang="en" sz="1000">
                <a:solidFill>
                  <a:srgbClr val="525C65"/>
                </a:solidFill>
                <a:highlight>
                  <a:srgbClr val="0F192A"/>
                </a:highlight>
                <a:latin typeface="Courier New"/>
                <a:ea typeface="Courier New"/>
                <a:cs typeface="Courier New"/>
                <a:sym typeface="Courier New"/>
              </a:rPr>
              <a:t> </a:t>
            </a:r>
            <a:r>
              <a:rPr lang="en" sz="1000">
                <a:solidFill>
                  <a:srgbClr val="D1EDFF"/>
                </a:solidFill>
                <a:highlight>
                  <a:srgbClr val="0F192A"/>
                </a:highlight>
                <a:latin typeface="Courier New"/>
                <a:ea typeface="Courier New"/>
                <a:cs typeface="Courier New"/>
                <a:sym typeface="Courier New"/>
              </a:rPr>
              <a:t>&lt;&lt; passport_number;</a:t>
            </a:r>
            <a:endParaRPr sz="10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1000">
                <a:solidFill>
                  <a:srgbClr val="525C65"/>
                </a:solidFill>
                <a:highlight>
                  <a:srgbClr val="0F192A"/>
                </a:highlight>
                <a:latin typeface="Courier New"/>
                <a:ea typeface="Courier New"/>
                <a:cs typeface="Courier New"/>
                <a:sym typeface="Courier New"/>
              </a:rPr>
              <a:t>  </a:t>
            </a:r>
            <a:r>
              <a:rPr lang="en" sz="1000">
                <a:solidFill>
                  <a:srgbClr val="D1EDFF"/>
                </a:solidFill>
                <a:highlight>
                  <a:srgbClr val="0F192A"/>
                </a:highlight>
                <a:latin typeface="Courier New"/>
                <a:ea typeface="Courier New"/>
                <a:cs typeface="Courier New"/>
                <a:sym typeface="Courier New"/>
              </a:rPr>
              <a:t>}</a:t>
            </a:r>
            <a:endParaRPr sz="10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1000">
                <a:solidFill>
                  <a:srgbClr val="D1EDFF"/>
                </a:solidFill>
                <a:highlight>
                  <a:srgbClr val="0F192A"/>
                </a:highlight>
                <a:latin typeface="Courier New"/>
                <a:ea typeface="Courier New"/>
                <a:cs typeface="Courier New"/>
                <a:sym typeface="Courier New"/>
              </a:rPr>
              <a:t>};</a:t>
            </a:r>
            <a:endParaRPr sz="1000">
              <a:solidFill>
                <a:srgbClr val="525C65"/>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b="1" lang="en" sz="1000">
                <a:solidFill>
                  <a:srgbClr val="F8BB00"/>
                </a:solidFill>
                <a:highlight>
                  <a:srgbClr val="0F192A"/>
                </a:highlight>
                <a:latin typeface="Courier New"/>
                <a:ea typeface="Courier New"/>
                <a:cs typeface="Courier New"/>
                <a:sym typeface="Courier New"/>
              </a:rPr>
              <a:t>int</a:t>
            </a:r>
            <a:r>
              <a:rPr lang="en" sz="1000">
                <a:solidFill>
                  <a:srgbClr val="525C65"/>
                </a:solidFill>
                <a:highlight>
                  <a:srgbClr val="0F192A"/>
                </a:highlight>
                <a:latin typeface="Courier New"/>
                <a:ea typeface="Courier New"/>
                <a:cs typeface="Courier New"/>
                <a:sym typeface="Courier New"/>
              </a:rPr>
              <a:t> </a:t>
            </a:r>
            <a:r>
              <a:rPr lang="en" sz="1000">
                <a:solidFill>
                  <a:srgbClr val="D1EDFF"/>
                </a:solidFill>
                <a:highlight>
                  <a:srgbClr val="0F192A"/>
                </a:highlight>
                <a:latin typeface="Courier New"/>
                <a:ea typeface="Courier New"/>
                <a:cs typeface="Courier New"/>
                <a:sym typeface="Courier New"/>
              </a:rPr>
              <a:t>main() {</a:t>
            </a:r>
            <a:endParaRPr sz="10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1000">
                <a:solidFill>
                  <a:srgbClr val="525C65"/>
                </a:solidFill>
                <a:highlight>
                  <a:srgbClr val="0F192A"/>
                </a:highlight>
                <a:latin typeface="Courier New"/>
                <a:ea typeface="Courier New"/>
                <a:cs typeface="Courier New"/>
                <a:sym typeface="Courier New"/>
              </a:rPr>
              <a:t>  </a:t>
            </a:r>
            <a:r>
              <a:rPr lang="en" sz="1000">
                <a:solidFill>
                  <a:srgbClr val="D1EDFF"/>
                </a:solidFill>
                <a:highlight>
                  <a:srgbClr val="0F192A"/>
                </a:highlight>
                <a:latin typeface="Courier New"/>
                <a:ea typeface="Courier New"/>
                <a:cs typeface="Courier New"/>
                <a:sym typeface="Courier New"/>
              </a:rPr>
              <a:t>Passport mypassport;</a:t>
            </a:r>
            <a:endParaRPr sz="10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1000">
                <a:solidFill>
                  <a:srgbClr val="525C65"/>
                </a:solidFill>
                <a:highlight>
                  <a:srgbClr val="0F192A"/>
                </a:highlight>
                <a:latin typeface="Courier New"/>
                <a:ea typeface="Courier New"/>
                <a:cs typeface="Courier New"/>
                <a:sym typeface="Courier New"/>
              </a:rPr>
              <a:t>  </a:t>
            </a:r>
            <a:r>
              <a:rPr lang="en" sz="1000">
                <a:solidFill>
                  <a:srgbClr val="D1EDFF"/>
                </a:solidFill>
                <a:highlight>
                  <a:srgbClr val="0F192A"/>
                </a:highlight>
                <a:latin typeface="Courier New"/>
                <a:ea typeface="Courier New"/>
                <a:cs typeface="Courier New"/>
                <a:sym typeface="Courier New"/>
              </a:rPr>
              <a:t>mypassport.passport_number = 476896564;</a:t>
            </a:r>
            <a:endParaRPr sz="10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1000">
                <a:solidFill>
                  <a:srgbClr val="525C65"/>
                </a:solidFill>
                <a:highlight>
                  <a:srgbClr val="0F192A"/>
                </a:highlight>
                <a:latin typeface="Courier New"/>
                <a:ea typeface="Courier New"/>
                <a:cs typeface="Courier New"/>
                <a:sym typeface="Courier New"/>
              </a:rPr>
              <a:t>  </a:t>
            </a:r>
            <a:r>
              <a:rPr lang="en" sz="1000">
                <a:solidFill>
                  <a:srgbClr val="D1EDFF"/>
                </a:solidFill>
                <a:highlight>
                  <a:srgbClr val="0F192A"/>
                </a:highlight>
                <a:latin typeface="Courier New"/>
                <a:ea typeface="Courier New"/>
                <a:cs typeface="Courier New"/>
                <a:sym typeface="Courier New"/>
              </a:rPr>
              <a:t>mypassport.passport_name = </a:t>
            </a:r>
            <a:r>
              <a:rPr lang="en" sz="1000">
                <a:solidFill>
                  <a:srgbClr val="1DC116"/>
                </a:solidFill>
                <a:highlight>
                  <a:srgbClr val="0F192A"/>
                </a:highlight>
                <a:latin typeface="Courier New"/>
                <a:ea typeface="Courier New"/>
                <a:cs typeface="Courier New"/>
                <a:sym typeface="Courier New"/>
              </a:rPr>
              <a:t>"Mugabo Jack"</a:t>
            </a:r>
            <a:r>
              <a:rPr lang="en" sz="1000">
                <a:solidFill>
                  <a:srgbClr val="D1EDFF"/>
                </a:solidFill>
                <a:highlight>
                  <a:srgbClr val="0F192A"/>
                </a:highlight>
                <a:latin typeface="Courier New"/>
                <a:ea typeface="Courier New"/>
                <a:cs typeface="Courier New"/>
                <a:sym typeface="Courier New"/>
              </a:rPr>
              <a:t>;</a:t>
            </a:r>
            <a:endParaRPr sz="10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1000">
                <a:solidFill>
                  <a:srgbClr val="525C65"/>
                </a:solidFill>
                <a:highlight>
                  <a:srgbClr val="0F192A"/>
                </a:highlight>
                <a:latin typeface="Courier New"/>
                <a:ea typeface="Courier New"/>
                <a:cs typeface="Courier New"/>
                <a:sym typeface="Courier New"/>
              </a:rPr>
              <a:t>  </a:t>
            </a:r>
            <a:r>
              <a:rPr lang="en" sz="1000">
                <a:solidFill>
                  <a:srgbClr val="D1EDFF"/>
                </a:solidFill>
                <a:highlight>
                  <a:srgbClr val="0F192A"/>
                </a:highlight>
                <a:latin typeface="Courier New"/>
                <a:ea typeface="Courier New"/>
                <a:cs typeface="Courier New"/>
                <a:sym typeface="Courier New"/>
              </a:rPr>
              <a:t>mypassport.dothis();</a:t>
            </a:r>
            <a:endParaRPr sz="10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1000">
                <a:solidFill>
                  <a:srgbClr val="525C65"/>
                </a:solidFill>
                <a:highlight>
                  <a:srgbClr val="0F192A"/>
                </a:highlight>
                <a:latin typeface="Courier New"/>
                <a:ea typeface="Courier New"/>
                <a:cs typeface="Courier New"/>
                <a:sym typeface="Courier New"/>
              </a:rPr>
              <a:t>  </a:t>
            </a:r>
            <a:r>
              <a:rPr b="1" lang="en" sz="1000">
                <a:solidFill>
                  <a:srgbClr val="B43D3D"/>
                </a:solidFill>
                <a:highlight>
                  <a:srgbClr val="0F192A"/>
                </a:highlight>
                <a:latin typeface="Courier New"/>
                <a:ea typeface="Courier New"/>
                <a:cs typeface="Courier New"/>
                <a:sym typeface="Courier New"/>
              </a:rPr>
              <a:t>return</a:t>
            </a:r>
            <a:r>
              <a:rPr lang="en" sz="1000">
                <a:solidFill>
                  <a:srgbClr val="525C65"/>
                </a:solidFill>
                <a:highlight>
                  <a:srgbClr val="0F192A"/>
                </a:highlight>
                <a:latin typeface="Courier New"/>
                <a:ea typeface="Courier New"/>
                <a:cs typeface="Courier New"/>
                <a:sym typeface="Courier New"/>
              </a:rPr>
              <a:t> </a:t>
            </a:r>
            <a:r>
              <a:rPr lang="en" sz="1000">
                <a:solidFill>
                  <a:srgbClr val="D1EDFF"/>
                </a:solidFill>
                <a:highlight>
                  <a:srgbClr val="0F192A"/>
                </a:highlight>
                <a:latin typeface="Courier New"/>
                <a:ea typeface="Courier New"/>
                <a:cs typeface="Courier New"/>
                <a:sym typeface="Courier New"/>
              </a:rPr>
              <a:t>0;</a:t>
            </a:r>
            <a:endParaRPr sz="10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rPr lang="en" sz="1000">
                <a:solidFill>
                  <a:srgbClr val="D1EDFF"/>
                </a:solidFill>
                <a:highlight>
                  <a:srgbClr val="0F192A"/>
                </a:highlight>
                <a:latin typeface="Courier New"/>
                <a:ea typeface="Courier New"/>
                <a:cs typeface="Courier New"/>
                <a:sym typeface="Courier New"/>
              </a:rPr>
              <a:t>}</a:t>
            </a:r>
            <a:endParaRPr sz="1000">
              <a:solidFill>
                <a:srgbClr val="D1EDFF"/>
              </a:solidFill>
              <a:highlight>
                <a:srgbClr val="0F192A"/>
              </a:highlight>
              <a:latin typeface="Courier New"/>
              <a:ea typeface="Courier New"/>
              <a:cs typeface="Courier New"/>
              <a:sym typeface="Courier New"/>
            </a:endParaRPr>
          </a:p>
          <a:p>
            <a:pPr indent="0" lvl="0" marL="0" rtl="0" algn="l">
              <a:lnSpc>
                <a:spcPct val="110000"/>
              </a:lnSpc>
              <a:spcBef>
                <a:spcPts val="0"/>
              </a:spcBef>
              <a:spcAft>
                <a:spcPts val="0"/>
              </a:spcAft>
              <a:buNone/>
            </a:pPr>
            <a:r>
              <a:t/>
            </a:r>
            <a:endParaRPr sz="1000">
              <a:solidFill>
                <a:srgbClr val="D1EDFF"/>
              </a:solidFill>
              <a:highlight>
                <a:srgbClr val="0F192A"/>
              </a:highlight>
              <a:latin typeface="Courier New"/>
              <a:ea typeface="Courier New"/>
              <a:cs typeface="Courier New"/>
              <a:sym typeface="Courier New"/>
            </a:endParaRPr>
          </a:p>
          <a:p>
            <a:pPr indent="0" lvl="0" marL="0" rtl="0" algn="l">
              <a:spcBef>
                <a:spcPts val="0"/>
              </a:spcBef>
              <a:spcAft>
                <a:spcPts val="0"/>
              </a:spcAft>
              <a:buNone/>
            </a:pPr>
            <a:r>
              <a:t/>
            </a:r>
            <a:endParaRPr sz="1000">
              <a:solidFill>
                <a:srgbClr val="525C65"/>
              </a:solidFill>
              <a:highlight>
                <a:srgbClr val="FFFFFF"/>
              </a:highlight>
            </a:endParaRPr>
          </a:p>
          <a:p>
            <a:pPr indent="0" lvl="0" marL="0" rtl="0" algn="l">
              <a:spcBef>
                <a:spcPts val="0"/>
              </a:spcBef>
              <a:spcAft>
                <a:spcPts val="0"/>
              </a:spcAft>
              <a:buNone/>
            </a:pPr>
            <a:r>
              <a:t/>
            </a:r>
            <a:endParaRPr sz="1600"/>
          </a:p>
        </p:txBody>
      </p:sp>
      <p:sp>
        <p:nvSpPr>
          <p:cNvPr id="980" name="Google Shape;980;g283038813be_0_697"/>
          <p:cNvSpPr txBox="1"/>
          <p:nvPr/>
        </p:nvSpPr>
        <p:spPr>
          <a:xfrm>
            <a:off x="4964800" y="4059025"/>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D1EDFF"/>
                </a:solidFill>
                <a:highlight>
                  <a:srgbClr val="0F192A"/>
                </a:highlight>
                <a:latin typeface="Courier New"/>
                <a:ea typeface="Courier New"/>
                <a:cs typeface="Courier New"/>
                <a:sym typeface="Courier New"/>
              </a:rPr>
              <a:t>MUgabo Jack's Rwanda passport number is 476896564</a:t>
            </a:r>
            <a:endParaRPr/>
          </a:p>
        </p:txBody>
      </p:sp>
      <p:sp>
        <p:nvSpPr>
          <p:cNvPr id="981" name="Google Shape;981;g283038813be_0_697"/>
          <p:cNvSpPr txBox="1"/>
          <p:nvPr/>
        </p:nvSpPr>
        <p:spPr>
          <a:xfrm>
            <a:off x="4817175" y="3428725"/>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525C65"/>
                </a:solidFill>
                <a:highlight>
                  <a:srgbClr val="FFFFFF"/>
                </a:highlight>
              </a:rPr>
              <a:t>The above program runs and outputs the information in the </a:t>
            </a:r>
            <a:r>
              <a:rPr lang="en" sz="1200">
                <a:solidFill>
                  <a:srgbClr val="525C65"/>
                </a:solidFill>
                <a:highlight>
                  <a:srgbClr val="FFFFFF"/>
                </a:highlight>
                <a:latin typeface="Courier New"/>
                <a:ea typeface="Courier New"/>
                <a:cs typeface="Courier New"/>
                <a:sym typeface="Courier New"/>
              </a:rPr>
              <a:t>cout</a:t>
            </a:r>
            <a:r>
              <a:rPr lang="en" sz="1200">
                <a:solidFill>
                  <a:srgbClr val="525C65"/>
                </a:solidFill>
                <a:highlight>
                  <a:srgbClr val="FFFFFF"/>
                </a:highlight>
              </a:rPr>
              <a:t> statement:</a:t>
            </a:r>
            <a:endParaRPr/>
          </a:p>
        </p:txBody>
      </p:sp>
      <p:sp>
        <p:nvSpPr>
          <p:cNvPr id="982" name="Google Shape;982;g283038813be_0_69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g283038813be_0_704"/>
          <p:cNvSpPr txBox="1"/>
          <p:nvPr>
            <p:ph type="title"/>
          </p:nvPr>
        </p:nvSpPr>
        <p:spPr>
          <a:xfrm>
            <a:off x="118950" y="51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Access encapsulated data in C++</a:t>
            </a:r>
            <a:endParaRPr b="1"/>
          </a:p>
        </p:txBody>
      </p:sp>
      <p:sp>
        <p:nvSpPr>
          <p:cNvPr id="988" name="Google Shape;988;g283038813be_0_704"/>
          <p:cNvSpPr txBox="1"/>
          <p:nvPr>
            <p:ph idx="1" type="body"/>
          </p:nvPr>
        </p:nvSpPr>
        <p:spPr>
          <a:xfrm>
            <a:off x="195150" y="668075"/>
            <a:ext cx="5018400" cy="424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525C65"/>
                </a:solidFill>
                <a:highlight>
                  <a:srgbClr val="FFFFFF"/>
                </a:highlight>
              </a:rPr>
              <a:t>C++ allows access to private data members and functions inside a class through the use of getters and setters. </a:t>
            </a:r>
            <a:r>
              <a:rPr lang="en" sz="1100">
                <a:solidFill>
                  <a:srgbClr val="525C65"/>
                </a:solidFill>
                <a:highlight>
                  <a:srgbClr val="FFFFFF"/>
                </a:highlight>
                <a:latin typeface="Courier New"/>
                <a:ea typeface="Courier New"/>
                <a:cs typeface="Courier New"/>
                <a:sym typeface="Courier New"/>
              </a:rPr>
              <a:t>get()</a:t>
            </a:r>
            <a:r>
              <a:rPr i="1" lang="en" sz="1100">
                <a:solidFill>
                  <a:srgbClr val="525C65"/>
                </a:solidFill>
                <a:highlight>
                  <a:srgbClr val="FFFFFF"/>
                </a:highlight>
              </a:rPr>
              <a:t> </a:t>
            </a:r>
            <a:r>
              <a:rPr lang="en" sz="1100">
                <a:solidFill>
                  <a:srgbClr val="525C65"/>
                </a:solidFill>
                <a:highlight>
                  <a:srgbClr val="FFFFFF"/>
                </a:highlight>
              </a:rPr>
              <a:t>and </a:t>
            </a:r>
            <a:r>
              <a:rPr lang="en" sz="1100">
                <a:solidFill>
                  <a:srgbClr val="525C65"/>
                </a:solidFill>
                <a:highlight>
                  <a:srgbClr val="FFFFFF"/>
                </a:highlight>
                <a:latin typeface="Courier New"/>
                <a:ea typeface="Courier New"/>
                <a:cs typeface="Courier New"/>
                <a:sym typeface="Courier New"/>
              </a:rPr>
              <a:t>set()</a:t>
            </a:r>
            <a:r>
              <a:rPr i="1" lang="en" sz="1100">
                <a:solidFill>
                  <a:srgbClr val="525C65"/>
                </a:solidFill>
                <a:highlight>
                  <a:srgbClr val="FFFFFF"/>
                </a:highlight>
              </a:rPr>
              <a:t> </a:t>
            </a:r>
            <a:r>
              <a:rPr lang="en" sz="1100">
                <a:solidFill>
                  <a:srgbClr val="525C65"/>
                </a:solidFill>
                <a:highlight>
                  <a:srgbClr val="FFFFFF"/>
                </a:highlight>
              </a:rPr>
              <a:t>are methods, initialized in the public section of a class, as a way to either read or write to private data.</a:t>
            </a:r>
            <a:endParaRPr sz="1100">
              <a:solidFill>
                <a:srgbClr val="525C65"/>
              </a:solidFill>
              <a:highlight>
                <a:srgbClr val="FFFFFF"/>
              </a:highlight>
            </a:endParaRPr>
          </a:p>
          <a:p>
            <a:pPr indent="0" lvl="0" marL="0" rtl="0" algn="l">
              <a:spcBef>
                <a:spcPts val="0"/>
              </a:spcBef>
              <a:spcAft>
                <a:spcPts val="0"/>
              </a:spcAft>
              <a:buNone/>
            </a:pPr>
            <a:r>
              <a:t/>
            </a:r>
            <a:endParaRPr sz="1100">
              <a:solidFill>
                <a:srgbClr val="525C65"/>
              </a:solidFill>
              <a:highlight>
                <a:srgbClr val="FFFFFF"/>
              </a:highlight>
            </a:endParaRPr>
          </a:p>
          <a:p>
            <a:pPr indent="0" lvl="0" marL="0" rtl="0" algn="l">
              <a:spcBef>
                <a:spcPts val="0"/>
              </a:spcBef>
              <a:spcAft>
                <a:spcPts val="0"/>
              </a:spcAft>
              <a:buNone/>
            </a:pPr>
            <a:r>
              <a:rPr lang="en" sz="1100">
                <a:solidFill>
                  <a:srgbClr val="525C65"/>
                </a:solidFill>
                <a:highlight>
                  <a:srgbClr val="FFFFFF"/>
                </a:highlight>
                <a:latin typeface="Courier New"/>
                <a:ea typeface="Courier New"/>
                <a:cs typeface="Courier New"/>
                <a:sym typeface="Courier New"/>
              </a:rPr>
              <a:t>set()</a:t>
            </a:r>
            <a:r>
              <a:rPr lang="en" sz="1100">
                <a:solidFill>
                  <a:srgbClr val="525C65"/>
                </a:solidFill>
                <a:highlight>
                  <a:srgbClr val="FFFFFF"/>
                </a:highlight>
              </a:rPr>
              <a:t> enables us to write a value to a private variable within our class. </a:t>
            </a:r>
            <a:r>
              <a:rPr lang="en" sz="1100">
                <a:solidFill>
                  <a:srgbClr val="525C65"/>
                </a:solidFill>
                <a:highlight>
                  <a:srgbClr val="FFFFFF"/>
                </a:highlight>
                <a:latin typeface="Courier New"/>
                <a:ea typeface="Courier New"/>
                <a:cs typeface="Courier New"/>
                <a:sym typeface="Courier New"/>
              </a:rPr>
              <a:t>get()</a:t>
            </a:r>
            <a:r>
              <a:rPr lang="en" sz="1100">
                <a:solidFill>
                  <a:srgbClr val="525C65"/>
                </a:solidFill>
                <a:highlight>
                  <a:srgbClr val="FFFFFF"/>
                </a:highlight>
              </a:rPr>
              <a:t>, on the other hand, allows a function outside of the class to read private data. Using </a:t>
            </a:r>
            <a:r>
              <a:rPr lang="en" sz="1100">
                <a:solidFill>
                  <a:srgbClr val="525C65"/>
                </a:solidFill>
                <a:highlight>
                  <a:srgbClr val="FFFFFF"/>
                </a:highlight>
                <a:latin typeface="Courier New"/>
                <a:ea typeface="Courier New"/>
                <a:cs typeface="Courier New"/>
                <a:sym typeface="Courier New"/>
              </a:rPr>
              <a:t>set()</a:t>
            </a:r>
            <a:r>
              <a:rPr lang="en" sz="1100">
                <a:solidFill>
                  <a:srgbClr val="525C65"/>
                </a:solidFill>
                <a:highlight>
                  <a:srgbClr val="FFFFFF"/>
                </a:highlight>
              </a:rPr>
              <a:t> and </a:t>
            </a:r>
            <a:r>
              <a:rPr lang="en" sz="1100">
                <a:solidFill>
                  <a:srgbClr val="525C65"/>
                </a:solidFill>
                <a:highlight>
                  <a:srgbClr val="FFFFFF"/>
                </a:highlight>
                <a:latin typeface="Courier New"/>
                <a:ea typeface="Courier New"/>
                <a:cs typeface="Courier New"/>
                <a:sym typeface="Courier New"/>
              </a:rPr>
              <a:t>get()</a:t>
            </a:r>
            <a:r>
              <a:rPr lang="en" sz="1100">
                <a:solidFill>
                  <a:srgbClr val="525C65"/>
                </a:solidFill>
                <a:highlight>
                  <a:srgbClr val="FFFFFF"/>
                </a:highlight>
              </a:rPr>
              <a:t> allows us to protect data members or functions in our class while still being able to use them.</a:t>
            </a:r>
            <a:endParaRPr sz="1100">
              <a:solidFill>
                <a:srgbClr val="525C65"/>
              </a:solidFill>
              <a:highlight>
                <a:srgbClr val="FFFFFF"/>
              </a:highlight>
            </a:endParaRPr>
          </a:p>
          <a:p>
            <a:pPr indent="0" lvl="0" marL="0" rtl="0" algn="l">
              <a:spcBef>
                <a:spcPts val="0"/>
              </a:spcBef>
              <a:spcAft>
                <a:spcPts val="0"/>
              </a:spcAft>
              <a:buNone/>
            </a:pPr>
            <a:r>
              <a:rPr lang="en" sz="1100">
                <a:solidFill>
                  <a:srgbClr val="525C65"/>
                </a:solidFill>
                <a:highlight>
                  <a:srgbClr val="FFFFFF"/>
                </a:highlight>
              </a:rPr>
              <a:t>Ideally, we want to make our passport information private to prevent other users from tampering with it. With setters and getters in C++, we can still modify that data. </a:t>
            </a:r>
            <a:endParaRPr sz="1100">
              <a:solidFill>
                <a:srgbClr val="525C65"/>
              </a:solidFill>
              <a:highlight>
                <a:srgbClr val="FFFFFF"/>
              </a:highlight>
            </a:endParaRPr>
          </a:p>
          <a:p>
            <a:pPr indent="0" lvl="0" marL="0" rtl="0" algn="l">
              <a:spcBef>
                <a:spcPts val="0"/>
              </a:spcBef>
              <a:spcAft>
                <a:spcPts val="0"/>
              </a:spcAft>
              <a:buNone/>
            </a:pPr>
            <a:r>
              <a:t/>
            </a:r>
            <a:endParaRPr sz="1100">
              <a:solidFill>
                <a:srgbClr val="525C65"/>
              </a:solidFill>
              <a:highlight>
                <a:srgbClr val="FFFFFF"/>
              </a:highlight>
            </a:endParaRPr>
          </a:p>
          <a:p>
            <a:pPr indent="0" lvl="0" marL="0" rtl="0" algn="l">
              <a:spcBef>
                <a:spcPts val="0"/>
              </a:spcBef>
              <a:spcAft>
                <a:spcPts val="0"/>
              </a:spcAft>
              <a:buNone/>
            </a:pPr>
            <a:r>
              <a:rPr lang="en" sz="1100">
                <a:solidFill>
                  <a:srgbClr val="525C65"/>
                </a:solidFill>
                <a:highlight>
                  <a:srgbClr val="FFFFFF"/>
                </a:highlight>
              </a:rPr>
              <a:t>We create a function called </a:t>
            </a:r>
            <a:r>
              <a:rPr lang="en" sz="1100">
                <a:solidFill>
                  <a:srgbClr val="525C65"/>
                </a:solidFill>
                <a:highlight>
                  <a:srgbClr val="FFFFFF"/>
                </a:highlight>
                <a:latin typeface="Courier New"/>
                <a:ea typeface="Courier New"/>
                <a:cs typeface="Courier New"/>
                <a:sym typeface="Courier New"/>
              </a:rPr>
              <a:t>setpassport_number()</a:t>
            </a:r>
            <a:r>
              <a:rPr lang="en" sz="1100">
                <a:solidFill>
                  <a:srgbClr val="525C65"/>
                </a:solidFill>
                <a:highlight>
                  <a:srgbClr val="FFFFFF"/>
                </a:highlight>
              </a:rPr>
              <a:t> with one parameter that permits us to write a value to </a:t>
            </a:r>
            <a:r>
              <a:rPr lang="en" sz="1100">
                <a:solidFill>
                  <a:srgbClr val="525C65"/>
                </a:solidFill>
                <a:highlight>
                  <a:srgbClr val="FFFFFF"/>
                </a:highlight>
                <a:latin typeface="Courier New"/>
                <a:ea typeface="Courier New"/>
                <a:cs typeface="Courier New"/>
                <a:sym typeface="Courier New"/>
              </a:rPr>
              <a:t>passport_number</a:t>
            </a:r>
            <a:r>
              <a:rPr lang="en" sz="1100">
                <a:solidFill>
                  <a:srgbClr val="525C65"/>
                </a:solidFill>
                <a:highlight>
                  <a:srgbClr val="FFFFFF"/>
                </a:highlight>
              </a:rPr>
              <a:t>, a private variable. Similarly, we introduce </a:t>
            </a:r>
            <a:r>
              <a:rPr lang="en" sz="1100">
                <a:solidFill>
                  <a:srgbClr val="525C65"/>
                </a:solidFill>
                <a:highlight>
                  <a:srgbClr val="FFFFFF"/>
                </a:highlight>
                <a:latin typeface="Courier New"/>
                <a:ea typeface="Courier New"/>
                <a:cs typeface="Courier New"/>
                <a:sym typeface="Courier New"/>
              </a:rPr>
              <a:t>getpassport_number()</a:t>
            </a:r>
            <a:r>
              <a:rPr lang="en" sz="1100">
                <a:solidFill>
                  <a:srgbClr val="525C65"/>
                </a:solidFill>
                <a:highlight>
                  <a:srgbClr val="FFFFFF"/>
                </a:highlight>
              </a:rPr>
              <a:t> to read that value outside of our class.</a:t>
            </a:r>
            <a:endParaRPr sz="1100">
              <a:solidFill>
                <a:srgbClr val="525C65"/>
              </a:solidFill>
              <a:highlight>
                <a:srgbClr val="FFFFFF"/>
              </a:highlight>
            </a:endParaRPr>
          </a:p>
          <a:p>
            <a:pPr indent="0" lvl="0" marL="0" rtl="0" algn="l">
              <a:spcBef>
                <a:spcPts val="0"/>
              </a:spcBef>
              <a:spcAft>
                <a:spcPts val="0"/>
              </a:spcAft>
              <a:buNone/>
            </a:pPr>
            <a:r>
              <a:t/>
            </a:r>
            <a:endParaRPr sz="1100">
              <a:solidFill>
                <a:srgbClr val="525C65"/>
              </a:solidFill>
              <a:highlight>
                <a:srgbClr val="FFFFFF"/>
              </a:highlight>
            </a:endParaRPr>
          </a:p>
          <a:p>
            <a:pPr indent="0" lvl="0" marL="0" rtl="0" algn="l">
              <a:spcBef>
                <a:spcPts val="0"/>
              </a:spcBef>
              <a:spcAft>
                <a:spcPts val="0"/>
              </a:spcAft>
              <a:buNone/>
            </a:pPr>
            <a:r>
              <a:rPr lang="en" sz="1100">
                <a:solidFill>
                  <a:srgbClr val="525C65"/>
                </a:solidFill>
                <a:highlight>
                  <a:srgbClr val="FFFFFF"/>
                </a:highlight>
              </a:rPr>
              <a:t>Our completed class has three private variables and all the setters and getters we need to read and write to those variables. Note that setters and getters need to be public so that we can use them outside of our class. Our</a:t>
            </a:r>
            <a:r>
              <a:rPr i="1" lang="en" sz="1100">
                <a:solidFill>
                  <a:srgbClr val="525C65"/>
                </a:solidFill>
                <a:highlight>
                  <a:srgbClr val="FFFFFF"/>
                </a:highlight>
                <a:latin typeface="Courier New"/>
                <a:ea typeface="Courier New"/>
                <a:cs typeface="Courier New"/>
                <a:sym typeface="Courier New"/>
              </a:rPr>
              <a:t> </a:t>
            </a:r>
            <a:r>
              <a:rPr lang="en" sz="1100">
                <a:solidFill>
                  <a:srgbClr val="525C65"/>
                </a:solidFill>
                <a:highlight>
                  <a:srgbClr val="FFFFFF"/>
                </a:highlight>
                <a:latin typeface="Courier New"/>
                <a:ea typeface="Courier New"/>
                <a:cs typeface="Courier New"/>
                <a:sym typeface="Courier New"/>
              </a:rPr>
              <a:t>Passport</a:t>
            </a:r>
            <a:r>
              <a:rPr lang="en" sz="1100">
                <a:solidFill>
                  <a:srgbClr val="525C65"/>
                </a:solidFill>
                <a:highlight>
                  <a:srgbClr val="FFFFFF"/>
                </a:highlight>
              </a:rPr>
              <a:t> class looks like this:</a:t>
            </a:r>
            <a:endParaRPr sz="1700"/>
          </a:p>
        </p:txBody>
      </p:sp>
      <p:sp>
        <p:nvSpPr>
          <p:cNvPr id="989" name="Google Shape;989;g283038813be_0_704"/>
          <p:cNvSpPr txBox="1"/>
          <p:nvPr/>
        </p:nvSpPr>
        <p:spPr>
          <a:xfrm>
            <a:off x="5213550" y="47400"/>
            <a:ext cx="4055700" cy="5048700"/>
          </a:xfrm>
          <a:prstGeom prst="rect">
            <a:avLst/>
          </a:prstGeom>
          <a:noFill/>
          <a:ln>
            <a:noFill/>
          </a:ln>
        </p:spPr>
        <p:txBody>
          <a:bodyPr anchorCtr="0" anchor="t" bIns="91425" lIns="91425" spcFirstLastPara="1" rIns="91425" wrap="square" tIns="91425">
            <a:spAutoFit/>
          </a:bodyPr>
          <a:lstStyle/>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#include &lt;iostream&gt;</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b="1" lang="en" sz="800">
                <a:solidFill>
                  <a:srgbClr val="434343"/>
                </a:solidFill>
                <a:latin typeface="Courier New"/>
                <a:ea typeface="Courier New"/>
                <a:cs typeface="Courier New"/>
                <a:sym typeface="Courier New"/>
              </a:rPr>
              <a:t>using</a:t>
            </a:r>
            <a:r>
              <a:rPr lang="en" sz="800">
                <a:solidFill>
                  <a:srgbClr val="434343"/>
                </a:solidFill>
                <a:latin typeface="Courier New"/>
                <a:ea typeface="Courier New"/>
                <a:cs typeface="Courier New"/>
                <a:sym typeface="Courier New"/>
              </a:rPr>
              <a:t> </a:t>
            </a:r>
            <a:r>
              <a:rPr b="1" lang="en" sz="800">
                <a:solidFill>
                  <a:srgbClr val="434343"/>
                </a:solidFill>
                <a:latin typeface="Courier New"/>
                <a:ea typeface="Courier New"/>
                <a:cs typeface="Courier New"/>
                <a:sym typeface="Courier New"/>
              </a:rPr>
              <a:t>namespace</a:t>
            </a:r>
            <a:r>
              <a:rPr lang="en" sz="800">
                <a:solidFill>
                  <a:srgbClr val="434343"/>
                </a:solidFill>
                <a:latin typeface="Courier New"/>
                <a:ea typeface="Courier New"/>
                <a:cs typeface="Courier New"/>
                <a:sym typeface="Courier New"/>
              </a:rPr>
              <a:t> std;</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b="1" lang="en" sz="800">
                <a:solidFill>
                  <a:srgbClr val="434343"/>
                </a:solidFill>
                <a:latin typeface="Courier New"/>
                <a:ea typeface="Courier New"/>
                <a:cs typeface="Courier New"/>
                <a:sym typeface="Courier New"/>
              </a:rPr>
              <a:t>class</a:t>
            </a:r>
            <a:r>
              <a:rPr lang="en" sz="800">
                <a:solidFill>
                  <a:srgbClr val="434343"/>
                </a:solidFill>
                <a:latin typeface="Courier New"/>
                <a:ea typeface="Courier New"/>
                <a:cs typeface="Courier New"/>
                <a:sym typeface="Courier New"/>
              </a:rPr>
              <a:t> Passport {</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a:t>
            </a:r>
            <a:r>
              <a:rPr b="1" lang="en" sz="800">
                <a:solidFill>
                  <a:srgbClr val="434343"/>
                </a:solidFill>
                <a:latin typeface="Courier New"/>
                <a:ea typeface="Courier New"/>
                <a:cs typeface="Courier New"/>
                <a:sym typeface="Courier New"/>
              </a:rPr>
              <a:t>int</a:t>
            </a:r>
            <a:r>
              <a:rPr lang="en" sz="800">
                <a:solidFill>
                  <a:srgbClr val="434343"/>
                </a:solidFill>
                <a:latin typeface="Courier New"/>
                <a:ea typeface="Courier New"/>
                <a:cs typeface="Courier New"/>
                <a:sym typeface="Courier New"/>
              </a:rPr>
              <a:t> passport_number;</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string passport_name;</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string country_of_origin;</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b="1" lang="en" sz="800">
                <a:solidFill>
                  <a:srgbClr val="434343"/>
                </a:solidFill>
                <a:latin typeface="Courier New"/>
                <a:ea typeface="Courier New"/>
                <a:cs typeface="Courier New"/>
                <a:sym typeface="Courier New"/>
              </a:rPr>
              <a:t>public</a:t>
            </a:r>
            <a:r>
              <a:rPr lang="en" sz="800">
                <a:solidFill>
                  <a:srgbClr val="434343"/>
                </a:solidFill>
                <a:latin typeface="Courier New"/>
                <a:ea typeface="Courier New"/>
                <a:cs typeface="Courier New"/>
                <a:sym typeface="Courier New"/>
              </a:rPr>
              <a:t>:</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a:t>
            </a:r>
            <a:r>
              <a:rPr b="1" lang="en" sz="800">
                <a:solidFill>
                  <a:srgbClr val="434343"/>
                </a:solidFill>
                <a:latin typeface="Courier New"/>
                <a:ea typeface="Courier New"/>
                <a:cs typeface="Courier New"/>
                <a:sym typeface="Courier New"/>
              </a:rPr>
              <a:t>void</a:t>
            </a:r>
            <a:r>
              <a:rPr lang="en" sz="800">
                <a:solidFill>
                  <a:srgbClr val="434343"/>
                </a:solidFill>
                <a:latin typeface="Courier New"/>
                <a:ea typeface="Courier New"/>
                <a:cs typeface="Courier New"/>
                <a:sym typeface="Courier New"/>
              </a:rPr>
              <a:t> setPassport_number(</a:t>
            </a:r>
            <a:r>
              <a:rPr b="1" lang="en" sz="800">
                <a:solidFill>
                  <a:srgbClr val="434343"/>
                </a:solidFill>
                <a:latin typeface="Courier New"/>
                <a:ea typeface="Courier New"/>
                <a:cs typeface="Courier New"/>
                <a:sym typeface="Courier New"/>
              </a:rPr>
              <a:t>int</a:t>
            </a:r>
            <a:r>
              <a:rPr lang="en" sz="800">
                <a:solidFill>
                  <a:srgbClr val="434343"/>
                </a:solidFill>
                <a:latin typeface="Courier New"/>
                <a:ea typeface="Courier New"/>
                <a:cs typeface="Courier New"/>
                <a:sym typeface="Courier New"/>
              </a:rPr>
              <a:t> passnum) {</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passport_number = passnum;</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a:t>
            </a:r>
            <a:r>
              <a:rPr b="1" lang="en" sz="800">
                <a:solidFill>
                  <a:srgbClr val="434343"/>
                </a:solidFill>
                <a:latin typeface="Courier New"/>
                <a:ea typeface="Courier New"/>
                <a:cs typeface="Courier New"/>
                <a:sym typeface="Courier New"/>
              </a:rPr>
              <a:t>void</a:t>
            </a:r>
            <a:r>
              <a:rPr lang="en" sz="800">
                <a:solidFill>
                  <a:srgbClr val="434343"/>
                </a:solidFill>
                <a:latin typeface="Courier New"/>
                <a:ea typeface="Courier New"/>
                <a:cs typeface="Courier New"/>
                <a:sym typeface="Courier New"/>
              </a:rPr>
              <a:t> setPassport_name(string passname) {</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passport_name = passname;</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a:t>
            </a:r>
            <a:r>
              <a:rPr b="1" lang="en" sz="800">
                <a:solidFill>
                  <a:srgbClr val="434343"/>
                </a:solidFill>
                <a:latin typeface="Courier New"/>
                <a:ea typeface="Courier New"/>
                <a:cs typeface="Courier New"/>
                <a:sym typeface="Courier New"/>
              </a:rPr>
              <a:t>void</a:t>
            </a:r>
            <a:r>
              <a:rPr lang="en" sz="800">
                <a:solidFill>
                  <a:srgbClr val="434343"/>
                </a:solidFill>
                <a:latin typeface="Courier New"/>
                <a:ea typeface="Courier New"/>
                <a:cs typeface="Courier New"/>
                <a:sym typeface="Courier New"/>
              </a:rPr>
              <a:t> setCountry_of_origin(string origin) {</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country_of_origin = origin;</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a:t>
            </a:r>
            <a:r>
              <a:rPr b="1" lang="en" sz="800">
                <a:solidFill>
                  <a:srgbClr val="434343"/>
                </a:solidFill>
                <a:latin typeface="Courier New"/>
                <a:ea typeface="Courier New"/>
                <a:cs typeface="Courier New"/>
                <a:sym typeface="Courier New"/>
              </a:rPr>
              <a:t>int</a:t>
            </a:r>
            <a:r>
              <a:rPr lang="en" sz="800">
                <a:solidFill>
                  <a:srgbClr val="434343"/>
                </a:solidFill>
                <a:latin typeface="Courier New"/>
                <a:ea typeface="Courier New"/>
                <a:cs typeface="Courier New"/>
                <a:sym typeface="Courier New"/>
              </a:rPr>
              <a:t> getPassport_number() {</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a:t>
            </a:r>
            <a:r>
              <a:rPr b="1" lang="en" sz="800">
                <a:solidFill>
                  <a:srgbClr val="434343"/>
                </a:solidFill>
                <a:latin typeface="Courier New"/>
                <a:ea typeface="Courier New"/>
                <a:cs typeface="Courier New"/>
                <a:sym typeface="Courier New"/>
              </a:rPr>
              <a:t>return</a:t>
            </a:r>
            <a:r>
              <a:rPr lang="en" sz="800">
                <a:solidFill>
                  <a:srgbClr val="434343"/>
                </a:solidFill>
                <a:latin typeface="Courier New"/>
                <a:ea typeface="Courier New"/>
                <a:cs typeface="Courier New"/>
                <a:sym typeface="Courier New"/>
              </a:rPr>
              <a:t> passport_number;</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string getPassport_name() {</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a:t>
            </a:r>
            <a:r>
              <a:rPr b="1" lang="en" sz="800">
                <a:solidFill>
                  <a:srgbClr val="434343"/>
                </a:solidFill>
                <a:latin typeface="Courier New"/>
                <a:ea typeface="Courier New"/>
                <a:cs typeface="Courier New"/>
                <a:sym typeface="Courier New"/>
              </a:rPr>
              <a:t>return</a:t>
            </a:r>
            <a:r>
              <a:rPr lang="en" sz="800">
                <a:solidFill>
                  <a:srgbClr val="434343"/>
                </a:solidFill>
                <a:latin typeface="Courier New"/>
                <a:ea typeface="Courier New"/>
                <a:cs typeface="Courier New"/>
                <a:sym typeface="Courier New"/>
              </a:rPr>
              <a:t> passport_name;</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string getCountry_of_origin() {</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a:t>
            </a:r>
            <a:r>
              <a:rPr b="1" lang="en" sz="800">
                <a:solidFill>
                  <a:srgbClr val="434343"/>
                </a:solidFill>
                <a:latin typeface="Courier New"/>
                <a:ea typeface="Courier New"/>
                <a:cs typeface="Courier New"/>
                <a:sym typeface="Courier New"/>
              </a:rPr>
              <a:t>return</a:t>
            </a:r>
            <a:r>
              <a:rPr lang="en" sz="800">
                <a:solidFill>
                  <a:srgbClr val="434343"/>
                </a:solidFill>
                <a:latin typeface="Courier New"/>
                <a:ea typeface="Courier New"/>
                <a:cs typeface="Courier New"/>
                <a:sym typeface="Courier New"/>
              </a:rPr>
              <a:t> country_of_origin;</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b="1" lang="en" sz="800">
                <a:solidFill>
                  <a:srgbClr val="434343"/>
                </a:solidFill>
                <a:latin typeface="Courier New"/>
                <a:ea typeface="Courier New"/>
                <a:cs typeface="Courier New"/>
                <a:sym typeface="Courier New"/>
              </a:rPr>
              <a:t>int</a:t>
            </a:r>
            <a:r>
              <a:rPr lang="en" sz="800">
                <a:solidFill>
                  <a:srgbClr val="434343"/>
                </a:solidFill>
                <a:latin typeface="Courier New"/>
                <a:ea typeface="Courier New"/>
                <a:cs typeface="Courier New"/>
                <a:sym typeface="Courier New"/>
              </a:rPr>
              <a:t> main() {</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Passport mypassport;</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mypassport.setPassport_number(476896564);</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mypassport.setPassport_name("Mugabo Jack");</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mypassport.setCountry_of_origin("Rwanda");</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cout &lt;&lt; mypassport.getPassport_name() &lt;&lt; "'s " &lt;&lt; mypassport.getCountry_of_origin() &lt;&lt; " passport number is " &lt;&lt; mypassport.getPassport_number();</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  </a:t>
            </a:r>
            <a:r>
              <a:rPr b="1" lang="en" sz="800">
                <a:solidFill>
                  <a:srgbClr val="434343"/>
                </a:solidFill>
                <a:latin typeface="Courier New"/>
                <a:ea typeface="Courier New"/>
                <a:cs typeface="Courier New"/>
                <a:sym typeface="Courier New"/>
              </a:rPr>
              <a:t>return</a:t>
            </a:r>
            <a:r>
              <a:rPr lang="en" sz="800">
                <a:solidFill>
                  <a:srgbClr val="434343"/>
                </a:solidFill>
                <a:latin typeface="Courier New"/>
                <a:ea typeface="Courier New"/>
                <a:cs typeface="Courier New"/>
                <a:sym typeface="Courier New"/>
              </a:rPr>
              <a:t> 0;</a:t>
            </a:r>
            <a:endParaRPr sz="800">
              <a:solidFill>
                <a:srgbClr val="434343"/>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800">
                <a:solidFill>
                  <a:srgbClr val="434343"/>
                </a:solidFill>
                <a:latin typeface="Courier New"/>
                <a:ea typeface="Courier New"/>
                <a:cs typeface="Courier New"/>
                <a:sym typeface="Courier New"/>
              </a:rPr>
              <a:t>}</a:t>
            </a:r>
            <a:endParaRPr sz="800">
              <a:solidFill>
                <a:srgbClr val="434343"/>
              </a:solidFill>
              <a:latin typeface="Courier New"/>
              <a:ea typeface="Courier New"/>
              <a:cs typeface="Courier New"/>
              <a:sym typeface="Courier New"/>
            </a:endParaRPr>
          </a:p>
        </p:txBody>
      </p:sp>
      <p:sp>
        <p:nvSpPr>
          <p:cNvPr id="990" name="Google Shape;990;g283038813be_0_70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g283038813be_0_71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800">
                <a:highlight>
                  <a:srgbClr val="FFFFFF"/>
                </a:highlight>
                <a:latin typeface="Roboto"/>
                <a:ea typeface="Roboto"/>
                <a:cs typeface="Roboto"/>
                <a:sym typeface="Roboto"/>
              </a:rPr>
              <a:t>Constructors</a:t>
            </a:r>
            <a:endParaRPr b="1" sz="1800">
              <a:highlight>
                <a:srgbClr val="FFFFFF"/>
              </a:highlight>
              <a:latin typeface="Roboto"/>
              <a:ea typeface="Roboto"/>
              <a:cs typeface="Roboto"/>
              <a:sym typeface="Roboto"/>
            </a:endParaRPr>
          </a:p>
          <a:p>
            <a:pPr indent="0" lvl="0" marL="0" rtl="0" algn="l">
              <a:spcBef>
                <a:spcPts val="400"/>
              </a:spcBef>
              <a:spcAft>
                <a:spcPts val="0"/>
              </a:spcAft>
              <a:buNone/>
            </a:pPr>
            <a:r>
              <a:t/>
            </a:r>
            <a:endParaRPr/>
          </a:p>
        </p:txBody>
      </p:sp>
      <p:sp>
        <p:nvSpPr>
          <p:cNvPr id="996" name="Google Shape;996;g283038813be_0_710"/>
          <p:cNvSpPr txBox="1"/>
          <p:nvPr>
            <p:ph idx="1" type="body"/>
          </p:nvPr>
        </p:nvSpPr>
        <p:spPr>
          <a:xfrm>
            <a:off x="83100" y="479925"/>
            <a:ext cx="4331100" cy="4496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n" sz="1400">
                <a:solidFill>
                  <a:schemeClr val="dk1"/>
                </a:solidFill>
                <a:highlight>
                  <a:srgbClr val="FFFFFF"/>
                </a:highlight>
                <a:latin typeface="Roboto"/>
                <a:ea typeface="Roboto"/>
                <a:cs typeface="Roboto"/>
                <a:sym typeface="Roboto"/>
              </a:rPr>
              <a:t>What would happen in the previous example if we called the member function </a:t>
            </a:r>
            <a:r>
              <a:rPr b="1" lang="en" sz="1400">
                <a:solidFill>
                  <a:schemeClr val="dk1"/>
                </a:solidFill>
                <a:highlight>
                  <a:srgbClr val="FFFFFF"/>
                </a:highlight>
                <a:latin typeface="Courier New"/>
                <a:ea typeface="Courier New"/>
                <a:cs typeface="Courier New"/>
                <a:sym typeface="Courier New"/>
              </a:rPr>
              <a:t>area</a:t>
            </a:r>
            <a:r>
              <a:rPr lang="en" sz="1400">
                <a:solidFill>
                  <a:schemeClr val="dk1"/>
                </a:solidFill>
                <a:highlight>
                  <a:srgbClr val="FFFFFF"/>
                </a:highlight>
                <a:latin typeface="Roboto"/>
                <a:ea typeface="Roboto"/>
                <a:cs typeface="Roboto"/>
                <a:sym typeface="Roboto"/>
              </a:rPr>
              <a:t> before having called </a:t>
            </a:r>
            <a:r>
              <a:rPr b="1" lang="en" sz="1400">
                <a:solidFill>
                  <a:schemeClr val="dk1"/>
                </a:solidFill>
                <a:highlight>
                  <a:srgbClr val="FFFFFF"/>
                </a:highlight>
                <a:latin typeface="Courier New"/>
                <a:ea typeface="Courier New"/>
                <a:cs typeface="Courier New"/>
                <a:sym typeface="Courier New"/>
              </a:rPr>
              <a:t>set_values</a:t>
            </a:r>
            <a:r>
              <a:rPr lang="en" sz="1400">
                <a:solidFill>
                  <a:schemeClr val="dk1"/>
                </a:solidFill>
                <a:highlight>
                  <a:srgbClr val="FFFFFF"/>
                </a:highlight>
                <a:latin typeface="Roboto"/>
                <a:ea typeface="Roboto"/>
                <a:cs typeface="Roboto"/>
                <a:sym typeface="Roboto"/>
              </a:rPr>
              <a:t>? An undetermined result, since the members </a:t>
            </a:r>
            <a:r>
              <a:rPr b="1" lang="en" sz="1400">
                <a:solidFill>
                  <a:schemeClr val="dk1"/>
                </a:solidFill>
                <a:highlight>
                  <a:srgbClr val="FFFFFF"/>
                </a:highlight>
                <a:latin typeface="Courier New"/>
                <a:ea typeface="Courier New"/>
                <a:cs typeface="Courier New"/>
                <a:sym typeface="Courier New"/>
              </a:rPr>
              <a:t>width</a:t>
            </a:r>
            <a:r>
              <a:rPr lang="en" sz="1400">
                <a:solidFill>
                  <a:schemeClr val="dk1"/>
                </a:solidFill>
                <a:highlight>
                  <a:srgbClr val="FFFFFF"/>
                </a:highlight>
                <a:latin typeface="Roboto"/>
                <a:ea typeface="Roboto"/>
                <a:cs typeface="Roboto"/>
                <a:sym typeface="Roboto"/>
              </a:rPr>
              <a:t> and </a:t>
            </a:r>
            <a:r>
              <a:rPr b="1" lang="en" sz="1400">
                <a:solidFill>
                  <a:schemeClr val="dk1"/>
                </a:solidFill>
                <a:highlight>
                  <a:srgbClr val="FFFFFF"/>
                </a:highlight>
                <a:latin typeface="Courier New"/>
                <a:ea typeface="Courier New"/>
                <a:cs typeface="Courier New"/>
                <a:sym typeface="Courier New"/>
              </a:rPr>
              <a:t>height</a:t>
            </a:r>
            <a:r>
              <a:rPr lang="en" sz="1400">
                <a:solidFill>
                  <a:schemeClr val="dk1"/>
                </a:solidFill>
                <a:highlight>
                  <a:srgbClr val="FFFFFF"/>
                </a:highlight>
                <a:latin typeface="Roboto"/>
                <a:ea typeface="Roboto"/>
                <a:cs typeface="Roboto"/>
                <a:sym typeface="Roboto"/>
              </a:rPr>
              <a:t> had never been assigned a value.</a:t>
            </a:r>
            <a:endParaRPr sz="1400">
              <a:solidFill>
                <a:schemeClr val="dk1"/>
              </a:solidFill>
            </a:endParaRPr>
          </a:p>
          <a:p>
            <a:pPr indent="0" lvl="0" marL="0" rtl="0" algn="just">
              <a:spcBef>
                <a:spcPts val="0"/>
              </a:spcBef>
              <a:spcAft>
                <a:spcPts val="0"/>
              </a:spcAft>
              <a:buClr>
                <a:schemeClr val="dk1"/>
              </a:buClr>
              <a:buSzPts val="1100"/>
              <a:buFont typeface="Arial"/>
              <a:buNone/>
            </a:pPr>
            <a:r>
              <a:rPr lang="en" sz="1400">
                <a:solidFill>
                  <a:schemeClr val="dk1"/>
                </a:solidFill>
                <a:highlight>
                  <a:srgbClr val="FFFFFF"/>
                </a:highlight>
                <a:latin typeface="Roboto"/>
                <a:ea typeface="Roboto"/>
                <a:cs typeface="Roboto"/>
                <a:sym typeface="Roboto"/>
              </a:rPr>
              <a:t>In order to avoid that, a class can include a special function called its </a:t>
            </a:r>
            <a:r>
              <a:rPr b="1" i="1" lang="en" sz="1400">
                <a:solidFill>
                  <a:schemeClr val="dk1"/>
                </a:solidFill>
                <a:highlight>
                  <a:srgbClr val="FFFFFF"/>
                </a:highlight>
                <a:latin typeface="Roboto"/>
                <a:ea typeface="Roboto"/>
                <a:cs typeface="Roboto"/>
                <a:sym typeface="Roboto"/>
              </a:rPr>
              <a:t>constructor</a:t>
            </a:r>
            <a:r>
              <a:rPr lang="en" sz="1400">
                <a:solidFill>
                  <a:schemeClr val="dk1"/>
                </a:solidFill>
                <a:highlight>
                  <a:srgbClr val="FFFFFF"/>
                </a:highlight>
                <a:latin typeface="Roboto"/>
                <a:ea typeface="Roboto"/>
                <a:cs typeface="Roboto"/>
                <a:sym typeface="Roboto"/>
              </a:rPr>
              <a:t>, which is automatically called whenever a new object of this class is created, allowing the class to initialize member variables or allocate storage.</a:t>
            </a:r>
            <a:endParaRPr sz="1400">
              <a:solidFill>
                <a:schemeClr val="dk1"/>
              </a:solidFill>
            </a:endParaRPr>
          </a:p>
          <a:p>
            <a:pPr indent="0" lvl="0" marL="0" rtl="0" algn="just">
              <a:spcBef>
                <a:spcPts val="0"/>
              </a:spcBef>
              <a:spcAft>
                <a:spcPts val="0"/>
              </a:spcAft>
              <a:buClr>
                <a:schemeClr val="dk1"/>
              </a:buClr>
              <a:buSzPts val="1100"/>
              <a:buFont typeface="Arial"/>
              <a:buNone/>
            </a:pPr>
            <a:r>
              <a:rPr lang="en" sz="1400">
                <a:solidFill>
                  <a:schemeClr val="dk1"/>
                </a:solidFill>
                <a:highlight>
                  <a:srgbClr val="FFFFFF"/>
                </a:highlight>
                <a:latin typeface="Roboto"/>
                <a:ea typeface="Roboto"/>
                <a:cs typeface="Roboto"/>
                <a:sym typeface="Roboto"/>
              </a:rPr>
              <a:t>This constructor function is declared just like a regular member function, but with a </a:t>
            </a:r>
            <a:r>
              <a:rPr b="1" lang="en" sz="1400">
                <a:solidFill>
                  <a:schemeClr val="dk1"/>
                </a:solidFill>
                <a:highlight>
                  <a:srgbClr val="FFFFFF"/>
                </a:highlight>
                <a:latin typeface="Roboto"/>
                <a:ea typeface="Roboto"/>
                <a:cs typeface="Roboto"/>
                <a:sym typeface="Roboto"/>
              </a:rPr>
              <a:t>name</a:t>
            </a:r>
            <a:r>
              <a:rPr lang="en" sz="1400">
                <a:solidFill>
                  <a:schemeClr val="dk1"/>
                </a:solidFill>
                <a:highlight>
                  <a:srgbClr val="FFFFFF"/>
                </a:highlight>
                <a:latin typeface="Roboto"/>
                <a:ea typeface="Roboto"/>
                <a:cs typeface="Roboto"/>
                <a:sym typeface="Roboto"/>
              </a:rPr>
              <a:t> that matches the </a:t>
            </a:r>
            <a:r>
              <a:rPr b="1" lang="en" sz="1400">
                <a:solidFill>
                  <a:schemeClr val="dk1"/>
                </a:solidFill>
                <a:highlight>
                  <a:srgbClr val="FFFFFF"/>
                </a:highlight>
                <a:latin typeface="Roboto"/>
                <a:ea typeface="Roboto"/>
                <a:cs typeface="Roboto"/>
                <a:sym typeface="Roboto"/>
              </a:rPr>
              <a:t>class name</a:t>
            </a:r>
            <a:r>
              <a:rPr lang="en" sz="1400">
                <a:solidFill>
                  <a:schemeClr val="dk1"/>
                </a:solidFill>
                <a:highlight>
                  <a:srgbClr val="FFFFFF"/>
                </a:highlight>
                <a:latin typeface="Roboto"/>
                <a:ea typeface="Roboto"/>
                <a:cs typeface="Roboto"/>
                <a:sym typeface="Roboto"/>
              </a:rPr>
              <a:t> and</a:t>
            </a:r>
            <a:r>
              <a:rPr b="1" lang="en" sz="1400">
                <a:solidFill>
                  <a:schemeClr val="dk1"/>
                </a:solidFill>
                <a:highlight>
                  <a:srgbClr val="FFFFFF"/>
                </a:highlight>
                <a:latin typeface="Roboto"/>
                <a:ea typeface="Roboto"/>
                <a:cs typeface="Roboto"/>
                <a:sym typeface="Roboto"/>
              </a:rPr>
              <a:t> without any return type; not even </a:t>
            </a:r>
            <a:r>
              <a:rPr b="1" lang="en" sz="1400">
                <a:solidFill>
                  <a:schemeClr val="dk1"/>
                </a:solidFill>
                <a:highlight>
                  <a:srgbClr val="FFFFFF"/>
                </a:highlight>
                <a:latin typeface="Courier New"/>
                <a:ea typeface="Courier New"/>
                <a:cs typeface="Courier New"/>
                <a:sym typeface="Courier New"/>
              </a:rPr>
              <a:t>void</a:t>
            </a:r>
            <a:r>
              <a:rPr b="1" lang="en" sz="1400">
                <a:solidFill>
                  <a:schemeClr val="dk1"/>
                </a:solidFill>
                <a:highlight>
                  <a:srgbClr val="FFFFFF"/>
                </a:highlight>
                <a:latin typeface="Roboto"/>
                <a:ea typeface="Roboto"/>
                <a:cs typeface="Roboto"/>
                <a:sym typeface="Roboto"/>
              </a:rPr>
              <a:t>.</a:t>
            </a:r>
            <a:endParaRPr b="1" sz="1400">
              <a:solidFill>
                <a:schemeClr val="dk1"/>
              </a:solidFill>
            </a:endParaRPr>
          </a:p>
          <a:p>
            <a:pPr indent="0" lvl="0" marL="0" rtl="0" algn="just">
              <a:spcBef>
                <a:spcPts val="0"/>
              </a:spcBef>
              <a:spcAft>
                <a:spcPts val="0"/>
              </a:spcAft>
              <a:buNone/>
            </a:pPr>
            <a:r>
              <a:rPr lang="en" sz="1400">
                <a:solidFill>
                  <a:schemeClr val="dk1"/>
                </a:solidFill>
                <a:highlight>
                  <a:srgbClr val="FFFFFF"/>
                </a:highlight>
                <a:latin typeface="Roboto"/>
                <a:ea typeface="Roboto"/>
                <a:cs typeface="Roboto"/>
                <a:sym typeface="Roboto"/>
              </a:rPr>
              <a:t>The </a:t>
            </a:r>
            <a:r>
              <a:rPr lang="en" sz="1400">
                <a:solidFill>
                  <a:schemeClr val="dk1"/>
                </a:solidFill>
                <a:highlight>
                  <a:srgbClr val="FFFFFF"/>
                </a:highlight>
                <a:latin typeface="Courier New"/>
                <a:ea typeface="Courier New"/>
                <a:cs typeface="Courier New"/>
                <a:sym typeface="Courier New"/>
              </a:rPr>
              <a:t>Rectangle</a:t>
            </a:r>
            <a:r>
              <a:rPr lang="en" sz="1400">
                <a:solidFill>
                  <a:schemeClr val="dk1"/>
                </a:solidFill>
                <a:highlight>
                  <a:srgbClr val="FFFFFF"/>
                </a:highlight>
                <a:latin typeface="Roboto"/>
                <a:ea typeface="Roboto"/>
                <a:cs typeface="Roboto"/>
                <a:sym typeface="Roboto"/>
              </a:rPr>
              <a:t> class above can easily be improved by implementing a constructor:</a:t>
            </a:r>
            <a:endParaRPr sz="2100"/>
          </a:p>
        </p:txBody>
      </p:sp>
      <p:sp>
        <p:nvSpPr>
          <p:cNvPr id="997" name="Google Shape;997;g283038813be_0_710"/>
          <p:cNvSpPr txBox="1"/>
          <p:nvPr/>
        </p:nvSpPr>
        <p:spPr>
          <a:xfrm>
            <a:off x="4475775" y="119175"/>
            <a:ext cx="4668300" cy="443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7000"/>
                </a:solidFill>
                <a:latin typeface="Courier New"/>
                <a:ea typeface="Courier New"/>
                <a:cs typeface="Courier New"/>
                <a:sym typeface="Courier New"/>
              </a:rPr>
              <a:t>// class constructor</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rgbClr val="500070"/>
                </a:solidFill>
                <a:latin typeface="Courier New"/>
                <a:ea typeface="Courier New"/>
                <a:cs typeface="Courier New"/>
                <a:sym typeface="Courier New"/>
              </a:rPr>
              <a:t>#include &lt;iostream&gt;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rgbClr val="0000B0"/>
                </a:solidFill>
                <a:latin typeface="Courier New"/>
                <a:ea typeface="Courier New"/>
                <a:cs typeface="Courier New"/>
                <a:sym typeface="Courier New"/>
              </a:rPr>
              <a:t>using</a:t>
            </a:r>
            <a:r>
              <a:rPr lang="en" sz="1200">
                <a:solidFill>
                  <a:schemeClr val="dk1"/>
                </a:solidFill>
                <a:latin typeface="Courier New"/>
                <a:ea typeface="Courier New"/>
                <a:cs typeface="Courier New"/>
                <a:sym typeface="Courier New"/>
              </a:rPr>
              <a:t> </a:t>
            </a:r>
            <a:r>
              <a:rPr lang="en" sz="1200">
                <a:solidFill>
                  <a:srgbClr val="0000B0"/>
                </a:solidFill>
                <a:latin typeface="Courier New"/>
                <a:ea typeface="Courier New"/>
                <a:cs typeface="Courier New"/>
                <a:sym typeface="Courier New"/>
              </a:rPr>
              <a:t>namespace</a:t>
            </a:r>
            <a:r>
              <a:rPr lang="en" sz="1200">
                <a:solidFill>
                  <a:schemeClr val="dk1"/>
                </a:solidFill>
                <a:latin typeface="Courier New"/>
                <a:ea typeface="Courier New"/>
                <a:cs typeface="Courier New"/>
                <a:sym typeface="Courier New"/>
              </a:rPr>
              <a:t> std;</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rgbClr val="0000B0"/>
                </a:solidFill>
                <a:latin typeface="Courier New"/>
                <a:ea typeface="Courier New"/>
                <a:cs typeface="Courier New"/>
                <a:sym typeface="Courier New"/>
              </a:rPr>
              <a:t>class</a:t>
            </a:r>
            <a:r>
              <a:rPr lang="en" sz="1200">
                <a:solidFill>
                  <a:schemeClr val="dk1"/>
                </a:solidFill>
                <a:latin typeface="Courier New"/>
                <a:ea typeface="Courier New"/>
                <a:cs typeface="Courier New"/>
                <a:sym typeface="Courier New"/>
              </a:rPr>
              <a:t> Rectangle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a:t>
            </a:r>
            <a:r>
              <a:rPr lang="en" sz="1200">
                <a:solidFill>
                  <a:srgbClr val="0000B0"/>
                </a:solidFill>
                <a:latin typeface="Courier New"/>
                <a:ea typeface="Courier New"/>
                <a:cs typeface="Courier New"/>
                <a:sym typeface="Courier New"/>
              </a:rPr>
              <a:t>int</a:t>
            </a:r>
            <a:r>
              <a:rPr lang="en" sz="1200">
                <a:solidFill>
                  <a:schemeClr val="dk1"/>
                </a:solidFill>
                <a:latin typeface="Courier New"/>
                <a:ea typeface="Courier New"/>
                <a:cs typeface="Courier New"/>
                <a:sym typeface="Courier New"/>
              </a:rPr>
              <a:t> width, height;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a:t>
            </a:r>
            <a:r>
              <a:rPr lang="en" sz="1200">
                <a:solidFill>
                  <a:srgbClr val="0000B0"/>
                </a:solidFill>
                <a:latin typeface="Courier New"/>
                <a:ea typeface="Courier New"/>
                <a:cs typeface="Courier New"/>
                <a:sym typeface="Courier New"/>
              </a:rPr>
              <a:t>public</a:t>
            </a:r>
            <a:r>
              <a:rPr lang="en"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Rectangle (</a:t>
            </a:r>
            <a:r>
              <a:rPr lang="en" sz="1200">
                <a:solidFill>
                  <a:srgbClr val="0000B0"/>
                </a:solidFill>
                <a:latin typeface="Courier New"/>
                <a:ea typeface="Courier New"/>
                <a:cs typeface="Courier New"/>
                <a:sym typeface="Courier New"/>
              </a:rPr>
              <a:t>int</a:t>
            </a:r>
            <a:r>
              <a:rPr lang="en" sz="1200">
                <a:solidFill>
                  <a:schemeClr val="dk1"/>
                </a:solidFill>
                <a:latin typeface="Courier New"/>
                <a:ea typeface="Courier New"/>
                <a:cs typeface="Courier New"/>
                <a:sym typeface="Courier New"/>
              </a:rPr>
              <a:t>,</a:t>
            </a:r>
            <a:r>
              <a:rPr lang="en" sz="1200">
                <a:solidFill>
                  <a:srgbClr val="0000B0"/>
                </a:solidFill>
                <a:latin typeface="Courier New"/>
                <a:ea typeface="Courier New"/>
                <a:cs typeface="Courier New"/>
                <a:sym typeface="Courier New"/>
              </a:rPr>
              <a:t>int</a:t>
            </a:r>
            <a:r>
              <a:rPr lang="en"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a:t>
            </a:r>
            <a:r>
              <a:rPr lang="en" sz="1200">
                <a:solidFill>
                  <a:srgbClr val="0000B0"/>
                </a:solidFill>
                <a:latin typeface="Courier New"/>
                <a:ea typeface="Courier New"/>
                <a:cs typeface="Courier New"/>
                <a:sym typeface="Courier New"/>
              </a:rPr>
              <a:t>int</a:t>
            </a:r>
            <a:r>
              <a:rPr lang="en" sz="1200">
                <a:solidFill>
                  <a:schemeClr val="dk1"/>
                </a:solidFill>
                <a:latin typeface="Courier New"/>
                <a:ea typeface="Courier New"/>
                <a:cs typeface="Courier New"/>
                <a:sym typeface="Courier New"/>
              </a:rPr>
              <a:t> area () {</a:t>
            </a:r>
            <a:r>
              <a:rPr lang="en" sz="1200">
                <a:solidFill>
                  <a:srgbClr val="0000B0"/>
                </a:solidFill>
                <a:latin typeface="Courier New"/>
                <a:ea typeface="Courier New"/>
                <a:cs typeface="Courier New"/>
                <a:sym typeface="Courier New"/>
              </a:rPr>
              <a:t>return</a:t>
            </a:r>
            <a:r>
              <a:rPr lang="en" sz="1200">
                <a:solidFill>
                  <a:schemeClr val="dk1"/>
                </a:solidFill>
                <a:latin typeface="Courier New"/>
                <a:ea typeface="Courier New"/>
                <a:cs typeface="Courier New"/>
                <a:sym typeface="Courier New"/>
              </a:rPr>
              <a:t> (width*height);}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Rectangle::Rectangle (</a:t>
            </a:r>
            <a:r>
              <a:rPr lang="en" sz="1200">
                <a:solidFill>
                  <a:srgbClr val="0000B0"/>
                </a:solidFill>
                <a:latin typeface="Courier New"/>
                <a:ea typeface="Courier New"/>
                <a:cs typeface="Courier New"/>
                <a:sym typeface="Courier New"/>
              </a:rPr>
              <a:t>int</a:t>
            </a:r>
            <a:r>
              <a:rPr lang="en" sz="1200">
                <a:solidFill>
                  <a:schemeClr val="dk1"/>
                </a:solidFill>
                <a:latin typeface="Courier New"/>
                <a:ea typeface="Courier New"/>
                <a:cs typeface="Courier New"/>
                <a:sym typeface="Courier New"/>
              </a:rPr>
              <a:t> a, </a:t>
            </a:r>
            <a:r>
              <a:rPr lang="en" sz="1200">
                <a:solidFill>
                  <a:srgbClr val="0000B0"/>
                </a:solidFill>
                <a:latin typeface="Courier New"/>
                <a:ea typeface="Courier New"/>
                <a:cs typeface="Courier New"/>
                <a:sym typeface="Courier New"/>
              </a:rPr>
              <a:t>int</a:t>
            </a:r>
            <a:r>
              <a:rPr lang="en" sz="1200">
                <a:solidFill>
                  <a:schemeClr val="dk1"/>
                </a:solidFill>
                <a:latin typeface="Courier New"/>
                <a:ea typeface="Courier New"/>
                <a:cs typeface="Courier New"/>
                <a:sym typeface="Courier New"/>
              </a:rPr>
              <a:t> b)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width = a;</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height = b;</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rgbClr val="0000B0"/>
                </a:solidFill>
                <a:latin typeface="Courier New"/>
                <a:ea typeface="Courier New"/>
                <a:cs typeface="Courier New"/>
                <a:sym typeface="Courier New"/>
              </a:rPr>
              <a:t>int</a:t>
            </a:r>
            <a:r>
              <a:rPr lang="en" sz="1200">
                <a:solidFill>
                  <a:schemeClr val="dk1"/>
                </a:solidFill>
                <a:latin typeface="Courier New"/>
                <a:ea typeface="Courier New"/>
                <a:cs typeface="Courier New"/>
                <a:sym typeface="Courier New"/>
              </a:rPr>
              <a:t> main ()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Rectangle rect (3,4);</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Rectangle rectb (5,6);</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cout &lt;&lt; </a:t>
            </a:r>
            <a:r>
              <a:rPr lang="en" sz="1200">
                <a:solidFill>
                  <a:srgbClr val="600030"/>
                </a:solidFill>
                <a:latin typeface="Courier New"/>
                <a:ea typeface="Courier New"/>
                <a:cs typeface="Courier New"/>
                <a:sym typeface="Courier New"/>
              </a:rPr>
              <a:t>"rect area: "</a:t>
            </a:r>
            <a:r>
              <a:rPr lang="en" sz="1200">
                <a:solidFill>
                  <a:schemeClr val="dk1"/>
                </a:solidFill>
                <a:latin typeface="Courier New"/>
                <a:ea typeface="Courier New"/>
                <a:cs typeface="Courier New"/>
                <a:sym typeface="Courier New"/>
              </a:rPr>
              <a:t> &lt;&lt; rect.area() &lt;&lt; endl;</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cout &lt;&lt; </a:t>
            </a:r>
            <a:r>
              <a:rPr lang="en" sz="1200">
                <a:solidFill>
                  <a:srgbClr val="600030"/>
                </a:solidFill>
                <a:latin typeface="Courier New"/>
                <a:ea typeface="Courier New"/>
                <a:cs typeface="Courier New"/>
                <a:sym typeface="Courier New"/>
              </a:rPr>
              <a:t>"rectb area: "</a:t>
            </a:r>
            <a:r>
              <a:rPr lang="en" sz="1200">
                <a:solidFill>
                  <a:schemeClr val="dk1"/>
                </a:solidFill>
                <a:latin typeface="Courier New"/>
                <a:ea typeface="Courier New"/>
                <a:cs typeface="Courier New"/>
                <a:sym typeface="Courier New"/>
              </a:rPr>
              <a:t> &lt;&lt; rectb.area() &lt;&lt; endl;</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a:t>
            </a:r>
            <a:r>
              <a:rPr lang="en" sz="1200">
                <a:solidFill>
                  <a:srgbClr val="0000B0"/>
                </a:solidFill>
                <a:latin typeface="Courier New"/>
                <a:ea typeface="Courier New"/>
                <a:cs typeface="Courier New"/>
                <a:sym typeface="Courier New"/>
              </a:rPr>
              <a:t>return</a:t>
            </a:r>
            <a:r>
              <a:rPr lang="en" sz="1200">
                <a:solidFill>
                  <a:schemeClr val="dk1"/>
                </a:solidFill>
                <a:latin typeface="Courier New"/>
                <a:ea typeface="Courier New"/>
                <a:cs typeface="Courier New"/>
                <a:sym typeface="Courier New"/>
              </a:rPr>
              <a:t> 0;</a:t>
            </a:r>
            <a:endParaRPr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p:txBody>
      </p:sp>
      <p:sp>
        <p:nvSpPr>
          <p:cNvPr id="998" name="Google Shape;998;g283038813be_0_710"/>
          <p:cNvSpPr txBox="1"/>
          <p:nvPr/>
        </p:nvSpPr>
        <p:spPr>
          <a:xfrm>
            <a:off x="5226975" y="4422525"/>
            <a:ext cx="3000000" cy="5541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ourier New"/>
                <a:ea typeface="Courier New"/>
                <a:cs typeface="Courier New"/>
                <a:sym typeface="Courier New"/>
              </a:rPr>
              <a:t>rect area: 12</a:t>
            </a:r>
            <a:endParaRPr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200">
                <a:solidFill>
                  <a:schemeClr val="dk1"/>
                </a:solidFill>
                <a:latin typeface="Courier New"/>
                <a:ea typeface="Courier New"/>
                <a:cs typeface="Courier New"/>
                <a:sym typeface="Courier New"/>
              </a:rPr>
              <a:t>rectb area: 30 </a:t>
            </a:r>
            <a:endParaRPr sz="1200">
              <a:solidFill>
                <a:schemeClr val="dk1"/>
              </a:solidFill>
              <a:latin typeface="Courier New"/>
              <a:ea typeface="Courier New"/>
              <a:cs typeface="Courier New"/>
              <a:sym typeface="Courier New"/>
            </a:endParaRPr>
          </a:p>
        </p:txBody>
      </p:sp>
      <p:sp>
        <p:nvSpPr>
          <p:cNvPr id="999" name="Google Shape;999;g283038813be_0_71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g283038813be_0_71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Constructor(next…)</a:t>
            </a:r>
            <a:endParaRPr/>
          </a:p>
        </p:txBody>
      </p:sp>
      <p:sp>
        <p:nvSpPr>
          <p:cNvPr id="1005" name="Google Shape;1005;g283038813be_0_717"/>
          <p:cNvSpPr txBox="1"/>
          <p:nvPr>
            <p:ph idx="1" type="body"/>
          </p:nvPr>
        </p:nvSpPr>
        <p:spPr>
          <a:xfrm>
            <a:off x="311700" y="636725"/>
            <a:ext cx="8520600" cy="393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highlight>
                  <a:srgbClr val="FFFFFF"/>
                </a:highlight>
                <a:latin typeface="Roboto"/>
                <a:ea typeface="Roboto"/>
                <a:cs typeface="Roboto"/>
                <a:sym typeface="Roboto"/>
              </a:rPr>
              <a:t>The results of this example are identical to those of the previous example. But now, class </a:t>
            </a:r>
            <a:r>
              <a:rPr lang="en" sz="1400">
                <a:solidFill>
                  <a:schemeClr val="dk1"/>
                </a:solidFill>
                <a:highlight>
                  <a:srgbClr val="FFFFFF"/>
                </a:highlight>
                <a:latin typeface="Courier New"/>
                <a:ea typeface="Courier New"/>
                <a:cs typeface="Courier New"/>
                <a:sym typeface="Courier New"/>
              </a:rPr>
              <a:t>Rectangle</a:t>
            </a:r>
            <a:r>
              <a:rPr lang="en" sz="1400">
                <a:solidFill>
                  <a:schemeClr val="dk1"/>
                </a:solidFill>
                <a:highlight>
                  <a:srgbClr val="FFFFFF"/>
                </a:highlight>
                <a:latin typeface="Roboto"/>
                <a:ea typeface="Roboto"/>
                <a:cs typeface="Roboto"/>
                <a:sym typeface="Roboto"/>
              </a:rPr>
              <a:t> has no member function </a:t>
            </a:r>
            <a:r>
              <a:rPr lang="en" sz="1400">
                <a:solidFill>
                  <a:schemeClr val="dk1"/>
                </a:solidFill>
                <a:highlight>
                  <a:srgbClr val="FFFFFF"/>
                </a:highlight>
                <a:latin typeface="Courier New"/>
                <a:ea typeface="Courier New"/>
                <a:cs typeface="Courier New"/>
                <a:sym typeface="Courier New"/>
              </a:rPr>
              <a:t>set_values</a:t>
            </a:r>
            <a:r>
              <a:rPr lang="en" sz="1400">
                <a:solidFill>
                  <a:schemeClr val="dk1"/>
                </a:solidFill>
                <a:highlight>
                  <a:srgbClr val="FFFFFF"/>
                </a:highlight>
                <a:latin typeface="Roboto"/>
                <a:ea typeface="Roboto"/>
                <a:cs typeface="Roboto"/>
                <a:sym typeface="Roboto"/>
              </a:rPr>
              <a:t>, and has instead a constructor that performs a similar action: it initializes the values of </a:t>
            </a:r>
            <a:r>
              <a:rPr lang="en" sz="1400">
                <a:solidFill>
                  <a:schemeClr val="dk1"/>
                </a:solidFill>
                <a:highlight>
                  <a:srgbClr val="FFFFFF"/>
                </a:highlight>
                <a:latin typeface="Courier New"/>
                <a:ea typeface="Courier New"/>
                <a:cs typeface="Courier New"/>
                <a:sym typeface="Courier New"/>
              </a:rPr>
              <a:t>width</a:t>
            </a:r>
            <a:r>
              <a:rPr lang="en" sz="1400">
                <a:solidFill>
                  <a:schemeClr val="dk1"/>
                </a:solidFill>
                <a:highlight>
                  <a:srgbClr val="FFFFFF"/>
                </a:highlight>
                <a:latin typeface="Roboto"/>
                <a:ea typeface="Roboto"/>
                <a:cs typeface="Roboto"/>
                <a:sym typeface="Roboto"/>
              </a:rPr>
              <a:t> and </a:t>
            </a:r>
            <a:r>
              <a:rPr lang="en" sz="1400">
                <a:solidFill>
                  <a:schemeClr val="dk1"/>
                </a:solidFill>
                <a:highlight>
                  <a:srgbClr val="FFFFFF"/>
                </a:highlight>
                <a:latin typeface="Courier New"/>
                <a:ea typeface="Courier New"/>
                <a:cs typeface="Courier New"/>
                <a:sym typeface="Courier New"/>
              </a:rPr>
              <a:t>height</a:t>
            </a:r>
            <a:r>
              <a:rPr lang="en" sz="1400">
                <a:solidFill>
                  <a:schemeClr val="dk1"/>
                </a:solidFill>
                <a:highlight>
                  <a:srgbClr val="FFFFFF"/>
                </a:highlight>
                <a:latin typeface="Roboto"/>
                <a:ea typeface="Roboto"/>
                <a:cs typeface="Roboto"/>
                <a:sym typeface="Roboto"/>
              </a:rPr>
              <a:t> with the arguments passed to it.</a:t>
            </a:r>
            <a:endParaRPr sz="1400">
              <a:solidFill>
                <a:schemeClr val="dk1"/>
              </a:solidFill>
            </a:endParaRPr>
          </a:p>
          <a:p>
            <a:pPr indent="0" lvl="0" marL="0" rtl="0" algn="l">
              <a:spcBef>
                <a:spcPts val="0"/>
              </a:spcBef>
              <a:spcAft>
                <a:spcPts val="0"/>
              </a:spcAft>
              <a:buNone/>
            </a:pPr>
            <a:r>
              <a:rPr lang="en" sz="1400">
                <a:solidFill>
                  <a:schemeClr val="dk1"/>
                </a:solidFill>
                <a:highlight>
                  <a:srgbClr val="FFFFFF"/>
                </a:highlight>
                <a:latin typeface="Roboto"/>
                <a:ea typeface="Roboto"/>
                <a:cs typeface="Roboto"/>
                <a:sym typeface="Roboto"/>
              </a:rPr>
              <a:t>Notice how these arguments are passed to the constructor at the moment at which the objects of this class are created:</a:t>
            </a:r>
            <a:endParaRPr sz="140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rPr lang="en" sz="1500">
                <a:solidFill>
                  <a:schemeClr val="dk1"/>
                </a:solidFill>
                <a:latin typeface="Courier New"/>
                <a:ea typeface="Courier New"/>
                <a:cs typeface="Courier New"/>
                <a:sym typeface="Courier New"/>
              </a:rPr>
              <a:t>Rectangle rect (3,4);</a:t>
            </a:r>
            <a:endParaRPr sz="15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500">
                <a:solidFill>
                  <a:schemeClr val="dk1"/>
                </a:solidFill>
                <a:latin typeface="Courier New"/>
                <a:ea typeface="Courier New"/>
                <a:cs typeface="Courier New"/>
                <a:sym typeface="Courier New"/>
              </a:rPr>
              <a:t>Rectangle rectb (5,6);</a:t>
            </a:r>
            <a:endParaRPr sz="140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400">
                <a:solidFill>
                  <a:schemeClr val="dk1"/>
                </a:solidFill>
                <a:highlight>
                  <a:srgbClr val="FFFFFF"/>
                </a:highlight>
                <a:latin typeface="Roboto"/>
                <a:ea typeface="Roboto"/>
                <a:cs typeface="Roboto"/>
                <a:sym typeface="Roboto"/>
              </a:rPr>
              <a:t>Constructors cannot be called explicitly as if they were regular member functions. They are only executed once, when a new object of that class is created.</a:t>
            </a:r>
            <a:endParaRPr sz="1400">
              <a:solidFill>
                <a:schemeClr val="dk1"/>
              </a:solidFill>
            </a:endParaRPr>
          </a:p>
          <a:p>
            <a:pPr indent="0" lvl="0" marL="0" rtl="0" algn="l">
              <a:spcBef>
                <a:spcPts val="0"/>
              </a:spcBef>
              <a:spcAft>
                <a:spcPts val="0"/>
              </a:spcAft>
              <a:buNone/>
            </a:pPr>
            <a:r>
              <a:rPr lang="en" sz="1400">
                <a:solidFill>
                  <a:schemeClr val="dk1"/>
                </a:solidFill>
                <a:highlight>
                  <a:srgbClr val="FFFFFF"/>
                </a:highlight>
                <a:latin typeface="Roboto"/>
                <a:ea typeface="Roboto"/>
                <a:cs typeface="Roboto"/>
                <a:sym typeface="Roboto"/>
              </a:rPr>
              <a:t>Notice how neither the constructor prototype declaration (within the class) nor the latter constructor definition, have return values; not even </a:t>
            </a:r>
            <a:r>
              <a:rPr lang="en" sz="1400">
                <a:solidFill>
                  <a:schemeClr val="dk1"/>
                </a:solidFill>
                <a:highlight>
                  <a:srgbClr val="FFFFFF"/>
                </a:highlight>
                <a:latin typeface="Courier New"/>
                <a:ea typeface="Courier New"/>
                <a:cs typeface="Courier New"/>
                <a:sym typeface="Courier New"/>
              </a:rPr>
              <a:t>void</a:t>
            </a:r>
            <a:r>
              <a:rPr lang="en" sz="1400">
                <a:solidFill>
                  <a:schemeClr val="dk1"/>
                </a:solidFill>
                <a:highlight>
                  <a:srgbClr val="FFFFFF"/>
                </a:highlight>
                <a:latin typeface="Roboto"/>
                <a:ea typeface="Roboto"/>
                <a:cs typeface="Roboto"/>
                <a:sym typeface="Roboto"/>
              </a:rPr>
              <a:t>: Constructors never return values, they simply initialize the object.</a:t>
            </a:r>
            <a:endParaRPr sz="1400">
              <a:solidFill>
                <a:schemeClr val="dk1"/>
              </a:solidFill>
              <a:highlight>
                <a:srgbClr val="FFFFFF"/>
              </a:highlight>
              <a:latin typeface="Roboto"/>
              <a:ea typeface="Roboto"/>
              <a:cs typeface="Roboto"/>
              <a:sym typeface="Roboto"/>
            </a:endParaRPr>
          </a:p>
        </p:txBody>
      </p:sp>
      <p:sp>
        <p:nvSpPr>
          <p:cNvPr id="1006" name="Google Shape;1006;g283038813be_0_71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g283038813be_0_72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Constructor: Overloading the constructor</a:t>
            </a:r>
            <a:endParaRPr b="1"/>
          </a:p>
        </p:txBody>
      </p:sp>
      <p:sp>
        <p:nvSpPr>
          <p:cNvPr id="1012" name="Google Shape;1012;g283038813be_0_722"/>
          <p:cNvSpPr txBox="1"/>
          <p:nvPr>
            <p:ph idx="1" type="body"/>
          </p:nvPr>
        </p:nvSpPr>
        <p:spPr>
          <a:xfrm>
            <a:off x="159300" y="695275"/>
            <a:ext cx="3715500" cy="4364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en" sz="1235">
                <a:solidFill>
                  <a:schemeClr val="dk1"/>
                </a:solidFill>
                <a:highlight>
                  <a:srgbClr val="FFFFFF"/>
                </a:highlight>
                <a:latin typeface="Roboto"/>
                <a:ea typeface="Roboto"/>
                <a:cs typeface="Roboto"/>
                <a:sym typeface="Roboto"/>
              </a:rPr>
              <a:t>Like any other function, a constructor can also be overloaded with different versions taking different parameters: with a different number of parameters and/or parameters of different types. The compiler will automatically call the one whose parameters match the arguments.</a:t>
            </a:r>
            <a:endParaRPr sz="1235">
              <a:solidFill>
                <a:schemeClr val="dk1"/>
              </a:solidFill>
              <a:highlight>
                <a:srgbClr val="FFFFFF"/>
              </a:highlight>
              <a:latin typeface="Roboto"/>
              <a:ea typeface="Roboto"/>
              <a:cs typeface="Roboto"/>
              <a:sym typeface="Roboto"/>
            </a:endParaRPr>
          </a:p>
          <a:p>
            <a:pPr indent="0" lvl="0" marL="0" rtl="0" algn="l">
              <a:lnSpc>
                <a:spcPct val="95000"/>
              </a:lnSpc>
              <a:spcBef>
                <a:spcPts val="0"/>
              </a:spcBef>
              <a:spcAft>
                <a:spcPts val="0"/>
              </a:spcAft>
              <a:buSzPts val="935"/>
              <a:buNone/>
            </a:pPr>
            <a:r>
              <a:rPr lang="en" sz="1235">
                <a:solidFill>
                  <a:schemeClr val="dk1"/>
                </a:solidFill>
                <a:highlight>
                  <a:srgbClr val="FFFFFF"/>
                </a:highlight>
                <a:latin typeface="Roboto"/>
                <a:ea typeface="Roboto"/>
                <a:cs typeface="Roboto"/>
                <a:sym typeface="Roboto"/>
              </a:rPr>
              <a:t>On the left , two objects of class </a:t>
            </a:r>
            <a:r>
              <a:rPr lang="en" sz="1235">
                <a:solidFill>
                  <a:schemeClr val="dk1"/>
                </a:solidFill>
                <a:highlight>
                  <a:srgbClr val="FFFFFF"/>
                </a:highlight>
                <a:latin typeface="Courier New"/>
                <a:ea typeface="Courier New"/>
                <a:cs typeface="Courier New"/>
                <a:sym typeface="Courier New"/>
              </a:rPr>
              <a:t>Rectangle</a:t>
            </a:r>
            <a:r>
              <a:rPr lang="en" sz="1235">
                <a:solidFill>
                  <a:schemeClr val="dk1"/>
                </a:solidFill>
                <a:highlight>
                  <a:srgbClr val="FFFFFF"/>
                </a:highlight>
                <a:latin typeface="Roboto"/>
                <a:ea typeface="Roboto"/>
                <a:cs typeface="Roboto"/>
                <a:sym typeface="Roboto"/>
              </a:rPr>
              <a:t> are constructed: </a:t>
            </a:r>
            <a:r>
              <a:rPr b="1" lang="en" sz="1235">
                <a:solidFill>
                  <a:schemeClr val="dk1"/>
                </a:solidFill>
                <a:highlight>
                  <a:srgbClr val="FFFFFF"/>
                </a:highlight>
                <a:latin typeface="Courier New"/>
                <a:ea typeface="Courier New"/>
                <a:cs typeface="Courier New"/>
                <a:sym typeface="Courier New"/>
              </a:rPr>
              <a:t>rect</a:t>
            </a:r>
            <a:r>
              <a:rPr lang="en" sz="1235">
                <a:solidFill>
                  <a:schemeClr val="dk1"/>
                </a:solidFill>
                <a:highlight>
                  <a:srgbClr val="FFFFFF"/>
                </a:highlight>
                <a:latin typeface="Roboto"/>
                <a:ea typeface="Roboto"/>
                <a:cs typeface="Roboto"/>
                <a:sym typeface="Roboto"/>
              </a:rPr>
              <a:t> and </a:t>
            </a:r>
            <a:r>
              <a:rPr b="1" lang="en" sz="1235">
                <a:solidFill>
                  <a:schemeClr val="dk1"/>
                </a:solidFill>
                <a:highlight>
                  <a:srgbClr val="FFFFFF"/>
                </a:highlight>
                <a:latin typeface="Courier New"/>
                <a:ea typeface="Courier New"/>
                <a:cs typeface="Courier New"/>
                <a:sym typeface="Courier New"/>
              </a:rPr>
              <a:t>rectb</a:t>
            </a:r>
            <a:r>
              <a:rPr lang="en" sz="1235">
                <a:solidFill>
                  <a:schemeClr val="dk1"/>
                </a:solidFill>
                <a:highlight>
                  <a:srgbClr val="FFFFFF"/>
                </a:highlight>
                <a:latin typeface="Roboto"/>
                <a:ea typeface="Roboto"/>
                <a:cs typeface="Roboto"/>
                <a:sym typeface="Roboto"/>
              </a:rPr>
              <a:t>. </a:t>
            </a:r>
            <a:r>
              <a:rPr lang="en" sz="1235">
                <a:solidFill>
                  <a:schemeClr val="dk1"/>
                </a:solidFill>
                <a:highlight>
                  <a:srgbClr val="FFFFFF"/>
                </a:highlight>
                <a:latin typeface="Courier New"/>
                <a:ea typeface="Courier New"/>
                <a:cs typeface="Courier New"/>
                <a:sym typeface="Courier New"/>
              </a:rPr>
              <a:t>rect</a:t>
            </a:r>
            <a:r>
              <a:rPr lang="en" sz="1235">
                <a:solidFill>
                  <a:schemeClr val="dk1"/>
                </a:solidFill>
                <a:highlight>
                  <a:srgbClr val="FFFFFF"/>
                </a:highlight>
                <a:latin typeface="Roboto"/>
                <a:ea typeface="Roboto"/>
                <a:cs typeface="Roboto"/>
                <a:sym typeface="Roboto"/>
              </a:rPr>
              <a:t> is constructed with two arguments, like in the example before.</a:t>
            </a:r>
            <a:endParaRPr sz="1235">
              <a:solidFill>
                <a:schemeClr val="dk1"/>
              </a:solidFill>
            </a:endParaRPr>
          </a:p>
          <a:p>
            <a:pPr indent="0" lvl="0" marL="0" rtl="0" algn="l">
              <a:lnSpc>
                <a:spcPct val="95000"/>
              </a:lnSpc>
              <a:spcBef>
                <a:spcPts val="0"/>
              </a:spcBef>
              <a:spcAft>
                <a:spcPts val="0"/>
              </a:spcAft>
              <a:buSzPts val="935"/>
              <a:buNone/>
            </a:pPr>
            <a:r>
              <a:rPr lang="en" sz="1235">
                <a:solidFill>
                  <a:schemeClr val="dk1"/>
                </a:solidFill>
                <a:highlight>
                  <a:srgbClr val="FFFFFF"/>
                </a:highlight>
                <a:latin typeface="Roboto"/>
                <a:ea typeface="Roboto"/>
                <a:cs typeface="Roboto"/>
                <a:sym typeface="Roboto"/>
              </a:rPr>
              <a:t>But this example also introduces a special kind </a:t>
            </a:r>
            <a:r>
              <a:rPr b="1" lang="en" sz="1235">
                <a:solidFill>
                  <a:schemeClr val="dk1"/>
                </a:solidFill>
                <a:highlight>
                  <a:srgbClr val="FFFFFF"/>
                </a:highlight>
                <a:latin typeface="Roboto"/>
                <a:ea typeface="Roboto"/>
                <a:cs typeface="Roboto"/>
                <a:sym typeface="Roboto"/>
              </a:rPr>
              <a:t>constructor</a:t>
            </a:r>
            <a:r>
              <a:rPr lang="en" sz="1235">
                <a:solidFill>
                  <a:schemeClr val="dk1"/>
                </a:solidFill>
                <a:highlight>
                  <a:srgbClr val="FFFFFF"/>
                </a:highlight>
                <a:latin typeface="Roboto"/>
                <a:ea typeface="Roboto"/>
                <a:cs typeface="Roboto"/>
                <a:sym typeface="Roboto"/>
              </a:rPr>
              <a:t>: the </a:t>
            </a:r>
            <a:r>
              <a:rPr i="1" lang="en" sz="1235">
                <a:solidFill>
                  <a:schemeClr val="dk1"/>
                </a:solidFill>
                <a:highlight>
                  <a:srgbClr val="FFFFFF"/>
                </a:highlight>
                <a:latin typeface="Roboto"/>
                <a:ea typeface="Roboto"/>
                <a:cs typeface="Roboto"/>
                <a:sym typeface="Roboto"/>
              </a:rPr>
              <a:t>default </a:t>
            </a:r>
            <a:r>
              <a:rPr b="1" i="1" lang="en" sz="1235">
                <a:solidFill>
                  <a:schemeClr val="dk1"/>
                </a:solidFill>
                <a:highlight>
                  <a:srgbClr val="FFFFFF"/>
                </a:highlight>
                <a:latin typeface="Roboto"/>
                <a:ea typeface="Roboto"/>
                <a:cs typeface="Roboto"/>
                <a:sym typeface="Roboto"/>
              </a:rPr>
              <a:t>constructor</a:t>
            </a:r>
            <a:r>
              <a:rPr lang="en" sz="1235">
                <a:solidFill>
                  <a:schemeClr val="dk1"/>
                </a:solidFill>
                <a:highlight>
                  <a:srgbClr val="FFFFFF"/>
                </a:highlight>
                <a:latin typeface="Roboto"/>
                <a:ea typeface="Roboto"/>
                <a:cs typeface="Roboto"/>
                <a:sym typeface="Roboto"/>
              </a:rPr>
              <a:t>. The </a:t>
            </a:r>
            <a:r>
              <a:rPr i="1" lang="en" sz="1235">
                <a:solidFill>
                  <a:schemeClr val="dk1"/>
                </a:solidFill>
                <a:highlight>
                  <a:srgbClr val="FFFFFF"/>
                </a:highlight>
                <a:latin typeface="Roboto"/>
                <a:ea typeface="Roboto"/>
                <a:cs typeface="Roboto"/>
                <a:sym typeface="Roboto"/>
              </a:rPr>
              <a:t>default constructor</a:t>
            </a:r>
            <a:r>
              <a:rPr lang="en" sz="1235">
                <a:solidFill>
                  <a:schemeClr val="dk1"/>
                </a:solidFill>
                <a:highlight>
                  <a:srgbClr val="FFFFFF"/>
                </a:highlight>
                <a:latin typeface="Roboto"/>
                <a:ea typeface="Roboto"/>
                <a:cs typeface="Roboto"/>
                <a:sym typeface="Roboto"/>
              </a:rPr>
              <a:t> is the constructor that takes no parameters, and it is special because it is called when an object is declared but is not initialized with any arguments. </a:t>
            </a:r>
            <a:endParaRPr sz="1235">
              <a:solidFill>
                <a:schemeClr val="dk1"/>
              </a:solidFill>
              <a:highlight>
                <a:srgbClr val="FFFFFF"/>
              </a:highlight>
              <a:latin typeface="Roboto"/>
              <a:ea typeface="Roboto"/>
              <a:cs typeface="Roboto"/>
              <a:sym typeface="Roboto"/>
            </a:endParaRPr>
          </a:p>
          <a:p>
            <a:pPr indent="0" lvl="0" marL="0" rtl="0" algn="l">
              <a:lnSpc>
                <a:spcPct val="95000"/>
              </a:lnSpc>
              <a:spcBef>
                <a:spcPts val="0"/>
              </a:spcBef>
              <a:spcAft>
                <a:spcPts val="0"/>
              </a:spcAft>
              <a:buClr>
                <a:schemeClr val="dk1"/>
              </a:buClr>
              <a:buSzPts val="935"/>
              <a:buFont typeface="Arial"/>
              <a:buNone/>
            </a:pPr>
            <a:r>
              <a:rPr lang="en" sz="1235">
                <a:solidFill>
                  <a:schemeClr val="dk1"/>
                </a:solidFill>
                <a:highlight>
                  <a:srgbClr val="FFFFFF"/>
                </a:highlight>
                <a:latin typeface="Roboto"/>
                <a:ea typeface="Roboto"/>
                <a:cs typeface="Roboto"/>
                <a:sym typeface="Roboto"/>
              </a:rPr>
              <a:t>In  our current example the </a:t>
            </a:r>
            <a:r>
              <a:rPr i="1" lang="en" sz="1235">
                <a:solidFill>
                  <a:schemeClr val="dk1"/>
                </a:solidFill>
                <a:highlight>
                  <a:srgbClr val="FFFFFF"/>
                </a:highlight>
                <a:latin typeface="Roboto"/>
                <a:ea typeface="Roboto"/>
                <a:cs typeface="Roboto"/>
                <a:sym typeface="Roboto"/>
              </a:rPr>
              <a:t>default constructor</a:t>
            </a:r>
            <a:r>
              <a:rPr lang="en" sz="1235">
                <a:solidFill>
                  <a:schemeClr val="dk1"/>
                </a:solidFill>
                <a:highlight>
                  <a:srgbClr val="FFFFFF"/>
                </a:highlight>
                <a:latin typeface="Roboto"/>
                <a:ea typeface="Roboto"/>
                <a:cs typeface="Roboto"/>
                <a:sym typeface="Roboto"/>
              </a:rPr>
              <a:t> is called for </a:t>
            </a:r>
            <a:r>
              <a:rPr b="1" lang="en" sz="1235">
                <a:solidFill>
                  <a:schemeClr val="dk1"/>
                </a:solidFill>
                <a:highlight>
                  <a:srgbClr val="FFFFFF"/>
                </a:highlight>
                <a:latin typeface="Courier New"/>
                <a:ea typeface="Courier New"/>
                <a:cs typeface="Courier New"/>
                <a:sym typeface="Courier New"/>
              </a:rPr>
              <a:t>rectb</a:t>
            </a:r>
            <a:r>
              <a:rPr lang="en" sz="1235">
                <a:solidFill>
                  <a:schemeClr val="dk1"/>
                </a:solidFill>
                <a:highlight>
                  <a:srgbClr val="FFFFFF"/>
                </a:highlight>
                <a:latin typeface="Roboto"/>
                <a:ea typeface="Roboto"/>
                <a:cs typeface="Roboto"/>
                <a:sym typeface="Roboto"/>
              </a:rPr>
              <a:t>. Note how </a:t>
            </a:r>
            <a:r>
              <a:rPr b="1" lang="en" sz="1235">
                <a:solidFill>
                  <a:schemeClr val="dk1"/>
                </a:solidFill>
                <a:highlight>
                  <a:srgbClr val="FFFFFF"/>
                </a:highlight>
                <a:latin typeface="Courier New"/>
                <a:ea typeface="Courier New"/>
                <a:cs typeface="Courier New"/>
                <a:sym typeface="Courier New"/>
              </a:rPr>
              <a:t>rectb</a:t>
            </a:r>
            <a:r>
              <a:rPr lang="en" sz="1235">
                <a:solidFill>
                  <a:schemeClr val="dk1"/>
                </a:solidFill>
                <a:highlight>
                  <a:srgbClr val="FFFFFF"/>
                </a:highlight>
                <a:latin typeface="Roboto"/>
                <a:ea typeface="Roboto"/>
                <a:cs typeface="Roboto"/>
                <a:sym typeface="Roboto"/>
              </a:rPr>
              <a:t> is not even constructed with an empty set of parentheses - in fact, empty parentheses cannot be used to call the default constructor:</a:t>
            </a:r>
            <a:endParaRPr sz="1235">
              <a:solidFill>
                <a:schemeClr val="dk1"/>
              </a:solidFill>
              <a:highlight>
                <a:srgbClr val="FFFFFF"/>
              </a:highlight>
              <a:latin typeface="Roboto"/>
              <a:ea typeface="Roboto"/>
              <a:cs typeface="Roboto"/>
              <a:sym typeface="Roboto"/>
            </a:endParaRPr>
          </a:p>
          <a:p>
            <a:pPr indent="0" lvl="0" marL="0" rtl="0" algn="l">
              <a:lnSpc>
                <a:spcPct val="95000"/>
              </a:lnSpc>
              <a:spcBef>
                <a:spcPts val="0"/>
              </a:spcBef>
              <a:spcAft>
                <a:spcPts val="0"/>
              </a:spcAft>
              <a:buSzPts val="935"/>
              <a:buNone/>
            </a:pPr>
            <a:r>
              <a:t/>
            </a:r>
            <a:endParaRPr sz="1829"/>
          </a:p>
        </p:txBody>
      </p:sp>
      <p:sp>
        <p:nvSpPr>
          <p:cNvPr id="1013" name="Google Shape;1013;g283038813be_0_722"/>
          <p:cNvSpPr txBox="1"/>
          <p:nvPr/>
        </p:nvSpPr>
        <p:spPr>
          <a:xfrm>
            <a:off x="3881100" y="479000"/>
            <a:ext cx="5185200" cy="464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007000"/>
                </a:solidFill>
                <a:latin typeface="Courier New"/>
                <a:ea typeface="Courier New"/>
                <a:cs typeface="Courier New"/>
                <a:sym typeface="Courier New"/>
              </a:rPr>
              <a:t>// overloading class constructors</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rgbClr val="500070"/>
                </a:solidFill>
                <a:latin typeface="Courier New"/>
                <a:ea typeface="Courier New"/>
                <a:cs typeface="Courier New"/>
                <a:sym typeface="Courier New"/>
              </a:rPr>
              <a:t>#include &lt;iostream&gt;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rgbClr val="0000B0"/>
                </a:solidFill>
                <a:latin typeface="Courier New"/>
                <a:ea typeface="Courier New"/>
                <a:cs typeface="Courier New"/>
                <a:sym typeface="Courier New"/>
              </a:rPr>
              <a:t>using</a:t>
            </a: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namespace</a:t>
            </a:r>
            <a:r>
              <a:rPr lang="en" sz="1000">
                <a:solidFill>
                  <a:schemeClr val="dk1"/>
                </a:solidFill>
                <a:latin typeface="Courier New"/>
                <a:ea typeface="Courier New"/>
                <a:cs typeface="Courier New"/>
                <a:sym typeface="Courier New"/>
              </a:rPr>
              <a:t> std;</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rgbClr val="0000B0"/>
                </a:solidFill>
                <a:latin typeface="Courier New"/>
                <a:ea typeface="Courier New"/>
                <a:cs typeface="Courier New"/>
                <a:sym typeface="Courier New"/>
              </a:rPr>
              <a:t>class</a:t>
            </a:r>
            <a:r>
              <a:rPr lang="en" sz="1000">
                <a:solidFill>
                  <a:schemeClr val="dk1"/>
                </a:solidFill>
                <a:latin typeface="Courier New"/>
                <a:ea typeface="Courier New"/>
                <a:cs typeface="Courier New"/>
                <a:sym typeface="Courier New"/>
              </a:rPr>
              <a:t> Rectangle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int</a:t>
            </a:r>
            <a:r>
              <a:rPr lang="en" sz="1000">
                <a:solidFill>
                  <a:schemeClr val="dk1"/>
                </a:solidFill>
                <a:latin typeface="Courier New"/>
                <a:ea typeface="Courier New"/>
                <a:cs typeface="Courier New"/>
                <a:sym typeface="Courier New"/>
              </a:rPr>
              <a:t> width, height;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public</a:t>
            </a: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Rectangle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Rectangle (</a:t>
            </a:r>
            <a:r>
              <a:rPr lang="en" sz="1000">
                <a:solidFill>
                  <a:srgbClr val="0000B0"/>
                </a:solidFill>
                <a:latin typeface="Courier New"/>
                <a:ea typeface="Courier New"/>
                <a:cs typeface="Courier New"/>
                <a:sym typeface="Courier New"/>
              </a:rPr>
              <a:t>int</a:t>
            </a:r>
            <a:r>
              <a:rPr lang="en" sz="1000">
                <a:solidFill>
                  <a:schemeClr val="dk1"/>
                </a:solidFill>
                <a:latin typeface="Courier New"/>
                <a:ea typeface="Courier New"/>
                <a:cs typeface="Courier New"/>
                <a:sym typeface="Courier New"/>
              </a:rPr>
              <a:t>,</a:t>
            </a:r>
            <a:r>
              <a:rPr lang="en" sz="1000">
                <a:solidFill>
                  <a:srgbClr val="0000B0"/>
                </a:solidFill>
                <a:latin typeface="Courier New"/>
                <a:ea typeface="Courier New"/>
                <a:cs typeface="Courier New"/>
                <a:sym typeface="Courier New"/>
              </a:rPr>
              <a:t>int</a:t>
            </a: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int</a:t>
            </a:r>
            <a:r>
              <a:rPr lang="en" sz="1000">
                <a:solidFill>
                  <a:schemeClr val="dk1"/>
                </a:solidFill>
                <a:latin typeface="Courier New"/>
                <a:ea typeface="Courier New"/>
                <a:cs typeface="Courier New"/>
                <a:sym typeface="Courier New"/>
              </a:rPr>
              <a:t> area (</a:t>
            </a:r>
            <a:r>
              <a:rPr lang="en" sz="1000">
                <a:solidFill>
                  <a:srgbClr val="0000B0"/>
                </a:solidFill>
                <a:latin typeface="Courier New"/>
                <a:ea typeface="Courier New"/>
                <a:cs typeface="Courier New"/>
                <a:sym typeface="Courier New"/>
              </a:rPr>
              <a:t>void</a:t>
            </a: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return</a:t>
            </a:r>
            <a:r>
              <a:rPr lang="en" sz="1000">
                <a:solidFill>
                  <a:schemeClr val="dk1"/>
                </a:solidFill>
                <a:latin typeface="Courier New"/>
                <a:ea typeface="Courier New"/>
                <a:cs typeface="Courier New"/>
                <a:sym typeface="Courier New"/>
              </a:rPr>
              <a:t> (width*height);}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Rectangle::Rectangle ()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width = 5;</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height = 5;</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Rectangle::Rectangle (</a:t>
            </a:r>
            <a:r>
              <a:rPr lang="en" sz="1000">
                <a:solidFill>
                  <a:srgbClr val="0000B0"/>
                </a:solidFill>
                <a:latin typeface="Courier New"/>
                <a:ea typeface="Courier New"/>
                <a:cs typeface="Courier New"/>
                <a:sym typeface="Courier New"/>
              </a:rPr>
              <a:t>int</a:t>
            </a:r>
            <a:r>
              <a:rPr lang="en" sz="1000">
                <a:solidFill>
                  <a:schemeClr val="dk1"/>
                </a:solidFill>
                <a:latin typeface="Courier New"/>
                <a:ea typeface="Courier New"/>
                <a:cs typeface="Courier New"/>
                <a:sym typeface="Courier New"/>
              </a:rPr>
              <a:t> a, </a:t>
            </a:r>
            <a:r>
              <a:rPr lang="en" sz="1000">
                <a:solidFill>
                  <a:srgbClr val="0000B0"/>
                </a:solidFill>
                <a:latin typeface="Courier New"/>
                <a:ea typeface="Courier New"/>
                <a:cs typeface="Courier New"/>
                <a:sym typeface="Courier New"/>
              </a:rPr>
              <a:t>int</a:t>
            </a:r>
            <a:r>
              <a:rPr lang="en" sz="1000">
                <a:solidFill>
                  <a:schemeClr val="dk1"/>
                </a:solidFill>
                <a:latin typeface="Courier New"/>
                <a:ea typeface="Courier New"/>
                <a:cs typeface="Courier New"/>
                <a:sym typeface="Courier New"/>
              </a:rPr>
              <a:t> b)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width = a;</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height = b;</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rgbClr val="0000B0"/>
                </a:solidFill>
                <a:latin typeface="Courier New"/>
                <a:ea typeface="Courier New"/>
                <a:cs typeface="Courier New"/>
                <a:sym typeface="Courier New"/>
              </a:rPr>
              <a:t>int</a:t>
            </a:r>
            <a:r>
              <a:rPr lang="en" sz="1000">
                <a:solidFill>
                  <a:schemeClr val="dk1"/>
                </a:solidFill>
                <a:latin typeface="Courier New"/>
                <a:ea typeface="Courier New"/>
                <a:cs typeface="Courier New"/>
                <a:sym typeface="Courier New"/>
              </a:rPr>
              <a:t> main ()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Rectangle rect (3,4);</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Rectangle rectb;</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cout &lt;&lt; </a:t>
            </a:r>
            <a:r>
              <a:rPr lang="en" sz="1000">
                <a:solidFill>
                  <a:srgbClr val="600030"/>
                </a:solidFill>
                <a:latin typeface="Courier New"/>
                <a:ea typeface="Courier New"/>
                <a:cs typeface="Courier New"/>
                <a:sym typeface="Courier New"/>
              </a:rPr>
              <a:t>"rect area: "</a:t>
            </a:r>
            <a:r>
              <a:rPr lang="en" sz="1000">
                <a:solidFill>
                  <a:schemeClr val="dk1"/>
                </a:solidFill>
                <a:latin typeface="Courier New"/>
                <a:ea typeface="Courier New"/>
                <a:cs typeface="Courier New"/>
                <a:sym typeface="Courier New"/>
              </a:rPr>
              <a:t> &lt;&lt; rect.area() &lt;&lt; endl;</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cout &lt;&lt; </a:t>
            </a:r>
            <a:r>
              <a:rPr lang="en" sz="1000">
                <a:solidFill>
                  <a:srgbClr val="600030"/>
                </a:solidFill>
                <a:latin typeface="Courier New"/>
                <a:ea typeface="Courier New"/>
                <a:cs typeface="Courier New"/>
                <a:sym typeface="Courier New"/>
              </a:rPr>
              <a:t>"rectb area: "</a:t>
            </a:r>
            <a:r>
              <a:rPr lang="en" sz="1000">
                <a:solidFill>
                  <a:schemeClr val="dk1"/>
                </a:solidFill>
                <a:latin typeface="Courier New"/>
                <a:ea typeface="Courier New"/>
                <a:cs typeface="Courier New"/>
                <a:sym typeface="Courier New"/>
              </a:rPr>
              <a:t> &lt;&lt; rectb.area() &lt;&lt; endl;</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return</a:t>
            </a:r>
            <a:r>
              <a:rPr lang="en" sz="1000">
                <a:solidFill>
                  <a:schemeClr val="dk1"/>
                </a:solidFill>
                <a:latin typeface="Courier New"/>
                <a:ea typeface="Courier New"/>
                <a:cs typeface="Courier New"/>
                <a:sym typeface="Courier New"/>
              </a:rPr>
              <a:t> 0;</a:t>
            </a:r>
            <a:endParaRPr sz="10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p:txBody>
      </p:sp>
      <p:sp>
        <p:nvSpPr>
          <p:cNvPr id="1014" name="Google Shape;1014;g283038813be_0_72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g283038813be_0_728"/>
          <p:cNvSpPr txBox="1"/>
          <p:nvPr>
            <p:ph type="title"/>
          </p:nvPr>
        </p:nvSpPr>
        <p:spPr>
          <a:xfrm>
            <a:off x="165650" y="1111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Constructor overloading(next…)</a:t>
            </a:r>
            <a:endParaRPr b="1"/>
          </a:p>
        </p:txBody>
      </p:sp>
      <p:sp>
        <p:nvSpPr>
          <p:cNvPr id="1020" name="Google Shape;1020;g283038813be_0_728"/>
          <p:cNvSpPr txBox="1"/>
          <p:nvPr>
            <p:ph idx="1" type="body"/>
          </p:nvPr>
        </p:nvSpPr>
        <p:spPr>
          <a:xfrm>
            <a:off x="311700" y="683850"/>
            <a:ext cx="8520600" cy="388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latin typeface="Courier New"/>
                <a:ea typeface="Courier New"/>
                <a:cs typeface="Courier New"/>
                <a:sym typeface="Courier New"/>
              </a:rPr>
              <a:t>Rectangle rectb;   </a:t>
            </a:r>
            <a:r>
              <a:rPr lang="en" sz="1900">
                <a:solidFill>
                  <a:srgbClr val="007000"/>
                </a:solidFill>
                <a:latin typeface="Courier New"/>
                <a:ea typeface="Courier New"/>
                <a:cs typeface="Courier New"/>
                <a:sym typeface="Courier New"/>
              </a:rPr>
              <a:t>// ok, default constructor called</a:t>
            </a:r>
            <a:endParaRPr sz="19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900">
                <a:solidFill>
                  <a:schemeClr val="dk1"/>
                </a:solidFill>
                <a:latin typeface="Courier New"/>
                <a:ea typeface="Courier New"/>
                <a:cs typeface="Courier New"/>
                <a:sym typeface="Courier New"/>
              </a:rPr>
              <a:t>Rectangle rectc(); </a:t>
            </a:r>
            <a:r>
              <a:rPr lang="en" sz="1900">
                <a:solidFill>
                  <a:srgbClr val="007000"/>
                </a:solidFill>
                <a:latin typeface="Courier New"/>
                <a:ea typeface="Courier New"/>
                <a:cs typeface="Courier New"/>
                <a:sym typeface="Courier New"/>
              </a:rPr>
              <a:t>// oops, default constructor NOT called</a:t>
            </a:r>
            <a:endParaRPr sz="1900">
              <a:solidFill>
                <a:srgbClr val="007000"/>
              </a:solidFill>
              <a:latin typeface="Courier New"/>
              <a:ea typeface="Courier New"/>
              <a:cs typeface="Courier New"/>
              <a:sym typeface="Courier New"/>
            </a:endParaRPr>
          </a:p>
          <a:p>
            <a:pPr indent="0" lvl="0" marL="0" rtl="0" algn="l">
              <a:spcBef>
                <a:spcPts val="0"/>
              </a:spcBef>
              <a:spcAft>
                <a:spcPts val="0"/>
              </a:spcAft>
              <a:buNone/>
            </a:pPr>
            <a:r>
              <a:rPr lang="en">
                <a:solidFill>
                  <a:schemeClr val="dk1"/>
                </a:solidFill>
                <a:highlight>
                  <a:srgbClr val="FFFFFF"/>
                </a:highlight>
                <a:latin typeface="Roboto"/>
                <a:ea typeface="Roboto"/>
                <a:cs typeface="Roboto"/>
                <a:sym typeface="Roboto"/>
              </a:rPr>
              <a:t>This is because the empty set of parentheses would make of </a:t>
            </a:r>
            <a:r>
              <a:rPr lang="en">
                <a:solidFill>
                  <a:schemeClr val="dk1"/>
                </a:solidFill>
                <a:highlight>
                  <a:srgbClr val="FFFFFF"/>
                </a:highlight>
                <a:latin typeface="Courier New"/>
                <a:ea typeface="Courier New"/>
                <a:cs typeface="Courier New"/>
                <a:sym typeface="Courier New"/>
              </a:rPr>
              <a:t>rectc</a:t>
            </a:r>
            <a:r>
              <a:rPr lang="en">
                <a:solidFill>
                  <a:schemeClr val="dk1"/>
                </a:solidFill>
                <a:highlight>
                  <a:srgbClr val="FFFFFF"/>
                </a:highlight>
                <a:latin typeface="Roboto"/>
                <a:ea typeface="Roboto"/>
                <a:cs typeface="Roboto"/>
                <a:sym typeface="Roboto"/>
              </a:rPr>
              <a:t> a function declaration instead of an object declaration: It would be a function that takes no arguments and returns a value of type </a:t>
            </a:r>
            <a:r>
              <a:rPr lang="en">
                <a:solidFill>
                  <a:schemeClr val="dk1"/>
                </a:solidFill>
                <a:highlight>
                  <a:srgbClr val="FFFFFF"/>
                </a:highlight>
                <a:latin typeface="Courier New"/>
                <a:ea typeface="Courier New"/>
                <a:cs typeface="Courier New"/>
                <a:sym typeface="Courier New"/>
              </a:rPr>
              <a:t>Rectangle</a:t>
            </a:r>
            <a:r>
              <a:rPr lang="en">
                <a:solidFill>
                  <a:schemeClr val="dk1"/>
                </a:solidFill>
                <a:highlight>
                  <a:srgbClr val="FFFFFF"/>
                </a:highlight>
                <a:latin typeface="Roboto"/>
                <a:ea typeface="Roboto"/>
                <a:cs typeface="Roboto"/>
                <a:sym typeface="Roboto"/>
              </a:rPr>
              <a:t>.</a:t>
            </a:r>
            <a:endParaRPr sz="2500"/>
          </a:p>
        </p:txBody>
      </p:sp>
      <p:sp>
        <p:nvSpPr>
          <p:cNvPr id="1021" name="Google Shape;1021;g283038813be_0_72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g283038813be_0_733"/>
          <p:cNvSpPr txBox="1"/>
          <p:nvPr>
            <p:ph type="title"/>
          </p:nvPr>
        </p:nvSpPr>
        <p:spPr>
          <a:xfrm>
            <a:off x="311700" y="1402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FF9900"/>
                </a:solidFill>
              </a:rPr>
              <a:t>Constructor: </a:t>
            </a:r>
            <a:r>
              <a:rPr b="1" lang="en" sz="2000">
                <a:solidFill>
                  <a:srgbClr val="FF9900"/>
                </a:solidFill>
                <a:latin typeface="Courier New"/>
                <a:ea typeface="Courier New"/>
                <a:cs typeface="Courier New"/>
                <a:sym typeface="Courier New"/>
              </a:rPr>
              <a:t>uniform initialization</a:t>
            </a:r>
            <a:endParaRPr b="1" sz="2000">
              <a:solidFill>
                <a:srgbClr val="FF9900"/>
              </a:solidFill>
            </a:endParaRPr>
          </a:p>
        </p:txBody>
      </p:sp>
      <p:sp>
        <p:nvSpPr>
          <p:cNvPr id="1027" name="Google Shape;1027;g283038813be_0_733"/>
          <p:cNvSpPr txBox="1"/>
          <p:nvPr>
            <p:ph idx="1" type="body"/>
          </p:nvPr>
        </p:nvSpPr>
        <p:spPr>
          <a:xfrm>
            <a:off x="113475" y="712925"/>
            <a:ext cx="4247700" cy="412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highlight>
                  <a:srgbClr val="FFFFFF"/>
                </a:highlight>
                <a:latin typeface="Roboto"/>
                <a:ea typeface="Roboto"/>
                <a:cs typeface="Roboto"/>
                <a:sym typeface="Roboto"/>
              </a:rPr>
              <a:t>The way of calling constructors by enclosing their arguments in parentheses, as shown above, is known as </a:t>
            </a:r>
            <a:r>
              <a:rPr i="1" lang="en" sz="1100">
                <a:solidFill>
                  <a:schemeClr val="dk1"/>
                </a:solidFill>
                <a:highlight>
                  <a:srgbClr val="FFFFFF"/>
                </a:highlight>
                <a:latin typeface="Roboto"/>
                <a:ea typeface="Roboto"/>
                <a:cs typeface="Roboto"/>
                <a:sym typeface="Roboto"/>
              </a:rPr>
              <a:t>functional form</a:t>
            </a:r>
            <a:r>
              <a:rPr lang="en" sz="1100">
                <a:solidFill>
                  <a:schemeClr val="dk1"/>
                </a:solidFill>
                <a:highlight>
                  <a:srgbClr val="FFFFFF"/>
                </a:highlight>
                <a:latin typeface="Roboto"/>
                <a:ea typeface="Roboto"/>
                <a:cs typeface="Roboto"/>
                <a:sym typeface="Roboto"/>
              </a:rPr>
              <a:t>. But constructors can also be called with other syntaxes:</a:t>
            </a:r>
            <a:endParaRPr sz="110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en" sz="1100">
                <a:solidFill>
                  <a:schemeClr val="dk1"/>
                </a:solidFill>
                <a:highlight>
                  <a:srgbClr val="FFFFFF"/>
                </a:highlight>
                <a:latin typeface="Roboto"/>
                <a:ea typeface="Roboto"/>
                <a:cs typeface="Roboto"/>
                <a:sym typeface="Roboto"/>
              </a:rPr>
              <a:t>First, constructors with a single parameter can be called using the variable initialization syntax (an equal sign followed by the argument):</a:t>
            </a:r>
            <a:endParaRPr sz="110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700">
              <a:solidFill>
                <a:schemeClr val="dk1"/>
              </a:solidFill>
            </a:endParaRPr>
          </a:p>
          <a:p>
            <a:pPr indent="0" lvl="0" marL="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class_name object_name = initialization_value;</a:t>
            </a:r>
            <a:endParaRPr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500">
              <a:solidFill>
                <a:schemeClr val="dk1"/>
              </a:solidFill>
            </a:endParaRPr>
          </a:p>
          <a:p>
            <a:pPr indent="0" lvl="0" marL="0" rtl="0" algn="l">
              <a:spcBef>
                <a:spcPts val="0"/>
              </a:spcBef>
              <a:spcAft>
                <a:spcPts val="0"/>
              </a:spcAft>
              <a:buClr>
                <a:schemeClr val="dk1"/>
              </a:buClr>
              <a:buSzPts val="1100"/>
              <a:buFont typeface="Arial"/>
              <a:buNone/>
            </a:pPr>
            <a:r>
              <a:rPr lang="en" sz="1100">
                <a:solidFill>
                  <a:schemeClr val="dk1"/>
                </a:solidFill>
                <a:highlight>
                  <a:srgbClr val="FFFFFF"/>
                </a:highlight>
                <a:latin typeface="Roboto"/>
                <a:ea typeface="Roboto"/>
                <a:cs typeface="Roboto"/>
                <a:sym typeface="Roboto"/>
              </a:rPr>
              <a:t>More recently, C++ introduced the possibility of constructors to be called using </a:t>
            </a:r>
            <a:r>
              <a:rPr i="1" lang="en" sz="1100">
                <a:solidFill>
                  <a:schemeClr val="dk1"/>
                </a:solidFill>
                <a:highlight>
                  <a:srgbClr val="FFFFFF"/>
                </a:highlight>
                <a:latin typeface="Roboto"/>
                <a:ea typeface="Roboto"/>
                <a:cs typeface="Roboto"/>
                <a:sym typeface="Roboto"/>
              </a:rPr>
              <a:t>uniform initialization</a:t>
            </a:r>
            <a:r>
              <a:rPr lang="en" sz="1100">
                <a:solidFill>
                  <a:schemeClr val="dk1"/>
                </a:solidFill>
                <a:highlight>
                  <a:srgbClr val="FFFFFF"/>
                </a:highlight>
                <a:latin typeface="Roboto"/>
                <a:ea typeface="Roboto"/>
                <a:cs typeface="Roboto"/>
                <a:sym typeface="Roboto"/>
              </a:rPr>
              <a:t>, which essentially is the same as the functional form, but using braces (</a:t>
            </a:r>
            <a:r>
              <a:rPr lang="en" sz="1100">
                <a:solidFill>
                  <a:schemeClr val="dk1"/>
                </a:solidFill>
                <a:highlight>
                  <a:srgbClr val="FFFFFF"/>
                </a:highlight>
                <a:latin typeface="Courier New"/>
                <a:ea typeface="Courier New"/>
                <a:cs typeface="Courier New"/>
                <a:sym typeface="Courier New"/>
              </a:rPr>
              <a:t>{}</a:t>
            </a:r>
            <a:r>
              <a:rPr lang="en" sz="1100">
                <a:solidFill>
                  <a:schemeClr val="dk1"/>
                </a:solidFill>
                <a:highlight>
                  <a:srgbClr val="FFFFFF"/>
                </a:highlight>
                <a:latin typeface="Roboto"/>
                <a:ea typeface="Roboto"/>
                <a:cs typeface="Roboto"/>
                <a:sym typeface="Roboto"/>
              </a:rPr>
              <a:t>) instead of parentheses (</a:t>
            </a:r>
            <a:r>
              <a:rPr lang="en" sz="1100">
                <a:solidFill>
                  <a:schemeClr val="dk1"/>
                </a:solidFill>
                <a:highlight>
                  <a:srgbClr val="FFFFFF"/>
                </a:highlight>
                <a:latin typeface="Courier New"/>
                <a:ea typeface="Courier New"/>
                <a:cs typeface="Courier New"/>
                <a:sym typeface="Courier New"/>
              </a:rPr>
              <a:t>()</a:t>
            </a:r>
            <a:r>
              <a:rPr lang="en" sz="1100">
                <a:solidFill>
                  <a:schemeClr val="dk1"/>
                </a:solidFill>
                <a:highlight>
                  <a:srgbClr val="FFFFFF"/>
                </a:highlight>
                <a:latin typeface="Roboto"/>
                <a:ea typeface="Roboto"/>
                <a:cs typeface="Roboto"/>
                <a:sym typeface="Roboto"/>
              </a:rPr>
              <a:t>):</a:t>
            </a:r>
            <a:endParaRPr sz="110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class_name object_name { value, value, value, ... }</a:t>
            </a:r>
            <a:endParaRPr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700">
              <a:solidFill>
                <a:schemeClr val="dk1"/>
              </a:solidFill>
            </a:endParaRPr>
          </a:p>
          <a:p>
            <a:pPr indent="0" lvl="0" marL="0" rtl="0" algn="l">
              <a:spcBef>
                <a:spcPts val="0"/>
              </a:spcBef>
              <a:spcAft>
                <a:spcPts val="0"/>
              </a:spcAft>
              <a:buClr>
                <a:schemeClr val="dk1"/>
              </a:buClr>
              <a:buSzPts val="1100"/>
              <a:buFont typeface="Arial"/>
              <a:buNone/>
            </a:pPr>
            <a:r>
              <a:rPr lang="en" sz="1100">
                <a:solidFill>
                  <a:schemeClr val="dk1"/>
                </a:solidFill>
                <a:highlight>
                  <a:srgbClr val="FFFFFF"/>
                </a:highlight>
                <a:latin typeface="Roboto"/>
                <a:ea typeface="Roboto"/>
                <a:cs typeface="Roboto"/>
                <a:sym typeface="Roboto"/>
              </a:rPr>
              <a:t>Optionally, this last syntax can include an equal sign before the braces.</a:t>
            </a:r>
            <a:endParaRPr sz="110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800">
              <a:solidFill>
                <a:schemeClr val="dk1"/>
              </a:solidFill>
            </a:endParaRPr>
          </a:p>
          <a:p>
            <a:pPr indent="0" lvl="0" marL="0" rtl="0" algn="l">
              <a:spcBef>
                <a:spcPts val="0"/>
              </a:spcBef>
              <a:spcAft>
                <a:spcPts val="0"/>
              </a:spcAft>
              <a:buClr>
                <a:schemeClr val="dk1"/>
              </a:buClr>
              <a:buSzPts val="1100"/>
              <a:buFont typeface="Arial"/>
              <a:buNone/>
            </a:pPr>
            <a:r>
              <a:rPr lang="en" sz="1100">
                <a:solidFill>
                  <a:schemeClr val="dk1"/>
                </a:solidFill>
                <a:highlight>
                  <a:srgbClr val="FFFFFF"/>
                </a:highlight>
                <a:latin typeface="Roboto"/>
                <a:ea typeface="Roboto"/>
                <a:cs typeface="Roboto"/>
                <a:sym typeface="Roboto"/>
              </a:rPr>
              <a:t>Here is an example with four ways to construct objects of a class whose constructor takes a single parameter:</a:t>
            </a:r>
            <a:endParaRPr sz="110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t/>
            </a:r>
            <a:endParaRPr/>
          </a:p>
        </p:txBody>
      </p:sp>
      <p:sp>
        <p:nvSpPr>
          <p:cNvPr id="1028" name="Google Shape;1028;g283038813be_0_733"/>
          <p:cNvSpPr txBox="1"/>
          <p:nvPr/>
        </p:nvSpPr>
        <p:spPr>
          <a:xfrm>
            <a:off x="4465350" y="521225"/>
            <a:ext cx="4517700" cy="4248300"/>
          </a:xfrm>
          <a:prstGeom prst="rect">
            <a:avLst/>
          </a:prstGeom>
          <a:noFill/>
          <a:ln cap="flat" cmpd="sng" w="9525">
            <a:solidFill>
              <a:srgbClr val="000000"/>
            </a:solidFill>
            <a:prstDash val="dashDot"/>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7000"/>
                </a:solidFill>
                <a:latin typeface="Courier New"/>
                <a:ea typeface="Courier New"/>
                <a:cs typeface="Courier New"/>
                <a:sym typeface="Courier New"/>
              </a:rPr>
              <a:t>// classes and uniform initialization</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rgbClr val="500070"/>
                </a:solidFill>
                <a:latin typeface="Courier New"/>
                <a:ea typeface="Courier New"/>
                <a:cs typeface="Courier New"/>
                <a:sym typeface="Courier New"/>
              </a:rPr>
              <a:t>#include &lt;iostream&gt;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rgbClr val="0000B0"/>
                </a:solidFill>
                <a:latin typeface="Courier New"/>
                <a:ea typeface="Courier New"/>
                <a:cs typeface="Courier New"/>
                <a:sym typeface="Courier New"/>
              </a:rPr>
              <a:t>using</a:t>
            </a:r>
            <a:r>
              <a:rPr lang="en" sz="1200">
                <a:solidFill>
                  <a:schemeClr val="dk1"/>
                </a:solidFill>
                <a:latin typeface="Courier New"/>
                <a:ea typeface="Courier New"/>
                <a:cs typeface="Courier New"/>
                <a:sym typeface="Courier New"/>
              </a:rPr>
              <a:t> </a:t>
            </a:r>
            <a:r>
              <a:rPr lang="en" sz="1200">
                <a:solidFill>
                  <a:srgbClr val="0000B0"/>
                </a:solidFill>
                <a:latin typeface="Courier New"/>
                <a:ea typeface="Courier New"/>
                <a:cs typeface="Courier New"/>
                <a:sym typeface="Courier New"/>
              </a:rPr>
              <a:t>namespace</a:t>
            </a:r>
            <a:r>
              <a:rPr lang="en" sz="1200">
                <a:solidFill>
                  <a:schemeClr val="dk1"/>
                </a:solidFill>
                <a:latin typeface="Courier New"/>
                <a:ea typeface="Courier New"/>
                <a:cs typeface="Courier New"/>
                <a:sym typeface="Courier New"/>
              </a:rPr>
              <a:t> std;</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rgbClr val="0000B0"/>
                </a:solidFill>
                <a:latin typeface="Courier New"/>
                <a:ea typeface="Courier New"/>
                <a:cs typeface="Courier New"/>
                <a:sym typeface="Courier New"/>
              </a:rPr>
              <a:t>class</a:t>
            </a:r>
            <a:r>
              <a:rPr lang="en" sz="1200">
                <a:solidFill>
                  <a:schemeClr val="dk1"/>
                </a:solidFill>
                <a:latin typeface="Courier New"/>
                <a:ea typeface="Courier New"/>
                <a:cs typeface="Courier New"/>
                <a:sym typeface="Courier New"/>
              </a:rPr>
              <a:t> Circle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a:t>
            </a:r>
            <a:r>
              <a:rPr lang="en" sz="1200">
                <a:solidFill>
                  <a:srgbClr val="0000B0"/>
                </a:solidFill>
                <a:latin typeface="Courier New"/>
                <a:ea typeface="Courier New"/>
                <a:cs typeface="Courier New"/>
                <a:sym typeface="Courier New"/>
              </a:rPr>
              <a:t>double</a:t>
            </a:r>
            <a:r>
              <a:rPr lang="en" sz="1200">
                <a:solidFill>
                  <a:schemeClr val="dk1"/>
                </a:solidFill>
                <a:latin typeface="Courier New"/>
                <a:ea typeface="Courier New"/>
                <a:cs typeface="Courier New"/>
                <a:sym typeface="Courier New"/>
              </a:rPr>
              <a:t> radius;</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a:t>
            </a:r>
            <a:r>
              <a:rPr lang="en" sz="1200">
                <a:solidFill>
                  <a:srgbClr val="0000B0"/>
                </a:solidFill>
                <a:latin typeface="Courier New"/>
                <a:ea typeface="Courier New"/>
                <a:cs typeface="Courier New"/>
                <a:sym typeface="Courier New"/>
              </a:rPr>
              <a:t>public</a:t>
            </a:r>
            <a:r>
              <a:rPr lang="en"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Circle(</a:t>
            </a:r>
            <a:r>
              <a:rPr lang="en" sz="1200">
                <a:solidFill>
                  <a:srgbClr val="0000B0"/>
                </a:solidFill>
                <a:latin typeface="Courier New"/>
                <a:ea typeface="Courier New"/>
                <a:cs typeface="Courier New"/>
                <a:sym typeface="Courier New"/>
              </a:rPr>
              <a:t>double</a:t>
            </a:r>
            <a:r>
              <a:rPr lang="en" sz="1200">
                <a:solidFill>
                  <a:schemeClr val="dk1"/>
                </a:solidFill>
                <a:latin typeface="Courier New"/>
                <a:ea typeface="Courier New"/>
                <a:cs typeface="Courier New"/>
                <a:sym typeface="Courier New"/>
              </a:rPr>
              <a:t> r) { radius = 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a:t>
            </a:r>
            <a:r>
              <a:rPr lang="en" sz="1200">
                <a:solidFill>
                  <a:srgbClr val="0000B0"/>
                </a:solidFill>
                <a:latin typeface="Courier New"/>
                <a:ea typeface="Courier New"/>
                <a:cs typeface="Courier New"/>
                <a:sym typeface="Courier New"/>
              </a:rPr>
              <a:t>double</a:t>
            </a:r>
            <a:r>
              <a:rPr lang="en" sz="1200">
                <a:solidFill>
                  <a:schemeClr val="dk1"/>
                </a:solidFill>
                <a:latin typeface="Courier New"/>
                <a:ea typeface="Courier New"/>
                <a:cs typeface="Courier New"/>
                <a:sym typeface="Courier New"/>
              </a:rPr>
              <a:t> circum() {</a:t>
            </a:r>
            <a:r>
              <a:rPr lang="en" sz="1200">
                <a:solidFill>
                  <a:srgbClr val="0000B0"/>
                </a:solidFill>
                <a:latin typeface="Courier New"/>
                <a:ea typeface="Courier New"/>
                <a:cs typeface="Courier New"/>
                <a:sym typeface="Courier New"/>
              </a:rPr>
              <a:t>return</a:t>
            </a:r>
            <a:r>
              <a:rPr lang="en" sz="1200">
                <a:solidFill>
                  <a:schemeClr val="dk1"/>
                </a:solidFill>
                <a:latin typeface="Courier New"/>
                <a:ea typeface="Courier New"/>
                <a:cs typeface="Courier New"/>
                <a:sym typeface="Courier New"/>
              </a:rPr>
              <a:t> 2*radius*3.14159265;}</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rgbClr val="0000B0"/>
                </a:solidFill>
                <a:latin typeface="Courier New"/>
                <a:ea typeface="Courier New"/>
                <a:cs typeface="Courier New"/>
                <a:sym typeface="Courier New"/>
              </a:rPr>
              <a:t>int</a:t>
            </a:r>
            <a:r>
              <a:rPr lang="en" sz="1200">
                <a:solidFill>
                  <a:schemeClr val="dk1"/>
                </a:solidFill>
                <a:latin typeface="Courier New"/>
                <a:ea typeface="Courier New"/>
                <a:cs typeface="Courier New"/>
                <a:sym typeface="Courier New"/>
              </a:rPr>
              <a:t> main ()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Circle foo (10.0);   </a:t>
            </a:r>
            <a:r>
              <a:rPr lang="en" sz="1200">
                <a:solidFill>
                  <a:srgbClr val="007000"/>
                </a:solidFill>
                <a:latin typeface="Courier New"/>
                <a:ea typeface="Courier New"/>
                <a:cs typeface="Courier New"/>
                <a:sym typeface="Courier New"/>
              </a:rPr>
              <a:t>// functional form</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Circle bar = 20.0;   </a:t>
            </a:r>
            <a:r>
              <a:rPr lang="en" sz="1200">
                <a:solidFill>
                  <a:srgbClr val="007000"/>
                </a:solidFill>
                <a:latin typeface="Courier New"/>
                <a:ea typeface="Courier New"/>
                <a:cs typeface="Courier New"/>
                <a:sym typeface="Courier New"/>
              </a:rPr>
              <a:t>// assignment init.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Circle baz {30.0};   </a:t>
            </a:r>
            <a:r>
              <a:rPr lang="en" sz="1200">
                <a:solidFill>
                  <a:srgbClr val="007000"/>
                </a:solidFill>
                <a:latin typeface="Courier New"/>
                <a:ea typeface="Courier New"/>
                <a:cs typeface="Courier New"/>
                <a:sym typeface="Courier New"/>
              </a:rPr>
              <a:t>// uniform init.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Circle qux = {40.0}; </a:t>
            </a:r>
            <a:r>
              <a:rPr lang="en" sz="1200">
                <a:solidFill>
                  <a:srgbClr val="007000"/>
                </a:solidFill>
                <a:latin typeface="Courier New"/>
                <a:ea typeface="Courier New"/>
                <a:cs typeface="Courier New"/>
                <a:sym typeface="Courier New"/>
              </a:rPr>
              <a:t>// POD-like</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cout &lt;&lt; </a:t>
            </a:r>
            <a:r>
              <a:rPr lang="en" sz="1200">
                <a:solidFill>
                  <a:srgbClr val="600030"/>
                </a:solidFill>
                <a:latin typeface="Courier New"/>
                <a:ea typeface="Courier New"/>
                <a:cs typeface="Courier New"/>
                <a:sym typeface="Courier New"/>
              </a:rPr>
              <a:t>"foo's circumference: "</a:t>
            </a:r>
            <a:r>
              <a:rPr lang="en" sz="1200">
                <a:solidFill>
                  <a:schemeClr val="dk1"/>
                </a:solidFill>
                <a:latin typeface="Courier New"/>
                <a:ea typeface="Courier New"/>
                <a:cs typeface="Courier New"/>
                <a:sym typeface="Courier New"/>
              </a:rPr>
              <a:t> &lt;&lt; foo.circum() &lt;&lt; </a:t>
            </a:r>
            <a:r>
              <a:rPr lang="en" sz="1200">
                <a:solidFill>
                  <a:srgbClr val="600030"/>
                </a:solidFill>
                <a:latin typeface="Courier New"/>
                <a:ea typeface="Courier New"/>
                <a:cs typeface="Courier New"/>
                <a:sym typeface="Courier New"/>
              </a:rPr>
              <a:t>'\n'</a:t>
            </a:r>
            <a:r>
              <a:rPr lang="en"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a:t>
            </a:r>
            <a:r>
              <a:rPr lang="en" sz="1200">
                <a:solidFill>
                  <a:srgbClr val="0000B0"/>
                </a:solidFill>
                <a:latin typeface="Courier New"/>
                <a:ea typeface="Courier New"/>
                <a:cs typeface="Courier New"/>
                <a:sym typeface="Courier New"/>
              </a:rPr>
              <a:t>return</a:t>
            </a:r>
            <a:r>
              <a:rPr lang="en" sz="1200">
                <a:solidFill>
                  <a:schemeClr val="dk1"/>
                </a:solidFill>
                <a:latin typeface="Courier New"/>
                <a:ea typeface="Courier New"/>
                <a:cs typeface="Courier New"/>
                <a:sym typeface="Courier New"/>
              </a:rPr>
              <a:t> 0;</a:t>
            </a:r>
            <a:endParaRPr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p:txBody>
      </p:sp>
      <p:sp>
        <p:nvSpPr>
          <p:cNvPr id="1029" name="Google Shape;1029;g283038813be_0_73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g283038813be_0_7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2000">
                <a:solidFill>
                  <a:srgbClr val="FF9900"/>
                </a:solidFill>
              </a:rPr>
              <a:t>Constructor: </a:t>
            </a:r>
            <a:r>
              <a:rPr b="1" lang="en" sz="2000">
                <a:solidFill>
                  <a:srgbClr val="FF9900"/>
                </a:solidFill>
                <a:latin typeface="Courier New"/>
                <a:ea typeface="Courier New"/>
                <a:cs typeface="Courier New"/>
                <a:sym typeface="Courier New"/>
              </a:rPr>
              <a:t>uniform initialization</a:t>
            </a:r>
            <a:endParaRPr b="1" sz="2000">
              <a:solidFill>
                <a:srgbClr val="FF9900"/>
              </a:solidFill>
            </a:endParaRPr>
          </a:p>
          <a:p>
            <a:pPr indent="0" lvl="0" marL="0" rtl="0" algn="l">
              <a:spcBef>
                <a:spcPts val="0"/>
              </a:spcBef>
              <a:spcAft>
                <a:spcPts val="0"/>
              </a:spcAft>
              <a:buNone/>
            </a:pPr>
            <a:r>
              <a:t/>
            </a:r>
            <a:endParaRPr/>
          </a:p>
        </p:txBody>
      </p:sp>
      <p:sp>
        <p:nvSpPr>
          <p:cNvPr id="1035" name="Google Shape;1035;g283038813be_0_7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highlight>
                  <a:srgbClr val="FFFFFF"/>
                </a:highlight>
                <a:latin typeface="Roboto"/>
                <a:ea typeface="Roboto"/>
                <a:cs typeface="Roboto"/>
                <a:sym typeface="Roboto"/>
              </a:rPr>
              <a:t>An advantage of uniform initialization over functional form is that, unlike parentheses, braces cannot be confused with function declarations, and thus can be used to explicitly call default constructors:</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Rectangle rectb;   </a:t>
            </a:r>
            <a:r>
              <a:rPr lang="en" sz="1200">
                <a:solidFill>
                  <a:srgbClr val="007000"/>
                </a:solidFill>
                <a:latin typeface="Courier New"/>
                <a:ea typeface="Courier New"/>
                <a:cs typeface="Courier New"/>
                <a:sym typeface="Courier New"/>
              </a:rPr>
              <a:t>// default constructor called</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Rectangle rectc(); </a:t>
            </a:r>
            <a:r>
              <a:rPr lang="en" sz="1200">
                <a:solidFill>
                  <a:srgbClr val="007000"/>
                </a:solidFill>
                <a:latin typeface="Courier New"/>
                <a:ea typeface="Courier New"/>
                <a:cs typeface="Courier New"/>
                <a:sym typeface="Courier New"/>
              </a:rPr>
              <a:t>// function declaration (default constructor NOT called)</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Rectangle rectd{}; </a:t>
            </a:r>
            <a:r>
              <a:rPr lang="en" sz="1200">
                <a:solidFill>
                  <a:srgbClr val="007000"/>
                </a:solidFill>
                <a:latin typeface="Courier New"/>
                <a:ea typeface="Courier New"/>
                <a:cs typeface="Courier New"/>
                <a:sym typeface="Courier New"/>
              </a:rPr>
              <a:t>// default constructor called</a:t>
            </a:r>
            <a:endParaRPr sz="1200">
              <a:solidFill>
                <a:srgbClr val="007000"/>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007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500">
              <a:solidFill>
                <a:srgbClr val="007000"/>
              </a:solidFill>
              <a:latin typeface="Courier New"/>
              <a:ea typeface="Courier New"/>
              <a:cs typeface="Courier New"/>
              <a:sym typeface="Courier New"/>
            </a:endParaRPr>
          </a:p>
          <a:p>
            <a:pPr indent="0" lvl="0" marL="0" rtl="0" algn="l">
              <a:spcBef>
                <a:spcPts val="0"/>
              </a:spcBef>
              <a:spcAft>
                <a:spcPts val="0"/>
              </a:spcAft>
              <a:buNone/>
            </a:pPr>
            <a:r>
              <a:rPr lang="en" sz="1500">
                <a:solidFill>
                  <a:schemeClr val="dk1"/>
                </a:solidFill>
                <a:highlight>
                  <a:srgbClr val="FFFFFF"/>
                </a:highlight>
                <a:latin typeface="Roboto"/>
                <a:ea typeface="Roboto"/>
                <a:cs typeface="Roboto"/>
                <a:sym typeface="Roboto"/>
              </a:rPr>
              <a:t>The choice of syntax to call constructors is largely a matter of style. Most existing code currently uses functional form, and some newer style guides suggest to choose uniform initialization over the others</a:t>
            </a:r>
            <a:endParaRPr sz="1500"/>
          </a:p>
        </p:txBody>
      </p:sp>
      <p:sp>
        <p:nvSpPr>
          <p:cNvPr id="1036" name="Google Shape;1036;g283038813be_0_73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g283038813be_0_74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rgbClr val="FF9900"/>
                </a:solidFill>
                <a:highlight>
                  <a:srgbClr val="FFFFFF"/>
                </a:highlight>
                <a:latin typeface="Roboto"/>
                <a:ea typeface="Roboto"/>
                <a:cs typeface="Roboto"/>
                <a:sym typeface="Roboto"/>
              </a:rPr>
              <a:t>Member initialization in constructors</a:t>
            </a:r>
            <a:endParaRPr b="1" sz="1800">
              <a:solidFill>
                <a:srgbClr val="FF9900"/>
              </a:solidFill>
              <a:highlight>
                <a:srgbClr val="FFFFFF"/>
              </a:highlight>
              <a:latin typeface="Roboto"/>
              <a:ea typeface="Roboto"/>
              <a:cs typeface="Roboto"/>
              <a:sym typeface="Roboto"/>
            </a:endParaRPr>
          </a:p>
          <a:p>
            <a:pPr indent="0" lvl="0" marL="0" rtl="0" algn="l">
              <a:spcBef>
                <a:spcPts val="400"/>
              </a:spcBef>
              <a:spcAft>
                <a:spcPts val="0"/>
              </a:spcAft>
              <a:buNone/>
            </a:pPr>
            <a:r>
              <a:t/>
            </a:r>
            <a:endParaRPr>
              <a:solidFill>
                <a:srgbClr val="FF9900"/>
              </a:solidFill>
            </a:endParaRPr>
          </a:p>
        </p:txBody>
      </p:sp>
      <p:sp>
        <p:nvSpPr>
          <p:cNvPr id="1042" name="Google Shape;1042;g283038813be_0_744"/>
          <p:cNvSpPr txBox="1"/>
          <p:nvPr>
            <p:ph idx="1" type="body"/>
          </p:nvPr>
        </p:nvSpPr>
        <p:spPr>
          <a:xfrm>
            <a:off x="311700" y="438200"/>
            <a:ext cx="8520600" cy="449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highlight>
                  <a:srgbClr val="FFFFFF"/>
                </a:highlight>
                <a:latin typeface="Roboto"/>
                <a:ea typeface="Roboto"/>
                <a:cs typeface="Roboto"/>
                <a:sym typeface="Roboto"/>
              </a:rPr>
              <a:t>When a constructor is used to initialize other members, these other members can be initialized directly, without resorting to statements in its body. This is done by inserting, before the constructor's body, a colon (</a:t>
            </a:r>
            <a:r>
              <a:rPr lang="en" sz="1100">
                <a:solidFill>
                  <a:schemeClr val="dk1"/>
                </a:solidFill>
                <a:highlight>
                  <a:srgbClr val="FFFFFF"/>
                </a:highlight>
                <a:latin typeface="Courier New"/>
                <a:ea typeface="Courier New"/>
                <a:cs typeface="Courier New"/>
                <a:sym typeface="Courier New"/>
              </a:rPr>
              <a:t>:</a:t>
            </a:r>
            <a:r>
              <a:rPr lang="en" sz="1100">
                <a:solidFill>
                  <a:schemeClr val="dk1"/>
                </a:solidFill>
                <a:highlight>
                  <a:srgbClr val="FFFFFF"/>
                </a:highlight>
                <a:latin typeface="Roboto"/>
                <a:ea typeface="Roboto"/>
                <a:cs typeface="Roboto"/>
                <a:sym typeface="Roboto"/>
              </a:rPr>
              <a:t>) and a list of initializations for class members. For example, consider a class with the following declaration:</a:t>
            </a:r>
            <a:endParaRPr sz="11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0000B0"/>
                </a:solidFill>
                <a:latin typeface="Courier New"/>
                <a:ea typeface="Courier New"/>
                <a:cs typeface="Courier New"/>
                <a:sym typeface="Courier New"/>
              </a:rPr>
              <a:t>class</a:t>
            </a:r>
            <a:r>
              <a:rPr lang="en" sz="1200">
                <a:solidFill>
                  <a:schemeClr val="dk1"/>
                </a:solidFill>
                <a:latin typeface="Courier New"/>
                <a:ea typeface="Courier New"/>
                <a:cs typeface="Courier New"/>
                <a:sym typeface="Courier New"/>
              </a:rPr>
              <a:t> Rectangle {</a:t>
            </a:r>
            <a:endParaRPr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200">
                <a:solidFill>
                  <a:schemeClr val="dk1"/>
                </a:solidFill>
                <a:latin typeface="Courier New"/>
                <a:ea typeface="Courier New"/>
                <a:cs typeface="Courier New"/>
                <a:sym typeface="Courier New"/>
              </a:rPr>
              <a:t>    </a:t>
            </a:r>
            <a:r>
              <a:rPr lang="en" sz="1200">
                <a:solidFill>
                  <a:srgbClr val="0000B0"/>
                </a:solidFill>
                <a:latin typeface="Courier New"/>
                <a:ea typeface="Courier New"/>
                <a:cs typeface="Courier New"/>
                <a:sym typeface="Courier New"/>
              </a:rPr>
              <a:t>int</a:t>
            </a:r>
            <a:r>
              <a:rPr lang="en" sz="1200">
                <a:solidFill>
                  <a:schemeClr val="dk1"/>
                </a:solidFill>
                <a:latin typeface="Courier New"/>
                <a:ea typeface="Courier New"/>
                <a:cs typeface="Courier New"/>
                <a:sym typeface="Courier New"/>
              </a:rPr>
              <a:t> width,height;</a:t>
            </a:r>
            <a:endParaRPr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200">
                <a:solidFill>
                  <a:schemeClr val="dk1"/>
                </a:solidFill>
                <a:latin typeface="Courier New"/>
                <a:ea typeface="Courier New"/>
                <a:cs typeface="Courier New"/>
                <a:sym typeface="Courier New"/>
              </a:rPr>
              <a:t>  </a:t>
            </a:r>
            <a:r>
              <a:rPr lang="en" sz="1200">
                <a:solidFill>
                  <a:srgbClr val="0000B0"/>
                </a:solidFill>
                <a:latin typeface="Courier New"/>
                <a:ea typeface="Courier New"/>
                <a:cs typeface="Courier New"/>
                <a:sym typeface="Courier New"/>
              </a:rPr>
              <a:t>public</a:t>
            </a:r>
            <a:r>
              <a:rPr lang="en"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200">
                <a:solidFill>
                  <a:schemeClr val="dk1"/>
                </a:solidFill>
                <a:latin typeface="Courier New"/>
                <a:ea typeface="Courier New"/>
                <a:cs typeface="Courier New"/>
                <a:sym typeface="Courier New"/>
              </a:rPr>
              <a:t>    Rectangle(</a:t>
            </a:r>
            <a:r>
              <a:rPr lang="en" sz="1200">
                <a:solidFill>
                  <a:srgbClr val="0000B0"/>
                </a:solidFill>
                <a:latin typeface="Courier New"/>
                <a:ea typeface="Courier New"/>
                <a:cs typeface="Courier New"/>
                <a:sym typeface="Courier New"/>
              </a:rPr>
              <a:t>int</a:t>
            </a:r>
            <a:r>
              <a:rPr lang="en" sz="1200">
                <a:solidFill>
                  <a:schemeClr val="dk1"/>
                </a:solidFill>
                <a:latin typeface="Courier New"/>
                <a:ea typeface="Courier New"/>
                <a:cs typeface="Courier New"/>
                <a:sym typeface="Courier New"/>
              </a:rPr>
              <a:t>,</a:t>
            </a:r>
            <a:r>
              <a:rPr lang="en" sz="1200">
                <a:solidFill>
                  <a:srgbClr val="0000B0"/>
                </a:solidFill>
                <a:latin typeface="Courier New"/>
                <a:ea typeface="Courier New"/>
                <a:cs typeface="Courier New"/>
                <a:sym typeface="Courier New"/>
              </a:rPr>
              <a:t>int</a:t>
            </a:r>
            <a:r>
              <a:rPr lang="en"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200">
                <a:solidFill>
                  <a:schemeClr val="dk1"/>
                </a:solidFill>
                <a:latin typeface="Courier New"/>
                <a:ea typeface="Courier New"/>
                <a:cs typeface="Courier New"/>
                <a:sym typeface="Courier New"/>
              </a:rPr>
              <a:t>    </a:t>
            </a:r>
            <a:r>
              <a:rPr lang="en" sz="1200">
                <a:solidFill>
                  <a:srgbClr val="0000B0"/>
                </a:solidFill>
                <a:latin typeface="Courier New"/>
                <a:ea typeface="Courier New"/>
                <a:cs typeface="Courier New"/>
                <a:sym typeface="Courier New"/>
              </a:rPr>
              <a:t>int</a:t>
            </a:r>
            <a:r>
              <a:rPr lang="en" sz="1200">
                <a:solidFill>
                  <a:schemeClr val="dk1"/>
                </a:solidFill>
                <a:latin typeface="Courier New"/>
                <a:ea typeface="Courier New"/>
                <a:cs typeface="Courier New"/>
                <a:sym typeface="Courier New"/>
              </a:rPr>
              <a:t> area() {</a:t>
            </a:r>
            <a:r>
              <a:rPr lang="en" sz="1200">
                <a:solidFill>
                  <a:srgbClr val="0000B0"/>
                </a:solidFill>
                <a:latin typeface="Courier New"/>
                <a:ea typeface="Courier New"/>
                <a:cs typeface="Courier New"/>
                <a:sym typeface="Courier New"/>
              </a:rPr>
              <a:t>return</a:t>
            </a:r>
            <a:r>
              <a:rPr lang="en" sz="1200">
                <a:solidFill>
                  <a:schemeClr val="dk1"/>
                </a:solidFill>
                <a:latin typeface="Courier New"/>
                <a:ea typeface="Courier New"/>
                <a:cs typeface="Courier New"/>
                <a:sym typeface="Courier New"/>
              </a:rPr>
              <a:t> width*height;}</a:t>
            </a:r>
            <a:endParaRPr sz="12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10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rPr lang="en" sz="1100">
                <a:solidFill>
                  <a:schemeClr val="dk1"/>
                </a:solidFill>
                <a:highlight>
                  <a:srgbClr val="FFFFFF"/>
                </a:highlight>
                <a:latin typeface="Roboto"/>
                <a:ea typeface="Roboto"/>
                <a:cs typeface="Roboto"/>
                <a:sym typeface="Roboto"/>
              </a:rPr>
              <a:t>The constructor for this class could be defined, as usual, as</a:t>
            </a:r>
            <a:endParaRPr sz="110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000000"/>
                </a:solidFill>
                <a:highlight>
                  <a:srgbClr val="FFFFFF"/>
                </a:highlight>
                <a:latin typeface="Courier New"/>
                <a:ea typeface="Courier New"/>
                <a:cs typeface="Courier New"/>
                <a:sym typeface="Courier New"/>
              </a:rPr>
              <a:t>Rectangle::Rectangle (</a:t>
            </a:r>
            <a:r>
              <a:rPr lang="en" sz="1200">
                <a:solidFill>
                  <a:srgbClr val="0000B0"/>
                </a:solidFill>
                <a:highlight>
                  <a:srgbClr val="FFFFFF"/>
                </a:highlight>
                <a:latin typeface="Courier New"/>
                <a:ea typeface="Courier New"/>
                <a:cs typeface="Courier New"/>
                <a:sym typeface="Courier New"/>
              </a:rPr>
              <a:t>int</a:t>
            </a:r>
            <a:r>
              <a:rPr lang="en" sz="1200">
                <a:solidFill>
                  <a:srgbClr val="000000"/>
                </a:solidFill>
                <a:highlight>
                  <a:srgbClr val="FFFFFF"/>
                </a:highlight>
                <a:latin typeface="Courier New"/>
                <a:ea typeface="Courier New"/>
                <a:cs typeface="Courier New"/>
                <a:sym typeface="Courier New"/>
              </a:rPr>
              <a:t> x, </a:t>
            </a:r>
            <a:r>
              <a:rPr lang="en" sz="1200">
                <a:solidFill>
                  <a:srgbClr val="0000B0"/>
                </a:solidFill>
                <a:highlight>
                  <a:srgbClr val="FFFFFF"/>
                </a:highlight>
                <a:latin typeface="Courier New"/>
                <a:ea typeface="Courier New"/>
                <a:cs typeface="Courier New"/>
                <a:sym typeface="Courier New"/>
              </a:rPr>
              <a:t>int</a:t>
            </a:r>
            <a:r>
              <a:rPr lang="en" sz="1200">
                <a:solidFill>
                  <a:srgbClr val="000000"/>
                </a:solidFill>
                <a:highlight>
                  <a:srgbClr val="FFFFFF"/>
                </a:highlight>
                <a:latin typeface="Courier New"/>
                <a:ea typeface="Courier New"/>
                <a:cs typeface="Courier New"/>
                <a:sym typeface="Courier New"/>
              </a:rPr>
              <a:t> y) { width=x; height=y; }</a:t>
            </a:r>
            <a:endParaRPr b="1" sz="1200">
              <a:solidFill>
                <a:srgbClr val="000000"/>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200">
                <a:solidFill>
                  <a:srgbClr val="000000"/>
                </a:solidFill>
                <a:highlight>
                  <a:srgbClr val="FFFFFF"/>
                </a:highlight>
                <a:latin typeface="Courier New"/>
                <a:ea typeface="Courier New"/>
                <a:cs typeface="Courier New"/>
                <a:sym typeface="Courier New"/>
              </a:rPr>
              <a:t>or</a:t>
            </a:r>
            <a:endParaRPr b="1" sz="1200">
              <a:solidFill>
                <a:srgbClr val="000000"/>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200">
              <a:solidFill>
                <a:srgbClr val="000000"/>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Rectangle::Rectangle (</a:t>
            </a:r>
            <a:r>
              <a:rPr lang="en" sz="1200">
                <a:solidFill>
                  <a:srgbClr val="0000B0"/>
                </a:solidFill>
                <a:latin typeface="Courier New"/>
                <a:ea typeface="Courier New"/>
                <a:cs typeface="Courier New"/>
                <a:sym typeface="Courier New"/>
              </a:rPr>
              <a:t>int</a:t>
            </a:r>
            <a:r>
              <a:rPr lang="en" sz="1200">
                <a:solidFill>
                  <a:schemeClr val="dk1"/>
                </a:solidFill>
                <a:latin typeface="Courier New"/>
                <a:ea typeface="Courier New"/>
                <a:cs typeface="Courier New"/>
                <a:sym typeface="Courier New"/>
              </a:rPr>
              <a:t> x, </a:t>
            </a:r>
            <a:r>
              <a:rPr lang="en" sz="1200">
                <a:solidFill>
                  <a:srgbClr val="0000B0"/>
                </a:solidFill>
                <a:latin typeface="Courier New"/>
                <a:ea typeface="Courier New"/>
                <a:cs typeface="Courier New"/>
                <a:sym typeface="Courier New"/>
              </a:rPr>
              <a:t>int</a:t>
            </a:r>
            <a:r>
              <a:rPr lang="en" sz="1200">
                <a:solidFill>
                  <a:schemeClr val="dk1"/>
                </a:solidFill>
                <a:latin typeface="Courier New"/>
                <a:ea typeface="Courier New"/>
                <a:cs typeface="Courier New"/>
                <a:sym typeface="Courier New"/>
              </a:rPr>
              <a:t> y) : width(x), height(y) {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Or</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Rectangle::Rectangle (</a:t>
            </a:r>
            <a:r>
              <a:rPr lang="en" sz="1200">
                <a:solidFill>
                  <a:srgbClr val="0000B0"/>
                </a:solidFill>
                <a:latin typeface="Courier New"/>
                <a:ea typeface="Courier New"/>
                <a:cs typeface="Courier New"/>
                <a:sym typeface="Courier New"/>
              </a:rPr>
              <a:t>int</a:t>
            </a:r>
            <a:r>
              <a:rPr lang="en" sz="1200">
                <a:solidFill>
                  <a:schemeClr val="dk1"/>
                </a:solidFill>
                <a:latin typeface="Courier New"/>
                <a:ea typeface="Courier New"/>
                <a:cs typeface="Courier New"/>
                <a:sym typeface="Courier New"/>
              </a:rPr>
              <a:t> x, </a:t>
            </a:r>
            <a:r>
              <a:rPr lang="en" sz="1200">
                <a:solidFill>
                  <a:srgbClr val="0000B0"/>
                </a:solidFill>
                <a:latin typeface="Courier New"/>
                <a:ea typeface="Courier New"/>
                <a:cs typeface="Courier New"/>
                <a:sym typeface="Courier New"/>
              </a:rPr>
              <a:t>int</a:t>
            </a:r>
            <a:r>
              <a:rPr lang="en" sz="1200">
                <a:solidFill>
                  <a:schemeClr val="dk1"/>
                </a:solidFill>
                <a:latin typeface="Courier New"/>
                <a:ea typeface="Courier New"/>
                <a:cs typeface="Courier New"/>
                <a:sym typeface="Courier New"/>
              </a:rPr>
              <a:t> y) : width(x) { height=y; }</a:t>
            </a:r>
            <a:endParaRPr sz="1100">
              <a:solidFill>
                <a:schemeClr val="dk1"/>
              </a:solidFill>
              <a:highlight>
                <a:srgbClr val="FFFFFF"/>
              </a:highlight>
              <a:latin typeface="Roboto"/>
              <a:ea typeface="Roboto"/>
              <a:cs typeface="Roboto"/>
              <a:sym typeface="Roboto"/>
            </a:endParaRPr>
          </a:p>
        </p:txBody>
      </p:sp>
      <p:sp>
        <p:nvSpPr>
          <p:cNvPr id="1043" name="Google Shape;1043;g283038813be_0_744"/>
          <p:cNvSpPr txBox="1"/>
          <p:nvPr/>
        </p:nvSpPr>
        <p:spPr>
          <a:xfrm>
            <a:off x="6075200" y="1241525"/>
            <a:ext cx="30000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highlight>
                  <a:srgbClr val="FFFFFF"/>
                </a:highlight>
                <a:latin typeface="Roboto"/>
                <a:ea typeface="Roboto"/>
                <a:cs typeface="Roboto"/>
                <a:sym typeface="Roboto"/>
              </a:rPr>
              <a:t>Note how in this last case, the constructor does nothing else than initialize its members, hence it has an empty function body.</a:t>
            </a:r>
            <a:endParaRPr>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highlight>
                  <a:srgbClr val="FFFFFF"/>
                </a:highlight>
                <a:latin typeface="Roboto"/>
                <a:ea typeface="Roboto"/>
                <a:cs typeface="Roboto"/>
                <a:sym typeface="Roboto"/>
              </a:rPr>
              <a:t>For members of fundamental types, it makes no difference which of the ways above the constructor is defined, because they are not initialized by default, but for member objects (those whose type is a class), if they are not initialized after the colon, they are default-constructed.</a:t>
            </a:r>
            <a:endParaRPr>
              <a:solidFill>
                <a:schemeClr val="dk1"/>
              </a:solidFill>
              <a:highlight>
                <a:srgbClr val="FFFFFF"/>
              </a:highlight>
              <a:latin typeface="Roboto"/>
              <a:ea typeface="Roboto"/>
              <a:cs typeface="Roboto"/>
              <a:sym typeface="Roboto"/>
            </a:endParaRPr>
          </a:p>
        </p:txBody>
      </p:sp>
      <p:sp>
        <p:nvSpPr>
          <p:cNvPr id="1044" name="Google Shape;1044;g283038813be_0_74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g283038813be_0_750"/>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rgbClr val="FF9900"/>
                </a:solidFill>
                <a:highlight>
                  <a:srgbClr val="FFFFFF"/>
                </a:highlight>
                <a:latin typeface="Roboto"/>
                <a:ea typeface="Roboto"/>
                <a:cs typeface="Roboto"/>
                <a:sym typeface="Roboto"/>
              </a:rPr>
              <a:t>Member initialization in constructors</a:t>
            </a:r>
            <a:endParaRPr b="1" sz="1800">
              <a:solidFill>
                <a:srgbClr val="FF9900"/>
              </a:solidFill>
              <a:highlight>
                <a:srgbClr val="FFFFFF"/>
              </a:highlight>
              <a:latin typeface="Roboto"/>
              <a:ea typeface="Roboto"/>
              <a:cs typeface="Roboto"/>
              <a:sym typeface="Roboto"/>
            </a:endParaRPr>
          </a:p>
          <a:p>
            <a:pPr indent="0" lvl="0" marL="0" rtl="0" algn="l">
              <a:spcBef>
                <a:spcPts val="400"/>
              </a:spcBef>
              <a:spcAft>
                <a:spcPts val="0"/>
              </a:spcAft>
              <a:buClr>
                <a:schemeClr val="dk1"/>
              </a:buClr>
              <a:buSzPts val="1100"/>
              <a:buFont typeface="Arial"/>
              <a:buNone/>
            </a:pPr>
            <a:r>
              <a:t/>
            </a:r>
            <a:endParaRPr>
              <a:solidFill>
                <a:srgbClr val="FF9900"/>
              </a:solidFill>
            </a:endParaRPr>
          </a:p>
          <a:p>
            <a:pPr indent="0" lvl="0" marL="0" rtl="0" algn="l">
              <a:spcBef>
                <a:spcPts val="0"/>
              </a:spcBef>
              <a:spcAft>
                <a:spcPts val="0"/>
              </a:spcAft>
              <a:buNone/>
            </a:pPr>
            <a:r>
              <a:t/>
            </a:r>
            <a:endParaRPr/>
          </a:p>
        </p:txBody>
      </p:sp>
      <p:sp>
        <p:nvSpPr>
          <p:cNvPr id="1050" name="Google Shape;1050;g283038813be_0_750"/>
          <p:cNvSpPr txBox="1"/>
          <p:nvPr>
            <p:ph idx="1" type="body"/>
          </p:nvPr>
        </p:nvSpPr>
        <p:spPr>
          <a:xfrm>
            <a:off x="311700" y="834650"/>
            <a:ext cx="3318900" cy="418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highlight>
                  <a:srgbClr val="FFFFFF"/>
                </a:highlight>
                <a:latin typeface="Roboto"/>
                <a:ea typeface="Roboto"/>
                <a:cs typeface="Roboto"/>
                <a:sym typeface="Roboto"/>
              </a:rPr>
              <a:t>Default-constructing all members of a class may or may always not be convenient: in some cases, this is a waste (when the member is then reinitialized otherwise in the constructor), but in some other cases, default-construction is not even possible (when the class does not have a default constructor). In these cases, members shall be initialized in the member initialization list. For example:</a:t>
            </a:r>
            <a:endParaRPr sz="2200"/>
          </a:p>
        </p:txBody>
      </p:sp>
      <p:sp>
        <p:nvSpPr>
          <p:cNvPr id="1051" name="Google Shape;1051;g283038813be_0_750"/>
          <p:cNvSpPr txBox="1"/>
          <p:nvPr/>
        </p:nvSpPr>
        <p:spPr>
          <a:xfrm>
            <a:off x="3820750" y="518875"/>
            <a:ext cx="4703100" cy="403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007000"/>
                </a:solidFill>
                <a:latin typeface="Courier New"/>
                <a:ea typeface="Courier New"/>
                <a:cs typeface="Courier New"/>
                <a:sym typeface="Courier New"/>
              </a:rPr>
              <a:t>// member initialization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rgbClr val="500070"/>
                </a:solidFill>
                <a:latin typeface="Courier New"/>
                <a:ea typeface="Courier New"/>
                <a:cs typeface="Courier New"/>
                <a:sym typeface="Courier New"/>
              </a:rPr>
              <a:t>#include &lt;iostream&gt;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rgbClr val="0000B0"/>
                </a:solidFill>
                <a:latin typeface="Courier New"/>
                <a:ea typeface="Courier New"/>
                <a:cs typeface="Courier New"/>
                <a:sym typeface="Courier New"/>
              </a:rPr>
              <a:t>using</a:t>
            </a: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namespace</a:t>
            </a:r>
            <a:r>
              <a:rPr lang="en" sz="1000">
                <a:solidFill>
                  <a:schemeClr val="dk1"/>
                </a:solidFill>
                <a:latin typeface="Courier New"/>
                <a:ea typeface="Courier New"/>
                <a:cs typeface="Courier New"/>
                <a:sym typeface="Courier New"/>
              </a:rPr>
              <a:t> std;</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rgbClr val="0000B0"/>
                </a:solidFill>
                <a:latin typeface="Courier New"/>
                <a:ea typeface="Courier New"/>
                <a:cs typeface="Courier New"/>
                <a:sym typeface="Courier New"/>
              </a:rPr>
              <a:t>class</a:t>
            </a:r>
            <a:r>
              <a:rPr lang="en" sz="1000">
                <a:solidFill>
                  <a:schemeClr val="dk1"/>
                </a:solidFill>
                <a:latin typeface="Courier New"/>
                <a:ea typeface="Courier New"/>
                <a:cs typeface="Courier New"/>
                <a:sym typeface="Courier New"/>
              </a:rPr>
              <a:t> Circle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double</a:t>
            </a:r>
            <a:r>
              <a:rPr lang="en" sz="1000">
                <a:solidFill>
                  <a:schemeClr val="dk1"/>
                </a:solidFill>
                <a:latin typeface="Courier New"/>
                <a:ea typeface="Courier New"/>
                <a:cs typeface="Courier New"/>
                <a:sym typeface="Courier New"/>
              </a:rPr>
              <a:t> radius;</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public</a:t>
            </a: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Circle(</a:t>
            </a:r>
            <a:r>
              <a:rPr lang="en" sz="1000">
                <a:solidFill>
                  <a:srgbClr val="0000B0"/>
                </a:solidFill>
                <a:latin typeface="Courier New"/>
                <a:ea typeface="Courier New"/>
                <a:cs typeface="Courier New"/>
                <a:sym typeface="Courier New"/>
              </a:rPr>
              <a:t>double</a:t>
            </a:r>
            <a:r>
              <a:rPr lang="en" sz="1000">
                <a:solidFill>
                  <a:schemeClr val="dk1"/>
                </a:solidFill>
                <a:latin typeface="Courier New"/>
                <a:ea typeface="Courier New"/>
                <a:cs typeface="Courier New"/>
                <a:sym typeface="Courier New"/>
              </a:rPr>
              <a:t> r) : radius(r) {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double</a:t>
            </a:r>
            <a:r>
              <a:rPr lang="en" sz="1000">
                <a:solidFill>
                  <a:schemeClr val="dk1"/>
                </a:solidFill>
                <a:latin typeface="Courier New"/>
                <a:ea typeface="Courier New"/>
                <a:cs typeface="Courier New"/>
                <a:sym typeface="Courier New"/>
              </a:rPr>
              <a:t> area() {</a:t>
            </a:r>
            <a:r>
              <a:rPr lang="en" sz="1000">
                <a:solidFill>
                  <a:srgbClr val="0000B0"/>
                </a:solidFill>
                <a:latin typeface="Courier New"/>
                <a:ea typeface="Courier New"/>
                <a:cs typeface="Courier New"/>
                <a:sym typeface="Courier New"/>
              </a:rPr>
              <a:t>return</a:t>
            </a:r>
            <a:r>
              <a:rPr lang="en" sz="1000">
                <a:solidFill>
                  <a:schemeClr val="dk1"/>
                </a:solidFill>
                <a:latin typeface="Courier New"/>
                <a:ea typeface="Courier New"/>
                <a:cs typeface="Courier New"/>
                <a:sym typeface="Courier New"/>
              </a:rPr>
              <a:t> radius*radius*3.14159265;}</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rgbClr val="0000B0"/>
                </a:solidFill>
                <a:latin typeface="Courier New"/>
                <a:ea typeface="Courier New"/>
                <a:cs typeface="Courier New"/>
                <a:sym typeface="Courier New"/>
              </a:rPr>
              <a:t>class</a:t>
            </a:r>
            <a:r>
              <a:rPr lang="en" sz="1000">
                <a:solidFill>
                  <a:schemeClr val="dk1"/>
                </a:solidFill>
                <a:latin typeface="Courier New"/>
                <a:ea typeface="Courier New"/>
                <a:cs typeface="Courier New"/>
                <a:sym typeface="Courier New"/>
              </a:rPr>
              <a:t> Cylinder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Circle base;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double</a:t>
            </a:r>
            <a:r>
              <a:rPr lang="en" sz="1000">
                <a:solidFill>
                  <a:schemeClr val="dk1"/>
                </a:solidFill>
                <a:latin typeface="Courier New"/>
                <a:ea typeface="Courier New"/>
                <a:cs typeface="Courier New"/>
                <a:sym typeface="Courier New"/>
              </a:rPr>
              <a:t> height;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public</a:t>
            </a: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Cylinder(</a:t>
            </a:r>
            <a:r>
              <a:rPr lang="en" sz="1000">
                <a:solidFill>
                  <a:srgbClr val="0000B0"/>
                </a:solidFill>
                <a:latin typeface="Courier New"/>
                <a:ea typeface="Courier New"/>
                <a:cs typeface="Courier New"/>
                <a:sym typeface="Courier New"/>
              </a:rPr>
              <a:t>double</a:t>
            </a:r>
            <a:r>
              <a:rPr lang="en" sz="1000">
                <a:solidFill>
                  <a:schemeClr val="dk1"/>
                </a:solidFill>
                <a:latin typeface="Courier New"/>
                <a:ea typeface="Courier New"/>
                <a:cs typeface="Courier New"/>
                <a:sym typeface="Courier New"/>
              </a:rPr>
              <a:t> r, </a:t>
            </a:r>
            <a:r>
              <a:rPr lang="en" sz="1000">
                <a:solidFill>
                  <a:srgbClr val="0000B0"/>
                </a:solidFill>
                <a:latin typeface="Courier New"/>
                <a:ea typeface="Courier New"/>
                <a:cs typeface="Courier New"/>
                <a:sym typeface="Courier New"/>
              </a:rPr>
              <a:t>double</a:t>
            </a:r>
            <a:r>
              <a:rPr lang="en" sz="1000">
                <a:solidFill>
                  <a:schemeClr val="dk1"/>
                </a:solidFill>
                <a:latin typeface="Courier New"/>
                <a:ea typeface="Courier New"/>
                <a:cs typeface="Courier New"/>
                <a:sym typeface="Courier New"/>
              </a:rPr>
              <a:t> h) : base (r), height(h)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double</a:t>
            </a:r>
            <a:r>
              <a:rPr lang="en" sz="1000">
                <a:solidFill>
                  <a:schemeClr val="dk1"/>
                </a:solidFill>
                <a:latin typeface="Courier New"/>
                <a:ea typeface="Courier New"/>
                <a:cs typeface="Courier New"/>
                <a:sym typeface="Courier New"/>
              </a:rPr>
              <a:t> volume() {</a:t>
            </a:r>
            <a:r>
              <a:rPr lang="en" sz="1000">
                <a:solidFill>
                  <a:srgbClr val="0000B0"/>
                </a:solidFill>
                <a:latin typeface="Courier New"/>
                <a:ea typeface="Courier New"/>
                <a:cs typeface="Courier New"/>
                <a:sym typeface="Courier New"/>
              </a:rPr>
              <a:t>return</a:t>
            </a:r>
            <a:r>
              <a:rPr lang="en" sz="1000">
                <a:solidFill>
                  <a:schemeClr val="dk1"/>
                </a:solidFill>
                <a:latin typeface="Courier New"/>
                <a:ea typeface="Courier New"/>
                <a:cs typeface="Courier New"/>
                <a:sym typeface="Courier New"/>
              </a:rPr>
              <a:t> base.area() * height;}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rgbClr val="0000B0"/>
                </a:solidFill>
                <a:latin typeface="Courier New"/>
                <a:ea typeface="Courier New"/>
                <a:cs typeface="Courier New"/>
                <a:sym typeface="Courier New"/>
              </a:rPr>
              <a:t>int</a:t>
            </a:r>
            <a:r>
              <a:rPr lang="en" sz="1000">
                <a:solidFill>
                  <a:schemeClr val="dk1"/>
                </a:solidFill>
                <a:latin typeface="Courier New"/>
                <a:ea typeface="Courier New"/>
                <a:cs typeface="Courier New"/>
                <a:sym typeface="Courier New"/>
              </a:rPr>
              <a:t> main ()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Cylinder foo (10,20);</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cout &lt;&lt; </a:t>
            </a:r>
            <a:r>
              <a:rPr lang="en" sz="1000">
                <a:solidFill>
                  <a:srgbClr val="600030"/>
                </a:solidFill>
                <a:latin typeface="Courier New"/>
                <a:ea typeface="Courier New"/>
                <a:cs typeface="Courier New"/>
                <a:sym typeface="Courier New"/>
              </a:rPr>
              <a:t>"foo's volume: "</a:t>
            </a:r>
            <a:r>
              <a:rPr lang="en" sz="1000">
                <a:solidFill>
                  <a:schemeClr val="dk1"/>
                </a:solidFill>
                <a:latin typeface="Courier New"/>
                <a:ea typeface="Courier New"/>
                <a:cs typeface="Courier New"/>
                <a:sym typeface="Courier New"/>
              </a:rPr>
              <a:t> &lt;&lt; foo.volume() &lt;&lt; </a:t>
            </a:r>
            <a:r>
              <a:rPr lang="en" sz="1000">
                <a:solidFill>
                  <a:srgbClr val="600030"/>
                </a:solidFill>
                <a:latin typeface="Courier New"/>
                <a:ea typeface="Courier New"/>
                <a:cs typeface="Courier New"/>
                <a:sym typeface="Courier New"/>
              </a:rPr>
              <a:t>'\n'</a:t>
            </a: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return</a:t>
            </a:r>
            <a:r>
              <a:rPr lang="en" sz="1000">
                <a:solidFill>
                  <a:schemeClr val="dk1"/>
                </a:solidFill>
                <a:latin typeface="Courier New"/>
                <a:ea typeface="Courier New"/>
                <a:cs typeface="Courier New"/>
                <a:sym typeface="Courier New"/>
              </a:rPr>
              <a:t> 0;</a:t>
            </a:r>
            <a:endParaRPr sz="10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p:txBody>
      </p:sp>
      <p:sp>
        <p:nvSpPr>
          <p:cNvPr id="1052" name="Google Shape;1052;g283038813be_0_750"/>
          <p:cNvSpPr txBox="1"/>
          <p:nvPr/>
        </p:nvSpPr>
        <p:spPr>
          <a:xfrm>
            <a:off x="5523850" y="4545600"/>
            <a:ext cx="3000000" cy="369300"/>
          </a:xfrm>
          <a:prstGeom prst="rect">
            <a:avLst/>
          </a:prstGeom>
          <a:solidFill>
            <a:srgbClr val="CCCCCC"/>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Courier New"/>
                <a:ea typeface="Courier New"/>
                <a:cs typeface="Courier New"/>
                <a:sym typeface="Courier New"/>
              </a:rPr>
              <a:t>foo's volume: 6283.19</a:t>
            </a:r>
            <a:endParaRPr sz="1200">
              <a:solidFill>
                <a:schemeClr val="dk1"/>
              </a:solidFill>
              <a:latin typeface="Courier New"/>
              <a:ea typeface="Courier New"/>
              <a:cs typeface="Courier New"/>
              <a:sym typeface="Courier New"/>
            </a:endParaRPr>
          </a:p>
        </p:txBody>
      </p:sp>
      <p:sp>
        <p:nvSpPr>
          <p:cNvPr id="1053" name="Google Shape;1053;g283038813be_0_75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g283038813be_0_757"/>
          <p:cNvSpPr txBox="1"/>
          <p:nvPr>
            <p:ph type="title"/>
          </p:nvPr>
        </p:nvSpPr>
        <p:spPr>
          <a:xfrm>
            <a:off x="311700" y="64025"/>
            <a:ext cx="3465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9900"/>
                </a:solidFill>
              </a:rPr>
              <a:t>Pointer to class</a:t>
            </a:r>
            <a:endParaRPr>
              <a:solidFill>
                <a:srgbClr val="FF9900"/>
              </a:solidFill>
            </a:endParaRPr>
          </a:p>
        </p:txBody>
      </p:sp>
      <p:sp>
        <p:nvSpPr>
          <p:cNvPr id="1059" name="Google Shape;1059;g283038813be_0_757"/>
          <p:cNvSpPr txBox="1"/>
          <p:nvPr>
            <p:ph idx="1" type="body"/>
          </p:nvPr>
        </p:nvSpPr>
        <p:spPr>
          <a:xfrm>
            <a:off x="311700" y="699025"/>
            <a:ext cx="3579900" cy="387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highlight>
                  <a:srgbClr val="FFFFFF"/>
                </a:highlight>
                <a:latin typeface="Roboto"/>
                <a:ea typeface="Roboto"/>
                <a:cs typeface="Roboto"/>
                <a:sym typeface="Roboto"/>
              </a:rPr>
              <a:t>Objects can also be pointed to by pointers: Once declared, a class becomes a valid type, so it can be used as the type pointed to by a pointer. For example:</a:t>
            </a:r>
            <a:endParaRPr sz="140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rPr lang="en" sz="1500">
                <a:solidFill>
                  <a:schemeClr val="dk1"/>
                </a:solidFill>
                <a:latin typeface="Courier New"/>
                <a:ea typeface="Courier New"/>
                <a:cs typeface="Courier New"/>
                <a:sym typeface="Courier New"/>
              </a:rPr>
              <a:t>Rectangle * prect;  </a:t>
            </a:r>
            <a:r>
              <a:rPr b="1" lang="en" sz="1500">
                <a:solidFill>
                  <a:schemeClr val="dk1"/>
                </a:solidFill>
                <a:latin typeface="Courier New"/>
                <a:ea typeface="Courier New"/>
                <a:cs typeface="Courier New"/>
                <a:sym typeface="Courier New"/>
              </a:rPr>
              <a:t>//</a:t>
            </a:r>
            <a:r>
              <a:rPr b="1" lang="en" sz="1400">
                <a:solidFill>
                  <a:schemeClr val="dk1"/>
                </a:solidFill>
                <a:highlight>
                  <a:srgbClr val="FFFFFF"/>
                </a:highlight>
                <a:latin typeface="Roboto"/>
                <a:ea typeface="Roboto"/>
                <a:cs typeface="Roboto"/>
                <a:sym typeface="Roboto"/>
              </a:rPr>
              <a:t>is a pointer to an object of class </a:t>
            </a:r>
            <a:r>
              <a:rPr b="1" lang="en" sz="1400">
                <a:solidFill>
                  <a:schemeClr val="dk1"/>
                </a:solidFill>
                <a:highlight>
                  <a:srgbClr val="FFFFFF"/>
                </a:highlight>
                <a:latin typeface="Courier New"/>
                <a:ea typeface="Courier New"/>
                <a:cs typeface="Courier New"/>
                <a:sym typeface="Courier New"/>
              </a:rPr>
              <a:t>Rectangle</a:t>
            </a:r>
            <a:r>
              <a:rPr b="1" lang="en" sz="1400">
                <a:solidFill>
                  <a:schemeClr val="dk1"/>
                </a:solidFill>
                <a:highlight>
                  <a:srgbClr val="FFFFFF"/>
                </a:highlight>
                <a:latin typeface="Roboto"/>
                <a:ea typeface="Roboto"/>
                <a:cs typeface="Roboto"/>
                <a:sym typeface="Roboto"/>
              </a:rPr>
              <a:t>.</a:t>
            </a:r>
            <a:endParaRPr b="1" sz="140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b="1" sz="140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rPr lang="en" sz="1400">
                <a:solidFill>
                  <a:schemeClr val="dk1"/>
                </a:solidFill>
                <a:highlight>
                  <a:srgbClr val="FFFFFF"/>
                </a:highlight>
                <a:latin typeface="Roboto"/>
                <a:ea typeface="Roboto"/>
                <a:cs typeface="Roboto"/>
                <a:sym typeface="Roboto"/>
              </a:rPr>
              <a:t>Similarly as with plain data structures, the members of an object can be accessed directly from a pointer by using the arrow operator (</a:t>
            </a:r>
            <a:r>
              <a:rPr lang="en" sz="1400">
                <a:solidFill>
                  <a:schemeClr val="dk1"/>
                </a:solidFill>
                <a:highlight>
                  <a:srgbClr val="FFFFFF"/>
                </a:highlight>
                <a:latin typeface="Courier New"/>
                <a:ea typeface="Courier New"/>
                <a:cs typeface="Courier New"/>
                <a:sym typeface="Courier New"/>
              </a:rPr>
              <a:t>-&gt;</a:t>
            </a:r>
            <a:r>
              <a:rPr lang="en" sz="1400">
                <a:solidFill>
                  <a:schemeClr val="dk1"/>
                </a:solidFill>
                <a:highlight>
                  <a:srgbClr val="FFFFFF"/>
                </a:highlight>
                <a:latin typeface="Roboto"/>
                <a:ea typeface="Roboto"/>
                <a:cs typeface="Roboto"/>
                <a:sym typeface="Roboto"/>
              </a:rPr>
              <a:t>). Here is an example with some possible combinations:</a:t>
            </a:r>
            <a:endParaRPr sz="1400">
              <a:solidFill>
                <a:schemeClr val="dk1"/>
              </a:solidFill>
              <a:highlight>
                <a:srgbClr val="FFFFFF"/>
              </a:highlight>
              <a:latin typeface="Roboto"/>
              <a:ea typeface="Roboto"/>
              <a:cs typeface="Roboto"/>
              <a:sym typeface="Roboto"/>
            </a:endParaRPr>
          </a:p>
        </p:txBody>
      </p:sp>
      <p:sp>
        <p:nvSpPr>
          <p:cNvPr id="1060" name="Google Shape;1060;g283038813be_0_757"/>
          <p:cNvSpPr txBox="1"/>
          <p:nvPr/>
        </p:nvSpPr>
        <p:spPr>
          <a:xfrm>
            <a:off x="3943700" y="258050"/>
            <a:ext cx="5101800" cy="4340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007000"/>
                </a:solidFill>
                <a:latin typeface="Courier New"/>
                <a:ea typeface="Courier New"/>
                <a:cs typeface="Courier New"/>
                <a:sym typeface="Courier New"/>
              </a:rPr>
              <a:t>// pointer to classes example</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rgbClr val="500070"/>
                </a:solidFill>
                <a:latin typeface="Courier New"/>
                <a:ea typeface="Courier New"/>
                <a:cs typeface="Courier New"/>
                <a:sym typeface="Courier New"/>
              </a:rPr>
              <a:t>#include &lt;iostream&gt;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rgbClr val="0000B0"/>
                </a:solidFill>
                <a:latin typeface="Courier New"/>
                <a:ea typeface="Courier New"/>
                <a:cs typeface="Courier New"/>
                <a:sym typeface="Courier New"/>
              </a:rPr>
              <a:t>using</a:t>
            </a: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namespace</a:t>
            </a:r>
            <a:r>
              <a:rPr lang="en" sz="1000">
                <a:solidFill>
                  <a:schemeClr val="dk1"/>
                </a:solidFill>
                <a:latin typeface="Courier New"/>
                <a:ea typeface="Courier New"/>
                <a:cs typeface="Courier New"/>
                <a:sym typeface="Courier New"/>
              </a:rPr>
              <a:t> std;</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rgbClr val="0000B0"/>
                </a:solidFill>
                <a:latin typeface="Courier New"/>
                <a:ea typeface="Courier New"/>
                <a:cs typeface="Courier New"/>
                <a:sym typeface="Courier New"/>
              </a:rPr>
              <a:t>class</a:t>
            </a:r>
            <a:r>
              <a:rPr lang="en" sz="1000">
                <a:solidFill>
                  <a:schemeClr val="dk1"/>
                </a:solidFill>
                <a:latin typeface="Courier New"/>
                <a:ea typeface="Courier New"/>
                <a:cs typeface="Courier New"/>
                <a:sym typeface="Courier New"/>
              </a:rPr>
              <a:t> Rectangle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int</a:t>
            </a:r>
            <a:r>
              <a:rPr lang="en" sz="1000">
                <a:solidFill>
                  <a:schemeClr val="dk1"/>
                </a:solidFill>
                <a:latin typeface="Courier New"/>
                <a:ea typeface="Courier New"/>
                <a:cs typeface="Courier New"/>
                <a:sym typeface="Courier New"/>
              </a:rPr>
              <a:t> width, height;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rgbClr val="0000B0"/>
                </a:solidFill>
                <a:latin typeface="Courier New"/>
                <a:ea typeface="Courier New"/>
                <a:cs typeface="Courier New"/>
                <a:sym typeface="Courier New"/>
              </a:rPr>
              <a:t>public</a:t>
            </a: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Rectangle(</a:t>
            </a:r>
            <a:r>
              <a:rPr lang="en" sz="1000">
                <a:solidFill>
                  <a:srgbClr val="0000B0"/>
                </a:solidFill>
                <a:latin typeface="Courier New"/>
                <a:ea typeface="Courier New"/>
                <a:cs typeface="Courier New"/>
                <a:sym typeface="Courier New"/>
              </a:rPr>
              <a:t>int</a:t>
            </a:r>
            <a:r>
              <a:rPr lang="en" sz="1000">
                <a:solidFill>
                  <a:schemeClr val="dk1"/>
                </a:solidFill>
                <a:latin typeface="Courier New"/>
                <a:ea typeface="Courier New"/>
                <a:cs typeface="Courier New"/>
                <a:sym typeface="Courier New"/>
              </a:rPr>
              <a:t> x, </a:t>
            </a:r>
            <a:r>
              <a:rPr lang="en" sz="1000">
                <a:solidFill>
                  <a:srgbClr val="0000B0"/>
                </a:solidFill>
                <a:latin typeface="Courier New"/>
                <a:ea typeface="Courier New"/>
                <a:cs typeface="Courier New"/>
                <a:sym typeface="Courier New"/>
              </a:rPr>
              <a:t>int</a:t>
            </a:r>
            <a:r>
              <a:rPr lang="en" sz="1000">
                <a:solidFill>
                  <a:schemeClr val="dk1"/>
                </a:solidFill>
                <a:latin typeface="Courier New"/>
                <a:ea typeface="Courier New"/>
                <a:cs typeface="Courier New"/>
                <a:sym typeface="Courier New"/>
              </a:rPr>
              <a:t> y) : width(x), height(y)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int</a:t>
            </a:r>
            <a:r>
              <a:rPr lang="en" sz="1000">
                <a:solidFill>
                  <a:schemeClr val="dk1"/>
                </a:solidFill>
                <a:latin typeface="Courier New"/>
                <a:ea typeface="Courier New"/>
                <a:cs typeface="Courier New"/>
                <a:sym typeface="Courier New"/>
              </a:rPr>
              <a:t> area(</a:t>
            </a:r>
            <a:r>
              <a:rPr lang="en" sz="1000">
                <a:solidFill>
                  <a:srgbClr val="0000B0"/>
                </a:solidFill>
                <a:latin typeface="Courier New"/>
                <a:ea typeface="Courier New"/>
                <a:cs typeface="Courier New"/>
                <a:sym typeface="Courier New"/>
              </a:rPr>
              <a:t>void</a:t>
            </a:r>
            <a:r>
              <a:rPr lang="en" sz="1000">
                <a:solidFill>
                  <a:schemeClr val="dk1"/>
                </a:solidFill>
                <a:latin typeface="Courier New"/>
                <a:ea typeface="Courier New"/>
                <a:cs typeface="Courier New"/>
                <a:sym typeface="Courier New"/>
              </a:rPr>
              <a:t>) { </a:t>
            </a:r>
            <a:r>
              <a:rPr lang="en" sz="1000">
                <a:solidFill>
                  <a:srgbClr val="0000B0"/>
                </a:solidFill>
                <a:latin typeface="Courier New"/>
                <a:ea typeface="Courier New"/>
                <a:cs typeface="Courier New"/>
                <a:sym typeface="Courier New"/>
              </a:rPr>
              <a:t>return</a:t>
            </a:r>
            <a:r>
              <a:rPr lang="en" sz="1000">
                <a:solidFill>
                  <a:schemeClr val="dk1"/>
                </a:solidFill>
                <a:latin typeface="Courier New"/>
                <a:ea typeface="Courier New"/>
                <a:cs typeface="Courier New"/>
                <a:sym typeface="Courier New"/>
              </a:rPr>
              <a:t> width * height;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rgbClr val="0000B0"/>
                </a:solidFill>
                <a:latin typeface="Courier New"/>
                <a:ea typeface="Courier New"/>
                <a:cs typeface="Courier New"/>
                <a:sym typeface="Courier New"/>
              </a:rPr>
              <a:t>int</a:t>
            </a:r>
            <a:r>
              <a:rPr lang="en" sz="1000">
                <a:solidFill>
                  <a:schemeClr val="dk1"/>
                </a:solidFill>
                <a:latin typeface="Courier New"/>
                <a:ea typeface="Courier New"/>
                <a:cs typeface="Courier New"/>
                <a:sym typeface="Courier New"/>
              </a:rPr>
              <a:t> main()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Rectangle obj (3, 4);</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Rectangle * foo, * bar, * baz;</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foo = &amp;obj;</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bar = </a:t>
            </a:r>
            <a:r>
              <a:rPr lang="en" sz="1000">
                <a:solidFill>
                  <a:srgbClr val="0000B0"/>
                </a:solidFill>
                <a:latin typeface="Courier New"/>
                <a:ea typeface="Courier New"/>
                <a:cs typeface="Courier New"/>
                <a:sym typeface="Courier New"/>
              </a:rPr>
              <a:t>new</a:t>
            </a:r>
            <a:r>
              <a:rPr lang="en" sz="1000">
                <a:solidFill>
                  <a:schemeClr val="dk1"/>
                </a:solidFill>
                <a:latin typeface="Courier New"/>
                <a:ea typeface="Courier New"/>
                <a:cs typeface="Courier New"/>
                <a:sym typeface="Courier New"/>
              </a:rPr>
              <a:t> Rectangle (5, 6);</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baz = </a:t>
            </a:r>
            <a:r>
              <a:rPr lang="en" sz="1000">
                <a:solidFill>
                  <a:srgbClr val="0000B0"/>
                </a:solidFill>
                <a:latin typeface="Courier New"/>
                <a:ea typeface="Courier New"/>
                <a:cs typeface="Courier New"/>
                <a:sym typeface="Courier New"/>
              </a:rPr>
              <a:t>new</a:t>
            </a:r>
            <a:r>
              <a:rPr lang="en" sz="1000">
                <a:solidFill>
                  <a:schemeClr val="dk1"/>
                </a:solidFill>
                <a:latin typeface="Courier New"/>
                <a:ea typeface="Courier New"/>
                <a:cs typeface="Courier New"/>
                <a:sym typeface="Courier New"/>
              </a:rPr>
              <a:t> Rectangle[2] { {2,5}, {3,6}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cout &lt;&lt; </a:t>
            </a:r>
            <a:r>
              <a:rPr lang="en" sz="1000">
                <a:solidFill>
                  <a:srgbClr val="600030"/>
                </a:solidFill>
                <a:latin typeface="Courier New"/>
                <a:ea typeface="Courier New"/>
                <a:cs typeface="Courier New"/>
                <a:sym typeface="Courier New"/>
              </a:rPr>
              <a:t>"obj's area: "</a:t>
            </a:r>
            <a:r>
              <a:rPr lang="en" sz="1000">
                <a:solidFill>
                  <a:schemeClr val="dk1"/>
                </a:solidFill>
                <a:latin typeface="Courier New"/>
                <a:ea typeface="Courier New"/>
                <a:cs typeface="Courier New"/>
                <a:sym typeface="Courier New"/>
              </a:rPr>
              <a:t> &lt;&lt; obj.area() &lt;&lt; </a:t>
            </a:r>
            <a:r>
              <a:rPr lang="en" sz="1000">
                <a:solidFill>
                  <a:srgbClr val="600030"/>
                </a:solidFill>
                <a:latin typeface="Courier New"/>
                <a:ea typeface="Courier New"/>
                <a:cs typeface="Courier New"/>
                <a:sym typeface="Courier New"/>
              </a:rPr>
              <a:t>'\n'</a:t>
            </a: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cout &lt;&lt; </a:t>
            </a:r>
            <a:r>
              <a:rPr lang="en" sz="1000">
                <a:solidFill>
                  <a:srgbClr val="600030"/>
                </a:solidFill>
                <a:latin typeface="Courier New"/>
                <a:ea typeface="Courier New"/>
                <a:cs typeface="Courier New"/>
                <a:sym typeface="Courier New"/>
              </a:rPr>
              <a:t>"*foo's area: "</a:t>
            </a:r>
            <a:r>
              <a:rPr lang="en" sz="1000">
                <a:solidFill>
                  <a:schemeClr val="dk1"/>
                </a:solidFill>
                <a:latin typeface="Courier New"/>
                <a:ea typeface="Courier New"/>
                <a:cs typeface="Courier New"/>
                <a:sym typeface="Courier New"/>
              </a:rPr>
              <a:t> &lt;&lt; foo-&gt;area() &lt;&lt; </a:t>
            </a:r>
            <a:r>
              <a:rPr lang="en" sz="1000">
                <a:solidFill>
                  <a:srgbClr val="600030"/>
                </a:solidFill>
                <a:latin typeface="Courier New"/>
                <a:ea typeface="Courier New"/>
                <a:cs typeface="Courier New"/>
                <a:sym typeface="Courier New"/>
              </a:rPr>
              <a:t>'\n'</a:t>
            </a: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cout &lt;&lt; </a:t>
            </a:r>
            <a:r>
              <a:rPr lang="en" sz="1000">
                <a:solidFill>
                  <a:srgbClr val="600030"/>
                </a:solidFill>
                <a:latin typeface="Courier New"/>
                <a:ea typeface="Courier New"/>
                <a:cs typeface="Courier New"/>
                <a:sym typeface="Courier New"/>
              </a:rPr>
              <a:t>"*bar's area: "</a:t>
            </a:r>
            <a:r>
              <a:rPr lang="en" sz="1000">
                <a:solidFill>
                  <a:schemeClr val="dk1"/>
                </a:solidFill>
                <a:latin typeface="Courier New"/>
                <a:ea typeface="Courier New"/>
                <a:cs typeface="Courier New"/>
                <a:sym typeface="Courier New"/>
              </a:rPr>
              <a:t> &lt;&lt; bar-&gt;area() &lt;&lt; </a:t>
            </a:r>
            <a:r>
              <a:rPr lang="en" sz="1000">
                <a:solidFill>
                  <a:srgbClr val="600030"/>
                </a:solidFill>
                <a:latin typeface="Courier New"/>
                <a:ea typeface="Courier New"/>
                <a:cs typeface="Courier New"/>
                <a:sym typeface="Courier New"/>
              </a:rPr>
              <a:t>'\n'</a:t>
            </a: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cout &lt;&lt; </a:t>
            </a:r>
            <a:r>
              <a:rPr lang="en" sz="1000">
                <a:solidFill>
                  <a:srgbClr val="600030"/>
                </a:solidFill>
                <a:latin typeface="Courier New"/>
                <a:ea typeface="Courier New"/>
                <a:cs typeface="Courier New"/>
                <a:sym typeface="Courier New"/>
              </a:rPr>
              <a:t>"baz[0]'s area:"</a:t>
            </a:r>
            <a:r>
              <a:rPr lang="en" sz="1000">
                <a:solidFill>
                  <a:schemeClr val="dk1"/>
                </a:solidFill>
                <a:latin typeface="Courier New"/>
                <a:ea typeface="Courier New"/>
                <a:cs typeface="Courier New"/>
                <a:sym typeface="Courier New"/>
              </a:rPr>
              <a:t> &lt;&lt; baz[0].area() &lt;&lt; </a:t>
            </a:r>
            <a:r>
              <a:rPr lang="en" sz="1000">
                <a:solidFill>
                  <a:srgbClr val="600030"/>
                </a:solidFill>
                <a:latin typeface="Courier New"/>
                <a:ea typeface="Courier New"/>
                <a:cs typeface="Courier New"/>
                <a:sym typeface="Courier New"/>
              </a:rPr>
              <a:t>'\n'</a:t>
            </a: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cout &lt;&lt; </a:t>
            </a:r>
            <a:r>
              <a:rPr lang="en" sz="1000">
                <a:solidFill>
                  <a:srgbClr val="600030"/>
                </a:solidFill>
                <a:latin typeface="Courier New"/>
                <a:ea typeface="Courier New"/>
                <a:cs typeface="Courier New"/>
                <a:sym typeface="Courier New"/>
              </a:rPr>
              <a:t>"baz[1]'s area:"</a:t>
            </a:r>
            <a:r>
              <a:rPr lang="en" sz="1000">
                <a:solidFill>
                  <a:schemeClr val="dk1"/>
                </a:solidFill>
                <a:latin typeface="Courier New"/>
                <a:ea typeface="Courier New"/>
                <a:cs typeface="Courier New"/>
                <a:sym typeface="Courier New"/>
              </a:rPr>
              <a:t> &lt;&lt; baz[1].area() &lt;&lt; </a:t>
            </a:r>
            <a:r>
              <a:rPr lang="en" sz="1000">
                <a:solidFill>
                  <a:srgbClr val="600030"/>
                </a:solidFill>
                <a:latin typeface="Courier New"/>
                <a:ea typeface="Courier New"/>
                <a:cs typeface="Courier New"/>
                <a:sym typeface="Courier New"/>
              </a:rPr>
              <a:t>'\n'</a:t>
            </a:r>
            <a:r>
              <a:rPr lang="en"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delete</a:t>
            </a:r>
            <a:r>
              <a:rPr lang="en" sz="1000">
                <a:solidFill>
                  <a:schemeClr val="dk1"/>
                </a:solidFill>
                <a:latin typeface="Courier New"/>
                <a:ea typeface="Courier New"/>
                <a:cs typeface="Courier New"/>
                <a:sym typeface="Courier New"/>
              </a:rPr>
              <a:t> bar;</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delete</a:t>
            </a:r>
            <a:r>
              <a:rPr lang="en" sz="1000">
                <a:solidFill>
                  <a:schemeClr val="dk1"/>
                </a:solidFill>
                <a:latin typeface="Courier New"/>
                <a:ea typeface="Courier New"/>
                <a:cs typeface="Courier New"/>
                <a:sym typeface="Courier New"/>
              </a:rPr>
              <a:t>[] baz;</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a:t>
            </a:r>
            <a:r>
              <a:rPr lang="en" sz="1000">
                <a:solidFill>
                  <a:srgbClr val="0000B0"/>
                </a:solidFill>
                <a:latin typeface="Courier New"/>
                <a:ea typeface="Courier New"/>
                <a:cs typeface="Courier New"/>
                <a:sym typeface="Courier New"/>
              </a:rPr>
              <a:t>return</a:t>
            </a:r>
            <a:r>
              <a:rPr lang="en" sz="1000">
                <a:solidFill>
                  <a:schemeClr val="dk1"/>
                </a:solidFill>
                <a:latin typeface="Courier New"/>
                <a:ea typeface="Courier New"/>
                <a:cs typeface="Courier New"/>
                <a:sym typeface="Courier New"/>
              </a:rPr>
              <a:t> 0;</a:t>
            </a:r>
            <a:endParaRPr sz="10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p:txBody>
      </p:sp>
      <p:sp>
        <p:nvSpPr>
          <p:cNvPr id="1061" name="Google Shape;1061;g283038813be_0_75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g283038813be_0_763"/>
          <p:cNvSpPr txBox="1"/>
          <p:nvPr>
            <p:ph type="title"/>
          </p:nvPr>
        </p:nvSpPr>
        <p:spPr>
          <a:xfrm>
            <a:off x="238675" y="1193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Operators to pointer and Object</a:t>
            </a:r>
            <a:endParaRPr/>
          </a:p>
        </p:txBody>
      </p:sp>
      <p:graphicFrame>
        <p:nvGraphicFramePr>
          <p:cNvPr id="1067" name="Google Shape;1067;g283038813be_0_763"/>
          <p:cNvGraphicFramePr/>
          <p:nvPr/>
        </p:nvGraphicFramePr>
        <p:xfrm>
          <a:off x="308900" y="766625"/>
          <a:ext cx="3000000" cy="3000000"/>
        </p:xfrm>
        <a:graphic>
          <a:graphicData uri="http://schemas.openxmlformats.org/drawingml/2006/table">
            <a:tbl>
              <a:tblPr>
                <a:solidFill>
                  <a:srgbClr val="FFFFFF"/>
                </a:solidFill>
                <a:tableStyleId>{6E33B257-1282-41D0-97F9-88C26BE8B7CD}</a:tableStyleId>
              </a:tblPr>
              <a:tblGrid>
                <a:gridCol w="1569425"/>
                <a:gridCol w="4552950"/>
              </a:tblGrid>
              <a:tr h="200025">
                <a:tc>
                  <a:txBody>
                    <a:bodyPr/>
                    <a:lstStyle/>
                    <a:p>
                      <a:pPr indent="0" lvl="0" marL="0" rtl="0" algn="l">
                        <a:spcBef>
                          <a:spcPts val="0"/>
                        </a:spcBef>
                        <a:spcAft>
                          <a:spcPts val="0"/>
                        </a:spcAft>
                        <a:buNone/>
                      </a:pPr>
                      <a:r>
                        <a:rPr lang="en"/>
                        <a:t>expression</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0E0E0"/>
                    </a:solidFill>
                  </a:tcPr>
                </a:tc>
                <a:tc>
                  <a:txBody>
                    <a:bodyPr/>
                    <a:lstStyle/>
                    <a:p>
                      <a:pPr indent="0" lvl="0" marL="0" rtl="0" algn="l">
                        <a:spcBef>
                          <a:spcPts val="0"/>
                        </a:spcBef>
                        <a:spcAft>
                          <a:spcPts val="0"/>
                        </a:spcAft>
                        <a:buNone/>
                      </a:pPr>
                      <a:r>
                        <a:rPr lang="en"/>
                        <a:t>can be read as</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0E0E0"/>
                    </a:solidFill>
                  </a:tcPr>
                </a:tc>
              </a:tr>
              <a:tr h="190500">
                <a:tc>
                  <a:txBody>
                    <a:bodyPr/>
                    <a:lstStyle/>
                    <a:p>
                      <a:pPr indent="0" lvl="0" marL="0" rtl="0" algn="l">
                        <a:spcBef>
                          <a:spcPts val="0"/>
                        </a:spcBef>
                        <a:spcAft>
                          <a:spcPts val="0"/>
                        </a:spcAft>
                        <a:buNone/>
                      </a:pPr>
                      <a:r>
                        <a:rPr lang="en"/>
                        <a:t>*x</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pointed to by x</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
                        <a:t>&amp;x</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address of x</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
                        <a:t>x.y</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member y of object x</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
                        <a:t>x-&gt;y</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member y of object pointed to by x</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
                        <a:t>(*x).y</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member y of object pointed to by x (equivalent to the previous one)</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
                        <a:t>x[0]</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first object pointed to by x</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
                        <a:t>x[1]</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second object pointed to by x</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
                        <a:t>x[n]</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(n+1)th object pointed to by x</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068" name="Google Shape;1068;g283038813be_0_76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28a5d7bea0c_11_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Exercises</a:t>
            </a:r>
            <a:endParaRPr b="1"/>
          </a:p>
        </p:txBody>
      </p:sp>
      <p:sp>
        <p:nvSpPr>
          <p:cNvPr id="1074" name="Google Shape;1074;g28a5d7bea0c_11_0"/>
          <p:cNvSpPr txBox="1"/>
          <p:nvPr>
            <p:ph idx="1" type="body"/>
          </p:nvPr>
        </p:nvSpPr>
        <p:spPr>
          <a:xfrm>
            <a:off x="311700" y="802025"/>
            <a:ext cx="8520600" cy="37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OOP Exercises Link:</a:t>
            </a:r>
            <a:endParaRPr b="1"/>
          </a:p>
          <a:p>
            <a:pPr indent="0" lvl="0" marL="0" rtl="0" algn="l">
              <a:spcBef>
                <a:spcPts val="0"/>
              </a:spcBef>
              <a:spcAft>
                <a:spcPts val="0"/>
              </a:spcAft>
              <a:buNone/>
            </a:pPr>
            <a:r>
              <a:rPr lang="en" u="sng">
                <a:solidFill>
                  <a:schemeClr val="hlink"/>
                </a:solidFill>
                <a:hlinkClick r:id="rId3"/>
              </a:rPr>
              <a:t>https://shorturl.at/cnA34</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Pointers</a:t>
            </a:r>
            <a:endParaRPr/>
          </a:p>
          <a:p>
            <a:pPr indent="0" lvl="0" marL="0" rtl="0" algn="l">
              <a:spcBef>
                <a:spcPts val="0"/>
              </a:spcBef>
              <a:spcAft>
                <a:spcPts val="0"/>
              </a:spcAft>
              <a:buNone/>
            </a:pPr>
            <a:r>
              <a:rPr lang="en" u="sng">
                <a:solidFill>
                  <a:schemeClr val="hlink"/>
                </a:solidFill>
                <a:hlinkClick r:id="rId4"/>
              </a:rPr>
              <a:t>https://shorturl.at/dfSTY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075" name="Google Shape;1075;g28a5d7bea0c_11_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g28b54753f85_34_6"/>
          <p:cNvSpPr txBox="1"/>
          <p:nvPr>
            <p:ph type="title"/>
          </p:nvPr>
        </p:nvSpPr>
        <p:spPr>
          <a:xfrm>
            <a:off x="233450" y="2458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300">
                <a:solidFill>
                  <a:srgbClr val="273239"/>
                </a:solidFill>
                <a:highlight>
                  <a:srgbClr val="FFFFFF"/>
                </a:highlight>
              </a:rPr>
              <a:t>Build a C++ Program that Have Multiple Source Code Files</a:t>
            </a:r>
            <a:endParaRPr b="1" sz="2300">
              <a:solidFill>
                <a:srgbClr val="273239"/>
              </a:solidFill>
              <a:highlight>
                <a:srgbClr val="FFFFFF"/>
              </a:highlight>
            </a:endParaRPr>
          </a:p>
          <a:p>
            <a:pPr indent="0" lvl="0" marL="0" rtl="0" algn="l">
              <a:spcBef>
                <a:spcPts val="0"/>
              </a:spcBef>
              <a:spcAft>
                <a:spcPts val="0"/>
              </a:spcAft>
              <a:buNone/>
            </a:pPr>
            <a:r>
              <a:t/>
            </a:r>
            <a:endParaRPr sz="2700"/>
          </a:p>
        </p:txBody>
      </p:sp>
      <p:sp>
        <p:nvSpPr>
          <p:cNvPr id="1081" name="Google Shape;1081;g28b54753f85_34_6"/>
          <p:cNvSpPr txBox="1"/>
          <p:nvPr>
            <p:ph idx="1" type="body"/>
          </p:nvPr>
        </p:nvSpPr>
        <p:spPr>
          <a:xfrm>
            <a:off x="464100" y="960400"/>
            <a:ext cx="8520600" cy="39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rgbClr val="273239"/>
                </a:solidFill>
                <a:highlight>
                  <a:srgbClr val="FFFFFF"/>
                </a:highlight>
                <a:latin typeface="Nunito"/>
                <a:ea typeface="Nunito"/>
                <a:cs typeface="Nunito"/>
                <a:sym typeface="Nunito"/>
              </a:rPr>
              <a:t>In C++ generally, we saw only a single file program but what if we have multiple source code files and we have to build a program by using all these files? Let’s see how we can build a C++ program with multiple source files without including them as header files.</a:t>
            </a:r>
            <a:endParaRPr sz="2100">
              <a:solidFill>
                <a:srgbClr val="273239"/>
              </a:solidFill>
              <a:highlight>
                <a:srgbClr val="FFFFFF"/>
              </a:highlight>
              <a:latin typeface="Nunito"/>
              <a:ea typeface="Nunito"/>
              <a:cs typeface="Nunito"/>
              <a:sym typeface="Nunito"/>
            </a:endParaRPr>
          </a:p>
          <a:p>
            <a:pPr indent="0" lvl="0" marL="0" rtl="0" algn="l">
              <a:spcBef>
                <a:spcPts val="0"/>
              </a:spcBef>
              <a:spcAft>
                <a:spcPts val="0"/>
              </a:spcAft>
              <a:buNone/>
            </a:pPr>
            <a:r>
              <a:rPr lang="en" sz="2100">
                <a:solidFill>
                  <a:srgbClr val="273239"/>
                </a:solidFill>
                <a:highlight>
                  <a:srgbClr val="FFFFFF"/>
                </a:highlight>
                <a:latin typeface="Nunito"/>
                <a:ea typeface="Nunito"/>
                <a:cs typeface="Nunito"/>
                <a:sym typeface="Nunito"/>
              </a:rPr>
              <a:t>There are two methods to use two or more source code files in C++ as mentioned below:</a:t>
            </a:r>
            <a:endParaRPr sz="2100">
              <a:solidFill>
                <a:srgbClr val="273239"/>
              </a:solidFill>
              <a:highlight>
                <a:srgbClr val="FFFFFF"/>
              </a:highlight>
              <a:latin typeface="Nunito"/>
              <a:ea typeface="Nunito"/>
              <a:cs typeface="Nunito"/>
              <a:sym typeface="Nunito"/>
            </a:endParaRPr>
          </a:p>
          <a:p>
            <a:pPr indent="-361950" lvl="0" marL="685800" rtl="0" algn="l">
              <a:lnSpc>
                <a:spcPct val="158000"/>
              </a:lnSpc>
              <a:spcBef>
                <a:spcPts val="800"/>
              </a:spcBef>
              <a:spcAft>
                <a:spcPts val="0"/>
              </a:spcAft>
              <a:buClr>
                <a:srgbClr val="273239"/>
              </a:buClr>
              <a:buSzPts val="2100"/>
              <a:buFont typeface="Nunito"/>
              <a:buAutoNum type="arabicPeriod"/>
            </a:pPr>
            <a:r>
              <a:rPr lang="en" sz="2100">
                <a:solidFill>
                  <a:srgbClr val="273239"/>
                </a:solidFill>
                <a:highlight>
                  <a:srgbClr val="FFFFFF"/>
                </a:highlight>
                <a:latin typeface="Nunito"/>
                <a:ea typeface="Nunito"/>
                <a:cs typeface="Nunito"/>
                <a:sym typeface="Nunito"/>
              </a:rPr>
              <a:t>Using header file</a:t>
            </a:r>
            <a:endParaRPr sz="2100">
              <a:solidFill>
                <a:srgbClr val="273239"/>
              </a:solidFill>
              <a:highlight>
                <a:srgbClr val="FFFFFF"/>
              </a:highlight>
              <a:latin typeface="Nunito"/>
              <a:ea typeface="Nunito"/>
              <a:cs typeface="Nunito"/>
              <a:sym typeface="Nunito"/>
            </a:endParaRPr>
          </a:p>
          <a:p>
            <a:pPr indent="-361950" lvl="0" marL="685800" rtl="0" algn="l">
              <a:lnSpc>
                <a:spcPct val="158000"/>
              </a:lnSpc>
              <a:spcBef>
                <a:spcPts val="0"/>
              </a:spcBef>
              <a:spcAft>
                <a:spcPts val="0"/>
              </a:spcAft>
              <a:buClr>
                <a:srgbClr val="273239"/>
              </a:buClr>
              <a:buSzPts val="2100"/>
              <a:buFont typeface="Nunito"/>
              <a:buAutoNum type="arabicPeriod"/>
            </a:pPr>
            <a:r>
              <a:rPr lang="en" sz="2100">
                <a:solidFill>
                  <a:srgbClr val="273239"/>
                </a:solidFill>
                <a:highlight>
                  <a:srgbClr val="FFFFFF"/>
                </a:highlight>
                <a:latin typeface="Nunito"/>
                <a:ea typeface="Nunito"/>
                <a:cs typeface="Nunito"/>
                <a:sym typeface="Nunito"/>
              </a:rPr>
              <a:t>Using -gcc commands</a:t>
            </a:r>
            <a:endParaRPr sz="1500">
              <a:solidFill>
                <a:srgbClr val="273239"/>
              </a:solidFill>
              <a:highlight>
                <a:srgbClr val="FFFFFF"/>
              </a:highlight>
              <a:latin typeface="Nunito"/>
              <a:ea typeface="Nunito"/>
              <a:cs typeface="Nunito"/>
              <a:sym typeface="Nunito"/>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g28b54753f85_34_11"/>
          <p:cNvSpPr txBox="1"/>
          <p:nvPr>
            <p:ph type="title"/>
          </p:nvPr>
        </p:nvSpPr>
        <p:spPr>
          <a:xfrm>
            <a:off x="3615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header files</a:t>
            </a:r>
            <a:endParaRPr/>
          </a:p>
        </p:txBody>
      </p:sp>
      <p:sp>
        <p:nvSpPr>
          <p:cNvPr id="1087" name="Google Shape;1087;g28b54753f85_34_11"/>
          <p:cNvSpPr txBox="1"/>
          <p:nvPr>
            <p:ph idx="1" type="body"/>
          </p:nvPr>
        </p:nvSpPr>
        <p:spPr>
          <a:xfrm>
            <a:off x="361500" y="1694100"/>
            <a:ext cx="2797200" cy="3059100"/>
          </a:xfrm>
          <a:prstGeom prst="rect">
            <a:avLst/>
          </a:prstGeom>
          <a:solidFill>
            <a:srgbClr val="D9EAD3"/>
          </a:solidFill>
        </p:spPr>
        <p:txBody>
          <a:bodyPr anchorCtr="0" anchor="t" bIns="91425" lIns="91425" spcFirstLastPara="1" rIns="91425" wrap="square" tIns="91425">
            <a:noAutofit/>
          </a:bodyPr>
          <a:lstStyle/>
          <a:p>
            <a:pPr indent="0" lvl="0" marL="0" rtl="0" algn="l">
              <a:spcBef>
                <a:spcPts val="0"/>
              </a:spcBef>
              <a:spcAft>
                <a:spcPts val="0"/>
              </a:spcAft>
              <a:buNone/>
            </a:pPr>
            <a:r>
              <a:rPr lang="en"/>
              <a:t>namespace calculator{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 addition(int a, int b){</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return a+b;</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rPr lang="en"/>
              <a:t>int multiplication(int a, int b){</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return a*b;</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rPr lang="en"/>
              <a:t>int subtraction(int a, int b){</a:t>
            </a:r>
            <a:endParaRPr/>
          </a:p>
          <a:p>
            <a:pPr indent="0" lvl="0" marL="0" rtl="0" algn="l">
              <a:spcBef>
                <a:spcPts val="0"/>
              </a:spcBef>
              <a:spcAft>
                <a:spcPts val="0"/>
              </a:spcAft>
              <a:buNone/>
            </a:pPr>
            <a:r>
              <a:rPr lang="en"/>
              <a:t>return a-b;</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rPr lang="en"/>
              <a:t>}</a:t>
            </a:r>
            <a:endParaRPr/>
          </a:p>
        </p:txBody>
      </p:sp>
      <p:sp>
        <p:nvSpPr>
          <p:cNvPr id="1088" name="Google Shape;1088;g28b54753f85_34_11"/>
          <p:cNvSpPr txBox="1"/>
          <p:nvPr/>
        </p:nvSpPr>
        <p:spPr>
          <a:xfrm>
            <a:off x="377050" y="917725"/>
            <a:ext cx="3172800" cy="46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Build a calculator and save it as calculator.h</a:t>
            </a:r>
            <a:endParaRPr/>
          </a:p>
        </p:txBody>
      </p:sp>
      <p:sp>
        <p:nvSpPr>
          <p:cNvPr id="1089" name="Google Shape;1089;g28b54753f85_34_11"/>
          <p:cNvSpPr txBox="1"/>
          <p:nvPr/>
        </p:nvSpPr>
        <p:spPr>
          <a:xfrm>
            <a:off x="4643475" y="1970550"/>
            <a:ext cx="3000000" cy="19086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#include&lt;iostream&gt;</a:t>
            </a:r>
            <a:endParaRPr/>
          </a:p>
          <a:p>
            <a:pPr indent="0" lvl="0" marL="0" rtl="0" algn="l">
              <a:spcBef>
                <a:spcPts val="0"/>
              </a:spcBef>
              <a:spcAft>
                <a:spcPts val="0"/>
              </a:spcAft>
              <a:buNone/>
            </a:pPr>
            <a:r>
              <a:rPr lang="en"/>
              <a:t>#include "calculator.h"</a:t>
            </a:r>
            <a:endParaRPr/>
          </a:p>
          <a:p>
            <a:pPr indent="0" lvl="0" marL="0" rtl="0" algn="l">
              <a:spcBef>
                <a:spcPts val="0"/>
              </a:spcBef>
              <a:spcAft>
                <a:spcPts val="0"/>
              </a:spcAft>
              <a:buNone/>
            </a:pPr>
            <a:r>
              <a:rPr lang="en"/>
              <a:t>using namespace calculator;</a:t>
            </a:r>
            <a:endParaRPr/>
          </a:p>
          <a:p>
            <a:pPr indent="0" lvl="0" marL="0" rtl="0" algn="l">
              <a:spcBef>
                <a:spcPts val="0"/>
              </a:spcBef>
              <a:spcAft>
                <a:spcPts val="0"/>
              </a:spcAft>
              <a:buNone/>
            </a:pPr>
            <a:r>
              <a:rPr lang="en"/>
              <a:t>using namespace std;</a:t>
            </a:r>
            <a:endParaRPr/>
          </a:p>
          <a:p>
            <a:pPr indent="0" lvl="0" marL="0" rtl="0" algn="l">
              <a:spcBef>
                <a:spcPts val="0"/>
              </a:spcBef>
              <a:spcAft>
                <a:spcPts val="0"/>
              </a:spcAft>
              <a:buNone/>
            </a:pPr>
            <a:r>
              <a:rPr lang="en"/>
              <a:t>int main(){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cout&lt;&lt;addition(5,10);</a:t>
            </a:r>
            <a:endParaRPr/>
          </a:p>
          <a:p>
            <a:pPr indent="0" lvl="0" marL="0" rtl="0" algn="l">
              <a:spcBef>
                <a:spcPts val="0"/>
              </a:spcBef>
              <a:spcAft>
                <a:spcPts val="0"/>
              </a:spcAft>
              <a:buNone/>
            </a:pPr>
            <a:r>
              <a:rPr lang="en"/>
              <a:t>}</a:t>
            </a:r>
            <a:endParaRPr/>
          </a:p>
        </p:txBody>
      </p:sp>
      <p:sp>
        <p:nvSpPr>
          <p:cNvPr id="1090" name="Google Shape;1090;g28b54753f85_34_11"/>
          <p:cNvSpPr txBox="1"/>
          <p:nvPr/>
        </p:nvSpPr>
        <p:spPr>
          <a:xfrm>
            <a:off x="4513350" y="1276425"/>
            <a:ext cx="3172800" cy="46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Create test.cpp and add  calculator.h using #include  directive</a:t>
            </a:r>
            <a:endParaRPr/>
          </a:p>
        </p:txBody>
      </p:sp>
      <p:sp>
        <p:nvSpPr>
          <p:cNvPr id="1091" name="Google Shape;1091;g28b54753f85_34_11"/>
          <p:cNvSpPr txBox="1"/>
          <p:nvPr/>
        </p:nvSpPr>
        <p:spPr>
          <a:xfrm>
            <a:off x="4643475" y="4187200"/>
            <a:ext cx="3172800" cy="46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Compile test.cpp</a:t>
            </a:r>
            <a:endParaRPr b="1"/>
          </a:p>
        </p:txBody>
      </p:sp>
      <p:sp>
        <p:nvSpPr>
          <p:cNvPr id="1092" name="Google Shape;1092;g28b54753f85_34_11"/>
          <p:cNvSpPr txBox="1"/>
          <p:nvPr/>
        </p:nvSpPr>
        <p:spPr>
          <a:xfrm>
            <a:off x="381000" y="0"/>
            <a:ext cx="81885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400">
                <a:solidFill>
                  <a:srgbClr val="273239"/>
                </a:solidFill>
                <a:highlight>
                  <a:srgbClr val="FFFFFF"/>
                </a:highlight>
              </a:rPr>
              <a:t>Multiple Source Code Files</a:t>
            </a:r>
            <a:endParaRPr b="1" sz="2400">
              <a:solidFill>
                <a:srgbClr val="273239"/>
              </a:solidFill>
              <a:highlight>
                <a:srgbClr val="FFFFFF"/>
              </a:highlight>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g28b54753f85_34_73"/>
          <p:cNvSpPr txBox="1"/>
          <p:nvPr>
            <p:ph type="title"/>
          </p:nvPr>
        </p:nvSpPr>
        <p:spPr>
          <a:xfrm>
            <a:off x="183650" y="2031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020"/>
              <a:t>Using class header file having implementation</a:t>
            </a:r>
            <a:endParaRPr b="1" sz="2020"/>
          </a:p>
        </p:txBody>
      </p:sp>
      <p:sp>
        <p:nvSpPr>
          <p:cNvPr id="1098" name="Google Shape;1098;g28b54753f85_34_73"/>
          <p:cNvSpPr txBox="1"/>
          <p:nvPr>
            <p:ph idx="1" type="body"/>
          </p:nvPr>
        </p:nvSpPr>
        <p:spPr>
          <a:xfrm>
            <a:off x="355700" y="1350300"/>
            <a:ext cx="4140300" cy="3793200"/>
          </a:xfrm>
          <a:prstGeom prst="rect">
            <a:avLst/>
          </a:prstGeom>
          <a:ln cap="flat" cmpd="sng" w="9525">
            <a:solidFill>
              <a:srgbClr val="000000"/>
            </a:solidFill>
            <a:prstDash val="dashDot"/>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38761D"/>
                </a:solidFill>
              </a:rPr>
              <a:t>#ifndef Rectangle_H</a:t>
            </a:r>
            <a:endParaRPr>
              <a:solidFill>
                <a:srgbClr val="38761D"/>
              </a:solidFill>
            </a:endParaRPr>
          </a:p>
          <a:p>
            <a:pPr indent="0" lvl="0" marL="0" rtl="0" algn="l">
              <a:spcBef>
                <a:spcPts val="0"/>
              </a:spcBef>
              <a:spcAft>
                <a:spcPts val="0"/>
              </a:spcAft>
              <a:buNone/>
            </a:pPr>
            <a:r>
              <a:rPr lang="en">
                <a:solidFill>
                  <a:srgbClr val="38761D"/>
                </a:solidFill>
              </a:rPr>
              <a:t>#define Rectangle_H</a:t>
            </a:r>
            <a:endParaRPr>
              <a:solidFill>
                <a:srgbClr val="38761D"/>
              </a:solidFill>
            </a:endParaRPr>
          </a:p>
          <a:p>
            <a:pPr indent="0" lvl="0" marL="0" rtl="0" algn="l">
              <a:spcBef>
                <a:spcPts val="0"/>
              </a:spcBef>
              <a:spcAft>
                <a:spcPts val="0"/>
              </a:spcAft>
              <a:buNone/>
            </a:pPr>
            <a:r>
              <a:rPr lang="en">
                <a:solidFill>
                  <a:schemeClr val="dk1"/>
                </a:solidFill>
              </a:rPr>
              <a:t>class Rectangle {</a:t>
            </a:r>
            <a:endParaRPr>
              <a:solidFill>
                <a:schemeClr val="dk1"/>
              </a:solidFill>
            </a:endParaRPr>
          </a:p>
          <a:p>
            <a:pPr indent="0" lvl="0" marL="0" rtl="0" algn="l">
              <a:spcBef>
                <a:spcPts val="0"/>
              </a:spcBef>
              <a:spcAft>
                <a:spcPts val="0"/>
              </a:spcAft>
              <a:buNone/>
            </a:pPr>
            <a:r>
              <a:rPr lang="en">
                <a:solidFill>
                  <a:schemeClr val="dk1"/>
                </a:solidFill>
              </a:rPr>
              <a:t>    int width, height;</a:t>
            </a:r>
            <a:endParaRPr>
              <a:solidFill>
                <a:schemeClr val="dk1"/>
              </a:solidFill>
            </a:endParaRPr>
          </a:p>
          <a:p>
            <a:pPr indent="0" lvl="0" marL="0" rtl="0" algn="l">
              <a:spcBef>
                <a:spcPts val="0"/>
              </a:spcBef>
              <a:spcAft>
                <a:spcPts val="0"/>
              </a:spcAft>
              <a:buNone/>
            </a:pPr>
            <a:r>
              <a:rPr lang="en">
                <a:solidFill>
                  <a:schemeClr val="dk1"/>
                </a:solidFill>
              </a:rPr>
              <a:t>  public:</a:t>
            </a:r>
            <a:endParaRPr>
              <a:solidFill>
                <a:schemeClr val="dk1"/>
              </a:solidFill>
            </a:endParaRPr>
          </a:p>
          <a:p>
            <a:pPr indent="0" lvl="0" marL="0" rtl="0" algn="l">
              <a:spcBef>
                <a:spcPts val="0"/>
              </a:spcBef>
              <a:spcAft>
                <a:spcPts val="0"/>
              </a:spcAft>
              <a:buNone/>
            </a:pPr>
            <a:r>
              <a:rPr lang="en">
                <a:solidFill>
                  <a:schemeClr val="dk1"/>
                </a:solidFill>
              </a:rPr>
              <a:t>    Rectangle (){}</a:t>
            </a:r>
            <a:endParaRPr>
              <a:solidFill>
                <a:schemeClr val="dk1"/>
              </a:solidFill>
            </a:endParaRPr>
          </a:p>
          <a:p>
            <a:pPr indent="0" lvl="0" marL="0" rtl="0" algn="l">
              <a:spcBef>
                <a:spcPts val="0"/>
              </a:spcBef>
              <a:spcAft>
                <a:spcPts val="0"/>
              </a:spcAft>
              <a:buNone/>
            </a:pPr>
            <a:r>
              <a:rPr lang="en">
                <a:solidFill>
                  <a:schemeClr val="dk1"/>
                </a:solidFill>
              </a:rPr>
              <a:t> Rectangle(int, int);</a:t>
            </a:r>
            <a:endParaRPr>
              <a:solidFill>
                <a:schemeClr val="dk1"/>
              </a:solidFill>
            </a:endParaRPr>
          </a:p>
          <a:p>
            <a:pPr indent="0" lvl="0" marL="0" rtl="0" algn="l">
              <a:spcBef>
                <a:spcPts val="0"/>
              </a:spcBef>
              <a:spcAft>
                <a:spcPts val="0"/>
              </a:spcAft>
              <a:buNone/>
            </a:pPr>
            <a:r>
              <a:rPr lang="en">
                <a:solidFill>
                  <a:schemeClr val="dk1"/>
                </a:solidFill>
              </a:rPr>
              <a:t>    void set_values(int w, int l){ </a:t>
            </a:r>
            <a:endParaRPr>
              <a:solidFill>
                <a:schemeClr val="dk1"/>
              </a:solidFill>
            </a:endParaRPr>
          </a:p>
          <a:p>
            <a:pPr indent="0" lvl="0" marL="0" rtl="0" algn="l">
              <a:spcBef>
                <a:spcPts val="0"/>
              </a:spcBef>
              <a:spcAft>
                <a:spcPts val="0"/>
              </a:spcAft>
              <a:buNone/>
            </a:pPr>
            <a:r>
              <a:rPr lang="en">
                <a:solidFill>
                  <a:schemeClr val="dk1"/>
                </a:solidFill>
              </a:rPr>
              <a:t>        width=w;</a:t>
            </a:r>
            <a:endParaRPr>
              <a:solidFill>
                <a:schemeClr val="dk1"/>
              </a:solidFill>
            </a:endParaRPr>
          </a:p>
          <a:p>
            <a:pPr indent="0" lvl="0" marL="0" rtl="0" algn="l">
              <a:spcBef>
                <a:spcPts val="0"/>
              </a:spcBef>
              <a:spcAft>
                <a:spcPts val="0"/>
              </a:spcAft>
              <a:buNone/>
            </a:pPr>
            <a:r>
              <a:rPr lang="en">
                <a:solidFill>
                  <a:schemeClr val="dk1"/>
                </a:solidFill>
              </a:rPr>
              <a:t>       height=l;</a:t>
            </a:r>
            <a:endParaRPr>
              <a:solidFill>
                <a:schemeClr val="dk1"/>
              </a:solidFill>
            </a:endParaRPr>
          </a:p>
          <a:p>
            <a:pPr indent="0" lvl="0" marL="0" rtl="0" algn="l">
              <a:spcBef>
                <a:spcPts val="0"/>
              </a:spcBef>
              <a:spcAft>
                <a:spcPts val="0"/>
              </a:spcAft>
              <a:buNone/>
            </a:pP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    int area (void) {return (width*height);}</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rPr lang="en">
                <a:solidFill>
                  <a:srgbClr val="38761D"/>
                </a:solidFill>
              </a:rPr>
              <a:t>#endif</a:t>
            </a:r>
            <a:endParaRPr/>
          </a:p>
        </p:txBody>
      </p:sp>
      <p:sp>
        <p:nvSpPr>
          <p:cNvPr id="1099" name="Google Shape;1099;g28b54753f85_34_73"/>
          <p:cNvSpPr txBox="1"/>
          <p:nvPr/>
        </p:nvSpPr>
        <p:spPr>
          <a:xfrm>
            <a:off x="5367050" y="2078275"/>
            <a:ext cx="3279600" cy="2339700"/>
          </a:xfrm>
          <a:prstGeom prst="rect">
            <a:avLst/>
          </a:prstGeom>
          <a:noFill/>
          <a:ln cap="flat" cmpd="sng" w="9525">
            <a:solidFill>
              <a:srgbClr val="000000"/>
            </a:solidFill>
            <a:prstDash val="dashDot"/>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#include&lt;iostream&gt;</a:t>
            </a:r>
            <a:endParaRPr/>
          </a:p>
          <a:p>
            <a:pPr indent="0" lvl="0" marL="0" rtl="0" algn="l">
              <a:spcBef>
                <a:spcPts val="0"/>
              </a:spcBef>
              <a:spcAft>
                <a:spcPts val="0"/>
              </a:spcAft>
              <a:buNone/>
            </a:pPr>
            <a:r>
              <a:rPr lang="en">
                <a:solidFill>
                  <a:srgbClr val="38761D"/>
                </a:solidFill>
              </a:rPr>
              <a:t>#include "rectangle.h"</a:t>
            </a:r>
            <a:endParaRPr>
              <a:solidFill>
                <a:srgbClr val="38761D"/>
              </a:solidFill>
            </a:endParaRPr>
          </a:p>
          <a:p>
            <a:pPr indent="0" lvl="0" marL="0" rtl="0" algn="l">
              <a:spcBef>
                <a:spcPts val="0"/>
              </a:spcBef>
              <a:spcAft>
                <a:spcPts val="0"/>
              </a:spcAft>
              <a:buNone/>
            </a:pPr>
            <a:r>
              <a:rPr lang="en"/>
              <a:t>using namespace std;</a:t>
            </a:r>
            <a:endParaRPr/>
          </a:p>
          <a:p>
            <a:pPr indent="0" lvl="0" marL="0" rtl="0" algn="l">
              <a:spcBef>
                <a:spcPts val="0"/>
              </a:spcBef>
              <a:spcAft>
                <a:spcPts val="0"/>
              </a:spcAft>
              <a:buNone/>
            </a:pPr>
            <a:r>
              <a:rPr lang="en"/>
              <a:t>int main(){</a:t>
            </a:r>
            <a:endParaRPr/>
          </a:p>
          <a:p>
            <a:pPr indent="0" lvl="0" marL="0" rtl="0" algn="l">
              <a:spcBef>
                <a:spcPts val="0"/>
              </a:spcBef>
              <a:spcAft>
                <a:spcPts val="0"/>
              </a:spcAft>
              <a:buNone/>
            </a:pPr>
            <a:r>
              <a:rPr lang="en"/>
              <a:t>Rectangle rect;</a:t>
            </a:r>
            <a:endParaRPr/>
          </a:p>
          <a:p>
            <a:pPr indent="0" lvl="0" marL="0" rtl="0" algn="l">
              <a:spcBef>
                <a:spcPts val="0"/>
              </a:spcBef>
              <a:spcAft>
                <a:spcPts val="0"/>
              </a:spcAft>
              <a:buNone/>
            </a:pPr>
            <a:r>
              <a:rPr lang="en"/>
              <a:t>rect.set_values(10,20)</a:t>
            </a:r>
            <a:endParaRPr/>
          </a:p>
          <a:p>
            <a:pPr indent="0" lvl="0" marL="0" rtl="0" algn="l">
              <a:spcBef>
                <a:spcPts val="0"/>
              </a:spcBef>
              <a:spcAft>
                <a:spcPts val="0"/>
              </a:spcAft>
              <a:buNone/>
            </a:pPr>
            <a:r>
              <a:rPr lang="en"/>
              <a:t>cout&lt;&lt;"The are :"&lt;&lt;rect.area()&lt;&lt;endl;</a:t>
            </a:r>
            <a:endParaRPr/>
          </a:p>
          <a:p>
            <a:pPr indent="0" lvl="0" marL="0" rtl="0" algn="l">
              <a:spcBef>
                <a:spcPts val="0"/>
              </a:spcBef>
              <a:spcAft>
                <a:spcPts val="0"/>
              </a:spcAft>
              <a:buNone/>
            </a:pPr>
            <a:r>
              <a:rPr lang="en"/>
              <a:t>return 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a:r>
            <a:endParaRPr/>
          </a:p>
        </p:txBody>
      </p:sp>
      <p:sp>
        <p:nvSpPr>
          <p:cNvPr id="1100" name="Google Shape;1100;g28b54753f85_34_73"/>
          <p:cNvSpPr txBox="1"/>
          <p:nvPr/>
        </p:nvSpPr>
        <p:spPr>
          <a:xfrm>
            <a:off x="2461475" y="2290750"/>
            <a:ext cx="1885200" cy="469500"/>
          </a:xfrm>
          <a:prstGeom prst="rect">
            <a:avLst/>
          </a:prstGeom>
          <a:solidFill>
            <a:srgbClr val="FCE5C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Create rectangle.h</a:t>
            </a:r>
            <a:endParaRPr/>
          </a:p>
        </p:txBody>
      </p:sp>
      <p:sp>
        <p:nvSpPr>
          <p:cNvPr id="1101" name="Google Shape;1101;g28b54753f85_34_73"/>
          <p:cNvSpPr txBox="1"/>
          <p:nvPr/>
        </p:nvSpPr>
        <p:spPr>
          <a:xfrm>
            <a:off x="5441175" y="1603700"/>
            <a:ext cx="3172800" cy="469500"/>
          </a:xfrm>
          <a:prstGeom prst="rect">
            <a:avLst/>
          </a:prstGeom>
          <a:solidFill>
            <a:srgbClr val="FCE5C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Create TestRectangle.cpp</a:t>
            </a:r>
            <a:endParaRPr/>
          </a:p>
        </p:txBody>
      </p:sp>
      <p:sp>
        <p:nvSpPr>
          <p:cNvPr id="1102" name="Google Shape;1102;g28b54753f85_34_73"/>
          <p:cNvSpPr txBox="1"/>
          <p:nvPr/>
        </p:nvSpPr>
        <p:spPr>
          <a:xfrm>
            <a:off x="5633275" y="4442775"/>
            <a:ext cx="3172800" cy="469500"/>
          </a:xfrm>
          <a:prstGeom prst="rect">
            <a:avLst/>
          </a:prstGeom>
          <a:solidFill>
            <a:srgbClr val="C9DAF8"/>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Compile and run TestRectangle.cpp</a:t>
            </a:r>
            <a:endParaRPr/>
          </a:p>
        </p:txBody>
      </p:sp>
      <p:sp>
        <p:nvSpPr>
          <p:cNvPr id="1103" name="Google Shape;1103;g28b54753f85_34_73"/>
          <p:cNvSpPr txBox="1"/>
          <p:nvPr/>
        </p:nvSpPr>
        <p:spPr>
          <a:xfrm>
            <a:off x="839475" y="697175"/>
            <a:ext cx="7774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Mixing class  methods prototypes and their implementation one header file(.h) is possible but it is a</a:t>
            </a:r>
            <a:r>
              <a:rPr b="1" lang="en"/>
              <a:t>  Bad Practice.</a:t>
            </a:r>
            <a:endParaRPr b="1"/>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28b54753f85_34_83"/>
          <p:cNvSpPr txBox="1"/>
          <p:nvPr>
            <p:ph type="title"/>
          </p:nvPr>
        </p:nvSpPr>
        <p:spPr>
          <a:xfrm>
            <a:off x="311700" y="75700"/>
            <a:ext cx="8520600" cy="40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420"/>
              <a:t>Use gcc commands: Separate header file interface and implementation: Good practice</a:t>
            </a:r>
            <a:endParaRPr b="1" sz="1420"/>
          </a:p>
        </p:txBody>
      </p:sp>
      <p:sp>
        <p:nvSpPr>
          <p:cNvPr id="1109" name="Google Shape;1109;g28b54753f85_34_83"/>
          <p:cNvSpPr txBox="1"/>
          <p:nvPr>
            <p:ph idx="1" type="body"/>
          </p:nvPr>
        </p:nvSpPr>
        <p:spPr>
          <a:xfrm>
            <a:off x="143025" y="976700"/>
            <a:ext cx="2788200" cy="2871900"/>
          </a:xfrm>
          <a:prstGeom prst="rect">
            <a:avLst/>
          </a:prstGeom>
          <a:ln cap="flat" cmpd="sng" w="9525">
            <a:solidFill>
              <a:srgbClr val="000000"/>
            </a:solidFill>
            <a:prstDash val="dashDot"/>
            <a:round/>
            <a:headEnd len="sm" w="sm" type="none"/>
            <a:tailEnd len="sm" w="sm" type="none"/>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2"/>
              <a:buNone/>
            </a:pPr>
            <a:r>
              <a:rPr lang="en" sz="1295">
                <a:solidFill>
                  <a:srgbClr val="38761D"/>
                </a:solidFill>
              </a:rPr>
              <a:t>#ifndef Rectangle_H</a:t>
            </a:r>
            <a:endParaRPr sz="1295">
              <a:solidFill>
                <a:srgbClr val="38761D"/>
              </a:solidFill>
            </a:endParaRPr>
          </a:p>
          <a:p>
            <a:pPr indent="0" lvl="0" marL="0" rtl="0" algn="l">
              <a:lnSpc>
                <a:spcPct val="95000"/>
              </a:lnSpc>
              <a:spcBef>
                <a:spcPts val="0"/>
              </a:spcBef>
              <a:spcAft>
                <a:spcPts val="0"/>
              </a:spcAft>
              <a:buSzPts val="852"/>
              <a:buNone/>
            </a:pPr>
            <a:r>
              <a:rPr lang="en" sz="1295">
                <a:solidFill>
                  <a:srgbClr val="38761D"/>
                </a:solidFill>
              </a:rPr>
              <a:t>#define Rectangle_H</a:t>
            </a:r>
            <a:endParaRPr sz="1295">
              <a:solidFill>
                <a:srgbClr val="38761D"/>
              </a:solidFill>
            </a:endParaRPr>
          </a:p>
          <a:p>
            <a:pPr indent="0" lvl="0" marL="0" rtl="0" algn="l">
              <a:lnSpc>
                <a:spcPct val="95000"/>
              </a:lnSpc>
              <a:spcBef>
                <a:spcPts val="0"/>
              </a:spcBef>
              <a:spcAft>
                <a:spcPts val="0"/>
              </a:spcAft>
              <a:buSzPts val="852"/>
              <a:buNone/>
            </a:pPr>
            <a:r>
              <a:rPr lang="en" sz="1295"/>
              <a:t>class Rectangle{</a:t>
            </a:r>
            <a:endParaRPr sz="1295"/>
          </a:p>
          <a:p>
            <a:pPr indent="0" lvl="0" marL="0" rtl="0" algn="l">
              <a:lnSpc>
                <a:spcPct val="95000"/>
              </a:lnSpc>
              <a:spcBef>
                <a:spcPts val="0"/>
              </a:spcBef>
              <a:spcAft>
                <a:spcPts val="0"/>
              </a:spcAft>
              <a:buSzPts val="852"/>
              <a:buNone/>
            </a:pPr>
            <a:r>
              <a:rPr lang="en" sz="1295"/>
              <a:t>private: </a:t>
            </a:r>
            <a:endParaRPr sz="1295"/>
          </a:p>
          <a:p>
            <a:pPr indent="0" lvl="0" marL="0" rtl="0" algn="l">
              <a:lnSpc>
                <a:spcPct val="95000"/>
              </a:lnSpc>
              <a:spcBef>
                <a:spcPts val="0"/>
              </a:spcBef>
              <a:spcAft>
                <a:spcPts val="0"/>
              </a:spcAft>
              <a:buSzPts val="852"/>
              <a:buNone/>
            </a:pPr>
            <a:r>
              <a:rPr lang="en" sz="1295"/>
              <a:t>int width;</a:t>
            </a:r>
            <a:endParaRPr sz="1295"/>
          </a:p>
          <a:p>
            <a:pPr indent="0" lvl="0" marL="0" rtl="0" algn="l">
              <a:lnSpc>
                <a:spcPct val="95000"/>
              </a:lnSpc>
              <a:spcBef>
                <a:spcPts val="0"/>
              </a:spcBef>
              <a:spcAft>
                <a:spcPts val="0"/>
              </a:spcAft>
              <a:buSzPts val="852"/>
              <a:buNone/>
            </a:pPr>
            <a:r>
              <a:rPr lang="en" sz="1295"/>
              <a:t>int height;</a:t>
            </a:r>
            <a:endParaRPr sz="1295"/>
          </a:p>
          <a:p>
            <a:pPr indent="0" lvl="0" marL="0" rtl="0" algn="l">
              <a:lnSpc>
                <a:spcPct val="95000"/>
              </a:lnSpc>
              <a:spcBef>
                <a:spcPts val="0"/>
              </a:spcBef>
              <a:spcAft>
                <a:spcPts val="0"/>
              </a:spcAft>
              <a:buSzPts val="852"/>
              <a:buNone/>
            </a:pPr>
            <a:r>
              <a:rPr lang="en" sz="1295"/>
              <a:t>public:</a:t>
            </a:r>
            <a:endParaRPr sz="1295"/>
          </a:p>
          <a:p>
            <a:pPr indent="0" lvl="0" marL="0" rtl="0" algn="l">
              <a:lnSpc>
                <a:spcPct val="95000"/>
              </a:lnSpc>
              <a:spcBef>
                <a:spcPts val="0"/>
              </a:spcBef>
              <a:spcAft>
                <a:spcPts val="0"/>
              </a:spcAft>
              <a:buSzPts val="852"/>
              <a:buNone/>
            </a:pPr>
            <a:r>
              <a:rPr lang="en" sz="1295"/>
              <a:t>Rectangle();</a:t>
            </a:r>
            <a:endParaRPr sz="1295"/>
          </a:p>
          <a:p>
            <a:pPr indent="0" lvl="0" marL="0" rtl="0" algn="l">
              <a:lnSpc>
                <a:spcPct val="95000"/>
              </a:lnSpc>
              <a:spcBef>
                <a:spcPts val="0"/>
              </a:spcBef>
              <a:spcAft>
                <a:spcPts val="0"/>
              </a:spcAft>
              <a:buSzPts val="852"/>
              <a:buNone/>
            </a:pPr>
            <a:r>
              <a:rPr lang="en" sz="1295"/>
              <a:t>Rectangle(int, int);</a:t>
            </a:r>
            <a:endParaRPr sz="1295"/>
          </a:p>
          <a:p>
            <a:pPr indent="0" lvl="0" marL="0" rtl="0" algn="l">
              <a:lnSpc>
                <a:spcPct val="95000"/>
              </a:lnSpc>
              <a:spcBef>
                <a:spcPts val="0"/>
              </a:spcBef>
              <a:spcAft>
                <a:spcPts val="0"/>
              </a:spcAft>
              <a:buSzPts val="852"/>
              <a:buNone/>
            </a:pPr>
            <a:r>
              <a:rPr lang="en" sz="1295"/>
              <a:t>Void set_ values(int, int);</a:t>
            </a:r>
            <a:endParaRPr sz="1295"/>
          </a:p>
          <a:p>
            <a:pPr indent="0" lvl="0" marL="0" rtl="0" algn="l">
              <a:lnSpc>
                <a:spcPct val="95000"/>
              </a:lnSpc>
              <a:spcBef>
                <a:spcPts val="0"/>
              </a:spcBef>
              <a:spcAft>
                <a:spcPts val="0"/>
              </a:spcAft>
              <a:buSzPts val="852"/>
              <a:buNone/>
            </a:pPr>
            <a:r>
              <a:rPr i="1" lang="en" sz="1295">
                <a:solidFill>
                  <a:schemeClr val="dk1"/>
                </a:solidFill>
              </a:rPr>
              <a:t>//Function that return a Rectangle</a:t>
            </a:r>
            <a:endParaRPr i="1" sz="1295">
              <a:solidFill>
                <a:schemeClr val="dk1"/>
              </a:solidFill>
            </a:endParaRPr>
          </a:p>
          <a:p>
            <a:pPr indent="0" lvl="0" marL="0" rtl="0" algn="l">
              <a:lnSpc>
                <a:spcPct val="95000"/>
              </a:lnSpc>
              <a:spcBef>
                <a:spcPts val="0"/>
              </a:spcBef>
              <a:spcAft>
                <a:spcPts val="0"/>
              </a:spcAft>
              <a:buSzPts val="852"/>
              <a:buNone/>
            </a:pPr>
            <a:r>
              <a:rPr lang="en" sz="1295"/>
              <a:t>Rectangle rectc();</a:t>
            </a:r>
            <a:endParaRPr sz="1295"/>
          </a:p>
          <a:p>
            <a:pPr indent="0" lvl="0" marL="0" rtl="0" algn="l">
              <a:lnSpc>
                <a:spcPct val="95000"/>
              </a:lnSpc>
              <a:spcBef>
                <a:spcPts val="0"/>
              </a:spcBef>
              <a:spcAft>
                <a:spcPts val="0"/>
              </a:spcAft>
              <a:buSzPts val="852"/>
              <a:buNone/>
            </a:pPr>
            <a:r>
              <a:rPr lang="en" sz="1295"/>
              <a:t>int area();</a:t>
            </a:r>
            <a:endParaRPr sz="1295"/>
          </a:p>
          <a:p>
            <a:pPr indent="0" lvl="0" marL="0" rtl="0" algn="l">
              <a:lnSpc>
                <a:spcPct val="95000"/>
              </a:lnSpc>
              <a:spcBef>
                <a:spcPts val="0"/>
              </a:spcBef>
              <a:spcAft>
                <a:spcPts val="0"/>
              </a:spcAft>
              <a:buSzPts val="852"/>
              <a:buNone/>
            </a:pPr>
            <a:r>
              <a:rPr lang="en" sz="1295"/>
              <a:t>};</a:t>
            </a:r>
            <a:endParaRPr sz="1295"/>
          </a:p>
          <a:p>
            <a:pPr indent="0" lvl="0" marL="0" rtl="0" algn="l">
              <a:lnSpc>
                <a:spcPct val="95000"/>
              </a:lnSpc>
              <a:spcBef>
                <a:spcPts val="0"/>
              </a:spcBef>
              <a:spcAft>
                <a:spcPts val="0"/>
              </a:spcAft>
              <a:buSzPts val="852"/>
              <a:buNone/>
            </a:pPr>
            <a:r>
              <a:rPr lang="en" sz="1295">
                <a:solidFill>
                  <a:srgbClr val="38761D"/>
                </a:solidFill>
              </a:rPr>
              <a:t>#endif</a:t>
            </a:r>
            <a:endParaRPr sz="1295"/>
          </a:p>
        </p:txBody>
      </p:sp>
      <p:sp>
        <p:nvSpPr>
          <p:cNvPr id="1110" name="Google Shape;1110;g28b54753f85_34_83"/>
          <p:cNvSpPr txBox="1"/>
          <p:nvPr/>
        </p:nvSpPr>
        <p:spPr>
          <a:xfrm>
            <a:off x="2931175" y="645100"/>
            <a:ext cx="3172200" cy="3386400"/>
          </a:xfrm>
          <a:prstGeom prst="rect">
            <a:avLst/>
          </a:prstGeom>
          <a:noFill/>
          <a:ln cap="flat" cmpd="sng" w="9525">
            <a:solidFill>
              <a:srgbClr val="000000"/>
            </a:solidFill>
            <a:prstDash val="dashDot"/>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rgbClr val="38761D"/>
                </a:solidFill>
              </a:rPr>
              <a:t>#include "rectangle.h"</a:t>
            </a:r>
            <a:endParaRPr sz="1300">
              <a:solidFill>
                <a:srgbClr val="38761D"/>
              </a:solidFill>
            </a:endParaRPr>
          </a:p>
          <a:p>
            <a:pPr indent="0" lvl="0" marL="0" rtl="0" algn="l">
              <a:spcBef>
                <a:spcPts val="0"/>
              </a:spcBef>
              <a:spcAft>
                <a:spcPts val="0"/>
              </a:spcAft>
              <a:buNone/>
            </a:pPr>
            <a:r>
              <a:rPr lang="en" sz="1300"/>
              <a:t>Rectangle::Rectangle ( ) {</a:t>
            </a:r>
            <a:endParaRPr sz="1300"/>
          </a:p>
          <a:p>
            <a:pPr indent="0" lvl="0" marL="0" rtl="0" algn="l">
              <a:spcBef>
                <a:spcPts val="0"/>
              </a:spcBef>
              <a:spcAft>
                <a:spcPts val="0"/>
              </a:spcAft>
              <a:buNone/>
            </a:pPr>
            <a:r>
              <a:rPr lang="en" sz="1300"/>
              <a:t>  width = 5;</a:t>
            </a:r>
            <a:endParaRPr sz="1300"/>
          </a:p>
          <a:p>
            <a:pPr indent="0" lvl="0" marL="0" rtl="0" algn="l">
              <a:spcBef>
                <a:spcPts val="0"/>
              </a:spcBef>
              <a:spcAft>
                <a:spcPts val="0"/>
              </a:spcAft>
              <a:buNone/>
            </a:pPr>
            <a:r>
              <a:rPr lang="en" sz="1300"/>
              <a:t>  height = 5;</a:t>
            </a:r>
            <a:endParaRPr sz="1300"/>
          </a:p>
          <a:p>
            <a:pPr indent="0" lvl="0" marL="0" rtl="0" algn="l">
              <a:spcBef>
                <a:spcPts val="0"/>
              </a:spcBef>
              <a:spcAft>
                <a:spcPts val="0"/>
              </a:spcAft>
              <a:buNone/>
            </a:pPr>
            <a:r>
              <a:rPr lang="en" sz="1300"/>
              <a:t>}</a:t>
            </a:r>
            <a:endParaRPr sz="1300"/>
          </a:p>
          <a:p>
            <a:pPr indent="0" lvl="0" marL="0" rtl="0" algn="l">
              <a:spcBef>
                <a:spcPts val="0"/>
              </a:spcBef>
              <a:spcAft>
                <a:spcPts val="0"/>
              </a:spcAft>
              <a:buNone/>
            </a:pPr>
            <a:r>
              <a:rPr lang="en" sz="1300"/>
              <a:t>Rectangle::Rectangle (int a, int b) {</a:t>
            </a:r>
            <a:endParaRPr sz="1300"/>
          </a:p>
          <a:p>
            <a:pPr indent="0" lvl="0" marL="0" rtl="0" algn="l">
              <a:spcBef>
                <a:spcPts val="0"/>
              </a:spcBef>
              <a:spcAft>
                <a:spcPts val="0"/>
              </a:spcAft>
              <a:buNone/>
            </a:pPr>
            <a:r>
              <a:rPr lang="en" sz="1300"/>
              <a:t>  width = a;</a:t>
            </a:r>
            <a:endParaRPr sz="1300"/>
          </a:p>
          <a:p>
            <a:pPr indent="0" lvl="0" marL="0" rtl="0" algn="l">
              <a:spcBef>
                <a:spcPts val="0"/>
              </a:spcBef>
              <a:spcAft>
                <a:spcPts val="0"/>
              </a:spcAft>
              <a:buNone/>
            </a:pPr>
            <a:r>
              <a:rPr lang="en" sz="1300"/>
              <a:t>  height = b;</a:t>
            </a:r>
            <a:endParaRPr sz="1300"/>
          </a:p>
          <a:p>
            <a:pPr indent="0" lvl="0" marL="0" rtl="0" algn="l">
              <a:spcBef>
                <a:spcPts val="0"/>
              </a:spcBef>
              <a:spcAft>
                <a:spcPts val="0"/>
              </a:spcAft>
              <a:buNone/>
            </a:pPr>
            <a:r>
              <a:rPr lang="en" sz="1300"/>
              <a:t>}</a:t>
            </a:r>
            <a:endParaRPr sz="1300"/>
          </a:p>
          <a:p>
            <a:pPr indent="0" lvl="0" marL="0" rtl="0" algn="l">
              <a:spcBef>
                <a:spcPts val="0"/>
              </a:spcBef>
              <a:spcAft>
                <a:spcPts val="0"/>
              </a:spcAft>
              <a:buNone/>
            </a:pPr>
            <a:r>
              <a:rPr lang="en" sz="1300"/>
              <a:t>void Rectangle::set_values (int x, int y) {</a:t>
            </a:r>
            <a:endParaRPr sz="1300"/>
          </a:p>
          <a:p>
            <a:pPr indent="0" lvl="0" marL="0" rtl="0" algn="l">
              <a:spcBef>
                <a:spcPts val="0"/>
              </a:spcBef>
              <a:spcAft>
                <a:spcPts val="0"/>
              </a:spcAft>
              <a:buNone/>
            </a:pPr>
            <a:r>
              <a:rPr lang="en" sz="1300"/>
              <a:t>  width = x;</a:t>
            </a:r>
            <a:endParaRPr sz="1300"/>
          </a:p>
          <a:p>
            <a:pPr indent="0" lvl="0" marL="0" rtl="0" algn="l">
              <a:spcBef>
                <a:spcPts val="0"/>
              </a:spcBef>
              <a:spcAft>
                <a:spcPts val="0"/>
              </a:spcAft>
              <a:buNone/>
            </a:pPr>
            <a:r>
              <a:rPr lang="en" sz="1300"/>
              <a:t>  height = y;</a:t>
            </a:r>
            <a:endParaRPr sz="1300"/>
          </a:p>
          <a:p>
            <a:pPr indent="0" lvl="0" marL="0" rtl="0" algn="l">
              <a:spcBef>
                <a:spcPts val="0"/>
              </a:spcBef>
              <a:spcAft>
                <a:spcPts val="0"/>
              </a:spcAft>
              <a:buNone/>
            </a:pPr>
            <a:r>
              <a:rPr lang="en" sz="1300"/>
              <a:t>}</a:t>
            </a:r>
            <a:endParaRPr sz="1300"/>
          </a:p>
          <a:p>
            <a:pPr indent="0" lvl="0" marL="0" rtl="0" algn="l">
              <a:spcBef>
                <a:spcPts val="0"/>
              </a:spcBef>
              <a:spcAft>
                <a:spcPts val="0"/>
              </a:spcAft>
              <a:buNone/>
            </a:pPr>
            <a:r>
              <a:rPr lang="en" sz="1300"/>
              <a:t>int Rectangle::area(){</a:t>
            </a:r>
            <a:endParaRPr sz="1300"/>
          </a:p>
          <a:p>
            <a:pPr indent="0" lvl="0" marL="0" rtl="0" algn="l">
              <a:spcBef>
                <a:spcPts val="0"/>
              </a:spcBef>
              <a:spcAft>
                <a:spcPts val="0"/>
              </a:spcAft>
              <a:buNone/>
            </a:pPr>
            <a:r>
              <a:rPr lang="en" sz="1300"/>
              <a:t>return width*height;</a:t>
            </a:r>
            <a:endParaRPr sz="1300"/>
          </a:p>
          <a:p>
            <a:pPr indent="0" lvl="0" marL="0" rtl="0" algn="l">
              <a:spcBef>
                <a:spcPts val="0"/>
              </a:spcBef>
              <a:spcAft>
                <a:spcPts val="0"/>
              </a:spcAft>
              <a:buNone/>
            </a:pPr>
            <a:r>
              <a:rPr lang="en" sz="1300"/>
              <a:t>}</a:t>
            </a:r>
            <a:endParaRPr sz="1300"/>
          </a:p>
        </p:txBody>
      </p:sp>
      <p:sp>
        <p:nvSpPr>
          <p:cNvPr id="1111" name="Google Shape;1111;g28b54753f85_34_83"/>
          <p:cNvSpPr txBox="1"/>
          <p:nvPr/>
        </p:nvSpPr>
        <p:spPr>
          <a:xfrm>
            <a:off x="5017425" y="3166550"/>
            <a:ext cx="4019400" cy="1569900"/>
          </a:xfrm>
          <a:prstGeom prst="rect">
            <a:avLst/>
          </a:prstGeom>
          <a:noFill/>
          <a:ln cap="flat" cmpd="sng" w="9525">
            <a:solidFill>
              <a:srgbClr val="000000"/>
            </a:solidFill>
            <a:prstDash val="dashDot"/>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ourier New"/>
                <a:ea typeface="Courier New"/>
                <a:cs typeface="Courier New"/>
                <a:sym typeface="Courier New"/>
              </a:rPr>
              <a:t>#include&lt;iostream&gt;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rgbClr val="38761D"/>
                </a:solidFill>
                <a:latin typeface="Courier New"/>
                <a:ea typeface="Courier New"/>
                <a:cs typeface="Courier New"/>
                <a:sym typeface="Courier New"/>
              </a:rPr>
              <a:t>#include “rectangle.h”</a:t>
            </a:r>
            <a:endParaRPr sz="1000">
              <a:solidFill>
                <a:srgbClr val="38761D"/>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int main ()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Rectangle rect (3,4);</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Rectangle rectb;</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cout &lt;&lt; "rect area: " &lt;&lt; rect.area() &lt;&lt; endl;</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cout &lt;&lt; "rectb area: " &lt;&lt; rectb.area() &lt;&lt; endl;</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return 0;</a:t>
            </a:r>
            <a:endParaRPr sz="10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p:txBody>
      </p:sp>
      <p:sp>
        <p:nvSpPr>
          <p:cNvPr id="1112" name="Google Shape;1112;g28b54753f85_34_83"/>
          <p:cNvSpPr txBox="1"/>
          <p:nvPr/>
        </p:nvSpPr>
        <p:spPr>
          <a:xfrm>
            <a:off x="4432100" y="1202300"/>
            <a:ext cx="1614900" cy="455400"/>
          </a:xfrm>
          <a:prstGeom prst="rect">
            <a:avLst/>
          </a:prstGeom>
          <a:solidFill>
            <a:srgbClr val="FF99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rectangle.cpp</a:t>
            </a:r>
            <a:endParaRPr b="1"/>
          </a:p>
        </p:txBody>
      </p:sp>
      <p:sp>
        <p:nvSpPr>
          <p:cNvPr id="1113" name="Google Shape;1113;g28b54753f85_34_83"/>
          <p:cNvSpPr txBox="1"/>
          <p:nvPr/>
        </p:nvSpPr>
        <p:spPr>
          <a:xfrm>
            <a:off x="878050" y="573650"/>
            <a:ext cx="1614900" cy="455400"/>
          </a:xfrm>
          <a:prstGeom prst="rect">
            <a:avLst/>
          </a:prstGeom>
          <a:solidFill>
            <a:srgbClr val="FF99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rectangle.h</a:t>
            </a:r>
            <a:endParaRPr b="1"/>
          </a:p>
        </p:txBody>
      </p:sp>
      <p:sp>
        <p:nvSpPr>
          <p:cNvPr id="1114" name="Google Shape;1114;g28b54753f85_34_83"/>
          <p:cNvSpPr txBox="1"/>
          <p:nvPr/>
        </p:nvSpPr>
        <p:spPr>
          <a:xfrm>
            <a:off x="6658775" y="2711150"/>
            <a:ext cx="1764300" cy="455400"/>
          </a:xfrm>
          <a:prstGeom prst="rect">
            <a:avLst/>
          </a:prstGeom>
          <a:solidFill>
            <a:srgbClr val="FF99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program.cpp</a:t>
            </a:r>
            <a:endParaRPr b="1"/>
          </a:p>
        </p:txBody>
      </p:sp>
      <p:sp>
        <p:nvSpPr>
          <p:cNvPr id="1115" name="Google Shape;1115;g28b54753f85_34_83"/>
          <p:cNvSpPr txBox="1"/>
          <p:nvPr/>
        </p:nvSpPr>
        <p:spPr>
          <a:xfrm>
            <a:off x="143025" y="3955300"/>
            <a:ext cx="4950600" cy="11544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NOTE: </a:t>
            </a:r>
            <a:r>
              <a:rPr lang="en" sz="900"/>
              <a:t>When you see the .h file:</a:t>
            </a:r>
            <a:endParaRPr sz="900"/>
          </a:p>
          <a:p>
            <a:pPr indent="0" lvl="0" marL="0" rtl="0" algn="l">
              <a:spcBef>
                <a:spcPts val="0"/>
              </a:spcBef>
              <a:spcAft>
                <a:spcPts val="0"/>
              </a:spcAft>
              <a:buNone/>
            </a:pPr>
            <a:r>
              <a:rPr b="1" lang="en" sz="900"/>
              <a:t>#ifndef CLASS_H</a:t>
            </a:r>
            <a:endParaRPr b="1" sz="900"/>
          </a:p>
          <a:p>
            <a:pPr indent="0" lvl="0" marL="0" rtl="0" algn="l">
              <a:spcBef>
                <a:spcPts val="0"/>
              </a:spcBef>
              <a:spcAft>
                <a:spcPts val="0"/>
              </a:spcAft>
              <a:buNone/>
            </a:pPr>
            <a:r>
              <a:rPr b="1" lang="en" sz="900"/>
              <a:t>#define CLASS_H</a:t>
            </a:r>
            <a:endParaRPr b="1" sz="900"/>
          </a:p>
          <a:p>
            <a:pPr indent="0" lvl="0" marL="0" rtl="0" algn="l">
              <a:spcBef>
                <a:spcPts val="0"/>
              </a:spcBef>
              <a:spcAft>
                <a:spcPts val="0"/>
              </a:spcAft>
              <a:buNone/>
            </a:pPr>
            <a:r>
              <a:rPr lang="en" sz="900">
                <a:solidFill>
                  <a:srgbClr val="999999"/>
                </a:solidFill>
              </a:rPr>
              <a:t>/* ... Declarations etc here ... */</a:t>
            </a:r>
            <a:endParaRPr sz="900">
              <a:solidFill>
                <a:srgbClr val="999999"/>
              </a:solidFill>
            </a:endParaRPr>
          </a:p>
          <a:p>
            <a:pPr indent="0" lvl="0" marL="0" rtl="0" algn="l">
              <a:spcBef>
                <a:spcPts val="0"/>
              </a:spcBef>
              <a:spcAft>
                <a:spcPts val="0"/>
              </a:spcAft>
              <a:buNone/>
            </a:pPr>
            <a:r>
              <a:rPr b="1" lang="en" sz="900"/>
              <a:t>#endif</a:t>
            </a:r>
            <a:endParaRPr b="1" sz="900"/>
          </a:p>
          <a:p>
            <a:pPr indent="0" lvl="0" marL="0" rtl="0" algn="l">
              <a:spcBef>
                <a:spcPts val="0"/>
              </a:spcBef>
              <a:spcAft>
                <a:spcPts val="0"/>
              </a:spcAft>
              <a:buNone/>
            </a:pPr>
            <a:r>
              <a:rPr lang="en" sz="900"/>
              <a:t>This is a preprocessor technique of preventing a header file from being included multiple times.</a:t>
            </a:r>
            <a:endParaRPr sz="900"/>
          </a:p>
        </p:txBody>
      </p:sp>
      <p:sp>
        <p:nvSpPr>
          <p:cNvPr id="1116" name="Google Shape;1116;g28b54753f85_34_83"/>
          <p:cNvSpPr txBox="1"/>
          <p:nvPr/>
        </p:nvSpPr>
        <p:spPr>
          <a:xfrm>
            <a:off x="6010475" y="762825"/>
            <a:ext cx="3116100" cy="8313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g++ -c rectangle.cpp -o rectangle.o</a:t>
            </a:r>
            <a:endParaRPr/>
          </a:p>
          <a:p>
            <a:pPr indent="0" lvl="0" marL="0" rtl="0" algn="l">
              <a:spcBef>
                <a:spcPts val="0"/>
              </a:spcBef>
              <a:spcAft>
                <a:spcPts val="0"/>
              </a:spcAft>
              <a:buNone/>
            </a:pPr>
            <a:r>
              <a:rPr lang="en">
                <a:solidFill>
                  <a:schemeClr val="dk1"/>
                </a:solidFill>
              </a:rPr>
              <a:t>g++ -c program.cpp -o program.o</a:t>
            </a:r>
            <a:endParaRPr>
              <a:solidFill>
                <a:schemeClr val="dk1"/>
              </a:solidFill>
            </a:endParaRPr>
          </a:p>
          <a:p>
            <a:pPr indent="0" lvl="0" marL="0" rtl="0" algn="l">
              <a:spcBef>
                <a:spcPts val="0"/>
              </a:spcBef>
              <a:spcAft>
                <a:spcPts val="0"/>
              </a:spcAft>
              <a:buNone/>
            </a:pPr>
            <a:r>
              <a:rPr lang="en">
                <a:solidFill>
                  <a:schemeClr val="dk1"/>
                </a:solidFill>
              </a:rPr>
              <a:t>g++ rectangle.o program.o -o main</a:t>
            </a:r>
            <a:endParaRPr/>
          </a:p>
        </p:txBody>
      </p:sp>
      <p:sp>
        <p:nvSpPr>
          <p:cNvPr id="1117" name="Google Shape;1117;g28b54753f85_34_83"/>
          <p:cNvSpPr txBox="1"/>
          <p:nvPr/>
        </p:nvSpPr>
        <p:spPr>
          <a:xfrm>
            <a:off x="5782775" y="2079575"/>
            <a:ext cx="3419100" cy="4002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g++ -o main rectangle.cpp program.cpp</a:t>
            </a:r>
            <a:endParaRPr/>
          </a:p>
        </p:txBody>
      </p:sp>
      <p:sp>
        <p:nvSpPr>
          <p:cNvPr id="1118" name="Google Shape;1118;g28b54753f85_34_83"/>
          <p:cNvSpPr txBox="1"/>
          <p:nvPr/>
        </p:nvSpPr>
        <p:spPr>
          <a:xfrm>
            <a:off x="6822425" y="1657575"/>
            <a:ext cx="611700" cy="32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or</a:t>
            </a:r>
            <a:endParaRPr/>
          </a:p>
        </p:txBody>
      </p:sp>
      <p:sp>
        <p:nvSpPr>
          <p:cNvPr id="1119" name="Google Shape;1119;g28b54753f85_34_83"/>
          <p:cNvSpPr txBox="1"/>
          <p:nvPr/>
        </p:nvSpPr>
        <p:spPr>
          <a:xfrm>
            <a:off x="6480950" y="399700"/>
            <a:ext cx="1337400" cy="37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Compiling</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